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96" r:id="rId2"/>
    <p:sldId id="287" r:id="rId3"/>
    <p:sldId id="288" r:id="rId4"/>
    <p:sldId id="289" r:id="rId5"/>
    <p:sldId id="290" r:id="rId6"/>
    <p:sldId id="291" r:id="rId7"/>
    <p:sldId id="316" r:id="rId8"/>
    <p:sldId id="317" r:id="rId9"/>
    <p:sldId id="295" r:id="rId10"/>
    <p:sldId id="294" r:id="rId11"/>
    <p:sldId id="260" r:id="rId12"/>
    <p:sldId id="263" r:id="rId13"/>
    <p:sldId id="270" r:id="rId14"/>
    <p:sldId id="325" r:id="rId15"/>
    <p:sldId id="269" r:id="rId16"/>
    <p:sldId id="262" r:id="rId17"/>
    <p:sldId id="261" r:id="rId18"/>
    <p:sldId id="258" r:id="rId19"/>
    <p:sldId id="318" r:id="rId20"/>
    <p:sldId id="277" r:id="rId21"/>
    <p:sldId id="275" r:id="rId22"/>
    <p:sldId id="272" r:id="rId23"/>
    <p:sldId id="297" r:id="rId24"/>
    <p:sldId id="298" r:id="rId25"/>
    <p:sldId id="299" r:id="rId26"/>
    <p:sldId id="276" r:id="rId27"/>
    <p:sldId id="320" r:id="rId28"/>
    <p:sldId id="279" r:id="rId29"/>
    <p:sldId id="278" r:id="rId30"/>
    <p:sldId id="280" r:id="rId31"/>
    <p:sldId id="268" r:id="rId32"/>
    <p:sldId id="264" r:id="rId33"/>
    <p:sldId id="321" r:id="rId34"/>
    <p:sldId id="322" r:id="rId35"/>
    <p:sldId id="323" r:id="rId36"/>
    <p:sldId id="324" r:id="rId37"/>
    <p:sldId id="265" r:id="rId38"/>
    <p:sldId id="266" r:id="rId39"/>
    <p:sldId id="267" r:id="rId40"/>
    <p:sldId id="326" r:id="rId41"/>
    <p:sldId id="327" r:id="rId42"/>
  </p:sldIdLst>
  <p:sldSz cx="9144000" cy="5715000" type="screen16x1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B0F0"/>
    <a:srgbClr val="000000"/>
    <a:srgbClr val="232323"/>
    <a:srgbClr val="336181"/>
    <a:srgbClr val="0082B3"/>
    <a:srgbClr val="702B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94620" autoAdjust="0"/>
  </p:normalViewPr>
  <p:slideViewPr>
    <p:cSldViewPr>
      <p:cViewPr varScale="1">
        <p:scale>
          <a:sx n="136" d="100"/>
          <a:sy n="136" d="100"/>
        </p:scale>
        <p:origin x="690" y="108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81ED418E-3EC6-4BA3-BC06-71FE8E77935C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E48F7458-31C8-4C2E-8E3B-F45CBD9819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3552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1" tIns="45716" rIns="91431" bIns="45716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5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1" tIns="45716" rIns="91431" bIns="45716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71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135A84C-A696-45EA-BC04-AE9F2D4DD512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12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298FEAE-A498-4FEC-8CD3-E0045351019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536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AA0F0C-625C-4AE0-937C-27F9F6390DE0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8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487ACA8-70A4-42AF-9583-8D5E98D71C87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31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FA7318A-13FD-452F-A25A-9CAB055C96C9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922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EB1AE0B-1E74-40EE-84F8-443C710AD931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3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C68B22A-E856-4A04-B678-D7DB95332D8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26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C68B22A-E856-4A04-B678-D7DB95332D8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553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802E5BB-0FF3-40D4-9BB9-B025AD086EC5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55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C3E6799-2C08-45F4-BE85-F162CB608CFA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31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46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D91B4C-6229-4D23-8436-8CA3454EA83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32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20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D1E6F78-EA21-43E7-B127-07B72347E34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330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773EF90-88AB-4002-AEFA-8D32E89288E2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88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D5F0B5D-9632-4A08-A0EB-E1845455CE4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39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875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D5F0B5D-9632-4A08-A0EB-E1845455CE4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40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149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685800"/>
            <a:ext cx="54864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更多模板、视频教程：</a:t>
            </a:r>
            <a:r>
              <a:rPr lang="en-US" altLang="zh-CN" dirty="0"/>
              <a:t>http://www.mysoeasy.com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D5F0B5D-9632-4A08-A0EB-E1845455CE4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en-US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6" y="-3969"/>
            <a:ext cx="9070975" cy="5745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3217334"/>
            <a:ext cx="377825" cy="4802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457200" y="3458104"/>
            <a:ext cx="514350" cy="3598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4932364" y="4597136"/>
            <a:ext cx="257175" cy="179917"/>
          </a:xfrm>
          <a:prstGeom prst="rect">
            <a:avLst/>
          </a:prstGeom>
          <a:solidFill>
            <a:srgbClr val="0070C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 userDrawn="1"/>
        </p:nvSpPr>
        <p:spPr>
          <a:xfrm>
            <a:off x="5189539" y="4417219"/>
            <a:ext cx="257175" cy="179917"/>
          </a:xfrm>
          <a:prstGeom prst="rect">
            <a:avLst/>
          </a:prstGeom>
          <a:solidFill>
            <a:srgbClr val="00B0F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3637587"/>
            <a:ext cx="6336704" cy="720080"/>
          </a:xfrm>
          <a:noFill/>
          <a:ln>
            <a:noFill/>
          </a:ln>
        </p:spPr>
        <p:txBody>
          <a:bodyPr anchor="b"/>
          <a:lstStyle>
            <a:lvl1pPr algn="ctr">
              <a:defRPr lang="zh-CN" altLang="en-US" sz="4400" b="1" dirty="0" smtClean="0">
                <a:solidFill>
                  <a:sysClr val="windowText" lastClr="000000"/>
                </a:solidFill>
                <a:effectLst/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3647" y="4357667"/>
            <a:ext cx="3816424" cy="240026"/>
          </a:xfrm>
          <a:prstGeom prst="roundRect">
            <a:avLst>
              <a:gd name="adj" fmla="val 50000"/>
            </a:avLst>
          </a:prstGeom>
          <a:noFill/>
          <a:ln w="28575">
            <a:noFill/>
          </a:ln>
          <a:effectLst/>
        </p:spPr>
        <p:txBody>
          <a:bodyPr anchor="ctr"/>
          <a:lstStyle>
            <a:lvl1pPr marL="0" marR="0" indent="0" algn="ctr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en-US" sz="120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351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73747"/>
            <a:ext cx="5976664" cy="420047"/>
          </a:xfrm>
        </p:spPr>
        <p:txBody>
          <a:bodyPr/>
          <a:lstStyle>
            <a:lvl1pPr algn="l" rt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51520" y="577247"/>
            <a:ext cx="8208912" cy="4920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578CD-5D0E-408B-BD90-ED544D1F32D2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36182-943F-4B79-88FD-3D4CE003EB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756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" b="673"/>
          <a:stretch>
            <a:fillRect/>
          </a:stretch>
        </p:blipFill>
        <p:spPr bwMode="auto">
          <a:xfrm>
            <a:off x="109538" y="7938"/>
            <a:ext cx="9034462" cy="570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1377951" y="1718469"/>
            <a:ext cx="379413" cy="4802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835150" y="1957917"/>
            <a:ext cx="514350" cy="3611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5641976" y="3217333"/>
            <a:ext cx="257175" cy="179917"/>
          </a:xfrm>
          <a:prstGeom prst="rect">
            <a:avLst/>
          </a:prstGeom>
          <a:solidFill>
            <a:srgbClr val="0070C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 userDrawn="1"/>
        </p:nvSpPr>
        <p:spPr>
          <a:xfrm>
            <a:off x="5899151" y="3038740"/>
            <a:ext cx="257175" cy="179917"/>
          </a:xfrm>
          <a:prstGeom prst="rect">
            <a:avLst/>
          </a:prstGeom>
          <a:solidFill>
            <a:srgbClr val="00B0F0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91681" y="2318559"/>
            <a:ext cx="5400599" cy="565237"/>
          </a:xfrm>
          <a:noFill/>
          <a:ln>
            <a:noFill/>
          </a:ln>
        </p:spPr>
        <p:txBody>
          <a:bodyPr/>
          <a:lstStyle>
            <a:lvl1pPr algn="ctr">
              <a:defRPr lang="zh-CN" altLang="en-US" sz="4400" dirty="0"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55777" y="2858619"/>
            <a:ext cx="3456384" cy="279610"/>
          </a:xfrm>
          <a:prstGeom prst="roundRect">
            <a:avLst>
              <a:gd name="adj" fmla="val 50000"/>
            </a:avLst>
          </a:prstGeom>
          <a:noFill/>
          <a:effectLst/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C64A3-05C2-4A3C-8894-E02DA9D35FE8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7D144-6A21-4AB0-AB6B-48D4780E318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31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57267"/>
            <a:ext cx="4038600" cy="434786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57267"/>
            <a:ext cx="4038600" cy="434786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02F75-D769-4206-817D-0964CDFEE5EC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224A4-B67C-4F3F-B711-370AB1D16F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3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7CF67-1901-40EF-A7E1-C6238F624B4D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9A04A-7B4A-499A-BE6D-0A6E5C8512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11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4D96A-3883-43C2-8580-E4B02C2A609A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67BA2-6384-4612-868B-1933C7C6C9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9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BAE7D-EA8A-4E55-AEBE-96379493FA2E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41632-DFF4-4B54-B5A0-3A37D287D7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96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6C24E-9EAA-41CC-BC06-2B097990CDFC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B96F1-B317-4049-8546-435181F98A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71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48E35-CD76-4D48-9D61-A692B200058F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4BE6F-1876-4767-AFDD-33012BFCE9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7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7C96F-101D-42DE-B1AC-1AA04C00F221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C85EA-BC0D-4337-AB40-CCF67DA6D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33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5A5C7-F3FB-4FB0-81AF-AC898CEC5BC6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E3F65-6029-4CC9-8C12-34DA951427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23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" b="673"/>
          <a:stretch>
            <a:fillRect/>
          </a:stretch>
        </p:blipFill>
        <p:spPr bwMode="auto">
          <a:xfrm>
            <a:off x="109538" y="7938"/>
            <a:ext cx="9034462" cy="570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6D1F32-FB2A-4740-9A7D-C9037AD20DEE}" type="datetimeFigureOut">
              <a:rPr lang="zh-CN" altLang="en-US"/>
              <a:pPr>
                <a:defRPr/>
              </a:pPr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E59737E-8CEB-49B0-9EF9-923E555B3C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250826" y="756708"/>
            <a:ext cx="7921625" cy="480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here to edit Master text styles</a:t>
            </a:r>
          </a:p>
          <a:p>
            <a:pPr lvl="1"/>
            <a:r>
              <a:rPr lang="en-US" altLang="zh-CN"/>
              <a:t>Second level</a:t>
            </a:r>
            <a:endParaRPr lang="zh-CN" altLang="en-US"/>
          </a:p>
          <a:p>
            <a:pPr lvl="2"/>
            <a:r>
              <a:rPr lang="en-US" altLang="zh-CN"/>
              <a:t>Third  level</a:t>
            </a:r>
          </a:p>
          <a:p>
            <a:pPr lvl="3"/>
            <a:r>
              <a:rPr lang="en-US" altLang="zh-CN"/>
              <a:t>Fourth  level</a:t>
            </a:r>
            <a:endParaRPr lang="zh-CN" altLang="en-US"/>
          </a:p>
          <a:p>
            <a:pPr lvl="4"/>
            <a:r>
              <a:rPr lang="en-US" altLang="zh-CN"/>
              <a:t>Fifth  level</a:t>
            </a:r>
          </a:p>
        </p:txBody>
      </p:sp>
      <p:grpSp>
        <p:nvGrpSpPr>
          <p:cNvPr id="1031" name="组合 6"/>
          <p:cNvGrpSpPr>
            <a:grpSpLocks/>
          </p:cNvGrpSpPr>
          <p:nvPr/>
        </p:nvGrpSpPr>
        <p:grpSpPr bwMode="auto">
          <a:xfrm>
            <a:off x="-12700" y="0"/>
            <a:ext cx="642938" cy="396875"/>
            <a:chOff x="0" y="3861048"/>
            <a:chExt cx="971600" cy="720080"/>
          </a:xfrm>
        </p:grpSpPr>
        <p:sp>
          <p:nvSpPr>
            <p:cNvPr id="9" name="矩形 8"/>
            <p:cNvSpPr/>
            <p:nvPr userDrawn="1"/>
          </p:nvSpPr>
          <p:spPr>
            <a:xfrm>
              <a:off x="0" y="3861048"/>
              <a:ext cx="379044" cy="57606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458212" y="4149080"/>
              <a:ext cx="513388" cy="43204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032" name="标题占位符 1"/>
          <p:cNvSpPr>
            <a:spLocks noGrp="1"/>
          </p:cNvSpPr>
          <p:nvPr>
            <p:ph type="title"/>
          </p:nvPr>
        </p:nvSpPr>
        <p:spPr bwMode="auto">
          <a:xfrm>
            <a:off x="611189" y="37042"/>
            <a:ext cx="6365875" cy="48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here to edit Master text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05" r:id="rId2"/>
    <p:sldLayoutId id="214748381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zh-CN" altLang="en-US" sz="2400" b="1" kern="1200" dirty="0">
          <a:solidFill>
            <a:srgbClr val="000000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微软雅黑" pitchFamily="34" charset="-122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12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4009628"/>
            <a:ext cx="6048672" cy="720080"/>
          </a:xfrm>
        </p:spPr>
        <p:txBody>
          <a:bodyPr/>
          <a:lstStyle/>
          <a:p>
            <a:pPr algn="l"/>
            <a:r>
              <a:rPr lang="zh-CN" altLang="en-US" sz="5400" dirty="0"/>
              <a:t>第 </a:t>
            </a:r>
            <a:r>
              <a:rPr lang="en-US" altLang="zh-CN" sz="5400" dirty="0"/>
              <a:t>5 </a:t>
            </a:r>
            <a:r>
              <a:rPr lang="zh-CN" altLang="en-US" sz="5400" dirty="0"/>
              <a:t>章  分 类</a:t>
            </a:r>
          </a:p>
        </p:txBody>
      </p:sp>
    </p:spTree>
    <p:extLst>
      <p:ext uri="{BB962C8B-B14F-4D97-AF65-F5344CB8AC3E}">
        <p14:creationId xmlns:p14="http://schemas.microsoft.com/office/powerpoint/2010/main" val="232969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39552" y="2124060"/>
            <a:ext cx="70782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5050"/>
                </a:solidFill>
              </a:rPr>
              <a:t>分类就是把一些新的数据项映射到给定类别中的某一个类别</a:t>
            </a:r>
          </a:p>
          <a:p>
            <a:pPr eaLnBrk="1" hangingPunct="1">
              <a:buFontTx/>
              <a:buNone/>
            </a:pPr>
            <a:endParaRPr lang="en-US" altLang="zh-CN" sz="2800" b="1" dirty="0">
              <a:solidFill>
                <a:srgbClr val="FF505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5050"/>
                </a:solidFill>
              </a:rPr>
              <a:t>实际上，分类对应机器学习中的有监督学习（</a:t>
            </a:r>
            <a:r>
              <a:rPr lang="en-US" altLang="zh-CN" sz="2800" b="1" dirty="0">
                <a:solidFill>
                  <a:srgbClr val="FF5050"/>
                </a:solidFill>
              </a:rPr>
              <a:t>S</a:t>
            </a:r>
            <a:r>
              <a:rPr lang="zh-CN" altLang="en-US" sz="2800" b="1" dirty="0">
                <a:solidFill>
                  <a:srgbClr val="FF5050"/>
                </a:solidFill>
              </a:rPr>
              <a:t>upervised </a:t>
            </a:r>
            <a:r>
              <a:rPr lang="en-US" altLang="zh-CN" sz="2800" b="1" dirty="0">
                <a:solidFill>
                  <a:srgbClr val="FF5050"/>
                </a:solidFill>
              </a:rPr>
              <a:t>L</a:t>
            </a:r>
            <a:r>
              <a:rPr lang="zh-CN" altLang="en-US" sz="2800" b="1" dirty="0">
                <a:solidFill>
                  <a:srgbClr val="FF5050"/>
                </a:solidFill>
              </a:rPr>
              <a:t>earning），而聚类是无监督学习（</a:t>
            </a:r>
            <a:r>
              <a:rPr lang="en-US" altLang="zh-CN" sz="2800" b="1" dirty="0">
                <a:solidFill>
                  <a:srgbClr val="FF5050"/>
                </a:solidFill>
              </a:rPr>
              <a:t>U</a:t>
            </a:r>
            <a:r>
              <a:rPr lang="zh-CN" altLang="en-US" sz="2800" b="1" dirty="0">
                <a:solidFill>
                  <a:srgbClr val="FF5050"/>
                </a:solidFill>
              </a:rPr>
              <a:t>nsupervised </a:t>
            </a:r>
            <a:r>
              <a:rPr lang="en-US" altLang="zh-CN" sz="2800" b="1" dirty="0">
                <a:solidFill>
                  <a:srgbClr val="FF5050"/>
                </a:solidFill>
              </a:rPr>
              <a:t>L</a:t>
            </a:r>
            <a:r>
              <a:rPr lang="zh-CN" altLang="en-US" sz="2800" b="1" dirty="0">
                <a:solidFill>
                  <a:srgbClr val="FF5050"/>
                </a:solidFill>
              </a:rPr>
              <a:t>earning）</a:t>
            </a:r>
            <a:endParaRPr lang="zh-CN" altLang="en-US" sz="2400" dirty="0">
              <a:solidFill>
                <a:srgbClr val="FF505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7051" y="1264613"/>
            <a:ext cx="22445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zh-CN" alt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itchFamily="34" charset="0"/>
              </a:rPr>
              <a:t>分类的定义</a:t>
            </a:r>
          </a:p>
        </p:txBody>
      </p:sp>
      <p:grpSp>
        <p:nvGrpSpPr>
          <p:cNvPr id="13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15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19" name="剪去单角的矩形 7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16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340403" cy="1085714"/>
              <a:chOff x="714348" y="500042"/>
              <a:chExt cx="5340403" cy="1085714"/>
            </a:xfrm>
          </p:grpSpPr>
          <p:sp>
            <p:nvSpPr>
              <p:cNvPr id="17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349624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Q1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什么是分类</a:t>
                </a:r>
              </a:p>
            </p:txBody>
          </p:sp>
          <p:pic>
            <p:nvPicPr>
              <p:cNvPr id="18" name="图片 10" descr="ICON2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738460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187" name="Group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990425"/>
              </p:ext>
            </p:extLst>
          </p:nvPr>
        </p:nvGraphicFramePr>
        <p:xfrm>
          <a:off x="705644" y="1076855"/>
          <a:ext cx="7531100" cy="4331481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1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2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名称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胎生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会飞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水中生活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有腿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类别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Human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python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salmon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whale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frog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有时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komodo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bat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pigeon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cat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leopard_shark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turtle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有时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penguin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有时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porcupine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eel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salamander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有时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gila_monster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platypus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owl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dolphin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67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eagle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非哺乳动物</a:t>
                      </a:r>
                    </a:p>
                  </a:txBody>
                  <a:tcPr marL="6111" marR="6111" marT="5093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87176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707259"/>
              </p:ext>
            </p:extLst>
          </p:nvPr>
        </p:nvGraphicFramePr>
        <p:xfrm>
          <a:off x="1043608" y="4177647"/>
          <a:ext cx="6324600" cy="582676"/>
        </p:xfrm>
        <a:graphic>
          <a:graphicData uri="http://schemas.openxmlformats.org/drawingml/2006/table">
            <a:tbl>
              <a:tblPr/>
              <a:tblGrid>
                <a:gridCol w="112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胎生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会飞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水中生活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有腿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类别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Arial" charset="0"/>
                        </a:rPr>
                        <a:t>？</a:t>
                      </a:r>
                    </a:p>
                  </a:txBody>
                  <a:tcPr marL="7620" marR="7620" marT="635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12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16" name="剪去单角的矩形 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13" name="组合 7"/>
            <p:cNvGrpSpPr>
              <a:grpSpLocks/>
            </p:cNvGrpSpPr>
            <p:nvPr/>
          </p:nvGrpSpPr>
          <p:grpSpPr bwMode="auto">
            <a:xfrm>
              <a:off x="428596" y="571480"/>
              <a:ext cx="4749303" cy="1085714"/>
              <a:chOff x="714348" y="500042"/>
              <a:chExt cx="4749303" cy="1085714"/>
            </a:xfrm>
          </p:grpSpPr>
          <p:sp>
            <p:nvSpPr>
              <p:cNvPr id="14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3758524" cy="96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Q2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分类问题</a:t>
                </a:r>
              </a:p>
            </p:txBody>
          </p:sp>
          <p:pic>
            <p:nvPicPr>
              <p:cNvPr id="15" name="图片 10" descr="ICON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94601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6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88067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88068" name="剪去单角的矩形 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8069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88070" name="组合 7"/>
            <p:cNvGrpSpPr>
              <a:grpSpLocks/>
            </p:cNvGrpSpPr>
            <p:nvPr/>
          </p:nvGrpSpPr>
          <p:grpSpPr bwMode="auto">
            <a:xfrm>
              <a:off x="428596" y="571480"/>
              <a:ext cx="4749303" cy="1085714"/>
              <a:chOff x="714348" y="500042"/>
              <a:chExt cx="4749303" cy="1085714"/>
            </a:xfrm>
          </p:grpSpPr>
          <p:sp>
            <p:nvSpPr>
              <p:cNvPr id="88071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3758524" cy="96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Q2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分类问题</a:t>
                </a:r>
              </a:p>
            </p:txBody>
          </p:sp>
          <p:pic>
            <p:nvPicPr>
              <p:cNvPr id="88072" name="图片 10" descr="ICON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aphicFrame>
        <p:nvGraphicFramePr>
          <p:cNvPr id="88135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684911"/>
              </p:ext>
            </p:extLst>
          </p:nvPr>
        </p:nvGraphicFramePr>
        <p:xfrm>
          <a:off x="720918" y="1237320"/>
          <a:ext cx="5867400" cy="4011930"/>
        </p:xfrm>
        <a:graphic>
          <a:graphicData uri="http://schemas.openxmlformats.org/drawingml/2006/table">
            <a:tbl>
              <a:tblPr/>
              <a:tblGrid>
                <a:gridCol w="82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税号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去年退税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婚姻状况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可征税收入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逃税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125k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100k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120k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离婚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95k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离婚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220k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9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3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10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90k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0" fontAlgn="b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27577"/>
                        </a:buClr>
                        <a:buSzPct val="90000"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4901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81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254749"/>
              </p:ext>
            </p:extLst>
          </p:nvPr>
        </p:nvGraphicFramePr>
        <p:xfrm>
          <a:off x="323851" y="5305772"/>
          <a:ext cx="8424863" cy="33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83080" imgH="215640" progId="">
                  <p:embed/>
                </p:oleObj>
              </mc:Choice>
              <mc:Fallback>
                <p:oleObj name="Equation" r:id="rId4" imgW="4483080" imgH="215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1" y="5305772"/>
                        <a:ext cx="8424863" cy="3373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796136" y="1076855"/>
            <a:ext cx="792182" cy="41569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48264" y="2800985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类别属性</a:t>
            </a:r>
          </a:p>
        </p:txBody>
      </p:sp>
      <p:sp>
        <p:nvSpPr>
          <p:cNvPr id="4" name="左箭头 3"/>
          <p:cNvSpPr/>
          <p:nvPr/>
        </p:nvSpPr>
        <p:spPr>
          <a:xfrm>
            <a:off x="6588318" y="2866574"/>
            <a:ext cx="359946" cy="352919"/>
          </a:xfrm>
          <a:prstGeom prst="leftArrow">
            <a:avLst/>
          </a:prstGeom>
          <a:solidFill>
            <a:srgbClr val="008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351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7" name="TextBox 9"/>
          <p:cNvSpPr txBox="1">
            <a:spLocks noChangeArrowheads="1"/>
          </p:cNvSpPr>
          <p:nvPr/>
        </p:nvSpPr>
        <p:spPr bwMode="auto">
          <a:xfrm>
            <a:off x="357188" y="1428750"/>
            <a:ext cx="86439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/>
          </a:p>
        </p:txBody>
      </p:sp>
      <p:sp>
        <p:nvSpPr>
          <p:cNvPr id="89098" name="TextBox 9"/>
          <p:cNvSpPr txBox="1">
            <a:spLocks noChangeArrowheads="1"/>
          </p:cNvSpPr>
          <p:nvPr/>
        </p:nvSpPr>
        <p:spPr bwMode="auto">
          <a:xfrm>
            <a:off x="642938" y="1428750"/>
            <a:ext cx="80724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0064" y="1369219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lang="zh-CN" altLang="en-US" sz="2400" kern="1400" dirty="0"/>
              <a:t>       </a:t>
            </a:r>
            <a:r>
              <a:rPr lang="en-US" altLang="zh-CN" sz="2400" kern="1400" dirty="0"/>
              <a:t> </a:t>
            </a:r>
            <a:endParaRPr lang="zh-CN" altLang="en-US" sz="2400" kern="1400" dirty="0"/>
          </a:p>
        </p:txBody>
      </p:sp>
      <p:graphicFrame>
        <p:nvGraphicFramePr>
          <p:cNvPr id="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619014"/>
              </p:ext>
            </p:extLst>
          </p:nvPr>
        </p:nvGraphicFramePr>
        <p:xfrm>
          <a:off x="684213" y="1297782"/>
          <a:ext cx="7245350" cy="2753594"/>
        </p:xfrm>
        <a:graphic>
          <a:graphicData uri="http://schemas.openxmlformats.org/drawingml/2006/table">
            <a:tbl>
              <a:tblPr/>
              <a:tblGrid>
                <a:gridCol w="1004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动物种类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翅膀数量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脚的只数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是否产蛋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是否有毛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594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狗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猪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麻雀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天鹅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大雁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动物A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无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？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动物B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？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79513" y="4297660"/>
            <a:ext cx="8535863" cy="800365"/>
          </a:xfrm>
          <a:prstGeom prst="rect">
            <a:avLst/>
          </a:prstGeom>
          <a:ln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b="1" dirty="0">
                <a:solidFill>
                  <a:srgbClr val="660033"/>
                </a:solidFill>
                <a:latin typeface="+mn-lt"/>
                <a:ea typeface="+mn-ea"/>
              </a:rPr>
              <a:t>根据现有的知识，得到了一些关于哺乳动物和鸟类的信息，我们能否对新发现的物种，比如动物A，动物B进行分类？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grpSp>
        <p:nvGrpSpPr>
          <p:cNvPr id="15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16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20" name="剪去单角的矩形 7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340404" cy="1085714"/>
              <a:chOff x="714348" y="500042"/>
              <a:chExt cx="5340404" cy="1085714"/>
            </a:xfrm>
          </p:grpSpPr>
          <p:sp>
            <p:nvSpPr>
              <p:cNvPr id="18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349625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Q3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分类的流程</a:t>
                </a:r>
              </a:p>
            </p:txBody>
          </p:sp>
          <p:pic>
            <p:nvPicPr>
              <p:cNvPr id="19" name="图片 10" descr="ICON2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817401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21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503298"/>
              </p:ext>
            </p:extLst>
          </p:nvPr>
        </p:nvGraphicFramePr>
        <p:xfrm>
          <a:off x="269231" y="2922660"/>
          <a:ext cx="8429625" cy="2516091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动物种类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翅膀数量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脚的只数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是否产蛋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是否有毛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11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狗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猪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3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麻雀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57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天鹅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57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大雁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1204" name="TextBox 4"/>
          <p:cNvSpPr txBox="1">
            <a:spLocks noChangeArrowheads="1"/>
          </p:cNvSpPr>
          <p:nvPr/>
        </p:nvSpPr>
        <p:spPr bwMode="auto">
          <a:xfrm>
            <a:off x="1000126" y="357188"/>
            <a:ext cx="6715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69231" y="1285098"/>
            <a:ext cx="8263209" cy="1140354"/>
          </a:xfrm>
          <a:prstGeom prst="rect">
            <a:avLst/>
          </a:prstGeom>
          <a:ln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Calibri" pitchFamily="34" charset="0"/>
              </a:rPr>
              <a:t>步骤一</a:t>
            </a:r>
            <a:r>
              <a:rPr lang="zh-CN" altLang="en-US" sz="2600" b="1" dirty="0">
                <a:solidFill>
                  <a:srgbClr val="660033"/>
                </a:solidFill>
                <a:latin typeface="Calibri" pitchFamily="34" charset="0"/>
              </a:rPr>
              <a:t>：将样本转化为等维的数据特征（特征提取）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zh-CN" altLang="en-US" sz="2600" dirty="0">
                <a:solidFill>
                  <a:srgbClr val="660033"/>
                </a:solidFill>
                <a:latin typeface="Calibri" pitchFamily="34" charset="0"/>
                <a:ea typeface="华文新魏" pitchFamily="2" charset="-122"/>
              </a:rPr>
              <a:t>所有样本必须具有相同数量的特征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zh-CN" altLang="en-US" sz="2600" dirty="0">
                <a:solidFill>
                  <a:srgbClr val="660033"/>
                </a:solidFill>
                <a:latin typeface="Calibri" pitchFamily="34" charset="0"/>
                <a:ea typeface="华文新魏" pitchFamily="2" charset="-122"/>
              </a:rPr>
              <a:t>兼顾特征的全面性和独立性</a:t>
            </a:r>
            <a:endParaRPr lang="zh-CN" altLang="en-US" sz="2600" dirty="0">
              <a:latin typeface="Calibri" pitchFamily="34" charset="0"/>
            </a:endParaRPr>
          </a:p>
        </p:txBody>
      </p:sp>
      <p:grpSp>
        <p:nvGrpSpPr>
          <p:cNvPr id="12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13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17" name="剪去单角的矩形 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14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340404" cy="1085714"/>
              <a:chOff x="714348" y="500042"/>
              <a:chExt cx="5340404" cy="1085714"/>
            </a:xfrm>
          </p:grpSpPr>
          <p:sp>
            <p:nvSpPr>
              <p:cNvPr id="15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349625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Q3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分类的流程</a:t>
                </a:r>
              </a:p>
            </p:txBody>
          </p:sp>
          <p:pic>
            <p:nvPicPr>
              <p:cNvPr id="16" name="图片 10" descr="ICON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70389213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Box 4"/>
          <p:cNvSpPr txBox="1">
            <a:spLocks noChangeArrowheads="1"/>
          </p:cNvSpPr>
          <p:nvPr/>
        </p:nvSpPr>
        <p:spPr bwMode="auto">
          <a:xfrm>
            <a:off x="1000126" y="357188"/>
            <a:ext cx="6715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en-US"/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506862"/>
              </p:ext>
            </p:extLst>
          </p:nvPr>
        </p:nvGraphicFramePr>
        <p:xfrm>
          <a:off x="397669" y="2816897"/>
          <a:ext cx="7920037" cy="2469762"/>
        </p:xfrm>
        <a:graphic>
          <a:graphicData uri="http://schemas.openxmlformats.org/drawingml/2006/table">
            <a:tbl>
              <a:tblPr/>
              <a:tblGrid>
                <a:gridCol w="109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780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动物种类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翅膀数量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脚的只数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是否产蛋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是否有毛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11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狗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猪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282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牛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否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哺乳动物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511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麻雀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57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天鹅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57"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大雁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3CDD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是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lnSpc>
                          <a:spcPct val="110000"/>
                        </a:lnSpc>
                        <a:spcBef>
                          <a:spcPts val="1800"/>
                        </a:spcBef>
                        <a:buClr>
                          <a:srgbClr val="227577"/>
                        </a:buClr>
                        <a:buSzPct val="90000"/>
                        <a:buFont typeface="Webdings" pitchFamily="18" charset="2"/>
                        <a:defRPr sz="2000">
                          <a:solidFill>
                            <a:schemeClr val="accent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just" eaLnBrk="0" hangingPunct="0">
                        <a:lnSpc>
                          <a:spcPct val="130000"/>
                        </a:lnSpc>
                        <a:spcAft>
                          <a:spcPts val="600"/>
                        </a:spcAft>
                        <a:buClr>
                          <a:srgbClr val="B7CEB5"/>
                        </a:buClr>
                        <a:buFont typeface="幼圆" pitchFamily="49" charset="-122"/>
                        <a:defRPr sz="2000">
                          <a:solidFill>
                            <a:srgbClr val="7D7D7D"/>
                          </a:solidFill>
                          <a:latin typeface="幼圆" pitchFamily="49" charset="-122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  <a:ea typeface="幼圆" pitchFamily="49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鸟类</a:t>
                      </a:r>
                    </a:p>
                  </a:txBody>
                  <a:tcPr marT="38100" marB="38100" horzOverflow="overflow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69231" y="1285098"/>
            <a:ext cx="8263209" cy="1140354"/>
          </a:xfrm>
          <a:prstGeom prst="rect">
            <a:avLst/>
          </a:prstGeom>
          <a:ln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Calibri" pitchFamily="34" charset="0"/>
              </a:rPr>
              <a:t>步骤二</a:t>
            </a:r>
            <a:r>
              <a:rPr lang="zh-CN" altLang="en-US" sz="2600" b="1" dirty="0">
                <a:solidFill>
                  <a:srgbClr val="660033"/>
                </a:solidFill>
                <a:latin typeface="Calibri" pitchFamily="34" charset="0"/>
              </a:rPr>
              <a:t>：选择与类别相关的特征（特征选择）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zh-CN" altLang="en-US" sz="2600" dirty="0">
                <a:solidFill>
                  <a:srgbClr val="660033"/>
                </a:solidFill>
                <a:latin typeface="Calibri" pitchFamily="34" charset="0"/>
                <a:ea typeface="华文新魏" pitchFamily="2" charset="-122"/>
              </a:rPr>
              <a:t>比如，绿色代表与类别非常相关，黑色代表部分相关，浅蓝色代表完全无关</a:t>
            </a:r>
          </a:p>
        </p:txBody>
      </p:sp>
      <p:grpSp>
        <p:nvGrpSpPr>
          <p:cNvPr id="13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14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18" name="剪去单角的矩形 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15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340404" cy="1085714"/>
              <a:chOff x="714348" y="500042"/>
              <a:chExt cx="5340404" cy="1085714"/>
            </a:xfrm>
          </p:grpSpPr>
          <p:sp>
            <p:nvSpPr>
              <p:cNvPr id="16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349625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Q3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分类的流程</a:t>
                </a:r>
              </a:p>
            </p:txBody>
          </p:sp>
          <p:pic>
            <p:nvPicPr>
              <p:cNvPr id="17" name="图片 10" descr="ICON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38215628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7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3996309"/>
              </p:ext>
            </p:extLst>
          </p:nvPr>
        </p:nvGraphicFramePr>
        <p:xfrm>
          <a:off x="800435" y="2929508"/>
          <a:ext cx="7128792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00437" imgH="304877" progId="Equation.3">
                  <p:embed/>
                </p:oleObj>
              </mc:Choice>
              <mc:Fallback>
                <p:oleObj r:id="rId2" imgW="2400437" imgH="30487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35" y="2929508"/>
                        <a:ext cx="7128792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269231" y="1285098"/>
            <a:ext cx="8263209" cy="1140354"/>
          </a:xfrm>
          <a:prstGeom prst="rect">
            <a:avLst/>
          </a:prstGeom>
          <a:ln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Calibri" pitchFamily="34" charset="0"/>
              </a:rPr>
              <a:t>步骤三</a:t>
            </a:r>
            <a:r>
              <a:rPr lang="zh-CN" altLang="en-US" sz="2600" b="1" dirty="0">
                <a:solidFill>
                  <a:srgbClr val="660033"/>
                </a:solidFill>
                <a:latin typeface="Calibri" pitchFamily="34" charset="0"/>
              </a:rPr>
              <a:t>：建立分类模型或分类器（分类）</a:t>
            </a:r>
            <a:endParaRPr lang="zh-CN" altLang="en-US" sz="2600" dirty="0">
              <a:solidFill>
                <a:srgbClr val="660033"/>
              </a:solidFill>
              <a:latin typeface="Calibri" pitchFamily="34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zh-CN" altLang="en-US" sz="2600" dirty="0">
                <a:solidFill>
                  <a:srgbClr val="660033"/>
                </a:solidFill>
                <a:latin typeface="Calibri" pitchFamily="34" charset="0"/>
                <a:ea typeface="华文新魏" pitchFamily="2" charset="-122"/>
              </a:rPr>
              <a:t>分类器通常可以看作一个函数，它把特征映射到类的空间上</a:t>
            </a:r>
            <a:endParaRPr lang="zh-CN" altLang="en-US" sz="2600" dirty="0">
              <a:latin typeface="Calibri" pitchFamily="34" charset="0"/>
              <a:ea typeface="华文新魏" pitchFamily="2" charset="-122"/>
            </a:endParaRPr>
          </a:p>
        </p:txBody>
      </p:sp>
      <p:grpSp>
        <p:nvGrpSpPr>
          <p:cNvPr id="19" name="组合 6"/>
          <p:cNvGrpSpPr>
            <a:grpSpLocks/>
          </p:cNvGrpSpPr>
          <p:nvPr/>
        </p:nvGrpSpPr>
        <p:grpSpPr bwMode="auto">
          <a:xfrm>
            <a:off x="1285875" y="1"/>
            <a:ext cx="6370638" cy="1076854"/>
            <a:chOff x="-376793" y="549348"/>
            <a:chExt cx="6673704" cy="1353900"/>
          </a:xfrm>
        </p:grpSpPr>
        <p:grpSp>
          <p:nvGrpSpPr>
            <p:cNvPr id="20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24" name="剪去单角的矩形 7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21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340404" cy="1085714"/>
              <a:chOff x="714348" y="500042"/>
              <a:chExt cx="5340404" cy="1085714"/>
            </a:xfrm>
          </p:grpSpPr>
          <p:sp>
            <p:nvSpPr>
              <p:cNvPr id="22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349625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4400" b="1" dirty="0">
                    <a:latin typeface="微软雅黑" pitchFamily="34" charset="-122"/>
                    <a:ea typeface="微软雅黑" pitchFamily="34" charset="-122"/>
                  </a:rPr>
                  <a:t>Q3  </a:t>
                </a: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分类的流程</a:t>
                </a:r>
              </a:p>
            </p:txBody>
          </p:sp>
          <p:pic>
            <p:nvPicPr>
              <p:cNvPr id="23" name="图片 10" descr="ICON2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5608671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400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72504"/>
              </p:ext>
            </p:extLst>
          </p:nvPr>
        </p:nvGraphicFramePr>
        <p:xfrm>
          <a:off x="900113" y="1195751"/>
          <a:ext cx="5867400" cy="3677973"/>
        </p:xfrm>
        <a:graphic>
          <a:graphicData uri="http://schemas.openxmlformats.org/drawingml/2006/table">
            <a:tbl>
              <a:tblPr/>
              <a:tblGrid>
                <a:gridCol w="823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税号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去年退税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婚姻状况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可征税收入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逃税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125k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100k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70k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120k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离婚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95k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6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60k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7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离婚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220k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8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85k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9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婚姻中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75k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10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否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单身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90k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itchFamily="34" charset="0"/>
                          <a:ea typeface="宋体" pitchFamily="2" charset="-122"/>
                          <a:cs typeface="Arial" charset="0"/>
                        </a:rPr>
                        <a:t>是</a:t>
                      </a: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3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Franklin Gothic Book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Tx/>
                        <a:buNone/>
                        <a:tabLst/>
                      </a:pP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itchFamily="34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7620" marR="7620" marT="635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490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9939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377769"/>
              </p:ext>
            </p:extLst>
          </p:nvPr>
        </p:nvGraphicFramePr>
        <p:xfrm>
          <a:off x="490859" y="5076825"/>
          <a:ext cx="83296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31960" imgH="215640" progId="Equation.DSMT4">
                  <p:embed/>
                </p:oleObj>
              </mc:Choice>
              <mc:Fallback>
                <p:oleObj name="Equation" r:id="rId2" imgW="4431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9" y="5076825"/>
                        <a:ext cx="8329613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99" name="Rectangle 71"/>
          <p:cNvSpPr>
            <a:spLocks noChangeArrowheads="1"/>
          </p:cNvSpPr>
          <p:nvPr/>
        </p:nvSpPr>
        <p:spPr bwMode="auto">
          <a:xfrm>
            <a:off x="5867400" y="1195751"/>
            <a:ext cx="914400" cy="3660511"/>
          </a:xfrm>
          <a:prstGeom prst="rect">
            <a:avLst/>
          </a:prstGeom>
          <a:solidFill>
            <a:srgbClr val="9BFA8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401" name="Text Box 73"/>
          <p:cNvSpPr txBox="1">
            <a:spLocks noChangeArrowheads="1"/>
          </p:cNvSpPr>
          <p:nvPr/>
        </p:nvSpPr>
        <p:spPr bwMode="auto">
          <a:xfrm>
            <a:off x="7531729" y="2033838"/>
            <a:ext cx="10810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聚类</a:t>
            </a:r>
          </a:p>
        </p:txBody>
      </p:sp>
      <p:sp>
        <p:nvSpPr>
          <p:cNvPr id="99402" name="AutoShape 74"/>
          <p:cNvSpPr>
            <a:spLocks noChangeArrowheads="1"/>
          </p:cNvSpPr>
          <p:nvPr/>
        </p:nvSpPr>
        <p:spPr bwMode="auto">
          <a:xfrm flipV="1">
            <a:off x="6012161" y="2095768"/>
            <a:ext cx="1512590" cy="420935"/>
          </a:xfrm>
          <a:prstGeom prst="leftArrow">
            <a:avLst>
              <a:gd name="adj1" fmla="val 50000"/>
              <a:gd name="adj2" fmla="val 7486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7612189" y="3595563"/>
            <a:ext cx="10810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5050"/>
                </a:solidFill>
              </a:rPr>
              <a:t>分类</a:t>
            </a:r>
          </a:p>
        </p:txBody>
      </p:sp>
      <p:sp>
        <p:nvSpPr>
          <p:cNvPr id="15" name="AutoShape 74"/>
          <p:cNvSpPr>
            <a:spLocks noChangeArrowheads="1"/>
          </p:cNvSpPr>
          <p:nvPr/>
        </p:nvSpPr>
        <p:spPr bwMode="auto">
          <a:xfrm>
            <a:off x="6747003" y="3715949"/>
            <a:ext cx="865187" cy="240771"/>
          </a:xfrm>
          <a:prstGeom prst="leftArrow">
            <a:avLst>
              <a:gd name="adj1" fmla="val 50000"/>
              <a:gd name="adj2" fmla="val 74863"/>
            </a:avLst>
          </a:prstGeom>
          <a:solidFill>
            <a:srgbClr val="9BFA8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" name="组合 6"/>
          <p:cNvGrpSpPr>
            <a:grpSpLocks/>
          </p:cNvGrpSpPr>
          <p:nvPr/>
        </p:nvGrpSpPr>
        <p:grpSpPr bwMode="auto">
          <a:xfrm>
            <a:off x="1285875" y="1"/>
            <a:ext cx="6413322" cy="1076854"/>
            <a:chOff x="-376793" y="549348"/>
            <a:chExt cx="6718419" cy="1353900"/>
          </a:xfrm>
        </p:grpSpPr>
        <p:grpSp>
          <p:nvGrpSpPr>
            <p:cNvPr id="21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25" name="剪去单角的矩形 7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22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913030" cy="1085714"/>
              <a:chOff x="714348" y="500042"/>
              <a:chExt cx="5913030" cy="1085714"/>
            </a:xfrm>
          </p:grpSpPr>
          <p:sp>
            <p:nvSpPr>
              <p:cNvPr id="23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922251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分类和聚类的区别</a:t>
                </a:r>
              </a:p>
            </p:txBody>
          </p:sp>
          <p:pic>
            <p:nvPicPr>
              <p:cNvPr id="24" name="图片 10" descr="ICON2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63727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99" grpId="0" animBg="1"/>
      <p:bldP spid="99401" grpId="0"/>
      <p:bldP spid="99402" grpId="0" animBg="1"/>
      <p:bldP spid="14" grpId="0"/>
      <p:bldP spid="14" grpId="1"/>
      <p:bldP spid="15" grpId="0" animBg="1"/>
      <p:bldP spid="1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357334"/>
            <a:ext cx="8361363" cy="2292254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b="1" dirty="0"/>
              <a:t>聚类：车牌识别</a:t>
            </a:r>
          </a:p>
          <a:p>
            <a:endParaRPr lang="zh-CN" altLang="en-US" sz="2800" b="1" dirty="0"/>
          </a:p>
          <a:p>
            <a:r>
              <a:rPr lang="zh-CN" altLang="en-US" sz="2800" b="1" dirty="0"/>
              <a:t>分类：疾病诊断、垃圾邮件识别、入侵检测识别</a:t>
            </a:r>
          </a:p>
        </p:txBody>
      </p:sp>
      <p:grpSp>
        <p:nvGrpSpPr>
          <p:cNvPr id="20" name="组合 6"/>
          <p:cNvGrpSpPr>
            <a:grpSpLocks/>
          </p:cNvGrpSpPr>
          <p:nvPr/>
        </p:nvGrpSpPr>
        <p:grpSpPr bwMode="auto">
          <a:xfrm>
            <a:off x="1285875" y="1"/>
            <a:ext cx="6413322" cy="1076854"/>
            <a:chOff x="-376793" y="549348"/>
            <a:chExt cx="6718419" cy="1353900"/>
          </a:xfrm>
        </p:grpSpPr>
        <p:grpSp>
          <p:nvGrpSpPr>
            <p:cNvPr id="21" name="剪去单角的矩形 7"/>
            <p:cNvGrpSpPr>
              <a:grpSpLocks/>
            </p:cNvGrpSpPr>
            <p:nvPr/>
          </p:nvGrpSpPr>
          <p:grpSpPr bwMode="auto">
            <a:xfrm>
              <a:off x="-376793" y="549348"/>
              <a:ext cx="6673704" cy="1353900"/>
              <a:chOff x="-359664" y="621792"/>
              <a:chExt cx="6370320" cy="1292352"/>
            </a:xfrm>
          </p:grpSpPr>
          <p:pic>
            <p:nvPicPr>
              <p:cNvPr id="25" name="剪去单角的矩形 7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59664" y="621792"/>
                <a:ext cx="6370320" cy="129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Text Box 4"/>
              <p:cNvSpPr txBox="1">
                <a:spLocks noChangeArrowheads="1"/>
              </p:cNvSpPr>
              <p:nvPr/>
            </p:nvSpPr>
            <p:spPr bwMode="auto">
              <a:xfrm>
                <a:off x="0" y="722475"/>
                <a:ext cx="5921200" cy="875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22" name="组合 7"/>
            <p:cNvGrpSpPr>
              <a:grpSpLocks/>
            </p:cNvGrpSpPr>
            <p:nvPr/>
          </p:nvGrpSpPr>
          <p:grpSpPr bwMode="auto">
            <a:xfrm>
              <a:off x="428596" y="571480"/>
              <a:ext cx="5913030" cy="1085714"/>
              <a:chOff x="714348" y="500042"/>
              <a:chExt cx="5913030" cy="1085714"/>
            </a:xfrm>
          </p:grpSpPr>
          <p:sp>
            <p:nvSpPr>
              <p:cNvPr id="23" name="TextBox 9"/>
              <p:cNvSpPr txBox="1">
                <a:spLocks noChangeArrowheads="1"/>
              </p:cNvSpPr>
              <p:nvPr/>
            </p:nvSpPr>
            <p:spPr bwMode="auto">
              <a:xfrm>
                <a:off x="1705127" y="503738"/>
                <a:ext cx="4922251" cy="96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sz="4400" b="1" dirty="0">
                    <a:latin typeface="微软雅黑" pitchFamily="34" charset="-122"/>
                    <a:ea typeface="微软雅黑" pitchFamily="34" charset="-122"/>
                  </a:rPr>
                  <a:t>分类和聚类的区别</a:t>
                </a:r>
              </a:p>
            </p:txBody>
          </p:sp>
          <p:pic>
            <p:nvPicPr>
              <p:cNvPr id="24" name="图片 10" descr="ICON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500042"/>
                <a:ext cx="1104762" cy="1085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6963296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08930" y="3793604"/>
            <a:ext cx="4883150" cy="583407"/>
          </a:xfrm>
        </p:spPr>
        <p:txBody>
          <a:bodyPr/>
          <a:lstStyle/>
          <a:p>
            <a:pPr>
              <a:defRPr/>
            </a:pPr>
            <a:r>
              <a:rPr lang="en-US" altLang="zh-CN" sz="4400" b="1" dirty="0"/>
              <a:t>k</a:t>
            </a:r>
            <a:r>
              <a:rPr lang="zh-CN" altLang="en-US" sz="4400" b="1" dirty="0"/>
              <a:t>近邻算法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zh-CN" altLang="en-US" dirty="0"/>
              <a:t>思考</a:t>
            </a:r>
            <a:endParaRPr lang="en-US" dirty="0"/>
          </a:p>
        </p:txBody>
      </p:sp>
      <p:graphicFrame>
        <p:nvGraphicFramePr>
          <p:cNvPr id="6193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19395"/>
              </p:ext>
            </p:extLst>
          </p:nvPr>
        </p:nvGraphicFramePr>
        <p:xfrm>
          <a:off x="849992" y="1471756"/>
          <a:ext cx="7250400" cy="3690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电影名称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打斗次数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谈话次数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电影类型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California Man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104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He’s Not Really into Dudes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Beautiful Woman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81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Kevin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Longblade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Robo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 Slayer 3000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99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5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Amped II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98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未知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18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Unknown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80" name="TextBox 7"/>
          <p:cNvSpPr txBox="1">
            <a:spLocks noChangeArrowheads="1"/>
          </p:cNvSpPr>
          <p:nvPr/>
        </p:nvSpPr>
        <p:spPr bwMode="auto">
          <a:xfrm>
            <a:off x="755651" y="811659"/>
            <a:ext cx="7561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猜猜看：最后一行未知电影属于什么类型的电影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zh-CN" altLang="en-US" dirty="0"/>
              <a:t>思考</a:t>
            </a:r>
            <a:endParaRPr lang="en-US" dirty="0"/>
          </a:p>
        </p:txBody>
      </p:sp>
      <p:graphicFrame>
        <p:nvGraphicFramePr>
          <p:cNvPr id="7213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245363"/>
              </p:ext>
            </p:extLst>
          </p:nvPr>
        </p:nvGraphicFramePr>
        <p:xfrm>
          <a:off x="900241" y="1489348"/>
          <a:ext cx="6336057" cy="3690000"/>
        </p:xfrm>
        <a:graphic>
          <a:graphicData uri="http://schemas.openxmlformats.org/drawingml/2006/table">
            <a:tbl>
              <a:tblPr/>
              <a:tblGrid>
                <a:gridCol w="158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X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坐标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Y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坐标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点类型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 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104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B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 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100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  <a:cs typeface="+mn-cs"/>
                        </a:rPr>
                        <a:t>C</a:t>
                      </a:r>
                      <a:r>
                        <a:rPr kumimoji="0" lang="zh-CN" altLang="en-US" sz="2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  <a:cs typeface="+mn-cs"/>
                        </a:rPr>
                        <a:t>点</a:t>
                      </a:r>
                      <a:r>
                        <a:rPr kumimoji="0" lang="en-US" altLang="zh-CN" sz="2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  <a:cs typeface="+mn-cs"/>
                        </a:rPr>
                        <a:t> 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81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Romance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D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 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101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E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 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99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5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F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  <a:endParaRPr kumimoji="0" lang="en-US" altLang="zh-CN" sz="23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98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Action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G</a:t>
                      </a: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点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18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90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Unknown</a:t>
                      </a:r>
                    </a:p>
                  </a:txBody>
                  <a:tcPr marL="6546" marR="6546" marT="5453" marB="545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04" name="TextBox 7"/>
          <p:cNvSpPr txBox="1">
            <a:spLocks noChangeArrowheads="1"/>
          </p:cNvSpPr>
          <p:nvPr/>
        </p:nvSpPr>
        <p:spPr bwMode="auto">
          <a:xfrm>
            <a:off x="755651" y="811659"/>
            <a:ext cx="6715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猜猜看：最后一行未知点属于什么类型的点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001515"/>
            <a:ext cx="4174286" cy="2470145"/>
          </a:xfr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zh-CN" altLang="en-US" dirty="0"/>
              <a:t>揭晓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7504" y="1405721"/>
            <a:ext cx="504056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plt.rcParams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font.sans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-serif"] = ["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SimHei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 = ["California Man", "He's Not Really into Dudes", "Beautiful Woman",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"Kevin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Longblade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Slayer 3000", "Amped II", "Unknown"]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= ["Romance", "Romance", "Romance", "Action", "Action", "Action", "Unknown"]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 = ["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darkblue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"red", "green"]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{label: color for (label, color) in zip(set(labels), colors)}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[3, 8, 1, 111, 99, 88, 18]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[104, 95, 81, 15, 2, 10, 88]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通过打斗次数和接吻次数判断电影类型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=18)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电影中打斗镜头出现的次数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=16)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电影中接吻镜头出现的次数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=16)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绘制数据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(X)):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散点图绘制</a:t>
            </a:r>
          </a:p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Y[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color=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[labels[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每个点增加描述信息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range(0, 7):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plt.text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]+2, Y[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]-1, names[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=14)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932040" y="2611279"/>
            <a:ext cx="3275587" cy="24622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{'Action': '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darkblue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'Unknown': 'red', 'Romance': 'green'}</a:t>
            </a:r>
            <a:endParaRPr lang="zh-CN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34397" y="197424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755651" y="811659"/>
            <a:ext cx="6715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答案是：属于</a:t>
            </a:r>
            <a:r>
              <a:rPr lang="en-US" altLang="zh-CN" sz="2400" b="1" dirty="0">
                <a:solidFill>
                  <a:srgbClr val="3C3C3C"/>
                </a:solidFill>
                <a:cs typeface="Arial" charset="0"/>
              </a:rPr>
              <a:t>Romance</a:t>
            </a: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类型</a:t>
            </a:r>
          </a:p>
        </p:txBody>
      </p:sp>
    </p:spTree>
    <p:extLst>
      <p:ext uri="{BB962C8B-B14F-4D97-AF65-F5344CB8AC3E}">
        <p14:creationId xmlns:p14="http://schemas.microsoft.com/office/powerpoint/2010/main" val="2931179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zh-CN" altLang="en-US" dirty="0"/>
              <a:t>最近邻</a:t>
            </a:r>
            <a:r>
              <a:rPr dirty="0"/>
              <a:t>算法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4213" y="714374"/>
            <a:ext cx="7386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想一想：下面图片中只有三种豆，有三个豆是未知的种类，如何判定他们的种类？</a:t>
            </a:r>
          </a:p>
        </p:txBody>
      </p:sp>
      <p:pic>
        <p:nvPicPr>
          <p:cNvPr id="8196" name="Picture 4" descr="C:\Users\Administrator\Desktop\2284031_093426186103_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1" r="2684"/>
          <a:stretch/>
        </p:blipFill>
        <p:spPr bwMode="auto">
          <a:xfrm>
            <a:off x="755651" y="1766297"/>
            <a:ext cx="7205173" cy="282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4"/>
          <p:cNvSpPr txBox="1">
            <a:spLocks noChangeArrowheads="1"/>
          </p:cNvSpPr>
          <p:nvPr/>
        </p:nvSpPr>
        <p:spPr bwMode="auto">
          <a:xfrm>
            <a:off x="755651" y="4873724"/>
            <a:ext cx="82089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3C3C3C"/>
                </a:solidFill>
                <a:cs typeface="Arial" charset="0"/>
              </a:rPr>
              <a:t>1968</a:t>
            </a:r>
            <a:r>
              <a:rPr lang="zh-CN" altLang="en-US" sz="2800" b="1" dirty="0">
                <a:solidFill>
                  <a:srgbClr val="3C3C3C"/>
                </a:solidFill>
                <a:cs typeface="Arial" charset="0"/>
              </a:rPr>
              <a:t>年，</a:t>
            </a:r>
            <a:r>
              <a:rPr lang="en-US" altLang="zh-CN" sz="2800" b="1" dirty="0">
                <a:solidFill>
                  <a:srgbClr val="3C3C3C"/>
                </a:solidFill>
                <a:cs typeface="Arial" charset="0"/>
              </a:rPr>
              <a:t>Cover</a:t>
            </a:r>
            <a:r>
              <a:rPr lang="zh-CN" altLang="en-US" sz="2800" b="1" dirty="0">
                <a:solidFill>
                  <a:srgbClr val="3C3C3C"/>
                </a:solidFill>
                <a:cs typeface="Arial" charset="0"/>
              </a:rPr>
              <a:t>和</a:t>
            </a:r>
            <a:r>
              <a:rPr lang="en-US" altLang="zh-CN" sz="2800" b="1" dirty="0">
                <a:solidFill>
                  <a:srgbClr val="3C3C3C"/>
                </a:solidFill>
                <a:cs typeface="Arial" charset="0"/>
              </a:rPr>
              <a:t>Hart</a:t>
            </a:r>
            <a:r>
              <a:rPr lang="zh-CN" altLang="en-US" sz="2800" b="1" dirty="0">
                <a:solidFill>
                  <a:srgbClr val="3C3C3C"/>
                </a:solidFill>
                <a:cs typeface="Arial" charset="0"/>
              </a:rPr>
              <a:t>提出了最初的近邻法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dirty="0"/>
              <a:t>最近邻算法</a:t>
            </a:r>
            <a:endParaRPr lang="en-US" dirty="0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755576" y="769268"/>
            <a:ext cx="75311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提供一种思路，即：未知的豆离哪种豆最近就认为未知豆和该豆是同一种类</a:t>
            </a:r>
            <a:endParaRPr lang="en-US" altLang="zh-CN" sz="24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由此，我们引出</a:t>
            </a:r>
            <a:r>
              <a:rPr lang="zh-CN" altLang="en-US" sz="2400" b="1" dirty="0">
                <a:solidFill>
                  <a:srgbClr val="FF0000"/>
                </a:solidFill>
                <a:cs typeface="Arial" charset="0"/>
              </a:rPr>
              <a:t>最近邻算法</a:t>
            </a: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的定义：为了判定未知样本的类别，以全部训练样本作为代表点，计算未知样本与所有训练样本的距离，并以最近邻者的类别作为决策未知样本类别的唯一依据</a:t>
            </a:r>
            <a:endParaRPr lang="en-US" altLang="zh-CN" sz="24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但是，最近邻算法明显存在缺陷，我们来看一个例子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近邻算法的由来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55576" y="769268"/>
            <a:ext cx="6840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问题：有一个未知形状</a:t>
            </a:r>
            <a:r>
              <a:rPr lang="en-US" altLang="zh-CN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zh-CN" altLang="en-US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（图中绿色的圆点），如何判断</a:t>
            </a:r>
            <a:r>
              <a:rPr lang="en-US" altLang="zh-CN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zh-CN" altLang="en-US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是什么形状</a:t>
            </a:r>
            <a:r>
              <a:rPr lang="en-US" altLang="zh-CN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?</a:t>
            </a:r>
            <a:endParaRPr lang="zh-CN" altLang="en-US" sz="2400" b="1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7" name="Picture 5" descr="C:\Users\Administrator\Desktop\无标题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168" y="2031788"/>
            <a:ext cx="4552849" cy="34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5" descr="C:\Users\Administrator\Desktop\无标题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168" y="2297000"/>
            <a:ext cx="4552849" cy="34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Box 5"/>
          <p:cNvSpPr txBox="1">
            <a:spLocks noChangeArrowheads="1"/>
          </p:cNvSpPr>
          <p:nvPr/>
        </p:nvSpPr>
        <p:spPr bwMode="auto">
          <a:xfrm>
            <a:off x="684213" y="711776"/>
            <a:ext cx="676810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zh-CN" altLang="en-US" sz="2400" b="1" dirty="0">
                <a:solidFill>
                  <a:srgbClr val="FF0000"/>
                </a:solidFill>
                <a:cs typeface="Arial" charset="0"/>
              </a:rPr>
              <a:t>近邻算法</a:t>
            </a: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是最近邻算法的一种延伸，基本思路是：选择未知样本一定范围内确定个数的</a:t>
            </a:r>
            <a:r>
              <a:rPr lang="en-US" altLang="zh-CN" sz="2400" b="1" dirty="0">
                <a:solidFill>
                  <a:srgbClr val="3C3C3C"/>
                </a:solidFill>
                <a:cs typeface="Arial" charset="0"/>
              </a:rPr>
              <a:t>K</a:t>
            </a: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个样本，该</a:t>
            </a:r>
            <a:r>
              <a:rPr lang="en-US" altLang="zh-CN" sz="2400" b="1" dirty="0">
                <a:solidFill>
                  <a:srgbClr val="3C3C3C"/>
                </a:solidFill>
                <a:cs typeface="Arial" charset="0"/>
              </a:rPr>
              <a:t>K</a:t>
            </a:r>
            <a:r>
              <a:rPr lang="zh-CN" altLang="en-US" sz="2400" b="1" dirty="0">
                <a:solidFill>
                  <a:srgbClr val="3C3C3C"/>
                </a:solidFill>
                <a:cs typeface="Arial" charset="0"/>
              </a:rPr>
              <a:t>个样本大多数属于某一类型，则未知样本判定为该类型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近邻算法的由来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近邻算法的原理</a:t>
            </a:r>
          </a:p>
        </p:txBody>
      </p:sp>
      <p:sp>
        <p:nvSpPr>
          <p:cNvPr id="5" name="Rectangle 24"/>
          <p:cNvSpPr txBox="1">
            <a:spLocks noChangeArrowheads="1"/>
          </p:cNvSpPr>
          <p:nvPr/>
        </p:nvSpPr>
        <p:spPr bwMode="auto">
          <a:xfrm>
            <a:off x="467544" y="733491"/>
            <a:ext cx="7920880" cy="2700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40000"/>
              </a:lnSpc>
              <a:buFont typeface="Arial" charset="0"/>
              <a:buNone/>
            </a:pP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近邻（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k-Nearest Neighbor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800" b="1" dirty="0" err="1">
                <a:latin typeface="楷体" pitchFamily="49" charset="-122"/>
                <a:ea typeface="楷体" pitchFamily="49" charset="-122"/>
              </a:rPr>
              <a:t>kNN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）算法首先根据距离函数计算</a:t>
            </a:r>
            <a:r>
              <a:rPr lang="zh-CN" altLang="en-US" sz="2800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待分类样本</a:t>
            </a:r>
            <a:r>
              <a:rPr lang="en-US" altLang="zh-CN" sz="2800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sz="2800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每个训练样本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的距离作为相似度，然后选择与待分类样本距离最小的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个样本作为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的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个最近邻，最后以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的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个最近邻中的大多数样本所属的类别作为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的类别</a:t>
            </a:r>
            <a:endParaRPr lang="en-US" altLang="zh-CN" sz="2800" b="1" dirty="0">
              <a:latin typeface="楷体" pitchFamily="49" charset="-122"/>
              <a:ea typeface="楷体" pitchFamily="49" charset="-122"/>
            </a:endParaRPr>
          </a:p>
          <a:p>
            <a:pPr marL="0" indent="0" algn="just" eaLnBrk="1" hangingPunct="1">
              <a:lnSpc>
                <a:spcPct val="100000"/>
              </a:lnSpc>
              <a:buFont typeface="Arial" charset="0"/>
              <a:buNone/>
            </a:pPr>
            <a:endParaRPr lang="en-US" altLang="zh-CN" sz="2800" b="1" dirty="0">
              <a:latin typeface="楷体" pitchFamily="49" charset="-122"/>
              <a:ea typeface="楷体" pitchFamily="49" charset="-122"/>
            </a:endParaRPr>
          </a:p>
          <a:p>
            <a:pPr marL="0" indent="0" algn="just" eaLnBrk="1" hangingPunct="1">
              <a:lnSpc>
                <a:spcPct val="140000"/>
              </a:lnSpc>
              <a:buNone/>
            </a:pPr>
            <a:r>
              <a:rPr lang="zh-CN" altLang="en-US" sz="2800" dirty="0"/>
              <a:t>简单地说，</a:t>
            </a:r>
            <a:r>
              <a:rPr lang="en-US" altLang="zh-CN" sz="2800" b="1" dirty="0">
                <a:solidFill>
                  <a:srgbClr val="FF0000"/>
                </a:solidFill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</a:rPr>
              <a:t>近邻算法</a:t>
            </a:r>
            <a:r>
              <a:rPr lang="zh-CN" altLang="en-US" sz="2800" dirty="0"/>
              <a:t>采用</a:t>
            </a:r>
            <a:r>
              <a:rPr lang="zh-CN" altLang="en-US" sz="2800" u="sng" dirty="0">
                <a:solidFill>
                  <a:srgbClr val="FF0000"/>
                </a:solidFill>
              </a:rPr>
              <a:t>测量不同特征值之间的距离</a:t>
            </a:r>
            <a:r>
              <a:rPr lang="zh-CN" altLang="en-US" sz="2800" dirty="0"/>
              <a:t>方法</a:t>
            </a:r>
            <a:r>
              <a:rPr lang="zh-CN" altLang="en-US" sz="2800" dirty="0">
                <a:solidFill>
                  <a:srgbClr val="FF0000"/>
                </a:solidFill>
              </a:rPr>
              <a:t>进行分类</a:t>
            </a:r>
            <a:endParaRPr lang="en-US" altLang="zh-CN" sz="2800" dirty="0"/>
          </a:p>
          <a:p>
            <a:pPr marL="0" indent="0" algn="just" eaLnBrk="1" hangingPunct="1">
              <a:lnSpc>
                <a:spcPct val="140000"/>
              </a:lnSpc>
              <a:buFont typeface="Arial" charset="0"/>
              <a:buNone/>
            </a:pPr>
            <a:endParaRPr lang="zh-CN" altLang="en-US" sz="2800" b="1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97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/>
              <a:t>K-</a:t>
            </a:r>
            <a:r>
              <a:t>近邻算法工作原理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4294967295"/>
          </p:nvPr>
        </p:nvSpPr>
        <p:spPr>
          <a:xfrm>
            <a:off x="395536" y="913284"/>
            <a:ext cx="8064896" cy="3996444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zh-CN" altLang="en-US" sz="2800" dirty="0"/>
              <a:t>存在</a:t>
            </a:r>
            <a:r>
              <a:rPr lang="zh-CN" altLang="en-US" sz="2800" dirty="0">
                <a:solidFill>
                  <a:srgbClr val="FF0000"/>
                </a:solidFill>
              </a:rPr>
              <a:t>一个样本数据集合</a:t>
            </a:r>
            <a:r>
              <a:rPr lang="zh-CN" altLang="en-US" sz="2800" dirty="0"/>
              <a:t>，并且样本集中每个数据都存在</a:t>
            </a:r>
            <a:r>
              <a:rPr lang="zh-CN" altLang="en-US" sz="2800" dirty="0">
                <a:solidFill>
                  <a:srgbClr val="C00000"/>
                </a:solidFill>
              </a:rPr>
              <a:t>标签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zh-CN" altLang="en-US" sz="2800" dirty="0"/>
              <a:t>输入没有标签的新数据后，将新数据的每个特征与样本集中数据对应的特征进行比较，只</a:t>
            </a:r>
            <a:r>
              <a:rPr lang="zh-CN" altLang="en-US" sz="2800" dirty="0">
                <a:solidFill>
                  <a:srgbClr val="FF0000"/>
                </a:solidFill>
              </a:rPr>
              <a:t>关注样本数据集中前</a:t>
            </a:r>
            <a:r>
              <a:rPr lang="en-US" altLang="zh-CN" sz="2800" dirty="0">
                <a:solidFill>
                  <a:srgbClr val="FF0000"/>
                </a:solidFill>
              </a:rPr>
              <a:t>k</a:t>
            </a:r>
            <a:r>
              <a:rPr lang="zh-CN" altLang="en-US" sz="2800" dirty="0">
                <a:solidFill>
                  <a:srgbClr val="FF0000"/>
                </a:solidFill>
              </a:rPr>
              <a:t>个最相似的数据</a:t>
            </a:r>
            <a:r>
              <a:rPr lang="zh-CN" altLang="en-US" sz="2800" dirty="0"/>
              <a:t>，选择</a:t>
            </a:r>
            <a:r>
              <a:rPr lang="en-US" altLang="zh-CN" sz="2800" dirty="0"/>
              <a:t>k</a:t>
            </a:r>
            <a:r>
              <a:rPr lang="zh-CN" altLang="en-US" sz="2800" dirty="0"/>
              <a:t>个最相似数据中</a:t>
            </a:r>
            <a:r>
              <a:rPr lang="zh-CN" altLang="en-US" sz="2800" dirty="0">
                <a:solidFill>
                  <a:srgbClr val="C00000"/>
                </a:solidFill>
              </a:rPr>
              <a:t>出现次数最多</a:t>
            </a:r>
            <a:r>
              <a:rPr lang="zh-CN" altLang="en-US" sz="2800" dirty="0"/>
              <a:t>的分类，作为新标签的分类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4"/>
          <p:cNvSpPr txBox="1">
            <a:spLocks noChangeArrowheads="1"/>
          </p:cNvSpPr>
          <p:nvPr/>
        </p:nvSpPr>
        <p:spPr bwMode="auto">
          <a:xfrm>
            <a:off x="539552" y="901964"/>
            <a:ext cx="7920880" cy="368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62000" indent="-3048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81100" indent="-2667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近邻算法包括三个步骤：</a:t>
            </a:r>
            <a:endParaRPr lang="en-US" altLang="zh-CN" sz="3600" b="1" dirty="0">
              <a:solidFill>
                <a:srgbClr val="8A3600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8A3600"/>
                </a:solidFill>
                <a:latin typeface="楷体" pitchFamily="49" charset="-122"/>
                <a:ea typeface="楷体" pitchFamily="49" charset="-122"/>
              </a:rPr>
              <a:t>1. </a:t>
            </a:r>
            <a:r>
              <a:rPr lang="zh-CN" altLang="en-US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算距离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：给定测试对象，计算它与训练集中的每个对象的距离；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8A3600"/>
                </a:solidFill>
                <a:latin typeface="楷体" pitchFamily="49" charset="-122"/>
                <a:ea typeface="楷体" pitchFamily="49" charset="-122"/>
              </a:rPr>
              <a:t>2. </a:t>
            </a:r>
            <a:r>
              <a:rPr lang="zh-CN" altLang="en-US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找邻居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：圈定距离最近的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个训练对象，作为测试对象的近邻；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8A3600"/>
                </a:solidFill>
                <a:latin typeface="楷体" pitchFamily="49" charset="-122"/>
                <a:ea typeface="楷体" pitchFamily="49" charset="-122"/>
              </a:rPr>
              <a:t>3. </a:t>
            </a:r>
            <a:r>
              <a:rPr lang="zh-CN" altLang="en-US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做分类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：根据这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个近邻归属的主要类别，来对测试对象分类。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近邻算法的主要步骤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813" y="625252"/>
            <a:ext cx="7072312" cy="495520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dirty="0"/>
              <a:t>算法步骤：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step.1---</a:t>
            </a:r>
            <a:r>
              <a:rPr lang="zh-CN" altLang="en-US" sz="2000" b="1" dirty="0"/>
              <a:t>初始化距离为最大值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step.2---</a:t>
            </a:r>
            <a:r>
              <a:rPr lang="zh-CN" altLang="en-US" sz="2000" b="1" dirty="0"/>
              <a:t>计算未知样本和每个训练样本的距离</a:t>
            </a:r>
            <a:r>
              <a:rPr lang="en-US" altLang="zh-CN" sz="2000" b="1" dirty="0"/>
              <a:t>dist</a:t>
            </a:r>
            <a:endParaRPr lang="zh-CN" altLang="en-US" sz="2000" b="1" dirty="0"/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step.3---</a:t>
            </a:r>
            <a:r>
              <a:rPr lang="zh-CN" altLang="en-US" sz="2000" b="1" dirty="0"/>
              <a:t>得到目前</a:t>
            </a:r>
            <a:r>
              <a:rPr lang="en-US" altLang="zh-CN" sz="2000" b="1" dirty="0"/>
              <a:t>k</a:t>
            </a:r>
            <a:r>
              <a:rPr lang="zh-CN" altLang="en-US" sz="2000" b="1"/>
              <a:t>个最邻近</a:t>
            </a:r>
            <a:r>
              <a:rPr lang="zh-CN" altLang="en-US" sz="2000" b="1" dirty="0"/>
              <a:t>样本中的最大距离</a:t>
            </a:r>
            <a:r>
              <a:rPr lang="en-US" altLang="zh-CN" sz="2000" b="1" dirty="0" err="1"/>
              <a:t>maxdist</a:t>
            </a:r>
            <a:endParaRPr lang="en-US" altLang="zh-CN" sz="2000" b="1" dirty="0"/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step.4---</a:t>
            </a:r>
            <a:r>
              <a:rPr lang="zh-CN" altLang="en-US" sz="2000" b="1" dirty="0"/>
              <a:t>如果</a:t>
            </a:r>
            <a:r>
              <a:rPr lang="en-US" altLang="zh-CN" sz="2000" b="1" dirty="0"/>
              <a:t>dist</a:t>
            </a:r>
            <a:r>
              <a:rPr lang="zh-CN" altLang="en-US" sz="2000" b="1" dirty="0"/>
              <a:t>小于</a:t>
            </a:r>
            <a:r>
              <a:rPr lang="en-US" altLang="zh-CN" sz="2000" b="1" dirty="0" err="1"/>
              <a:t>maxdist</a:t>
            </a:r>
            <a:r>
              <a:rPr lang="zh-CN" altLang="en-US" sz="2000" b="1" dirty="0"/>
              <a:t>，则将该训练样本作为</a:t>
            </a:r>
            <a:r>
              <a:rPr lang="en-US" altLang="zh-CN" sz="2000" b="1" dirty="0"/>
              <a:t>k-</a:t>
            </a:r>
            <a:r>
              <a:rPr lang="zh-CN" altLang="en-US" sz="2000" b="1" dirty="0"/>
              <a:t>最近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邻样本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step.5---</a:t>
            </a:r>
            <a:r>
              <a:rPr lang="zh-CN" altLang="en-US" sz="2000" b="1" dirty="0"/>
              <a:t>重复步骤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，直到未知样本和所有训练样本的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距离都算完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step.6---</a:t>
            </a:r>
            <a:r>
              <a:rPr lang="zh-CN" altLang="en-US" sz="2000" b="1" dirty="0"/>
              <a:t>统计</a:t>
            </a:r>
            <a:r>
              <a:rPr lang="en-US" altLang="zh-CN" sz="2000" b="1" dirty="0"/>
              <a:t>k</a:t>
            </a:r>
            <a:r>
              <a:rPr lang="zh-CN" altLang="en-US" sz="2000" b="1" dirty="0"/>
              <a:t>个最近邻样本中每个类别出现的次数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step.7---</a:t>
            </a:r>
            <a:r>
              <a:rPr lang="zh-CN" altLang="en-US" sz="2000" b="1" dirty="0"/>
              <a:t>选择出现频率最大的类别作为未知样本的类别</a:t>
            </a:r>
          </a:p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近邻算法的具体实现步骤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C:\Users\Shinelon\Desktop\1011838-20190125174428395-640459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89348"/>
            <a:ext cx="8844634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832565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</a:t>
            </a:r>
            <a:r>
              <a:rPr lang="zh-CN" altLang="en-US" sz="320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值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取</a:t>
            </a:r>
            <a:r>
              <a:rPr lang="en-US" altLang="zh-CN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时，判断</a:t>
            </a:r>
            <a:r>
              <a:rPr lang="zh-CN" altLang="en-US" sz="3200" dirty="0">
                <a:solidFill>
                  <a:schemeClr val="accent6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绿色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点的类别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近邻算法的分析</a:t>
            </a:r>
          </a:p>
        </p:txBody>
      </p:sp>
    </p:spTree>
    <p:extLst>
      <p:ext uri="{BB962C8B-B14F-4D97-AF65-F5344CB8AC3E}">
        <p14:creationId xmlns:p14="http://schemas.microsoft.com/office/powerpoint/2010/main" val="1549052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C:\Users\Shinelon\Desktop\1011838-20190125174434360-153959046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2" y="1417340"/>
            <a:ext cx="9103418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832565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值取</a:t>
            </a:r>
            <a:r>
              <a:rPr lang="en-US" altLang="zh-CN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5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时，判断</a:t>
            </a:r>
            <a:r>
              <a:rPr lang="zh-CN" altLang="en-US" sz="3200" dirty="0">
                <a:solidFill>
                  <a:schemeClr val="accent6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绿色</a:t>
            </a:r>
            <a:r>
              <a:rPr lang="zh-CN" alt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点的类别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近邻算法的分析</a:t>
            </a:r>
          </a:p>
        </p:txBody>
      </p:sp>
    </p:spTree>
    <p:extLst>
      <p:ext uri="{BB962C8B-B14F-4D97-AF65-F5344CB8AC3E}">
        <p14:creationId xmlns:p14="http://schemas.microsoft.com/office/powerpoint/2010/main" val="894766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552" y="732681"/>
            <a:ext cx="770485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b="1" dirty="0"/>
              <a:t>当增大</a:t>
            </a:r>
            <a:r>
              <a:rPr lang="en-US" altLang="zh-CN" sz="2600" b="1" dirty="0"/>
              <a:t>k</a:t>
            </a:r>
            <a:r>
              <a:rPr lang="zh-CN" altLang="en-US" sz="2600" b="1" dirty="0"/>
              <a:t>值时，一般错误率会先降低，因为有周围更多的样本可以借鉴，但当</a:t>
            </a:r>
            <a:r>
              <a:rPr lang="en-US" altLang="zh-CN" sz="2600" b="1" dirty="0"/>
              <a:t>k</a:t>
            </a:r>
            <a:r>
              <a:rPr lang="zh-CN" altLang="en-US" sz="2600" b="1" dirty="0"/>
              <a:t>值更大的时候，错误率会更高，这也很好理解，比如说一共</a:t>
            </a:r>
            <a:r>
              <a:rPr lang="en-US" altLang="zh-CN" sz="2600" b="1" dirty="0"/>
              <a:t>35</a:t>
            </a:r>
            <a:r>
              <a:rPr lang="zh-CN" altLang="en-US" sz="2600" b="1" dirty="0"/>
              <a:t>个样本，当</a:t>
            </a:r>
            <a:r>
              <a:rPr lang="en-US" altLang="zh-CN" sz="2600" b="1" dirty="0"/>
              <a:t>k</a:t>
            </a:r>
            <a:r>
              <a:rPr lang="zh-CN" altLang="en-US" sz="2600" b="1" dirty="0"/>
              <a:t>增大到</a:t>
            </a:r>
            <a:r>
              <a:rPr lang="en-US" altLang="zh-CN" sz="2600" b="1" dirty="0"/>
              <a:t>30</a:t>
            </a:r>
            <a:r>
              <a:rPr lang="zh-CN" altLang="en-US" sz="2600" b="1" dirty="0"/>
              <a:t>的时候，</a:t>
            </a:r>
            <a:r>
              <a:rPr lang="en-US" altLang="zh-CN" sz="2600" b="1" dirty="0" err="1"/>
              <a:t>kNN</a:t>
            </a:r>
            <a:r>
              <a:rPr lang="zh-CN" altLang="en-US" sz="2600" b="1" dirty="0"/>
              <a:t>基本上就没意义了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近邻算法的分析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641476"/>
            <a:ext cx="7492802" cy="304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36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</a:t>
            </a:r>
            <a:r>
              <a:rPr dirty="0"/>
              <a:t>优</a:t>
            </a:r>
            <a:r>
              <a:rPr lang="zh-CN" altLang="en-US" dirty="0"/>
              <a:t>缺</a:t>
            </a:r>
            <a:r>
              <a:rPr dirty="0"/>
              <a:t>点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827584" y="814057"/>
            <a:ext cx="7056784" cy="3771635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zh-CN" altLang="en-US" sz="2800" dirty="0"/>
              <a:t>优点：</a:t>
            </a:r>
            <a:endParaRPr lang="en-US" altLang="zh-CN" sz="2800" dirty="0"/>
          </a:p>
          <a:p>
            <a:pPr marL="0" indent="0">
              <a:buFont typeface="Arial" charset="0"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）算法思路简单，易于实现，对异常值不敏感，无数据输入假定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Font typeface="Arial" charset="0"/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）当有新样本加入训练集时，无需重新训练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的优缺</a:t>
            </a:r>
            <a:r>
              <a:rPr dirty="0"/>
              <a:t>点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827584" y="814057"/>
            <a:ext cx="7488832" cy="3771635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zh-CN" altLang="en-US" sz="2800" dirty="0"/>
              <a:t>缺点：</a:t>
            </a:r>
            <a:endParaRPr lang="en-US" altLang="zh-CN" sz="2800" dirty="0"/>
          </a:p>
          <a:p>
            <a:pPr marL="0" indent="0">
              <a:buFont typeface="Arial" charset="0"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）分类速度慢，该算法的时间复杂度为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Arial" charset="0"/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）当样本容量太小时，会影响预测准确率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44673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1" descr="C:\Users\Shinelon\AppData\Roaming\Tencent\Users\466421382\QQ\WinTemp\RichOle\N6YFE)MHM5RRWF{RJ){70P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35" y="1129308"/>
            <a:ext cx="2856853" cy="4131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3347864" y="4945732"/>
            <a:ext cx="1296094" cy="540060"/>
          </a:xfrm>
          <a:prstGeom prst="wedgeRoundRectCallout">
            <a:avLst>
              <a:gd name="adj1" fmla="val -83544"/>
              <a:gd name="adj2" fmla="val -2708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类别？</a:t>
            </a:r>
          </a:p>
        </p:txBody>
      </p:sp>
      <p:pic>
        <p:nvPicPr>
          <p:cNvPr id="55298" name="Picture 2" descr="C:\Users\Shinelon\Desktop\QQ截图201911041002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345332"/>
            <a:ext cx="5230719" cy="356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</a:t>
            </a:r>
            <a:r>
              <a:rPr lang="en-US" altLang="zh-CN" dirty="0"/>
              <a:t>SPSS</a:t>
            </a:r>
            <a:r>
              <a:rPr lang="zh-CN" altLang="en-US" dirty="0"/>
              <a:t>示例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1" descr="C:\Users\Shinelon\AppData\Roaming\Tencent\Users\466421382\QQ\WinTemp\RichOle\KHX{8MCZ2D]CD4E21HD0B[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97090"/>
            <a:ext cx="7127875" cy="4652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</a:t>
            </a:r>
            <a:r>
              <a:rPr lang="en-US" altLang="zh-CN" dirty="0"/>
              <a:t>SPSS</a:t>
            </a:r>
            <a:r>
              <a:rPr lang="zh-CN" altLang="en-US" dirty="0"/>
              <a:t>示例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1" descr="C:\Users\Shinelon\AppData\Roaming\Tencent\Users\466421382\QQ\WinTemp\RichOle\G1J9R$ZRGLB)G9%}R0R}~9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60" y="769268"/>
            <a:ext cx="7128000" cy="476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</a:t>
            </a:r>
            <a:r>
              <a:rPr lang="en-US" altLang="zh-CN" dirty="0"/>
              <a:t>SPSS</a:t>
            </a:r>
            <a:r>
              <a:rPr lang="zh-CN" altLang="en-US" dirty="0"/>
              <a:t>示例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20484" name="Picture 2" descr="C:\Users\Administrator\Desktop\QQ截图20131014210417副本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667" y="2012961"/>
            <a:ext cx="4962525" cy="3671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14374" y="669965"/>
            <a:ext cx="68819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观察下面的例子，我们看到，对于位置样本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，通过</a:t>
            </a:r>
            <a:r>
              <a:rPr lang="en-US" altLang="zh-CN" sz="20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kNN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算法，我们显然可以得到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应属于红点，但对于位置样本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，通过</a:t>
            </a:r>
            <a:r>
              <a:rPr lang="en-US" altLang="zh-CN" sz="20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kNN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算法，我们似乎得到了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应属于蓝点的结论，而这个结论直观来看并没有说服力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的常见问题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1508" name="TextBox 3"/>
          <p:cNvSpPr txBox="1">
            <a:spLocks noChangeArrowheads="1"/>
          </p:cNvSpPr>
          <p:nvPr/>
        </p:nvSpPr>
        <p:spPr bwMode="auto">
          <a:xfrm>
            <a:off x="323850" y="937949"/>
            <a:ext cx="78486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</a:rPr>
              <a:t>由上面的例子可见：该算法在分类时有个重要的不足是，当</a:t>
            </a:r>
            <a:r>
              <a:rPr lang="zh-CN" altLang="en-US" sz="2800" b="1" dirty="0">
                <a:solidFill>
                  <a:srgbClr val="FF3300"/>
                </a:solidFill>
                <a:latin typeface="微软雅黑" pitchFamily="34" charset="-122"/>
              </a:rPr>
              <a:t>样本不平衡</a:t>
            </a: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</a:rPr>
              <a:t>时，即：一个类的样本容量很大，而其他类样本容量很小时，很有可能导致当输入一个未知样本时，该样本的</a:t>
            </a:r>
            <a:r>
              <a:rPr lang="en-US" altLang="zh-CN" sz="2800" b="1" dirty="0">
                <a:solidFill>
                  <a:schemeClr val="tx1"/>
                </a:solidFill>
                <a:latin typeface="微软雅黑" pitchFamily="34" charset="-122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</a:rPr>
              <a:t>个邻居中大数量类的样本占多数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chemeClr val="tx1"/>
              </a:solidFill>
              <a:latin typeface="微软雅黑" pitchFamily="34" charset="-122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</a:rPr>
              <a:t>为此，我们可以采用</a:t>
            </a:r>
            <a:r>
              <a:rPr lang="zh-CN" altLang="en-US" b="1" dirty="0">
                <a:solidFill>
                  <a:srgbClr val="FF3300"/>
                </a:solidFill>
                <a:latin typeface="微软雅黑" pitchFamily="34" charset="-122"/>
              </a:rPr>
              <a:t>权值</a:t>
            </a: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</a:rPr>
              <a:t>的方法来改进，</a:t>
            </a:r>
            <a:r>
              <a:rPr lang="zh-CN" altLang="en-US" sz="2800" b="1" dirty="0">
                <a:solidFill>
                  <a:schemeClr val="tx1"/>
                </a:solidFill>
                <a:latin typeface="微软雅黑" pitchFamily="34" charset="-122"/>
                <a:ea typeface="宋体" pitchFamily="2" charset="-122"/>
              </a:rPr>
              <a:t>和该样本距离小的邻居权值大，和该样本距离大的邻居权值则相对较小，由此，将距离远近的因素也考虑在内，避免因一个样本过大导致误判的情况</a:t>
            </a:r>
            <a:endParaRPr lang="zh-CN" altLang="en-US" sz="2800" b="1" dirty="0">
              <a:solidFill>
                <a:srgbClr val="3C3C3C"/>
              </a:solidFill>
              <a:cs typeface="Arial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的常见解决方法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的例题</a:t>
            </a:r>
            <a:endParaRPr dirty="0"/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046403"/>
              </p:ext>
            </p:extLst>
          </p:nvPr>
        </p:nvGraphicFramePr>
        <p:xfrm>
          <a:off x="1187624" y="1489348"/>
          <a:ext cx="5760000" cy="405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序号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房龄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与市中心距离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类型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4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B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4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C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6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D 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E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F 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7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G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5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H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10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I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J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7"/>
          <p:cNvSpPr txBox="1"/>
          <p:nvPr/>
        </p:nvSpPr>
        <p:spPr>
          <a:xfrm>
            <a:off x="714374" y="669965"/>
            <a:ext cx="6881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如下表所示，是一个二手房分类的训练集，对于二手房的新样本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 = {18, 8}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，试用</a:t>
            </a:r>
            <a:r>
              <a:rPr lang="en-US" altLang="zh-CN" sz="20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kNN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算法预测其所属类型</a:t>
            </a:r>
          </a:p>
        </p:txBody>
      </p:sp>
    </p:spTree>
    <p:extLst>
      <p:ext uri="{BB962C8B-B14F-4D97-AF65-F5344CB8AC3E}">
        <p14:creationId xmlns:p14="http://schemas.microsoft.com/office/powerpoint/2010/main" val="1306913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922" y="3637394"/>
            <a:ext cx="2997361" cy="2030732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的例题</a:t>
            </a:r>
            <a:endParaRPr dirty="0"/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70772"/>
              </p:ext>
            </p:extLst>
          </p:nvPr>
        </p:nvGraphicFramePr>
        <p:xfrm>
          <a:off x="611560" y="2011448"/>
          <a:ext cx="7200000" cy="81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序号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A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B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C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D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E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F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G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H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I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J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与样本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的距离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16.5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14.9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1pPr>
                      <a:lvl2pPr marL="742950" indent="-28575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4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2pPr>
                      <a:lvl3pPr marL="11430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2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3pPr>
                      <a:lvl4pPr marL="16002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4pPr>
                      <a:lvl5pPr marL="2057400" indent="-228600" ea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000">
                          <a:solidFill>
                            <a:srgbClr val="000000"/>
                          </a:solidFill>
                          <a:latin typeface="Arial" charset="0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8.4</a:t>
                      </a:r>
                      <a:endParaRPr kumimoji="0" lang="en-US" altLang="zh-CN" sz="1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555555"/>
                        </a:solidFill>
                        <a:effectLst/>
                        <a:latin typeface="Arial" charset="0"/>
                        <a:ea typeface="微软雅黑" pitchFamily="34" charset="-122"/>
                      </a:endParaRP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6.1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15.3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2.2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5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3.6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9.2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55555"/>
                          </a:solidFill>
                          <a:effectLst/>
                          <a:latin typeface="Arial" charset="0"/>
                          <a:ea typeface="微软雅黑" pitchFamily="34" charset="-122"/>
                        </a:rPr>
                        <a:t>9.2</a:t>
                      </a:r>
                    </a:p>
                  </a:txBody>
                  <a:tcPr marL="6546" marR="6546" marT="5455" marB="545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7"/>
          <p:cNvSpPr txBox="1"/>
          <p:nvPr/>
        </p:nvSpPr>
        <p:spPr>
          <a:xfrm>
            <a:off x="714374" y="669965"/>
            <a:ext cx="68819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解：本例采用欧氏距离作为距离度量方法，且设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k=4</a:t>
            </a:r>
          </a:p>
          <a:p>
            <a:pPr algn="just">
              <a:defRPr/>
            </a:pPr>
            <a:endParaRPr lang="en-US" altLang="zh-CN" sz="2000" b="1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首先，计算新样本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与训练集中所有样本的距离，如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与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A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的距离为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d(T, A)=16.5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与所有样本的距离如下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374" y="2929508"/>
            <a:ext cx="6881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然后，找距离最近的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个邻居，分别是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{F, H, G, D}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，这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个邻居对应的类别分别为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{</a:t>
            </a:r>
            <a:r>
              <a:rPr lang="en-US" altLang="zh-CN" sz="2000" b="1" i="1" dirty="0">
                <a:solidFill>
                  <a:srgbClr val="555555"/>
                </a:solidFill>
                <a:ea typeface="微软雅黑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555555"/>
                </a:solidFill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, </a:t>
            </a:r>
            <a:r>
              <a:rPr lang="en-US" altLang="zh-CN" sz="2000" b="1" i="1" dirty="0">
                <a:solidFill>
                  <a:srgbClr val="555555"/>
                </a:solidFill>
                <a:ea typeface="微软雅黑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555555"/>
                </a:solidFill>
                <a:ea typeface="微软雅黑" pitchFamily="34" charset="-122"/>
              </a:rPr>
              <a:t>1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, </a:t>
            </a:r>
            <a:r>
              <a:rPr lang="en-US" altLang="zh-CN" sz="2000" b="1" i="1" dirty="0">
                <a:solidFill>
                  <a:srgbClr val="555555"/>
                </a:solidFill>
                <a:ea typeface="微软雅黑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555555"/>
                </a:solidFill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, </a:t>
            </a:r>
            <a:r>
              <a:rPr lang="en-US" altLang="zh-CN" sz="2000" b="1" i="1" dirty="0">
                <a:solidFill>
                  <a:srgbClr val="555555"/>
                </a:solidFill>
                <a:ea typeface="微软雅黑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555555"/>
                </a:solidFill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}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，故新样本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的类别为</a:t>
            </a:r>
            <a:r>
              <a:rPr lang="en-US" altLang="zh-CN" sz="2000" b="1" i="1" dirty="0">
                <a:solidFill>
                  <a:srgbClr val="555555"/>
                </a:solidFill>
                <a:ea typeface="微软雅黑" pitchFamily="34" charset="-122"/>
              </a:rPr>
              <a:t>L</a:t>
            </a:r>
            <a:r>
              <a:rPr lang="en-US" altLang="zh-CN" sz="2000" b="1" baseline="-25000" dirty="0">
                <a:solidFill>
                  <a:srgbClr val="555555"/>
                </a:solidFill>
                <a:ea typeface="微软雅黑" pitchFamily="34" charset="-122"/>
              </a:rPr>
              <a:t>2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68657" y="460717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A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84681" y="477008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53753" y="430515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69777" y="380199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D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45326" y="372317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E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04048" y="417590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F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11308" y="4483483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G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3874" y="372081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H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90083" y="4949621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I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20072" y="5025237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J</a:t>
            </a: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6825" y="389008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endParaRPr lang="zh-CN" altLang="en-US" sz="1600" b="1" dirty="0">
              <a:solidFill>
                <a:schemeClr val="accent4">
                  <a:lumMod val="60000"/>
                  <a:lumOff val="4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092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的例题</a:t>
            </a:r>
            <a:endParaRPr dirty="0"/>
          </a:p>
        </p:txBody>
      </p:sp>
      <p:sp>
        <p:nvSpPr>
          <p:cNvPr id="6" name="TextBox 7"/>
          <p:cNvSpPr txBox="1"/>
          <p:nvPr/>
        </p:nvSpPr>
        <p:spPr>
          <a:xfrm>
            <a:off x="714374" y="669965"/>
            <a:ext cx="6881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使用上表的二手房训练集训练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近邻算法的分类模型，并对新的二手房样本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[7, 27]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</a:t>
            </a:r>
            <a:r>
              <a:rPr lang="en-US" altLang="zh-CN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[2, 4]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所属类别进行预测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95536" y="1273324"/>
            <a:ext cx="50405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sklearn.neighbors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引入数据集分割模块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metrics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引入机器学习的准确率评估模块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X1, y1 = [], []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open('D:\\knn.txt')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line in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fr.readlines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line.strip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().split()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X1.append([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[0]),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[1])])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y1.append(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[2]))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(X1)    #X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是特征属性集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(y1)    #y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是类别标签集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X_train,X_test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=0.16)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使用模型并训练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knn.fit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==1,0],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==1,1], color='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red',marker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='o')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==2,0],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==2,1], color='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green',marker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='x')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==3,0],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==3,1], color='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blue',marker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='d')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knn.predict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knn.score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metrics.accuracy_score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metrics.confusion_matrix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target_names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['labels_1','labels_2','labels_3']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Y_test,y_pred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knn.predict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([[7,27], [2,4]])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print(label)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508104" y="1998628"/>
            <a:ext cx="252028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 0]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 1]]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precision    recall  f1-score   support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1       1.00      1.00      1.00         1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3       1.00      1.00      1.00         1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total       1.00      1.00      1.00         2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1]</a:t>
            </a:r>
            <a:endParaRPr lang="zh-CN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75379" y="141734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3984941"/>
            <a:ext cx="2559708" cy="173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7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dirty="0"/>
              <a:t>近邻算法</a:t>
            </a:r>
            <a:r>
              <a:rPr lang="zh-CN" altLang="en-US" dirty="0"/>
              <a:t>的例题</a:t>
            </a:r>
            <a:endParaRPr dirty="0"/>
          </a:p>
        </p:txBody>
      </p:sp>
      <p:sp>
        <p:nvSpPr>
          <p:cNvPr id="6" name="TextBox 7"/>
          <p:cNvSpPr txBox="1"/>
          <p:nvPr/>
        </p:nvSpPr>
        <p:spPr>
          <a:xfrm>
            <a:off x="714374" y="669965"/>
            <a:ext cx="6881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绘制分类边界图，则需要将以下代码添加到上述代码的末尾处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95536" y="1586324"/>
            <a:ext cx="504056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mpl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M = 90, 90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网格采样点的个数 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np.linspace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25, N)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生成采样点的横坐标值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np.linspace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(0,12, M)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生成采样点的纵坐标值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x1, x2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np.meshgrid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(t1, t2)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生成网格采样点 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x_show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np.stack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((x1.flat, x2.flat), axis=1)     #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将采样点作为测试点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y_show_hat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knn.predict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x_show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#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预测采样点的值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y_show_hat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y_show_hat.reshape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(x1.shape)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使之与输入的形状相同   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cm_light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mpl.colors.ListedColormap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(['#A0FFA0', '#FFA0A0', '#A0A0FF'])</a:t>
            </a: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plt.pcolormesh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(x1, x2,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y_show_hat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cm_light,alpha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=0.3)    #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预测值的显示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508104" y="1998628"/>
            <a:ext cx="252028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 0]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 1]]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precision    recall  f1-score   support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2       1.00      1.00      1.00         1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3       1.00      1.00      1.00         1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total       1.00      1.00      1.00         2</a:t>
            </a: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1]</a:t>
            </a:r>
            <a:endParaRPr lang="zh-CN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75379" y="141734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850" y="4022679"/>
            <a:ext cx="2537944" cy="17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56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250825" y="769268"/>
            <a:ext cx="8137599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3C3C3C"/>
                </a:solidFill>
                <a:cs typeface="Arial" charset="0"/>
              </a:rPr>
              <a:t>从算法实现的过程大家可以发现，该算法存两个严重的问题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3C3C3C"/>
                </a:solidFill>
                <a:cs typeface="Arial" charset="0"/>
              </a:rPr>
              <a:t>第一个是需要存储全部的训练样本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3C3C3C"/>
                </a:solidFill>
                <a:cs typeface="Arial" charset="0"/>
              </a:rPr>
              <a:t>第二个是需要进行繁重的距离计算量</a:t>
            </a:r>
            <a:r>
              <a:rPr lang="en-US" altLang="zh-CN" b="1" dirty="0">
                <a:solidFill>
                  <a:srgbClr val="3C3C3C"/>
                </a:solidFill>
                <a:cs typeface="Arial" charset="0"/>
              </a:rPr>
              <a:t>	</a:t>
            </a:r>
            <a:endParaRPr lang="zh-CN" altLang="en-US" b="1" dirty="0">
              <a:solidFill>
                <a:srgbClr val="3C3C3C"/>
              </a:solidFill>
              <a:cs typeface="Arial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684213" y="74083"/>
            <a:ext cx="5975350" cy="41936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dirty="0"/>
              <a:t>k</a:t>
            </a:r>
            <a:r>
              <a:rPr lang="zh-CN" altLang="en-US" dirty="0"/>
              <a:t>近邻算法的改进方向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近邻</a:t>
            </a:r>
            <a:r>
              <a:rPr dirty="0"/>
              <a:t>算法的改进：分组快速搜索近邻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14375" y="773907"/>
            <a:ext cx="6858000" cy="163121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其基本思想是：将样本集按近邻关系分解成组，给出每组质心的位置，以质心作为代表点，与未知样本计算距离，选出距离最近的一个或若干个组，再在组的范围内应用一般的</a:t>
            </a:r>
            <a:r>
              <a:rPr lang="en-US" altLang="zh-CN" sz="20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kNN</a:t>
            </a:r>
            <a:r>
              <a:rPr lang="zh-CN" alt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算法，由于并不是将未知样本与所有样本计算距离，故该改进算法可以减少计算量，但并不能减少存储量</a:t>
            </a:r>
          </a:p>
        </p:txBody>
      </p:sp>
      <p:pic>
        <p:nvPicPr>
          <p:cNvPr id="23556" name="Picture 2" descr="C:\Users\Administrator\Desktop\无标题-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0" r="854"/>
          <a:stretch/>
        </p:blipFill>
        <p:spPr bwMode="auto">
          <a:xfrm>
            <a:off x="755576" y="2569468"/>
            <a:ext cx="7488831" cy="286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84213" y="74083"/>
            <a:ext cx="5975350" cy="419365"/>
          </a:xfrm>
        </p:spPr>
        <p:txBody>
          <a:bodyPr/>
          <a:lstStyle/>
          <a:p>
            <a:r>
              <a:rPr lang="en-US"/>
              <a:t>KNN</a:t>
            </a:r>
            <a:r>
              <a:t>算法的改进：压缩近邻算法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251520" y="697260"/>
            <a:ext cx="792088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rgbClr val="000000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基本思路：定义两个存储器，一个用来存放生成的样本集，称为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样本集，另一个用来存放原来的样本集，称为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original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</a:t>
            </a: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1. 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初始化：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样本集为空集，原样本集存入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original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样本集，从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original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样本集中任意选择一个样本移动到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样本集中；</a:t>
            </a: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2. 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在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original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样本集中选择第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i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个样本，并使用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样本集中的样本对其进行最近邻算法分类，若分类错误，则将该样本移动到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样本集中，若分类正确，不做任何处理；</a:t>
            </a: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3. 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重复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2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步骤，直至遍历完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original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样本集的所有样本，</a:t>
            </a:r>
            <a:r>
              <a:rPr lang="en-US" altLang="zh-CN" sz="2200" b="1" dirty="0">
                <a:solidFill>
                  <a:srgbClr val="3C3C3C"/>
                </a:solidFill>
                <a:cs typeface="Arial" charset="0"/>
              </a:rPr>
              <a:t>output</a:t>
            </a: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样本集即为压缩后的样本集</a:t>
            </a: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200" b="1" dirty="0">
              <a:solidFill>
                <a:srgbClr val="3C3C3C"/>
              </a:solidFill>
              <a:cs typeface="Arial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3C3C3C"/>
                </a:solidFill>
                <a:cs typeface="Arial" charset="0"/>
              </a:rPr>
              <a:t>通过这种方式也能减少算法的计算量，但仍然无法减少存储量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28AF82D-15DA-432C-ADCC-D6999DB2D334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Franklin Gothic Medium"/>
                <a:ea typeface="微软雅黑" panose="020B0503020204020204" pitchFamily="34" charset="-122"/>
              </a:rPr>
              <a:t>作业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Franklin Gothic Medium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58ACBFC-D5C2-40B5-A345-0D135969716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333500"/>
            <a:ext cx="8229600" cy="390525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获取</a:t>
            </a:r>
            <a:r>
              <a:rPr lang="en-US" altLang="zh-CN" dirty="0" err="1"/>
              <a:t>kNN</a:t>
            </a:r>
            <a:r>
              <a:rPr lang="zh-CN" altLang="en-US" dirty="0"/>
              <a:t>算法对鸢尾花数据集分类时最优的</a:t>
            </a:r>
            <a:r>
              <a:rPr lang="en-US" altLang="zh-CN" dirty="0"/>
              <a:t>k</a:t>
            </a:r>
            <a:r>
              <a:rPr lang="zh-CN" altLang="en-US" dirty="0"/>
              <a:t>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    # </a:t>
            </a:r>
            <a:r>
              <a:rPr lang="zh-CN" altLang="en-US" sz="2400" dirty="0"/>
              <a:t>导入鸢尾花数据集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from </a:t>
            </a:r>
            <a:r>
              <a:rPr lang="en-US" altLang="zh-CN" sz="2400" dirty="0" err="1"/>
              <a:t>sklearn.datasets</a:t>
            </a:r>
            <a:r>
              <a:rPr lang="en-US" altLang="zh-CN" sz="2400" dirty="0"/>
              <a:t> import </a:t>
            </a:r>
            <a:r>
              <a:rPr lang="en-US" altLang="zh-CN" sz="2400" dirty="0" err="1"/>
              <a:t>load_iris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iris = </a:t>
            </a:r>
            <a:r>
              <a:rPr lang="en-US" altLang="zh-CN" sz="2400" dirty="0" err="1"/>
              <a:t>load_iris</a:t>
            </a:r>
            <a:r>
              <a:rPr lang="en-US" altLang="zh-CN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54753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1563" y="1012032"/>
            <a:ext cx="68580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1600" dirty="0">
              <a:solidFill>
                <a:schemeClr val="tx1">
                  <a:lumMod val="90000"/>
                  <a:lumOff val="1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28AF82D-15DA-432C-ADCC-D6999DB2D334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Franklin Gothic Medium" pitchFamily="34" charset="0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Franklin Gothic Medium"/>
                <a:ea typeface="微软雅黑" panose="020B0503020204020204" pitchFamily="34" charset="-122"/>
              </a:rPr>
              <a:t>作业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Franklin Gothic Medium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58ACBFC-D5C2-40B5-A345-0D135969716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333500"/>
            <a:ext cx="8229600" cy="390525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利用</a:t>
            </a:r>
            <a:r>
              <a:rPr lang="en-US" altLang="zh-CN" dirty="0" err="1"/>
              <a:t>kNN</a:t>
            </a:r>
            <a:r>
              <a:rPr lang="zh-CN" altLang="en-US" dirty="0"/>
              <a:t>算法实现任意小型数据集上的疾病诊断任务，并分析如何提升分类效果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3510785"/>
      </p:ext>
    </p:extLst>
  </p:cSld>
  <p:clrMapOvr>
    <a:masterClrMapping/>
  </p:clrMapOvr>
</p:sld>
</file>

<file path=ppt/theme/theme1.xml><?xml version="1.0" encoding="utf-8"?>
<a:theme xmlns:a="http://schemas.openxmlformats.org/drawingml/2006/main" name="模板从 www.mysoeasy.com 下载">
  <a:themeElements>
    <a:clrScheme name="office资源宝库-www.mySoEasy.com">
      <a:dk1>
        <a:srgbClr val="262626"/>
      </a:dk1>
      <a:lt1>
        <a:srgbClr val="FFFFFF"/>
      </a:lt1>
      <a:dk2>
        <a:srgbClr val="8B8B8B"/>
      </a:dk2>
      <a:lt2>
        <a:srgbClr val="FFFFFF"/>
      </a:lt2>
      <a:accent1>
        <a:srgbClr val="00ADEE"/>
      </a:accent1>
      <a:accent2>
        <a:srgbClr val="00ADEE"/>
      </a:accent2>
      <a:accent3>
        <a:srgbClr val="FFC000"/>
      </a:accent3>
      <a:accent4>
        <a:srgbClr val="EB008B"/>
      </a:accent4>
      <a:accent5>
        <a:srgbClr val="00ADEF"/>
      </a:accent5>
      <a:accent6>
        <a:srgbClr val="9BBB59"/>
      </a:accent6>
      <a:hlink>
        <a:srgbClr val="76923C"/>
      </a:hlink>
      <a:folHlink>
        <a:srgbClr val="A7A711"/>
      </a:folHlink>
    </a:clrScheme>
    <a:fontScheme name="OFFICE资源宝库-www.mysoeasy.com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2B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70C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just">
          <a:defRPr sz="1600" dirty="0">
            <a:solidFill>
              <a:schemeClr val="tx1">
                <a:lumMod val="90000"/>
                <a:lumOff val="10000"/>
              </a:schemeClr>
            </a:solidFill>
            <a:latin typeface="Arial" pitchFamily="34" charset="0"/>
            <a:ea typeface="微软雅黑" pitchFamily="34" charset="-122"/>
            <a:cs typeface="Arial" pitchFamily="34" charset="0"/>
          </a:defRPr>
        </a:defPPr>
      </a:lstStyle>
    </a:txDef>
  </a:objectDefaults>
  <a:extraClrSchemeLst>
    <a:extraClrScheme>
      <a:clrScheme name="模板从 www.mysoeasy.com 下载 1">
        <a:dk1>
          <a:srgbClr val="8064A2"/>
        </a:dk1>
        <a:lt1>
          <a:srgbClr val="9BBB59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CBDAB5"/>
        </a:accent3>
        <a:accent4>
          <a:srgbClr val="6C548A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4815</TotalTime>
  <Words>3583</Words>
  <Application>Microsoft Office PowerPoint</Application>
  <PresentationFormat>全屏显示(16:10)</PresentationFormat>
  <Paragraphs>792</Paragraphs>
  <Slides>41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楷体</vt:lpstr>
      <vt:lpstr>楷体_GB2312</vt:lpstr>
      <vt:lpstr>宋体</vt:lpstr>
      <vt:lpstr>微软雅黑</vt:lpstr>
      <vt:lpstr>Arial</vt:lpstr>
      <vt:lpstr>Calibri</vt:lpstr>
      <vt:lpstr>Franklin Gothic Book</vt:lpstr>
      <vt:lpstr>Franklin Gothic Medium</vt:lpstr>
      <vt:lpstr>Times New Roman</vt:lpstr>
      <vt:lpstr>Wingdings</vt:lpstr>
      <vt:lpstr>模板从 www.mysoeasy.com 下载</vt:lpstr>
      <vt:lpstr>Equation</vt:lpstr>
      <vt:lpstr>Equation.3</vt:lpstr>
      <vt:lpstr>第 5 章  分 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</vt:lpstr>
      <vt:lpstr>思考</vt:lpstr>
      <vt:lpstr>揭晓</vt:lpstr>
      <vt:lpstr>最近邻算法</vt:lpstr>
      <vt:lpstr>最近邻算法</vt:lpstr>
      <vt:lpstr>k近邻算法的由来</vt:lpstr>
      <vt:lpstr>k近邻算法的由来</vt:lpstr>
      <vt:lpstr>k近邻算法的原理</vt:lpstr>
      <vt:lpstr>K-近邻算法工作原理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k近邻算法的优缺点</vt:lpstr>
      <vt:lpstr>k近邻算法的优缺点</vt:lpstr>
      <vt:lpstr>k近邻算法的SPSS示例</vt:lpstr>
      <vt:lpstr>k近邻算法的SPSS示例</vt:lpstr>
      <vt:lpstr>k近邻算法的SPSS示例</vt:lpstr>
      <vt:lpstr>k近邻算法的常见问题</vt:lpstr>
      <vt:lpstr>k近邻算法的常见解决方法</vt:lpstr>
      <vt:lpstr>k近邻算法的例题</vt:lpstr>
      <vt:lpstr>k近邻算法的例题</vt:lpstr>
      <vt:lpstr>k近邻算法的例题</vt:lpstr>
      <vt:lpstr>k近邻算法的例题</vt:lpstr>
      <vt:lpstr>PowerPoint 演示文稿</vt:lpstr>
      <vt:lpstr>k近邻算法的改进：分组快速搜索近邻算法</vt:lpstr>
      <vt:lpstr>KNN算法的改进：压缩近邻算法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chen.zhb;ivywang</dc:creator>
  <cp:lastModifiedBy>ABC</cp:lastModifiedBy>
  <cp:revision>313</cp:revision>
  <dcterms:created xsi:type="dcterms:W3CDTF">2012-09-05T06:51:19Z</dcterms:created>
  <dcterms:modified xsi:type="dcterms:W3CDTF">2025-04-30T04:12:50Z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模板ID">
    <vt:lpwstr>A30220130428A02</vt:lpwstr>
  </property>
  <property fmtid="{D5CDD505-2E9C-101B-9397-08002B2CF9AE}" pid="3" name="标题">
    <vt:lpwstr>小方格排列</vt:lpwstr>
  </property>
  <property fmtid="{D5CDD505-2E9C-101B-9397-08002B2CF9AE}" pid="4" name="使用说明">
    <vt:lpwstr>PPT背景模板是PPT文档的格式、布局、图形效果整套美化方案，应用后不会改变PPT演示文稿本身的内容，仅仅使内容格式发生变化。点击【套用到文档】按钮即可套用该模板。</vt:lpwstr>
  </property>
  <property fmtid="{D5CDD505-2E9C-101B-9397-08002B2CF9AE}" pid="5" name="适用软件">
    <vt:lpwstr>PowerPoint 2007及以上版本</vt:lpwstr>
  </property>
  <property fmtid="{D5CDD505-2E9C-101B-9397-08002B2CF9AE}" pid="6" name="使用软件">
    <vt:lpwstr>ppt</vt:lpwstr>
  </property>
  <property fmtid="{D5CDD505-2E9C-101B-9397-08002B2CF9AE}" pid="7" name="相关案例">
    <vt:lpwstr>854</vt:lpwstr>
  </property>
  <property fmtid="{D5CDD505-2E9C-101B-9397-08002B2CF9AE}" pid="8" name="关键字">
    <vt:lpwstr>PPT背景模板 EN PPT 格式 小方格 方格 方块 几何 图形 图案 渐变 抽象 科技 技术 蓝 蓝色 排列 背景 清新 时尚 V2</vt:lpwstr>
  </property>
  <property fmtid="{D5CDD505-2E9C-101B-9397-08002B2CF9AE}" pid="9" name="模板缩略图">
    <vt:lpwstr>A30220130428A02.png</vt:lpwstr>
  </property>
  <property fmtid="{D5CDD505-2E9C-101B-9397-08002B2CF9AE}" pid="10" name="显示VIP等级">
    <vt:lpwstr>2</vt:lpwstr>
  </property>
  <property fmtid="{D5CDD505-2E9C-101B-9397-08002B2CF9AE}" pid="11" name="附件ID">
    <vt:lpwstr>A30220130428A0201</vt:lpwstr>
  </property>
  <property fmtid="{D5CDD505-2E9C-101B-9397-08002B2CF9AE}" pid="12" name="缩略图标题">
    <vt:lpwstr>小方格排列</vt:lpwstr>
  </property>
  <property fmtid="{D5CDD505-2E9C-101B-9397-08002B2CF9AE}" pid="13" name="附件路径">
    <vt:lpwstr>A30220130428A0201.pptx</vt:lpwstr>
  </property>
  <property fmtid="{D5CDD505-2E9C-101B-9397-08002B2CF9AE}" pid="14" name="附件缩略图">
    <vt:lpwstr>A30220130428A0201.png</vt:lpwstr>
  </property>
  <property fmtid="{D5CDD505-2E9C-101B-9397-08002B2CF9AE}" pid="15" name="VIP等级">
    <vt:lpwstr>2</vt:lpwstr>
  </property>
  <property fmtid="{D5CDD505-2E9C-101B-9397-08002B2CF9AE}" pid="16" name="是否可购买">
    <vt:lpwstr>1</vt:lpwstr>
  </property>
  <property fmtid="{D5CDD505-2E9C-101B-9397-08002B2CF9AE}" pid="17" name="价格">
    <vt:lpwstr>20</vt:lpwstr>
  </property>
  <property fmtid="{D5CDD505-2E9C-101B-9397-08002B2CF9AE}" pid="18" name="操作代码">
    <vt:lpwstr>2</vt:lpwstr>
  </property>
</Properties>
</file>