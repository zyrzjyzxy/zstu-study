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02"/>
  </p:notesMasterIdLst>
  <p:sldIdLst>
    <p:sldId id="313" r:id="rId2"/>
    <p:sldId id="258" r:id="rId3"/>
    <p:sldId id="269" r:id="rId4"/>
    <p:sldId id="314" r:id="rId5"/>
    <p:sldId id="316" r:id="rId6"/>
    <p:sldId id="317" r:id="rId7"/>
    <p:sldId id="318" r:id="rId8"/>
    <p:sldId id="319" r:id="rId9"/>
    <p:sldId id="322" r:id="rId10"/>
    <p:sldId id="320" r:id="rId11"/>
    <p:sldId id="324" r:id="rId12"/>
    <p:sldId id="321" r:id="rId13"/>
    <p:sldId id="325" r:id="rId14"/>
    <p:sldId id="326" r:id="rId15"/>
    <p:sldId id="329" r:id="rId16"/>
    <p:sldId id="330" r:id="rId17"/>
    <p:sldId id="333" r:id="rId18"/>
    <p:sldId id="331" r:id="rId19"/>
    <p:sldId id="332" r:id="rId20"/>
    <p:sldId id="334" r:id="rId21"/>
    <p:sldId id="335" r:id="rId22"/>
    <p:sldId id="342" r:id="rId23"/>
    <p:sldId id="336" r:id="rId24"/>
    <p:sldId id="337" r:id="rId25"/>
    <p:sldId id="292" r:id="rId26"/>
    <p:sldId id="338" r:id="rId27"/>
    <p:sldId id="293" r:id="rId28"/>
    <p:sldId id="339" r:id="rId29"/>
    <p:sldId id="310" r:id="rId30"/>
    <p:sldId id="340" r:id="rId31"/>
    <p:sldId id="294" r:id="rId32"/>
    <p:sldId id="341" r:id="rId33"/>
    <p:sldId id="343" r:id="rId34"/>
    <p:sldId id="295" r:id="rId35"/>
    <p:sldId id="297" r:id="rId36"/>
    <p:sldId id="344" r:id="rId37"/>
    <p:sldId id="298" r:id="rId38"/>
    <p:sldId id="346" r:id="rId39"/>
    <p:sldId id="345" r:id="rId40"/>
    <p:sldId id="299" r:id="rId41"/>
    <p:sldId id="347" r:id="rId42"/>
    <p:sldId id="348" r:id="rId43"/>
    <p:sldId id="349" r:id="rId44"/>
    <p:sldId id="300" r:id="rId45"/>
    <p:sldId id="311" r:id="rId46"/>
    <p:sldId id="350" r:id="rId47"/>
    <p:sldId id="351" r:id="rId48"/>
    <p:sldId id="352" r:id="rId49"/>
    <p:sldId id="353" r:id="rId50"/>
    <p:sldId id="354" r:id="rId51"/>
    <p:sldId id="355" r:id="rId52"/>
    <p:sldId id="301" r:id="rId53"/>
    <p:sldId id="356" r:id="rId54"/>
    <p:sldId id="312" r:id="rId55"/>
    <p:sldId id="357" r:id="rId56"/>
    <p:sldId id="358" r:id="rId57"/>
    <p:sldId id="407" r:id="rId58"/>
    <p:sldId id="408" r:id="rId59"/>
    <p:sldId id="409" r:id="rId60"/>
    <p:sldId id="410" r:id="rId61"/>
    <p:sldId id="411" r:id="rId62"/>
    <p:sldId id="412" r:id="rId63"/>
    <p:sldId id="371" r:id="rId64"/>
    <p:sldId id="373" r:id="rId65"/>
    <p:sldId id="374" r:id="rId66"/>
    <p:sldId id="375" r:id="rId67"/>
    <p:sldId id="398" r:id="rId68"/>
    <p:sldId id="399" r:id="rId69"/>
    <p:sldId id="400" r:id="rId70"/>
    <p:sldId id="401" r:id="rId71"/>
    <p:sldId id="402" r:id="rId72"/>
    <p:sldId id="403" r:id="rId73"/>
    <p:sldId id="376" r:id="rId74"/>
    <p:sldId id="377" r:id="rId75"/>
    <p:sldId id="378" r:id="rId76"/>
    <p:sldId id="379" r:id="rId77"/>
    <p:sldId id="380" r:id="rId78"/>
    <p:sldId id="381" r:id="rId79"/>
    <p:sldId id="372" r:id="rId80"/>
    <p:sldId id="382" r:id="rId81"/>
    <p:sldId id="383" r:id="rId82"/>
    <p:sldId id="385" r:id="rId83"/>
    <p:sldId id="386" r:id="rId84"/>
    <p:sldId id="388" r:id="rId85"/>
    <p:sldId id="389" r:id="rId86"/>
    <p:sldId id="387" r:id="rId87"/>
    <p:sldId id="390" r:id="rId88"/>
    <p:sldId id="391" r:id="rId89"/>
    <p:sldId id="392" r:id="rId90"/>
    <p:sldId id="393" r:id="rId91"/>
    <p:sldId id="394" r:id="rId92"/>
    <p:sldId id="395" r:id="rId93"/>
    <p:sldId id="397" r:id="rId94"/>
    <p:sldId id="396" r:id="rId95"/>
    <p:sldId id="414" r:id="rId96"/>
    <p:sldId id="413" r:id="rId97"/>
    <p:sldId id="415" r:id="rId98"/>
    <p:sldId id="416" r:id="rId99"/>
    <p:sldId id="417" r:id="rId100"/>
    <p:sldId id="418" r:id="rId101"/>
  </p:sldIdLst>
  <p:sldSz cx="9144000" cy="6858000" type="screen4x3"/>
  <p:notesSz cx="6858000" cy="9144000"/>
  <p:custDataLst>
    <p:tags r:id="rId10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autoAdjust="0"/>
  </p:normalViewPr>
  <p:slideViewPr>
    <p:cSldViewPr snapToGrid="0" showGuides="1">
      <p:cViewPr varScale="1">
        <p:scale>
          <a:sx n="114" d="100"/>
          <a:sy n="114" d="100"/>
        </p:scale>
        <p:origin x="144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B0B0A-7FB2-412B-859F-EC3A8F9B9D13}" type="datetimeFigureOut">
              <a:rPr lang="zh-CN" altLang="en-US" smtClean="0"/>
              <a:t>2025/4/9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F3F2CE-909D-4581-8BA8-8DCD318820E5}" type="slidenum">
              <a:rPr lang="zh-CN" altLang="en-US" smtClean="0"/>
              <a:t>‹#›</a:t>
            </a:fld>
            <a:endParaRPr lang="zh-CN" altLang="en-US"/>
          </a:p>
        </p:txBody>
      </p:sp>
    </p:spTree>
    <p:extLst>
      <p:ext uri="{BB962C8B-B14F-4D97-AF65-F5344CB8AC3E}">
        <p14:creationId xmlns:p14="http://schemas.microsoft.com/office/powerpoint/2010/main" val="3751849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29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38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45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41E0E0E2-7263-44C4-AAA9-733DBA7BD205}"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58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69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78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88</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89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90</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91</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92</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93</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95</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36576667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1219200" rtl="0" eaLnBrk="1" fontAlgn="auto" latinLnBrk="0" hangingPunct="1">
              <a:lnSpc>
                <a:spcPct val="100000"/>
              </a:lnSpc>
              <a:spcBef>
                <a:spcPts val="0"/>
              </a:spcBef>
              <a:spcAft>
                <a:spcPts val="0"/>
              </a:spcAft>
              <a:buClrTx/>
              <a:buSzTx/>
              <a:buFontTx/>
              <a:buNone/>
              <a:defRPr/>
            </a:pPr>
            <a:fld id="{0E21FD59-C920-460C-B1C9-0346C59420B0}"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97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extLst>
      <p:ext uri="{BB962C8B-B14F-4D97-AF65-F5344CB8AC3E}">
        <p14:creationId xmlns:p14="http://schemas.microsoft.com/office/powerpoint/2010/main" val="2908635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11095" y="693329"/>
            <a:ext cx="8930355" cy="0"/>
          </a:xfrm>
          <a:prstGeom prst="line">
            <a:avLst/>
          </a:prstGeom>
          <a:ln w="25400">
            <a:solidFill>
              <a:srgbClr val="F5A60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4639"/>
            <a:ext cx="8229600" cy="1143000"/>
          </a:xfrm>
          <a:prstGeom prst="rect">
            <a:avLst/>
          </a:prstGeom>
        </p:spPr>
        <p:txBody>
          <a:bodyPr lIns="121963" tIns="60981" rIns="121963" bIns="60981"/>
          <a:lstStyle/>
          <a:p>
            <a:r>
              <a:rPr lang="zh-CN" altLang="en-US"/>
              <a:t>单击此处编辑母版标题样式</a:t>
            </a:r>
          </a:p>
        </p:txBody>
      </p:sp>
      <p:sp>
        <p:nvSpPr>
          <p:cNvPr id="3" name="日期占位符 2"/>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4" name="页脚占位符 3"/>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3" name="页脚占位符 2"/>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1"/>
          </a:xfrm>
          <a:prstGeom prst="rect">
            <a:avLst/>
          </a:prstGeom>
        </p:spPr>
        <p:txBody>
          <a:bodyPr lIns="121963" tIns="60981" rIns="121963" bIns="60981" anchor="b"/>
          <a:lstStyle>
            <a:lvl1pPr algn="l">
              <a:defRPr sz="2700" b="1"/>
            </a:lvl1pPr>
          </a:lstStyle>
          <a:p>
            <a:r>
              <a:rPr lang="zh-CN" altLang="en-US"/>
              <a:t>单击此处编辑母版标题样式</a:t>
            </a:r>
          </a:p>
        </p:txBody>
      </p:sp>
      <p:sp>
        <p:nvSpPr>
          <p:cNvPr id="3" name="内容占位符 2"/>
          <p:cNvSpPr>
            <a:spLocks noGrp="1"/>
          </p:cNvSpPr>
          <p:nvPr>
            <p:ph idx="1"/>
          </p:nvPr>
        </p:nvSpPr>
        <p:spPr>
          <a:xfrm>
            <a:off x="3575050" y="273051"/>
            <a:ext cx="5111750" cy="5853114"/>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a:prstGeom prst="rect">
            <a:avLst/>
          </a:prstGeom>
        </p:spPr>
        <p:txBody>
          <a:bodyPr lIns="121963" tIns="60981" rIns="121963" bIns="60981"/>
          <a:lstStyle>
            <a:lvl1pPr marL="0" indent="0">
              <a:buNone/>
              <a:defRPr sz="1900"/>
            </a:lvl1pPr>
            <a:lvl2pPr marL="609600" indent="0">
              <a:buNone/>
              <a:defRPr sz="1600"/>
            </a:lvl2pPr>
            <a:lvl3pPr marL="1219200" indent="0">
              <a:buNone/>
              <a:defRPr sz="1300"/>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6" name="页脚占位符 5"/>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1"/>
            <a:ext cx="5486400" cy="566739"/>
          </a:xfrm>
          <a:prstGeom prst="rect">
            <a:avLst/>
          </a:prstGeom>
        </p:spPr>
        <p:txBody>
          <a:bodyPr lIns="121963" tIns="60981" rIns="121963" bIns="60981" anchor="b"/>
          <a:lstStyle>
            <a:lvl1pPr algn="l">
              <a:defRPr sz="27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lIns="121963" tIns="60981" rIns="121963" bIns="60981"/>
          <a:lstStyle>
            <a:lvl1pPr marL="0" indent="0">
              <a:buNone/>
              <a:defRPr sz="4300"/>
            </a:lvl1pPr>
            <a:lvl2pPr marL="609600" indent="0">
              <a:buNone/>
              <a:defRPr sz="3700"/>
            </a:lvl2pPr>
            <a:lvl3pPr marL="1219200" indent="0">
              <a:buNone/>
              <a:defRPr sz="3200"/>
            </a:lvl3pPr>
            <a:lvl4pPr marL="1828800" indent="0">
              <a:buNone/>
              <a:defRPr sz="2700"/>
            </a:lvl4pPr>
            <a:lvl5pPr marL="2437765" indent="0">
              <a:buNone/>
              <a:defRPr sz="2700"/>
            </a:lvl5pPr>
            <a:lvl6pPr marL="3047365" indent="0">
              <a:buNone/>
              <a:defRPr sz="2700"/>
            </a:lvl6pPr>
            <a:lvl7pPr marL="3656965" indent="0">
              <a:buNone/>
              <a:defRPr sz="2700"/>
            </a:lvl7pPr>
            <a:lvl8pPr marL="4266565" indent="0">
              <a:buNone/>
              <a:defRPr sz="2700"/>
            </a:lvl8pPr>
            <a:lvl9pPr marL="4876165" indent="0">
              <a:buNone/>
              <a:defRPr sz="2700"/>
            </a:lvl9pPr>
          </a:lstStyle>
          <a:p>
            <a:endParaRPr lang="zh-CN" altLang="en-US"/>
          </a:p>
        </p:txBody>
      </p:sp>
      <p:sp>
        <p:nvSpPr>
          <p:cNvPr id="4" name="文本占位符 3"/>
          <p:cNvSpPr>
            <a:spLocks noGrp="1"/>
          </p:cNvSpPr>
          <p:nvPr>
            <p:ph type="body" sz="half" idx="2"/>
          </p:nvPr>
        </p:nvSpPr>
        <p:spPr>
          <a:xfrm>
            <a:off x="1792288" y="5367339"/>
            <a:ext cx="5486400" cy="804863"/>
          </a:xfrm>
          <a:prstGeom prst="rect">
            <a:avLst/>
          </a:prstGeom>
        </p:spPr>
        <p:txBody>
          <a:bodyPr lIns="121963" tIns="60981" rIns="121963" bIns="60981"/>
          <a:lstStyle>
            <a:lvl1pPr marL="0" indent="0">
              <a:buNone/>
              <a:defRPr sz="1900"/>
            </a:lvl1pPr>
            <a:lvl2pPr marL="609600" indent="0">
              <a:buNone/>
              <a:defRPr sz="1600"/>
            </a:lvl2pPr>
            <a:lvl3pPr marL="1219200" indent="0">
              <a:buNone/>
              <a:defRPr sz="1300"/>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p>
        </p:txBody>
      </p:sp>
      <p:sp>
        <p:nvSpPr>
          <p:cNvPr id="5" name="日期占位符 4"/>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6" name="页脚占位符 5"/>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1" y="274639"/>
            <a:ext cx="8229600" cy="1143000"/>
          </a:xfrm>
          <a:prstGeom prst="rect">
            <a:avLst/>
          </a:prstGeom>
        </p:spPr>
        <p:txBody>
          <a:bodyPr lIns="121963" tIns="60981" rIns="121963" bIns="60981"/>
          <a:lstStyle/>
          <a:p>
            <a:r>
              <a:rPr lang="zh-CN" altLang="en-US"/>
              <a:t>单击此处编辑母版标题样式</a:t>
            </a:r>
          </a:p>
        </p:txBody>
      </p:sp>
      <p:sp>
        <p:nvSpPr>
          <p:cNvPr id="3" name="竖排文字占位符 2"/>
          <p:cNvSpPr>
            <a:spLocks noGrp="1"/>
          </p:cNvSpPr>
          <p:nvPr>
            <p:ph type="body" orient="vert" idx="1"/>
          </p:nvPr>
        </p:nvSpPr>
        <p:spPr>
          <a:xfrm>
            <a:off x="457201" y="1600203"/>
            <a:ext cx="8229600" cy="4525963"/>
          </a:xfrm>
          <a:prstGeom prst="rect">
            <a:avLst/>
          </a:prstGeom>
        </p:spPr>
        <p:txBody>
          <a:bodyPr vert="eaVert" lIns="121963" tIns="60981" rIns="121963" bIns="6098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5" name="页脚占位符 4"/>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1" y="206376"/>
            <a:ext cx="2057400" cy="4387851"/>
          </a:xfrm>
          <a:prstGeom prst="rect">
            <a:avLst/>
          </a:prstGeom>
        </p:spPr>
        <p:txBody>
          <a:bodyPr vert="eaVert" lIns="121963" tIns="60981" rIns="121963" bIns="60981"/>
          <a:lstStyle/>
          <a:p>
            <a:r>
              <a:rPr lang="zh-CN" altLang="en-US"/>
              <a:t>单击此处编辑母版标题样式</a:t>
            </a:r>
          </a:p>
        </p:txBody>
      </p:sp>
      <p:sp>
        <p:nvSpPr>
          <p:cNvPr id="3" name="竖排文字占位符 2"/>
          <p:cNvSpPr>
            <a:spLocks noGrp="1"/>
          </p:cNvSpPr>
          <p:nvPr>
            <p:ph type="body" orient="vert" idx="1"/>
          </p:nvPr>
        </p:nvSpPr>
        <p:spPr>
          <a:xfrm>
            <a:off x="457200" y="206376"/>
            <a:ext cx="6019800" cy="4387851"/>
          </a:xfrm>
          <a:prstGeom prst="rect">
            <a:avLst/>
          </a:prstGeom>
        </p:spPr>
        <p:txBody>
          <a:bodyPr vert="eaVert" lIns="121963" tIns="60981" rIns="121963" bIns="6098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1"/>
            <a:ext cx="2133600" cy="365125"/>
          </a:xfrm>
          <a:prstGeom prst="rect">
            <a:avLst/>
          </a:prstGeom>
        </p:spPr>
        <p:txBody>
          <a:bodyPr lIns="121963" tIns="60981" rIns="121963" bIns="60981"/>
          <a:lstStyle/>
          <a:p>
            <a:fld id="{DF659192-60C8-49F5-94DF-1E29C3FCC85C}" type="datetimeFigureOut">
              <a:rPr lang="zh-CN" altLang="en-US" smtClean="0"/>
              <a:t>2025/4/9</a:t>
            </a:fld>
            <a:endParaRPr lang="zh-CN" altLang="en-US"/>
          </a:p>
        </p:txBody>
      </p:sp>
      <p:sp>
        <p:nvSpPr>
          <p:cNvPr id="5" name="页脚占位符 4"/>
          <p:cNvSpPr>
            <a:spLocks noGrp="1"/>
          </p:cNvSpPr>
          <p:nvPr>
            <p:ph type="ftr" sz="quarter" idx="11"/>
          </p:nvPr>
        </p:nvSpPr>
        <p:spPr>
          <a:xfrm>
            <a:off x="3124201" y="6356351"/>
            <a:ext cx="2895600" cy="365125"/>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6553200" y="6356351"/>
            <a:ext cx="2133600" cy="365125"/>
          </a:xfrm>
          <a:prstGeom prst="rect">
            <a:avLst/>
          </a:prstGeom>
        </p:spPr>
        <p:txBody>
          <a:bodyPr lIns="121963" tIns="60981" rIns="121963" bIns="60981"/>
          <a:lstStyle/>
          <a:p>
            <a:fld id="{EB730883-2733-4EB0-9793-894FF9D501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pic>
        <p:nvPicPr>
          <p:cNvPr id="8" name="Picture 2" descr="F:\桌面文件\ppt底图.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279" y="3177"/>
            <a:ext cx="9228378" cy="685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4521" y="0"/>
            <a:ext cx="9228619" cy="6858000"/>
          </a:xfrm>
          <a:prstGeom prst="rect">
            <a:avLst/>
          </a:prstGeom>
          <a:gradFill flip="none" rotWithShape="1">
            <a:gsLst>
              <a:gs pos="0">
                <a:schemeClr val="bg1">
                  <a:alpha val="0"/>
                </a:schemeClr>
              </a:gs>
              <a:gs pos="30000">
                <a:schemeClr val="bg1">
                  <a:alpha val="0"/>
                </a:schemeClr>
              </a:gs>
              <a:gs pos="98000">
                <a:schemeClr val="tx1">
                  <a:alpha val="7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388" tIns="45693" rIns="91388" bIns="45693" anchor="ctr"/>
          <a:lstStyle/>
          <a:p>
            <a:pPr algn="ctr" eaLnBrk="0" hangingPunct="0">
              <a:defRPr/>
            </a:pPr>
            <a:endParaRPr lang="zh-CN" altLang="en-US" sz="18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568" y="88497"/>
            <a:ext cx="5976664" cy="504056"/>
          </a:xfrm>
          <a:prstGeom prst="rect">
            <a:avLst/>
          </a:prstGeom>
        </p:spPr>
        <p:txBody>
          <a:bodyPr/>
          <a:lstStyle>
            <a:lvl1pPr algn="l" rtl="0">
              <a:defRPr/>
            </a:lvl1pPr>
          </a:lstStyle>
          <a:p>
            <a:r>
              <a:rPr lang="zh-CN" altLang="en-US"/>
              <a:t>单击此处编辑母版标题样式</a:t>
            </a:r>
            <a:endParaRPr lang="en-US" dirty="0"/>
          </a:p>
        </p:txBody>
      </p:sp>
      <p:sp>
        <p:nvSpPr>
          <p:cNvPr id="9" name="Content Placeholder 8"/>
          <p:cNvSpPr>
            <a:spLocks noGrp="1"/>
          </p:cNvSpPr>
          <p:nvPr>
            <p:ph sz="quarter" idx="13"/>
          </p:nvPr>
        </p:nvSpPr>
        <p:spPr>
          <a:xfrm>
            <a:off x="251520" y="692697"/>
            <a:ext cx="8208912" cy="5904656"/>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14"/>
          </p:nvPr>
        </p:nvSpPr>
        <p:spPr>
          <a:xfrm>
            <a:off x="457200" y="6356352"/>
            <a:ext cx="2133600" cy="365125"/>
          </a:xfrm>
          <a:prstGeom prst="rect">
            <a:avLst/>
          </a:prstGeom>
        </p:spPr>
        <p:txBody>
          <a:bodyPr/>
          <a:lstStyle>
            <a:lvl1pPr>
              <a:defRPr/>
            </a:lvl1pPr>
          </a:lstStyle>
          <a:p>
            <a:pPr>
              <a:defRPr/>
            </a:pPr>
            <a:fld id="{6C2578CD-5D0E-408B-BD90-ED544D1F32D2}" type="datetimeFigureOut">
              <a:rPr lang="zh-CN" altLang="en-US"/>
              <a:pPr>
                <a:defRPr/>
              </a:pPr>
              <a:t>2025/4/9</a:t>
            </a:fld>
            <a:endParaRPr lang="zh-CN" altLang="en-US"/>
          </a:p>
        </p:txBody>
      </p:sp>
      <p:sp>
        <p:nvSpPr>
          <p:cNvPr id="5" name="页脚占位符 4"/>
          <p:cNvSpPr>
            <a:spLocks noGrp="1"/>
          </p:cNvSpPr>
          <p:nvPr>
            <p:ph type="ftr" sz="quarter" idx="15"/>
          </p:nvPr>
        </p:nvSpPr>
        <p:spPr>
          <a:xfrm>
            <a:off x="3124200" y="6356352"/>
            <a:ext cx="2895600" cy="365125"/>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6"/>
          </p:nvPr>
        </p:nvSpPr>
        <p:spPr>
          <a:xfrm>
            <a:off x="6553200" y="6356352"/>
            <a:ext cx="2133600" cy="365125"/>
          </a:xfrm>
          <a:prstGeom prst="rect">
            <a:avLst/>
          </a:prstGeom>
        </p:spPr>
        <p:txBody>
          <a:bodyPr/>
          <a:lstStyle>
            <a:lvl1pPr>
              <a:defRPr/>
            </a:lvl1pPr>
          </a:lstStyle>
          <a:p>
            <a:pPr>
              <a:defRPr/>
            </a:pPr>
            <a:fld id="{2EF36182-943F-4B79-88FD-3D4CE003EBD5}" type="slidenum">
              <a:rPr lang="zh-CN" altLang="en-US"/>
              <a:pPr>
                <a:defRPr/>
              </a:pPr>
              <a:t>‹#›</a:t>
            </a:fld>
            <a:endParaRPr lang="zh-CN" altLang="en-US"/>
          </a:p>
        </p:txBody>
      </p:sp>
    </p:spTree>
    <p:extLst>
      <p:ext uri="{BB962C8B-B14F-4D97-AF65-F5344CB8AC3E}">
        <p14:creationId xmlns:p14="http://schemas.microsoft.com/office/powerpoint/2010/main" val="1011393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txStyles>
    <p:titleStyle>
      <a:lvl1pPr algn="ctr" defTabSz="1218565" rtl="0" eaLnBrk="1" latinLnBrk="0" hangingPunct="1">
        <a:spcBef>
          <a:spcPct val="0"/>
        </a:spcBef>
        <a:buNone/>
        <a:defRPr sz="5895" kern="1200">
          <a:solidFill>
            <a:schemeClr val="tx1"/>
          </a:solidFill>
          <a:latin typeface="+mj-lt"/>
          <a:ea typeface="+mj-ea"/>
          <a:cs typeface="+mj-cs"/>
        </a:defRPr>
      </a:lvl1pPr>
    </p:titleStyle>
    <p:body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7365" algn="l" defTabSz="1218565" rtl="0" eaLnBrk="1" latinLnBrk="0" hangingPunct="1">
        <a:defRPr sz="2400" kern="1200">
          <a:solidFill>
            <a:schemeClr val="tx1"/>
          </a:solidFill>
          <a:latin typeface="+mn-lt"/>
          <a:ea typeface="+mn-ea"/>
          <a:cs typeface="+mn-cs"/>
        </a:defRPr>
      </a:lvl6pPr>
      <a:lvl7pPr marL="3656965"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7.wmf"/><Relationship Id="rId4" Type="http://schemas.openxmlformats.org/officeDocument/2006/relationships/oleObject" Target="../embeddings/oleObject1.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3505199" y="1630680"/>
            <a:ext cx="5471161" cy="1600369"/>
          </a:xfrm>
          <a:prstGeom prst="rect">
            <a:avLst/>
          </a:prstGeom>
          <a:noFill/>
        </p:spPr>
        <p:txBody>
          <a:bodyPr wrap="square" lIns="121854" tIns="60926" rIns="121854" bIns="60926" rtlCol="0">
            <a:spAutoFit/>
          </a:bodyPr>
          <a:lstStyle/>
          <a:p>
            <a:pPr algn="ctr" defTabSz="1218565"/>
            <a:r>
              <a:rPr lang="zh-CN" altLang="en-US" sz="4800" b="1" dirty="0">
                <a:solidFill>
                  <a:srgbClr val="0070C0"/>
                </a:solidFill>
                <a:latin typeface="微软雅黑" panose="020B0503020204020204" pitchFamily="34" charset="-122"/>
                <a:ea typeface="微软雅黑" panose="020B0503020204020204" pitchFamily="34" charset="-122"/>
              </a:rPr>
              <a:t>第</a:t>
            </a:r>
            <a:r>
              <a:rPr lang="en-US" altLang="zh-CN" sz="4800" b="1" dirty="0">
                <a:solidFill>
                  <a:srgbClr val="0070C0"/>
                </a:solidFill>
                <a:latin typeface="微软雅黑" panose="020B0503020204020204" pitchFamily="34" charset="-122"/>
                <a:ea typeface="微软雅黑" panose="020B0503020204020204" pitchFamily="34" charset="-122"/>
              </a:rPr>
              <a:t>1</a:t>
            </a:r>
            <a:r>
              <a:rPr lang="zh-CN" altLang="en-US" sz="4800" b="1" dirty="0">
                <a:solidFill>
                  <a:srgbClr val="0070C0"/>
                </a:solidFill>
                <a:latin typeface="微软雅黑" panose="020B0503020204020204" pitchFamily="34" charset="-122"/>
                <a:ea typeface="微软雅黑" panose="020B0503020204020204" pitchFamily="34" charset="-122"/>
              </a:rPr>
              <a:t>章 </a:t>
            </a:r>
            <a:r>
              <a:rPr lang="en-US" altLang="zh-CN" sz="4800" b="1" dirty="0">
                <a:solidFill>
                  <a:srgbClr val="0070C0"/>
                </a:solidFill>
                <a:latin typeface="微软雅黑" panose="020B0503020204020204" pitchFamily="34" charset="-122"/>
                <a:ea typeface="微软雅黑" panose="020B0503020204020204" pitchFamily="34" charset="-122"/>
              </a:rPr>
              <a:t>Python</a:t>
            </a:r>
            <a:r>
              <a:rPr lang="zh-CN" altLang="en-US" sz="4800" b="1" dirty="0">
                <a:solidFill>
                  <a:srgbClr val="0070C0"/>
                </a:solidFill>
                <a:latin typeface="微软雅黑" panose="020B0503020204020204" pitchFamily="34" charset="-122"/>
                <a:ea typeface="微软雅黑" panose="020B0503020204020204" pitchFamily="34" charset="-122"/>
              </a:rPr>
              <a:t>语言基础</a:t>
            </a:r>
          </a:p>
        </p:txBody>
      </p:sp>
      <p:cxnSp>
        <p:nvCxnSpPr>
          <p:cNvPr id="3" name="直接连接符 2"/>
          <p:cNvCxnSpPr/>
          <p:nvPr/>
        </p:nvCxnSpPr>
        <p:spPr>
          <a:xfrm>
            <a:off x="473890" y="4793695"/>
            <a:ext cx="8259053" cy="0"/>
          </a:xfrm>
          <a:prstGeom prst="line">
            <a:avLst/>
          </a:prstGeom>
          <a:ln w="38100">
            <a:solidFill>
              <a:srgbClr val="F5A609"/>
            </a:solidFill>
          </a:ln>
        </p:spPr>
        <p:style>
          <a:lnRef idx="1">
            <a:schemeClr val="accent1"/>
          </a:lnRef>
          <a:fillRef idx="0">
            <a:schemeClr val="accent1"/>
          </a:fillRef>
          <a:effectRef idx="0">
            <a:schemeClr val="accent1"/>
          </a:effectRef>
          <a:fontRef idx="minor">
            <a:schemeClr val="tx1"/>
          </a:fontRef>
        </p:style>
      </p:cxnSp>
      <p:pic>
        <p:nvPicPr>
          <p:cNvPr id="3074" name="Picture 2" descr="C:\Users\Shinelon\Desktop\29462079-1_w_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699" y="1033463"/>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4"/>
                                        </p:tgtEl>
                                        <p:attrNameLst>
                                          <p:attrName>ppt_y</p:attrName>
                                        </p:attrNameLst>
                                      </p:cBhvr>
                                      <p:tavLst>
                                        <p:tav tm="0">
                                          <p:val>
                                            <p:strVal val="#ppt_y"/>
                                          </p:val>
                                        </p:tav>
                                        <p:tav tm="100000">
                                          <p:val>
                                            <p:strVal val="#ppt_y"/>
                                          </p:val>
                                        </p:tav>
                                      </p:tavLst>
                                    </p:anim>
                                    <p:anim calcmode="lin" valueType="num">
                                      <p:cBhvr>
                                        <p:cTn id="9" dur="500" fill="hold"/>
                                        <p:tgtEl>
                                          <p:spTgt spid="2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513399" y="3336319"/>
              <a:ext cx="3570115"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库数据可视化</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科学计算</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主  要</a:t>
            </a:r>
            <a:endParaRPr lang="en-US" altLang="zh-CN" sz="4800" b="1" spc="200" dirty="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88" name="下箭头 87"/>
          <p:cNvSpPr/>
          <p:nvPr/>
        </p:nvSpPr>
        <p:spPr>
          <a:xfrm rot="16200000">
            <a:off x="3031835" y="1391207"/>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Sklearn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机器学习</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80">
                                          <p:stCondLst>
                                            <p:cond delay="0"/>
                                          </p:stCondLst>
                                        </p:cTn>
                                        <p:tgtEl>
                                          <p:spTgt spid="88"/>
                                        </p:tgtEl>
                                      </p:cBhvr>
                                    </p:animEffect>
                                    <p:anim calcmode="lin" valueType="num">
                                      <p:cBhvr>
                                        <p:cTn id="8" dur="1822" tmFilter="0,0; 0.14,0.36; 0.43,0.73; 0.71,0.91; 1.0,1.0">
                                          <p:stCondLst>
                                            <p:cond delay="0"/>
                                          </p:stCondLst>
                                        </p:cTn>
                                        <p:tgtEl>
                                          <p:spTgt spid="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
                                        </p:tgtEl>
                                        <p:attrNameLst>
                                          <p:attrName>ppt_y</p:attrName>
                                        </p:attrNameLst>
                                      </p:cBhvr>
                                      <p:tavLst>
                                        <p:tav tm="0" fmla="#ppt_y-sin(pi*$)/81">
                                          <p:val>
                                            <p:fltVal val="0"/>
                                          </p:val>
                                        </p:tav>
                                        <p:tav tm="100000">
                                          <p:val>
                                            <p:fltVal val="1"/>
                                          </p:val>
                                        </p:tav>
                                      </p:tavLst>
                                    </p:anim>
                                    <p:animScale>
                                      <p:cBhvr>
                                        <p:cTn id="13" dur="26">
                                          <p:stCondLst>
                                            <p:cond delay="650"/>
                                          </p:stCondLst>
                                        </p:cTn>
                                        <p:tgtEl>
                                          <p:spTgt spid="88"/>
                                        </p:tgtEl>
                                      </p:cBhvr>
                                      <p:to x="100000" y="60000"/>
                                    </p:animScale>
                                    <p:animScale>
                                      <p:cBhvr>
                                        <p:cTn id="14" dur="166" decel="50000">
                                          <p:stCondLst>
                                            <p:cond delay="676"/>
                                          </p:stCondLst>
                                        </p:cTn>
                                        <p:tgtEl>
                                          <p:spTgt spid="88"/>
                                        </p:tgtEl>
                                      </p:cBhvr>
                                      <p:to x="100000" y="100000"/>
                                    </p:animScale>
                                    <p:animScale>
                                      <p:cBhvr>
                                        <p:cTn id="15" dur="26">
                                          <p:stCondLst>
                                            <p:cond delay="1312"/>
                                          </p:stCondLst>
                                        </p:cTn>
                                        <p:tgtEl>
                                          <p:spTgt spid="88"/>
                                        </p:tgtEl>
                                      </p:cBhvr>
                                      <p:to x="100000" y="80000"/>
                                    </p:animScale>
                                    <p:animScale>
                                      <p:cBhvr>
                                        <p:cTn id="16" dur="166" decel="50000">
                                          <p:stCondLst>
                                            <p:cond delay="1338"/>
                                          </p:stCondLst>
                                        </p:cTn>
                                        <p:tgtEl>
                                          <p:spTgt spid="88"/>
                                        </p:tgtEl>
                                      </p:cBhvr>
                                      <p:to x="100000" y="100000"/>
                                    </p:animScale>
                                    <p:animScale>
                                      <p:cBhvr>
                                        <p:cTn id="17" dur="26">
                                          <p:stCondLst>
                                            <p:cond delay="1642"/>
                                          </p:stCondLst>
                                        </p:cTn>
                                        <p:tgtEl>
                                          <p:spTgt spid="88"/>
                                        </p:tgtEl>
                                      </p:cBhvr>
                                      <p:to x="100000" y="90000"/>
                                    </p:animScale>
                                    <p:animScale>
                                      <p:cBhvr>
                                        <p:cTn id="18" dur="166" decel="50000">
                                          <p:stCondLst>
                                            <p:cond delay="1668"/>
                                          </p:stCondLst>
                                        </p:cTn>
                                        <p:tgtEl>
                                          <p:spTgt spid="88"/>
                                        </p:tgtEl>
                                      </p:cBhvr>
                                      <p:to x="100000" y="100000"/>
                                    </p:animScale>
                                    <p:animScale>
                                      <p:cBhvr>
                                        <p:cTn id="19" dur="26">
                                          <p:stCondLst>
                                            <p:cond delay="1808"/>
                                          </p:stCondLst>
                                        </p:cTn>
                                        <p:tgtEl>
                                          <p:spTgt spid="88"/>
                                        </p:tgtEl>
                                      </p:cBhvr>
                                      <p:to x="100000" y="95000"/>
                                    </p:animScale>
                                    <p:animScale>
                                      <p:cBhvr>
                                        <p:cTn id="20" dur="166" decel="50000">
                                          <p:stCondLst>
                                            <p:cond delay="1834"/>
                                          </p:stCondLst>
                                        </p:cTn>
                                        <p:tgtEl>
                                          <p:spTgt spid="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Python</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语言的特点</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是一种跨平台、开源的解释型高级动态编程语言。</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拥有大量的库，可以高效地开发各种应用程序。</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的应用领域也非常广泛，既适用于</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Web</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编程、网络爬虫这些互联网相关的应用，也适用于数据分析、机器学习这些与大数据、人工智能相关的领域。</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Python</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的版本</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有两个版本，一种是</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2.x</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版，一种是</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3.x</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版（本书采用</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3.7</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 Python</a:t>
            </a:r>
            <a:r>
              <a:rPr lang="zh-CN" altLang="en-US" sz="2800" b="1" dirty="0">
                <a:solidFill>
                  <a:srgbClr val="0070C0"/>
                </a:solidFill>
                <a:latin typeface="微软雅黑" panose="020B0503020204020204" pitchFamily="34" charset="-122"/>
                <a:ea typeface="微软雅黑" panose="020B0503020204020204" pitchFamily="34" charset="-122"/>
              </a:rPr>
              <a:t>程序入门</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p>
        </p:txBody>
      </p:sp>
      <p:sp>
        <p:nvSpPr>
          <p:cNvPr id="3" name="Text Box 2"/>
          <p:cNvSpPr txBox="1">
            <a:spLocks noChangeArrowheads="1"/>
          </p:cNvSpPr>
          <p:nvPr/>
        </p:nvSpPr>
        <p:spPr bwMode="auto">
          <a:xfrm>
            <a:off x="5842002" y="1865590"/>
            <a:ext cx="1710725" cy="2677656"/>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0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1 1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2 2 2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3 3 3 3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4 4 4 4 4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5 5 5 5 5 5</a:t>
            </a:r>
            <a:endParaRPr kumimoji="0" lang="zh-CN" altLang="zh-CN" sz="5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4" name="Rectangle 4"/>
          <p:cNvSpPr>
            <a:spLocks noChangeArrowheads="1"/>
          </p:cNvSpPr>
          <p:nvPr/>
        </p:nvSpPr>
        <p:spPr bwMode="auto">
          <a:xfrm>
            <a:off x="609600" y="1849715"/>
            <a:ext cx="4206240"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marR="0" lvl="0" indent="0" algn="l" defTabSz="914400" rtl="0" eaLnBrk="1" fontAlgn="base" latinLnBrk="0" hangingPunct="1">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for i in range(6):</a:t>
            </a:r>
            <a:endParaRPr kumimoji="0" lang="en-US"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R="0" lvl="0" indent="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for j in range(-1,i):</a:t>
            </a:r>
            <a:endParaRPr kumimoji="0" lang="en-US"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R="0" lvl="0" indent="0" algn="l" defTabSz="914400" rtl="0" eaLnBrk="0" fontAlgn="base" latinLnBrk="0" hangingPunct="0">
              <a:lnSpc>
                <a:spcPct val="100000"/>
              </a:lnSpc>
              <a:spcBef>
                <a:spcPct val="0"/>
              </a:spcBef>
              <a:spcAft>
                <a:spcPct val="0"/>
              </a:spcAft>
              <a:buClrTx/>
              <a:buSzTx/>
              <a:buFontTx/>
              <a:buNone/>
              <a:tabLst/>
            </a:pPr>
            <a:r>
              <a:rPr kumimoji="0" lang="en-US" altLang="zh-CN" sz="3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        print(i,end=' ')</a:t>
            </a:r>
          </a:p>
          <a:p>
            <a:pPr marR="0" lvl="0" indent="0" algn="l" defTabSz="914400" rtl="0" eaLnBrk="0" fontAlgn="base" latinLnBrk="0" hangingPunct="0">
              <a:lnSpc>
                <a:spcPct val="100000"/>
              </a:lnSpc>
              <a:spcBef>
                <a:spcPct val="0"/>
              </a:spcBef>
              <a:spcAft>
                <a:spcPct val="0"/>
              </a:spcAft>
              <a:buClrTx/>
              <a:buSzTx/>
              <a:buFontTx/>
              <a:buNone/>
              <a:tabLst/>
            </a:pPr>
            <a:r>
              <a:rPr lang="en-US" altLang="zh-CN" sz="3200" dirty="0">
                <a:latin typeface="Times New Roman" pitchFamily="18" charset="0"/>
                <a:cs typeface="Times New Roman" pitchFamily="18" charset="0"/>
              </a:rPr>
              <a:t>    print()</a:t>
            </a:r>
            <a:endParaRPr kumimoji="0" lang="en-US" altLang="zh-CN" sz="32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endParaRPr>
          </a:p>
          <a:p>
            <a:pPr marR="0" lvl="0" indent="0" algn="l" defTabSz="914400" rtl="0" eaLnBrk="0" fontAlgn="base" latinLnBrk="0" hangingPunct="0">
              <a:lnSpc>
                <a:spcPct val="100000"/>
              </a:lnSpc>
              <a:spcBef>
                <a:spcPct val="0"/>
              </a:spcBef>
              <a:spcAft>
                <a:spcPct val="0"/>
              </a:spcAft>
              <a:buClrTx/>
              <a:buSzTx/>
              <a:buFontTx/>
              <a:buNone/>
              <a:tabLst/>
            </a:pPr>
            <a:endParaRPr kumimoji="0" lang="en-US" altLang="zh-CN" sz="6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 name="矩形 6"/>
          <p:cNvSpPr/>
          <p:nvPr/>
        </p:nvSpPr>
        <p:spPr>
          <a:xfrm>
            <a:off x="609600" y="1071324"/>
            <a:ext cx="3432350"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  </a:t>
            </a:r>
            <a:r>
              <a:rPr lang="zh-CN" altLang="zh-CN" sz="2800" b="1" dirty="0">
                <a:solidFill>
                  <a:srgbClr val="0070C0"/>
                </a:solidFill>
                <a:latin typeface="微软雅黑" panose="020B0503020204020204" pitchFamily="34" charset="-122"/>
                <a:ea typeface="微软雅黑" panose="020B0503020204020204" pitchFamily="34" charset="-122"/>
              </a:rPr>
              <a:t>画金字塔</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cxnSp>
        <p:nvCxnSpPr>
          <p:cNvPr id="10" name="直接连接符 9"/>
          <p:cNvCxnSpPr/>
          <p:nvPr/>
        </p:nvCxnSpPr>
        <p:spPr>
          <a:xfrm>
            <a:off x="609600" y="1996440"/>
            <a:ext cx="0" cy="2179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005840" y="2468880"/>
            <a:ext cx="0" cy="1402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432560" y="2914650"/>
            <a:ext cx="0" cy="510540"/>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609600" y="4413994"/>
            <a:ext cx="3459941" cy="523196"/>
            <a:chOff x="6339097" y="1568270"/>
            <a:chExt cx="3744416" cy="523468"/>
          </a:xfrm>
        </p:grpSpPr>
        <p:sp>
          <p:nvSpPr>
            <p:cNvPr id="16" name="圆角矩形 15"/>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7" name="矩形 16"/>
            <p:cNvSpPr/>
            <p:nvPr/>
          </p:nvSpPr>
          <p:spPr>
            <a:xfrm>
              <a:off x="6723349" y="1568270"/>
              <a:ext cx="3196827" cy="523468"/>
            </a:xfrm>
            <a:prstGeom prst="rect">
              <a:avLst/>
            </a:prstGeom>
          </p:spPr>
          <p:txBody>
            <a:bodyPr wrap="square" lIns="121897" tIns="60948" rIns="121897" bIns="60948">
              <a:spAutoFit/>
            </a:bodyPr>
            <a:lstStyle/>
            <a:p>
              <a:pPr defTabSz="1218565">
                <a:defRPr/>
              </a:pP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缩进具有语法含义</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609600" y="5191234"/>
            <a:ext cx="5791200" cy="523196"/>
            <a:chOff x="6339097" y="1568270"/>
            <a:chExt cx="3744416" cy="523468"/>
          </a:xfrm>
        </p:grpSpPr>
        <p:sp>
          <p:nvSpPr>
            <p:cNvPr id="19" name="圆角矩形 1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0" name="矩形 19"/>
            <p:cNvSpPr/>
            <p:nvPr/>
          </p:nvSpPr>
          <p:spPr>
            <a:xfrm>
              <a:off x="6467195" y="1568270"/>
              <a:ext cx="3452980" cy="523468"/>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range(6)</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产生数字序列</a:t>
              </a: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0,1,2,3,4,5</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1" name="组合 20"/>
          <p:cNvGrpSpPr/>
          <p:nvPr/>
        </p:nvGrpSpPr>
        <p:grpSpPr>
          <a:xfrm>
            <a:off x="609600" y="5968474"/>
            <a:ext cx="3962400" cy="923305"/>
            <a:chOff x="6339097" y="1568270"/>
            <a:chExt cx="3744416" cy="923785"/>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723349" y="1568270"/>
              <a:ext cx="3196827" cy="923785"/>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print()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默认会换行</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6" name="矩形 25"/>
          <p:cNvSpPr/>
          <p:nvPr/>
        </p:nvSpPr>
        <p:spPr>
          <a:xfrm>
            <a:off x="5925064" y="5613993"/>
            <a:ext cx="2857781" cy="1231106"/>
          </a:xfrm>
          <a:prstGeom prst="rect">
            <a:avLst/>
          </a:prstGeom>
        </p:spPr>
        <p:txBody>
          <a:bodyPr wrap="square">
            <a:spAutoFit/>
          </a:bodyPr>
          <a:lstStyle/>
          <a:p>
            <a:r>
              <a:rPr lang="en-US" altLang="zh-CN" sz="2800" dirty="0">
                <a:latin typeface="Times New Roman" panose="02020603050405020304" pitchFamily="18" charset="0"/>
                <a:cs typeface="Times New Roman" panose="02020603050405020304" pitchFamily="18" charset="0"/>
              </a:rPr>
              <a:t>for i in range(6):</a:t>
            </a:r>
          </a:p>
          <a:p>
            <a:r>
              <a:rPr lang="en-US" altLang="zh-CN" sz="2800" dirty="0">
                <a:latin typeface="Times New Roman" panose="02020603050405020304" pitchFamily="18" charset="0"/>
                <a:cs typeface="Times New Roman" panose="02020603050405020304" pitchFamily="18" charset="0"/>
              </a:rPr>
              <a:t>    print("*  "*i)</a:t>
            </a:r>
            <a:r>
              <a:rPr lang="en-US" altLang="zh-CN" dirty="0"/>
              <a:t>	</a:t>
            </a:r>
          </a:p>
        </p:txBody>
      </p:sp>
    </p:spTree>
    <p:extLst>
      <p:ext uri="{BB962C8B-B14F-4D97-AF65-F5344CB8AC3E}">
        <p14:creationId xmlns:p14="http://schemas.microsoft.com/office/powerpoint/2010/main" val="4064128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p>
        </p:txBody>
      </p:sp>
      <p:sp>
        <p:nvSpPr>
          <p:cNvPr id="4" name="Rectangle 4"/>
          <p:cNvSpPr>
            <a:spLocks noChangeArrowheads="1"/>
          </p:cNvSpPr>
          <p:nvPr/>
        </p:nvSpPr>
        <p:spPr bwMode="auto">
          <a:xfrm>
            <a:off x="609601" y="1982229"/>
            <a:ext cx="4617719"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2800" dirty="0">
                <a:latin typeface="Times New Roman" pitchFamily="18" charset="0"/>
                <a:cs typeface="Times New Roman" pitchFamily="18" charset="0"/>
              </a:rPr>
              <a:t>a=int(input(‘</a:t>
            </a:r>
            <a:r>
              <a:rPr lang="zh-CN" altLang="en-US" sz="2800" dirty="0">
                <a:latin typeface="Times New Roman" pitchFamily="18" charset="0"/>
                <a:cs typeface="Times New Roman" pitchFamily="18" charset="0"/>
              </a:rPr>
              <a:t>输入正整数</a:t>
            </a:r>
            <a:r>
              <a:rPr lang="en-US" altLang="zh-CN" sz="2800" dirty="0">
                <a:latin typeface="Times New Roman" pitchFamily="18" charset="0"/>
                <a:cs typeface="Times New Roman" pitchFamily="18" charset="0"/>
              </a:rPr>
              <a:t>:'))</a:t>
            </a:r>
          </a:p>
          <a:p>
            <a:pPr lvl="0" indent="0"/>
            <a:r>
              <a:rPr lang="en-US" altLang="zh-CN" sz="2800" dirty="0">
                <a:latin typeface="Times New Roman" pitchFamily="18" charset="0"/>
                <a:cs typeface="Times New Roman" pitchFamily="18" charset="0"/>
              </a:rPr>
              <a:t>if a&gt;6:</a:t>
            </a:r>
          </a:p>
          <a:p>
            <a:pPr lvl="0" indent="0"/>
            <a:r>
              <a:rPr lang="en-US" altLang="zh-CN" sz="2800" dirty="0">
                <a:latin typeface="Times New Roman" pitchFamily="18" charset="0"/>
                <a:cs typeface="Times New Roman" pitchFamily="18" charset="0"/>
              </a:rPr>
              <a:t>    print(a,"</a:t>
            </a:r>
            <a:r>
              <a:rPr lang="zh-CN" altLang="en-US" sz="2800" dirty="0">
                <a:latin typeface="Times New Roman" pitchFamily="18" charset="0"/>
                <a:cs typeface="Times New Roman" pitchFamily="18" charset="0"/>
              </a:rPr>
              <a:t>大于</a:t>
            </a:r>
            <a:r>
              <a:rPr lang="en-US" altLang="zh-CN" sz="2800" dirty="0">
                <a:latin typeface="Times New Roman" pitchFamily="18" charset="0"/>
                <a:cs typeface="Times New Roman" pitchFamily="18" charset="0"/>
              </a:rPr>
              <a:t>6")</a:t>
            </a:r>
          </a:p>
          <a:p>
            <a:pPr lvl="0" indent="0"/>
            <a:r>
              <a:rPr lang="en-US" altLang="zh-CN" sz="2800" dirty="0">
                <a:latin typeface="Times New Roman" pitchFamily="18" charset="0"/>
                <a:cs typeface="Times New Roman" pitchFamily="18" charset="0"/>
              </a:rPr>
              <a:t>elif a==6:</a:t>
            </a:r>
          </a:p>
          <a:p>
            <a:pPr lvl="0" indent="0"/>
            <a:r>
              <a:rPr lang="en-US" altLang="zh-CN" sz="2800" dirty="0">
                <a:latin typeface="Times New Roman" pitchFamily="18" charset="0"/>
                <a:cs typeface="Times New Roman" pitchFamily="18" charset="0"/>
              </a:rPr>
              <a:t>    print(a,"</a:t>
            </a:r>
            <a:r>
              <a:rPr lang="zh-CN" altLang="en-US" sz="2800" dirty="0">
                <a:latin typeface="Times New Roman" pitchFamily="18" charset="0"/>
                <a:cs typeface="Times New Roman" pitchFamily="18" charset="0"/>
              </a:rPr>
              <a:t>等于</a:t>
            </a:r>
            <a:r>
              <a:rPr lang="en-US" altLang="zh-CN" sz="2800" dirty="0">
                <a:latin typeface="Times New Roman" pitchFamily="18" charset="0"/>
                <a:cs typeface="Times New Roman" pitchFamily="18" charset="0"/>
              </a:rPr>
              <a:t>6")    </a:t>
            </a:r>
          </a:p>
          <a:p>
            <a:pPr lvl="0" indent="0"/>
            <a:r>
              <a:rPr lang="en-US" altLang="zh-CN" sz="2800" dirty="0">
                <a:latin typeface="Times New Roman" pitchFamily="18" charset="0"/>
                <a:cs typeface="Times New Roman" pitchFamily="18" charset="0"/>
              </a:rPr>
              <a:t>else:</a:t>
            </a:r>
          </a:p>
          <a:p>
            <a:pPr lvl="0" indent="0"/>
            <a:r>
              <a:rPr lang="en-US" altLang="zh-CN" sz="2800" dirty="0">
                <a:latin typeface="Times New Roman" pitchFamily="18" charset="0"/>
                <a:cs typeface="Times New Roman" pitchFamily="18" charset="0"/>
              </a:rPr>
              <a:t>    print(a,"</a:t>
            </a:r>
            <a:r>
              <a:rPr lang="zh-CN" altLang="en-US" sz="2800" dirty="0">
                <a:latin typeface="Times New Roman" pitchFamily="18" charset="0"/>
                <a:cs typeface="Times New Roman" pitchFamily="18" charset="0"/>
              </a:rPr>
              <a:t>小于</a:t>
            </a:r>
            <a:r>
              <a:rPr lang="en-US" altLang="zh-CN" sz="2800" dirty="0">
                <a:latin typeface="Times New Roman" pitchFamily="18" charset="0"/>
                <a:cs typeface="Times New Roman" pitchFamily="18" charset="0"/>
              </a:rPr>
              <a:t>6")</a:t>
            </a:r>
            <a:endParaRPr kumimoji="0" lang="en-US" altLang="zh-CN" sz="2800" b="0" i="0" u="none" strike="noStrike" cap="none" normalizeH="0" baseline="0" dirty="0">
              <a:ln>
                <a:noFill/>
              </a:ln>
              <a:solidFill>
                <a:schemeClr val="tx1"/>
              </a:solidFill>
              <a:effectLst/>
              <a:latin typeface="Times New Roman" pitchFamily="18" charset="0"/>
              <a:cs typeface="Times New Roman" pitchFamily="18" charset="0"/>
            </a:endParaRPr>
          </a:p>
          <a:p>
            <a:pPr marR="0" lvl="0" indent="0" algn="l" defTabSz="914400" rtl="0" eaLnBrk="0" fontAlgn="base" latinLnBrk="0" hangingPunct="0">
              <a:lnSpc>
                <a:spcPct val="100000"/>
              </a:lnSpc>
              <a:spcBef>
                <a:spcPct val="0"/>
              </a:spcBef>
              <a:spcAft>
                <a:spcPct val="0"/>
              </a:spcAft>
              <a:buClrTx/>
              <a:buSzTx/>
              <a:buFontTx/>
              <a:buNone/>
              <a:tabLst/>
            </a:pPr>
            <a:endParaRPr kumimoji="0" lang="en-US" altLang="zh-CN" sz="6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 name="矩形 6"/>
          <p:cNvSpPr/>
          <p:nvPr/>
        </p:nvSpPr>
        <p:spPr>
          <a:xfrm>
            <a:off x="609600" y="1071324"/>
            <a:ext cx="3791423"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  </a:t>
            </a:r>
            <a:r>
              <a:rPr lang="zh-CN" altLang="en-US" sz="2800" b="1" dirty="0">
                <a:solidFill>
                  <a:srgbClr val="0070C0"/>
                </a:solidFill>
                <a:latin typeface="微软雅黑" panose="020B0503020204020204" pitchFamily="34" charset="-122"/>
                <a:ea typeface="微软雅黑" panose="020B0503020204020204" pitchFamily="34" charset="-122"/>
              </a:rPr>
              <a:t>输入并判断</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cxnSp>
        <p:nvCxnSpPr>
          <p:cNvPr id="10" name="直接连接符 9"/>
          <p:cNvCxnSpPr/>
          <p:nvPr/>
        </p:nvCxnSpPr>
        <p:spPr>
          <a:xfrm>
            <a:off x="609600" y="1996440"/>
            <a:ext cx="0" cy="3246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005840" y="2895600"/>
            <a:ext cx="0" cy="2346960"/>
          </a:xfrm>
          <a:prstGeom prst="line">
            <a:avLst/>
          </a:prstGeom>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628116" y="4449468"/>
            <a:ext cx="5058681" cy="542942"/>
            <a:chOff x="8200493" y="145705"/>
            <a:chExt cx="3288667" cy="543224"/>
          </a:xfrm>
        </p:grpSpPr>
        <p:sp>
          <p:nvSpPr>
            <p:cNvPr id="16" name="圆角矩形 15"/>
            <p:cNvSpPr/>
            <p:nvPr/>
          </p:nvSpPr>
          <p:spPr>
            <a:xfrm>
              <a:off x="8200493" y="145705"/>
              <a:ext cx="3288667"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7" name="矩形 16"/>
            <p:cNvSpPr/>
            <p:nvPr/>
          </p:nvSpPr>
          <p:spPr>
            <a:xfrm>
              <a:off x="8246412" y="165461"/>
              <a:ext cx="3196827" cy="523468"/>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input()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函数用来接收用户输入</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8" name="组合 17"/>
          <p:cNvGrpSpPr/>
          <p:nvPr/>
        </p:nvGrpSpPr>
        <p:grpSpPr>
          <a:xfrm>
            <a:off x="4937757" y="5248013"/>
            <a:ext cx="3749040" cy="523196"/>
            <a:chOff x="6339097" y="1568270"/>
            <a:chExt cx="4098710" cy="523468"/>
          </a:xfrm>
        </p:grpSpPr>
        <p:sp>
          <p:nvSpPr>
            <p:cNvPr id="19" name="圆角矩形 18"/>
            <p:cNvSpPr/>
            <p:nvPr/>
          </p:nvSpPr>
          <p:spPr>
            <a:xfrm>
              <a:off x="6339097" y="1573726"/>
              <a:ext cx="4098710"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0" name="矩形 19"/>
            <p:cNvSpPr/>
            <p:nvPr/>
          </p:nvSpPr>
          <p:spPr>
            <a:xfrm>
              <a:off x="6467195" y="1568270"/>
              <a:ext cx="3893386" cy="523468"/>
            </a:xfrm>
            <a:prstGeom prst="rect">
              <a:avLst/>
            </a:prstGeom>
          </p:spPr>
          <p:txBody>
            <a:bodyPr wrap="square" lIns="121897" tIns="60948" rIns="121897" bIns="60948">
              <a:spAutoFit/>
            </a:bodyPr>
            <a:lstStyle/>
            <a:p>
              <a:pPr defTabSz="1218565">
                <a:defRPr/>
              </a:pP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int()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是强制类型转换</a:t>
              </a:r>
              <a:endParaRPr lang="zh-CN"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1" name="组合 20"/>
          <p:cNvGrpSpPr/>
          <p:nvPr/>
        </p:nvGrpSpPr>
        <p:grpSpPr>
          <a:xfrm>
            <a:off x="2179318" y="5986027"/>
            <a:ext cx="6634335" cy="527061"/>
            <a:chOff x="9525015" y="2186676"/>
            <a:chExt cx="3817409" cy="527335"/>
          </a:xfrm>
        </p:grpSpPr>
        <p:sp>
          <p:nvSpPr>
            <p:cNvPr id="22" name="圆角矩形 21"/>
            <p:cNvSpPr/>
            <p:nvPr/>
          </p:nvSpPr>
          <p:spPr>
            <a:xfrm>
              <a:off x="9525015" y="220250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9554163" y="2186676"/>
              <a:ext cx="3788261" cy="523468"/>
            </a:xfrm>
            <a:prstGeom prst="rect">
              <a:avLst/>
            </a:prstGeom>
          </p:spPr>
          <p:txBody>
            <a:bodyPr wrap="square" lIns="121897" tIns="60948" rIns="121897" bIns="60948">
              <a:spAutoFit/>
            </a:bodyPr>
            <a:lstStyle/>
            <a:p>
              <a:pPr defTabSz="1218565">
                <a:defRPr/>
              </a:pP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字符串常量用双引号</a:t>
              </a: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或单引号</a:t>
              </a:r>
              <a:r>
                <a:rPr lang="en-US" altLang="zh-CN"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6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括起来</a:t>
              </a:r>
            </a:p>
          </p:txBody>
        </p:sp>
      </p:grpSp>
      <p:sp>
        <p:nvSpPr>
          <p:cNvPr id="24" name="Text Box 2"/>
          <p:cNvSpPr txBox="1">
            <a:spLocks noChangeArrowheads="1"/>
          </p:cNvSpPr>
          <p:nvPr/>
        </p:nvSpPr>
        <p:spPr bwMode="auto">
          <a:xfrm>
            <a:off x="5626721" y="1996440"/>
            <a:ext cx="2518638" cy="954107"/>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pPr lvl="0" algn="just" fontAlgn="base">
              <a:spcBef>
                <a:spcPct val="0"/>
              </a:spcBef>
              <a:spcAft>
                <a:spcPct val="0"/>
              </a:spcAft>
            </a:pPr>
            <a:r>
              <a:rPr lang="zh-CN" altLang="en-US" sz="2800" dirty="0">
                <a:latin typeface="Times New Roman" pitchFamily="18" charset="0"/>
                <a:cs typeface="Times New Roman" pitchFamily="18" charset="0"/>
              </a:rPr>
              <a:t>输入正整数：</a:t>
            </a:r>
            <a:r>
              <a:rPr lang="en-US" altLang="zh-CN" sz="2800" dirty="0">
                <a:latin typeface="Times New Roman" pitchFamily="18" charset="0"/>
                <a:cs typeface="Times New Roman" pitchFamily="18" charset="0"/>
              </a:rPr>
              <a:t>5</a:t>
            </a:r>
          </a:p>
          <a:p>
            <a:pPr lvl="0" algn="just" fontAlgn="base">
              <a:spcBef>
                <a:spcPct val="0"/>
              </a:spcBef>
              <a:spcAft>
                <a:spcPct val="0"/>
              </a:spcAft>
            </a:pPr>
            <a:r>
              <a:rPr lang="zh-CN" altLang="en-US" sz="2800" dirty="0">
                <a:latin typeface="Times New Roman" pitchFamily="18" charset="0"/>
                <a:ea typeface="宋体" pitchFamily="2" charset="-122"/>
                <a:cs typeface="Times New Roman" pitchFamily="18" charset="0"/>
              </a:rPr>
              <a:t>小于</a:t>
            </a:r>
            <a:r>
              <a:rPr lang="en-US" altLang="zh-CN" sz="2800" dirty="0">
                <a:latin typeface="Times New Roman" pitchFamily="18" charset="0"/>
                <a:ea typeface="宋体" pitchFamily="2" charset="-122"/>
                <a:cs typeface="Times New Roman" pitchFamily="18" charset="0"/>
              </a:rPr>
              <a:t>6</a:t>
            </a:r>
            <a:r>
              <a:rPr kumimoji="0" lang="en-US" altLang="zh-CN" sz="2800" b="0" i="0" u="none" strike="noStrike" cap="none" normalizeH="0" baseline="0" dirty="0">
                <a:ln>
                  <a:noFill/>
                </a:ln>
                <a:solidFill>
                  <a:schemeClr val="tx1"/>
                </a:solidFill>
                <a:effectLst/>
                <a:latin typeface="Times New Roman" pitchFamily="18" charset="0"/>
                <a:ea typeface="宋体" pitchFamily="2" charset="-122"/>
                <a:cs typeface="宋体" pitchFamily="2" charset="-122"/>
              </a:rPr>
              <a:t> </a:t>
            </a:r>
          </a:p>
        </p:txBody>
      </p:sp>
    </p:spTree>
    <p:extLst>
      <p:ext uri="{BB962C8B-B14F-4D97-AF65-F5344CB8AC3E}">
        <p14:creationId xmlns:p14="http://schemas.microsoft.com/office/powerpoint/2010/main" val="365682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p>
        </p:txBody>
      </p:sp>
      <p:sp>
        <p:nvSpPr>
          <p:cNvPr id="3" name="Text Box 2"/>
          <p:cNvSpPr txBox="1">
            <a:spLocks noChangeArrowheads="1"/>
          </p:cNvSpPr>
          <p:nvPr/>
        </p:nvSpPr>
        <p:spPr bwMode="auto">
          <a:xfrm>
            <a:off x="5464167" y="1855530"/>
            <a:ext cx="3153427" cy="1569660"/>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zh-CN" altLang="zh-CN" sz="2400" dirty="0"/>
              <a:t>小鸡</a:t>
            </a:r>
            <a:r>
              <a:rPr lang="en-US" altLang="zh-CN" sz="2400" dirty="0"/>
              <a:t> 75 </a:t>
            </a:r>
            <a:r>
              <a:rPr lang="zh-CN" altLang="zh-CN" sz="2400" dirty="0"/>
              <a:t>母鸡</a:t>
            </a:r>
            <a:r>
              <a:rPr lang="en-US" altLang="zh-CN" sz="2400" dirty="0"/>
              <a:t> 25 </a:t>
            </a:r>
            <a:r>
              <a:rPr lang="zh-CN" altLang="zh-CN" sz="2400" dirty="0"/>
              <a:t>公鸡</a:t>
            </a:r>
            <a:r>
              <a:rPr lang="en-US" altLang="zh-CN" sz="2400" dirty="0"/>
              <a:t> 0</a:t>
            </a:r>
            <a:endParaRPr lang="zh-CN" altLang="zh-CN" sz="2400" dirty="0"/>
          </a:p>
          <a:p>
            <a:r>
              <a:rPr lang="zh-CN" altLang="zh-CN" sz="2400" dirty="0"/>
              <a:t>小鸡</a:t>
            </a:r>
            <a:r>
              <a:rPr lang="en-US" altLang="zh-CN" sz="2400" dirty="0"/>
              <a:t> 78 </a:t>
            </a:r>
            <a:r>
              <a:rPr lang="zh-CN" altLang="zh-CN" sz="2400" dirty="0"/>
              <a:t>母鸡</a:t>
            </a:r>
            <a:r>
              <a:rPr lang="en-US" altLang="zh-CN" sz="2400" dirty="0"/>
              <a:t> 18 </a:t>
            </a:r>
            <a:r>
              <a:rPr lang="zh-CN" altLang="zh-CN" sz="2400" dirty="0"/>
              <a:t>公鸡</a:t>
            </a:r>
            <a:r>
              <a:rPr lang="en-US" altLang="zh-CN" sz="2400" dirty="0"/>
              <a:t> 4</a:t>
            </a:r>
            <a:endParaRPr lang="zh-CN" altLang="zh-CN" sz="2400" dirty="0"/>
          </a:p>
          <a:p>
            <a:r>
              <a:rPr lang="zh-CN" altLang="zh-CN" sz="2400" dirty="0"/>
              <a:t>小鸡</a:t>
            </a:r>
            <a:r>
              <a:rPr lang="en-US" altLang="zh-CN" sz="2400" dirty="0"/>
              <a:t> 81 </a:t>
            </a:r>
            <a:r>
              <a:rPr lang="zh-CN" altLang="zh-CN" sz="2400" dirty="0"/>
              <a:t>母鸡</a:t>
            </a:r>
            <a:r>
              <a:rPr lang="en-US" altLang="zh-CN" sz="2400" dirty="0"/>
              <a:t> 11 </a:t>
            </a:r>
            <a:r>
              <a:rPr lang="zh-CN" altLang="zh-CN" sz="2400" dirty="0"/>
              <a:t>公鸡</a:t>
            </a:r>
            <a:r>
              <a:rPr lang="en-US" altLang="zh-CN" sz="2400" dirty="0"/>
              <a:t> 8</a:t>
            </a:r>
            <a:endParaRPr lang="zh-CN" altLang="zh-CN" sz="2400" dirty="0"/>
          </a:p>
          <a:p>
            <a:r>
              <a:rPr lang="zh-CN" altLang="zh-CN" sz="2400" dirty="0"/>
              <a:t>小鸡</a:t>
            </a:r>
            <a:r>
              <a:rPr lang="en-US" altLang="zh-CN" sz="2400" dirty="0"/>
              <a:t> 84 </a:t>
            </a:r>
            <a:r>
              <a:rPr lang="zh-CN" altLang="zh-CN" sz="2400" dirty="0"/>
              <a:t>母鸡</a:t>
            </a:r>
            <a:r>
              <a:rPr lang="en-US" altLang="zh-CN" sz="2400" dirty="0"/>
              <a:t> 4 </a:t>
            </a:r>
            <a:r>
              <a:rPr lang="zh-CN" altLang="zh-CN" sz="2400" dirty="0"/>
              <a:t>公鸡</a:t>
            </a:r>
            <a:r>
              <a:rPr lang="en-US" altLang="zh-CN" sz="2400" dirty="0"/>
              <a:t> 12</a:t>
            </a:r>
            <a:endParaRPr lang="zh-CN" altLang="zh-CN" sz="2400" dirty="0"/>
          </a:p>
        </p:txBody>
      </p:sp>
      <p:sp>
        <p:nvSpPr>
          <p:cNvPr id="4" name="Rectangle 4"/>
          <p:cNvSpPr>
            <a:spLocks noChangeArrowheads="1"/>
          </p:cNvSpPr>
          <p:nvPr/>
        </p:nvSpPr>
        <p:spPr bwMode="auto">
          <a:xfrm>
            <a:off x="356977" y="1630014"/>
            <a:ext cx="668390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2600" dirty="0">
                <a:latin typeface="Times New Roman" pitchFamily="18" charset="0"/>
                <a:cs typeface="Times New Roman" pitchFamily="18" charset="0"/>
              </a:rPr>
              <a:t>xj = 1      # xj</a:t>
            </a:r>
            <a:r>
              <a:rPr lang="zh-CN" altLang="en-US" sz="2600" dirty="0">
                <a:latin typeface="Times New Roman" pitchFamily="18" charset="0"/>
                <a:cs typeface="Times New Roman" pitchFamily="18" charset="0"/>
              </a:rPr>
              <a:t>代表小鸡</a:t>
            </a:r>
          </a:p>
          <a:p>
            <a:pPr lvl="0" indent="0"/>
            <a:r>
              <a:rPr lang="en-US" altLang="zh-CN" sz="2600" dirty="0">
                <a:latin typeface="Times New Roman" pitchFamily="18" charset="0"/>
                <a:cs typeface="Times New Roman" pitchFamily="18" charset="0"/>
              </a:rPr>
              <a:t>while xj &lt;= 100:</a:t>
            </a:r>
          </a:p>
          <a:p>
            <a:pPr lvl="0" indent="0"/>
            <a:r>
              <a:rPr lang="en-US" altLang="zh-CN" sz="2600" dirty="0">
                <a:latin typeface="Times New Roman" pitchFamily="18" charset="0"/>
                <a:cs typeface="Times New Roman" pitchFamily="18" charset="0"/>
              </a:rPr>
              <a:t>    mj = 1   # mj</a:t>
            </a:r>
            <a:r>
              <a:rPr lang="zh-CN" altLang="en-US" sz="2600" dirty="0">
                <a:latin typeface="Times New Roman" pitchFamily="18" charset="0"/>
                <a:cs typeface="Times New Roman" pitchFamily="18" charset="0"/>
              </a:rPr>
              <a:t>代表母鸡</a:t>
            </a:r>
          </a:p>
          <a:p>
            <a:pPr lvl="0" indent="0"/>
            <a:r>
              <a:rPr lang="zh-CN" altLang="en-US" sz="2600" dirty="0">
                <a:latin typeface="Times New Roman" pitchFamily="18" charset="0"/>
                <a:cs typeface="Times New Roman" pitchFamily="18" charset="0"/>
              </a:rPr>
              <a:t>    </a:t>
            </a:r>
            <a:r>
              <a:rPr lang="en-US" altLang="zh-CN" sz="2600" dirty="0">
                <a:latin typeface="Times New Roman" pitchFamily="18" charset="0"/>
                <a:cs typeface="Times New Roman" pitchFamily="18" charset="0"/>
              </a:rPr>
              <a:t>while mj &lt;= 100:</a:t>
            </a:r>
          </a:p>
          <a:p>
            <a:pPr lvl="0" indent="0"/>
            <a:r>
              <a:rPr lang="en-US" altLang="zh-CN" sz="2600" dirty="0">
                <a:latin typeface="Times New Roman" pitchFamily="18" charset="0"/>
                <a:cs typeface="Times New Roman" pitchFamily="18" charset="0"/>
              </a:rPr>
              <a:t>        gj = 100-xj-mj</a:t>
            </a:r>
          </a:p>
          <a:p>
            <a:pPr lvl="0" indent="0"/>
            <a:r>
              <a:rPr lang="en-US" altLang="zh-CN" sz="2600" dirty="0">
                <a:latin typeface="Times New Roman" pitchFamily="18" charset="0"/>
                <a:cs typeface="Times New Roman" pitchFamily="18" charset="0"/>
              </a:rPr>
              <a:t>        if xj/3 + mj *3 + gj * 5 == 100 and gj&gt;=0:</a:t>
            </a:r>
          </a:p>
          <a:p>
            <a:pPr lvl="0" indent="0"/>
            <a:r>
              <a:rPr lang="en-US" altLang="zh-CN" sz="2600" dirty="0">
                <a:latin typeface="Times New Roman" pitchFamily="18" charset="0"/>
                <a:cs typeface="Times New Roman" pitchFamily="18" charset="0"/>
              </a:rPr>
              <a:t>            print('</a:t>
            </a:r>
            <a:r>
              <a:rPr lang="zh-CN" altLang="en-US" sz="2600" dirty="0">
                <a:latin typeface="Times New Roman" pitchFamily="18" charset="0"/>
                <a:cs typeface="Times New Roman" pitchFamily="18" charset="0"/>
              </a:rPr>
              <a:t>小鸡</a:t>
            </a:r>
            <a:r>
              <a:rPr lang="en-US" altLang="zh-CN" sz="2600" dirty="0">
                <a:latin typeface="Times New Roman" pitchFamily="18" charset="0"/>
                <a:cs typeface="Times New Roman" pitchFamily="18" charset="0"/>
              </a:rPr>
              <a:t>', xj, '</a:t>
            </a:r>
            <a:r>
              <a:rPr lang="zh-CN" altLang="en-US" sz="2600" dirty="0">
                <a:latin typeface="Times New Roman" pitchFamily="18" charset="0"/>
                <a:cs typeface="Times New Roman" pitchFamily="18" charset="0"/>
              </a:rPr>
              <a:t>母鸡</a:t>
            </a:r>
            <a:r>
              <a:rPr lang="en-US" altLang="zh-CN" sz="2600" dirty="0">
                <a:latin typeface="Times New Roman" pitchFamily="18" charset="0"/>
                <a:cs typeface="Times New Roman" pitchFamily="18" charset="0"/>
              </a:rPr>
              <a:t>', mj, '</a:t>
            </a:r>
            <a:r>
              <a:rPr lang="zh-CN" altLang="en-US" sz="2600" dirty="0">
                <a:latin typeface="Times New Roman" pitchFamily="18" charset="0"/>
                <a:cs typeface="Times New Roman" pitchFamily="18" charset="0"/>
              </a:rPr>
              <a:t>公鸡</a:t>
            </a:r>
            <a:r>
              <a:rPr lang="en-US" altLang="zh-CN" sz="2600" dirty="0">
                <a:latin typeface="Times New Roman" pitchFamily="18" charset="0"/>
                <a:cs typeface="Times New Roman" pitchFamily="18" charset="0"/>
              </a:rPr>
              <a:t>', gj)</a:t>
            </a:r>
          </a:p>
          <a:p>
            <a:pPr lvl="0" indent="0"/>
            <a:r>
              <a:rPr lang="en-US" altLang="zh-CN" sz="2600" dirty="0">
                <a:latin typeface="Times New Roman" pitchFamily="18" charset="0"/>
                <a:cs typeface="Times New Roman" pitchFamily="18" charset="0"/>
              </a:rPr>
              <a:t>        mj += 1</a:t>
            </a:r>
          </a:p>
          <a:p>
            <a:pPr lvl="0" indent="0"/>
            <a:r>
              <a:rPr lang="en-US" altLang="zh-CN" sz="2600" dirty="0">
                <a:latin typeface="Times New Roman" pitchFamily="18" charset="0"/>
                <a:cs typeface="Times New Roman" pitchFamily="18" charset="0"/>
              </a:rPr>
              <a:t>    xj += 1</a:t>
            </a:r>
          </a:p>
          <a:p>
            <a:pPr marR="0" lvl="0" indent="0" algn="l" defTabSz="914400" rtl="0" eaLnBrk="0" fontAlgn="base" latinLnBrk="0" hangingPunct="0">
              <a:lnSpc>
                <a:spcPct val="100000"/>
              </a:lnSpc>
              <a:spcBef>
                <a:spcPct val="0"/>
              </a:spcBef>
              <a:spcAft>
                <a:spcPct val="0"/>
              </a:spcAft>
              <a:buClrTx/>
              <a:buSzTx/>
              <a:buFontTx/>
              <a:buNone/>
              <a:tabLst/>
            </a:pPr>
            <a:endParaRPr kumimoji="0" lang="en-US" altLang="zh-CN" sz="2400" b="0" i="0" u="none" strike="noStrike" cap="none" normalizeH="0" baseline="0" dirty="0">
              <a:ln>
                <a:noFill/>
              </a:ln>
              <a:solidFill>
                <a:schemeClr val="tx1"/>
              </a:solidFill>
              <a:effectLst/>
            </a:endParaRPr>
          </a:p>
        </p:txBody>
      </p:sp>
      <p:sp>
        <p:nvSpPr>
          <p:cNvPr id="7" name="矩形 6"/>
          <p:cNvSpPr/>
          <p:nvPr/>
        </p:nvSpPr>
        <p:spPr>
          <a:xfrm>
            <a:off x="609600" y="1071324"/>
            <a:ext cx="3684022"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1-3] </a:t>
            </a:r>
            <a:r>
              <a:rPr lang="zh-CN" altLang="en-US" sz="2800" b="1" dirty="0">
                <a:solidFill>
                  <a:srgbClr val="0070C0"/>
                </a:solidFill>
                <a:latin typeface="微软雅黑" panose="020B0503020204020204" pitchFamily="34" charset="-122"/>
                <a:ea typeface="微软雅黑" panose="020B0503020204020204" pitchFamily="34" charset="-122"/>
              </a:rPr>
              <a:t>百钱买百鸡</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1" name="组合 20"/>
          <p:cNvGrpSpPr/>
          <p:nvPr/>
        </p:nvGrpSpPr>
        <p:grpSpPr>
          <a:xfrm>
            <a:off x="395987" y="5311693"/>
            <a:ext cx="8367013" cy="887361"/>
            <a:chOff x="6339097" y="1573726"/>
            <a:chExt cx="3744416" cy="887823"/>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8621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单行注释符是“</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号，多行注释符是一对三引号，</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只有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while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循环，而没有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Do…while…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循环</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65682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一些简单的</a:t>
            </a:r>
            <a:r>
              <a:rPr lang="en-US" altLang="zh-CN" sz="2800" b="1" dirty="0">
                <a:solidFill>
                  <a:srgbClr val="0070C0"/>
                </a:solidFill>
                <a:latin typeface="微软雅黑" panose="020B0503020204020204" pitchFamily="34" charset="-122"/>
                <a:ea typeface="微软雅黑" panose="020B0503020204020204" pitchFamily="34" charset="-122"/>
              </a:rPr>
              <a:t>Python</a:t>
            </a:r>
            <a:r>
              <a:rPr lang="zh-CN" altLang="en-US" sz="2800" b="1" dirty="0">
                <a:solidFill>
                  <a:srgbClr val="0070C0"/>
                </a:solidFill>
                <a:latin typeface="微软雅黑" panose="020B0503020204020204" pitchFamily="34" charset="-122"/>
                <a:ea typeface="微软雅黑" panose="020B0503020204020204" pitchFamily="34" charset="-122"/>
              </a:rPr>
              <a:t>程序</a:t>
            </a:r>
          </a:p>
        </p:txBody>
      </p:sp>
      <p:sp>
        <p:nvSpPr>
          <p:cNvPr id="3" name="Text Box 2"/>
          <p:cNvSpPr txBox="1">
            <a:spLocks noChangeArrowheads="1"/>
          </p:cNvSpPr>
          <p:nvPr/>
        </p:nvSpPr>
        <p:spPr bwMode="auto">
          <a:xfrm>
            <a:off x="5974080" y="1882260"/>
            <a:ext cx="1401346" cy="1569660"/>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zh-CN" altLang="en-US" sz="2400" dirty="0"/>
              <a:t>还剩 </a:t>
            </a:r>
            <a:r>
              <a:rPr lang="en-US" altLang="zh-CN" sz="2400" dirty="0"/>
              <a:t>3 </a:t>
            </a:r>
            <a:r>
              <a:rPr lang="zh-CN" altLang="en-US" sz="2400" dirty="0"/>
              <a:t>秒</a:t>
            </a:r>
          </a:p>
          <a:p>
            <a:r>
              <a:rPr lang="zh-CN" altLang="en-US" sz="2400" dirty="0"/>
              <a:t>还剩 </a:t>
            </a:r>
            <a:r>
              <a:rPr lang="en-US" altLang="zh-CN" sz="2400" dirty="0"/>
              <a:t>2 </a:t>
            </a:r>
            <a:r>
              <a:rPr lang="zh-CN" altLang="en-US" sz="2400" dirty="0"/>
              <a:t>秒</a:t>
            </a:r>
          </a:p>
          <a:p>
            <a:r>
              <a:rPr lang="zh-CN" altLang="en-US" sz="2400" dirty="0"/>
              <a:t>还剩 </a:t>
            </a:r>
            <a:r>
              <a:rPr lang="en-US" altLang="zh-CN" sz="2400" dirty="0"/>
              <a:t>1 </a:t>
            </a:r>
            <a:r>
              <a:rPr lang="zh-CN" altLang="en-US" sz="2400" dirty="0"/>
              <a:t>秒</a:t>
            </a:r>
          </a:p>
          <a:p>
            <a:r>
              <a:rPr lang="zh-CN" altLang="en-US" sz="2400" dirty="0"/>
              <a:t> 发射！</a:t>
            </a:r>
            <a:endParaRPr lang="zh-CN" altLang="zh-CN" sz="2400" dirty="0"/>
          </a:p>
        </p:txBody>
      </p:sp>
      <p:sp>
        <p:nvSpPr>
          <p:cNvPr id="4" name="Rectangle 4"/>
          <p:cNvSpPr>
            <a:spLocks noChangeArrowheads="1"/>
          </p:cNvSpPr>
          <p:nvPr/>
        </p:nvSpPr>
        <p:spPr bwMode="auto">
          <a:xfrm>
            <a:off x="531055" y="1614308"/>
            <a:ext cx="544302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2600" dirty="0">
                <a:latin typeface="Times New Roman" pitchFamily="18" charset="0"/>
                <a:cs typeface="Times New Roman" pitchFamily="18" charset="0"/>
              </a:rPr>
              <a:t>import time</a:t>
            </a:r>
          </a:p>
          <a:p>
            <a:pPr lvl="0" indent="0"/>
            <a:r>
              <a:rPr lang="en-US" altLang="zh-CN" sz="2600" dirty="0">
                <a:latin typeface="Times New Roman" pitchFamily="18" charset="0"/>
                <a:cs typeface="Times New Roman" pitchFamily="18" charset="0"/>
              </a:rPr>
              <a:t>count = 0</a:t>
            </a:r>
          </a:p>
          <a:p>
            <a:pPr lvl="0" indent="0"/>
            <a:r>
              <a:rPr lang="en-US" altLang="zh-CN" sz="2600" dirty="0">
                <a:latin typeface="Times New Roman" pitchFamily="18" charset="0"/>
                <a:cs typeface="Times New Roman" pitchFamily="18" charset="0"/>
              </a:rPr>
              <a:t>while count &lt; 3:	</a:t>
            </a:r>
            <a:endParaRPr lang="zh-CN" altLang="en-US" sz="2600" dirty="0">
              <a:latin typeface="Times New Roman" pitchFamily="18" charset="0"/>
              <a:cs typeface="Times New Roman" pitchFamily="18" charset="0"/>
            </a:endParaRPr>
          </a:p>
          <a:p>
            <a:pPr lvl="0" indent="0"/>
            <a:r>
              <a:rPr lang="zh-CN" altLang="en-US" sz="2600" dirty="0">
                <a:latin typeface="Times New Roman" pitchFamily="18" charset="0"/>
                <a:cs typeface="Times New Roman" pitchFamily="18" charset="0"/>
              </a:rPr>
              <a:t>   </a:t>
            </a:r>
            <a:r>
              <a:rPr lang="en-US" altLang="zh-CN" sz="2600" dirty="0">
                <a:latin typeface="Times New Roman" pitchFamily="18" charset="0"/>
                <a:cs typeface="Times New Roman" pitchFamily="18" charset="0"/>
              </a:rPr>
              <a:t>print ("</a:t>
            </a:r>
            <a:r>
              <a:rPr lang="zh-CN" altLang="en-US" sz="2600" dirty="0">
                <a:latin typeface="Times New Roman" pitchFamily="18" charset="0"/>
                <a:cs typeface="Times New Roman" pitchFamily="18" charset="0"/>
              </a:rPr>
              <a:t>还剩 </a:t>
            </a:r>
            <a:r>
              <a:rPr lang="en-US" altLang="zh-CN" sz="2600" dirty="0">
                <a:latin typeface="Times New Roman" pitchFamily="18" charset="0"/>
                <a:cs typeface="Times New Roman" pitchFamily="18" charset="0"/>
              </a:rPr>
              <a:t>%d </a:t>
            </a:r>
            <a:r>
              <a:rPr lang="zh-CN" altLang="en-US" sz="2600" dirty="0">
                <a:latin typeface="Times New Roman" pitchFamily="18" charset="0"/>
                <a:cs typeface="Times New Roman" pitchFamily="18" charset="0"/>
              </a:rPr>
              <a:t>秒</a:t>
            </a:r>
            <a:r>
              <a:rPr lang="en-US" altLang="zh-CN" sz="2600" dirty="0">
                <a:latin typeface="Times New Roman" pitchFamily="18" charset="0"/>
                <a:cs typeface="Times New Roman" pitchFamily="18" charset="0"/>
              </a:rPr>
              <a:t>"%(3-count)) </a:t>
            </a:r>
            <a:endParaRPr lang="zh-CN" altLang="en-US" sz="2600" dirty="0">
              <a:latin typeface="Times New Roman" pitchFamily="18" charset="0"/>
              <a:cs typeface="Times New Roman" pitchFamily="18" charset="0"/>
            </a:endParaRPr>
          </a:p>
          <a:p>
            <a:pPr lvl="0" indent="0"/>
            <a:r>
              <a:rPr lang="zh-CN" altLang="en-US" sz="2600" dirty="0">
                <a:latin typeface="Times New Roman" pitchFamily="18" charset="0"/>
                <a:cs typeface="Times New Roman" pitchFamily="18" charset="0"/>
              </a:rPr>
              <a:t>   </a:t>
            </a:r>
            <a:r>
              <a:rPr lang="en-US" altLang="zh-CN" sz="2600" dirty="0">
                <a:latin typeface="Times New Roman" pitchFamily="18" charset="0"/>
                <a:cs typeface="Times New Roman" pitchFamily="18" charset="0"/>
              </a:rPr>
              <a:t>count = count + 1</a:t>
            </a:r>
          </a:p>
          <a:p>
            <a:pPr lvl="0" indent="0"/>
            <a:r>
              <a:rPr lang="en-US" altLang="zh-CN" sz="2600" dirty="0">
                <a:latin typeface="Times New Roman" pitchFamily="18" charset="0"/>
                <a:cs typeface="Times New Roman" pitchFamily="18" charset="0"/>
              </a:rPr>
              <a:t>   time.sleep(1)   #</a:t>
            </a:r>
            <a:r>
              <a:rPr lang="zh-CN" altLang="en-US" sz="2600" dirty="0">
                <a:latin typeface="Times New Roman" pitchFamily="18" charset="0"/>
                <a:cs typeface="Times New Roman" pitchFamily="18" charset="0"/>
              </a:rPr>
              <a:t>延时</a:t>
            </a:r>
            <a:r>
              <a:rPr lang="en-US" altLang="zh-CN" sz="2600" dirty="0">
                <a:latin typeface="Times New Roman" pitchFamily="18" charset="0"/>
                <a:cs typeface="Times New Roman" pitchFamily="18" charset="0"/>
              </a:rPr>
              <a:t>1</a:t>
            </a:r>
            <a:r>
              <a:rPr lang="zh-CN" altLang="en-US" sz="2600" dirty="0">
                <a:latin typeface="Times New Roman" pitchFamily="18" charset="0"/>
                <a:cs typeface="Times New Roman" pitchFamily="18" charset="0"/>
              </a:rPr>
              <a:t>秒</a:t>
            </a:r>
          </a:p>
          <a:p>
            <a:pPr lvl="0" indent="0"/>
            <a:r>
              <a:rPr lang="en-US" altLang="zh-CN" sz="2600" dirty="0">
                <a:latin typeface="Times New Roman" pitchFamily="18" charset="0"/>
                <a:cs typeface="Times New Roman" pitchFamily="18" charset="0"/>
              </a:rPr>
              <a:t>else:</a:t>
            </a:r>
          </a:p>
          <a:p>
            <a:pPr lvl="0" indent="0"/>
            <a:r>
              <a:rPr lang="en-US" altLang="zh-CN" sz="2600" dirty="0">
                <a:latin typeface="Times New Roman" pitchFamily="18" charset="0"/>
                <a:cs typeface="Times New Roman" pitchFamily="18" charset="0"/>
              </a:rPr>
              <a:t>   print (" </a:t>
            </a:r>
            <a:r>
              <a:rPr lang="zh-CN" altLang="en-US" sz="2600" dirty="0">
                <a:latin typeface="Times New Roman" pitchFamily="18" charset="0"/>
                <a:cs typeface="Times New Roman" pitchFamily="18" charset="0"/>
              </a:rPr>
              <a:t>发射！</a:t>
            </a:r>
            <a:r>
              <a:rPr lang="en-US" altLang="zh-CN" sz="2600" dirty="0">
                <a:latin typeface="Times New Roman" pitchFamily="18" charset="0"/>
                <a:cs typeface="Times New Roman" pitchFamily="18" charset="0"/>
              </a:rPr>
              <a:t>")</a:t>
            </a:r>
            <a:endParaRPr kumimoji="0" lang="en-US" altLang="zh-CN" sz="2400" b="0" i="0" u="none" strike="noStrike" cap="none" normalizeH="0" baseline="0" dirty="0">
              <a:ln>
                <a:noFill/>
              </a:ln>
              <a:solidFill>
                <a:schemeClr val="tx1"/>
              </a:solidFill>
              <a:effectLst/>
            </a:endParaRPr>
          </a:p>
        </p:txBody>
      </p:sp>
      <p:sp>
        <p:nvSpPr>
          <p:cNvPr id="7" name="矩形 6"/>
          <p:cNvSpPr/>
          <p:nvPr/>
        </p:nvSpPr>
        <p:spPr>
          <a:xfrm>
            <a:off x="609600" y="1071324"/>
            <a:ext cx="3684022"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1-4] </a:t>
            </a:r>
            <a:r>
              <a:rPr lang="zh-CN" altLang="en-US" sz="2800" b="1" dirty="0">
                <a:solidFill>
                  <a:srgbClr val="0070C0"/>
                </a:solidFill>
                <a:latin typeface="微软雅黑" panose="020B0503020204020204" pitchFamily="34" charset="-122"/>
                <a:ea typeface="微软雅黑" panose="020B0503020204020204" pitchFamily="34" charset="-122"/>
              </a:rPr>
              <a:t>倒计时程序</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1" name="组合 20"/>
          <p:cNvGrpSpPr/>
          <p:nvPr/>
        </p:nvGrpSpPr>
        <p:grpSpPr>
          <a:xfrm>
            <a:off x="395986" y="4907517"/>
            <a:ext cx="8260333" cy="923772"/>
            <a:chOff x="6339097" y="1573726"/>
            <a:chExt cx="3744416" cy="511504"/>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477162"/>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也支持格式化输出，</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表示输出整数，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表示字符串，</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%f</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表示浮点数，格式字符串与值之间用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号连接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import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语句用于导入模块，导入模块时还可给模块取别名</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763619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p>
        </p:txBody>
      </p:sp>
      <p:sp>
        <p:nvSpPr>
          <p:cNvPr id="7" name="矩形 6"/>
          <p:cNvSpPr/>
          <p:nvPr/>
        </p:nvSpPr>
        <p:spPr>
          <a:xfrm>
            <a:off x="788918" y="3174444"/>
            <a:ext cx="4970400"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列表   </a:t>
            </a:r>
            <a:r>
              <a:rPr lang="en-US" altLang="zh-CN" sz="2800" dirty="0"/>
              <a:t>list1=['</a:t>
            </a:r>
            <a:r>
              <a:rPr lang="zh-CN" altLang="zh-CN" sz="2800" dirty="0"/>
              <a:t>西瓜</a:t>
            </a:r>
            <a:r>
              <a:rPr lang="en-US" altLang="zh-CN" sz="2800" dirty="0"/>
              <a:t>','</a:t>
            </a:r>
            <a:r>
              <a:rPr lang="zh-CN" altLang="zh-CN" sz="2800" dirty="0"/>
              <a:t>苹果</a:t>
            </a:r>
            <a:r>
              <a:rPr lang="en-US" altLang="zh-CN" sz="2800" dirty="0"/>
              <a:t>',5.2,8] </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5" name="矩形 4"/>
          <p:cNvSpPr/>
          <p:nvPr/>
        </p:nvSpPr>
        <p:spPr>
          <a:xfrm>
            <a:off x="350520" y="1219317"/>
            <a:ext cx="8244840" cy="1200329"/>
          </a:xfrm>
          <a:prstGeom prst="rect">
            <a:avLst/>
          </a:prstGeom>
        </p:spPr>
        <p:txBody>
          <a:bodyPr wrap="square">
            <a:spAutoFit/>
          </a:bodyPr>
          <a:lstStyle/>
          <a:p>
            <a:r>
              <a:rPr lang="en-US" altLang="zh-CN" sz="2400" dirty="0"/>
              <a:t>Python</a:t>
            </a:r>
            <a:r>
              <a:rPr lang="zh-CN" altLang="zh-CN" sz="2400" dirty="0"/>
              <a:t>内置的序列数据结构最常见的有列表、元组和字符串</a:t>
            </a:r>
            <a:r>
              <a:rPr lang="zh-CN" altLang="en-US" sz="2400" dirty="0"/>
              <a:t>。</a:t>
            </a:r>
            <a:r>
              <a:rPr lang="zh-CN" altLang="zh-CN" sz="2400" dirty="0"/>
              <a:t>还提供了字典和集合这样的数据类型，它们属于无序的数据集合，不能通过位置索引来访问数据元素。</a:t>
            </a:r>
            <a:endParaRPr lang="zh-CN" altLang="en-US" sz="2400" dirty="0"/>
          </a:p>
        </p:txBody>
      </p:sp>
      <p:sp>
        <p:nvSpPr>
          <p:cNvPr id="14" name="矩形 13"/>
          <p:cNvSpPr/>
          <p:nvPr/>
        </p:nvSpPr>
        <p:spPr>
          <a:xfrm>
            <a:off x="788918" y="4043124"/>
            <a:ext cx="4963218"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元组   </a:t>
            </a:r>
            <a:r>
              <a:rPr lang="en-US" altLang="zh-CN" sz="2800" dirty="0"/>
              <a:t>tup1=('</a:t>
            </a:r>
            <a:r>
              <a:rPr lang="zh-CN" altLang="zh-CN" sz="2800" dirty="0"/>
              <a:t>西瓜</a:t>
            </a:r>
            <a:r>
              <a:rPr lang="en-US" altLang="zh-CN" sz="2800" dirty="0"/>
              <a:t>','</a:t>
            </a:r>
            <a:r>
              <a:rPr lang="zh-CN" altLang="zh-CN" sz="2800" dirty="0"/>
              <a:t>苹果</a:t>
            </a:r>
            <a:r>
              <a:rPr lang="en-US" altLang="zh-CN" sz="2800" dirty="0"/>
              <a:t>',5.2,8)</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5" name="矩形 14"/>
          <p:cNvSpPr/>
          <p:nvPr/>
        </p:nvSpPr>
        <p:spPr>
          <a:xfrm>
            <a:off x="788918" y="5003244"/>
            <a:ext cx="6877460"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字典   </a:t>
            </a:r>
            <a:r>
              <a:rPr lang="en-US" altLang="zh-CN" sz="2800" dirty="0"/>
              <a:t>dic1={'name':'tang','age':39,'sex':True} </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6" name="矩形 15"/>
          <p:cNvSpPr/>
          <p:nvPr/>
        </p:nvSpPr>
        <p:spPr>
          <a:xfrm>
            <a:off x="788918" y="5841444"/>
            <a:ext cx="4202241"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集合   </a:t>
            </a:r>
            <a:r>
              <a:rPr lang="en-US" altLang="zh-CN" sz="2800" dirty="0"/>
              <a:t>p={2.5,'tang',(1,2,3)}</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143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p>
        </p:txBody>
      </p:sp>
      <p:sp>
        <p:nvSpPr>
          <p:cNvPr id="7" name="矩形 6"/>
          <p:cNvSpPr/>
          <p:nvPr/>
        </p:nvSpPr>
        <p:spPr>
          <a:xfrm>
            <a:off x="677195" y="2127468"/>
            <a:ext cx="7688323"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列表   </a:t>
            </a:r>
            <a:r>
              <a:rPr lang="zh-CN" altLang="en-US" sz="2800" b="1" dirty="0">
                <a:solidFill>
                  <a:srgbClr val="0070C0"/>
                </a:solidFill>
                <a:latin typeface="宋体" panose="02010600030101010101" pitchFamily="2" charset="-122"/>
                <a:ea typeface="宋体" panose="02010600030101010101" pitchFamily="2" charset="-122"/>
              </a:rPr>
              <a:t>有序，可索引，可添加、删除、修改元素</a:t>
            </a:r>
          </a:p>
        </p:txBody>
      </p:sp>
      <p:sp>
        <p:nvSpPr>
          <p:cNvPr id="5" name="矩形 4"/>
          <p:cNvSpPr/>
          <p:nvPr/>
        </p:nvSpPr>
        <p:spPr>
          <a:xfrm>
            <a:off x="350520" y="1219317"/>
            <a:ext cx="8244840" cy="461665"/>
          </a:xfrm>
          <a:prstGeom prst="rect">
            <a:avLst/>
          </a:prstGeom>
        </p:spPr>
        <p:txBody>
          <a:bodyPr wrap="square">
            <a:spAutoFit/>
          </a:bodyPr>
          <a:lstStyle/>
          <a:p>
            <a:r>
              <a:rPr lang="en-US" altLang="zh-CN" sz="2400" dirty="0"/>
              <a:t>Python</a:t>
            </a:r>
            <a:r>
              <a:rPr lang="zh-CN" altLang="en-US" sz="2400" dirty="0"/>
              <a:t>几种序列数据结构的比较：</a:t>
            </a:r>
          </a:p>
        </p:txBody>
      </p:sp>
      <p:sp>
        <p:nvSpPr>
          <p:cNvPr id="14" name="矩形 13"/>
          <p:cNvSpPr/>
          <p:nvPr/>
        </p:nvSpPr>
        <p:spPr>
          <a:xfrm>
            <a:off x="580193" y="3015912"/>
            <a:ext cx="6970178" cy="954107"/>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元组   有序，可索引，可添加、删除元素，</a:t>
            </a:r>
            <a:endParaRPr lang="en-US" altLang="zh-CN" sz="2800" b="1" dirty="0">
              <a:solidFill>
                <a:srgbClr val="0070C0"/>
              </a:solidFill>
              <a:latin typeface="微软雅黑" panose="020B0503020204020204" pitchFamily="34" charset="-122"/>
              <a:ea typeface="微软雅黑" panose="020B0503020204020204" pitchFamily="34" charset="-122"/>
            </a:endParaRPr>
          </a:p>
          <a:p>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en-US" sz="2800" b="1" dirty="0">
                <a:solidFill>
                  <a:srgbClr val="0070C0"/>
                </a:solidFill>
                <a:latin typeface="微软雅黑" panose="020B0503020204020204" pitchFamily="34" charset="-122"/>
                <a:ea typeface="微软雅黑" panose="020B0503020204020204" pitchFamily="34" charset="-122"/>
              </a:rPr>
              <a:t>不可修改元素</a:t>
            </a:r>
          </a:p>
        </p:txBody>
      </p:sp>
      <p:sp>
        <p:nvSpPr>
          <p:cNvPr id="15" name="矩形 14"/>
          <p:cNvSpPr/>
          <p:nvPr/>
        </p:nvSpPr>
        <p:spPr>
          <a:xfrm>
            <a:off x="626552" y="4357568"/>
            <a:ext cx="7523213"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字典   </a:t>
            </a:r>
            <a:r>
              <a:rPr lang="zh-CN" altLang="en-US" sz="2800" dirty="0"/>
              <a:t>无序，不可索引，每个元素都是</a:t>
            </a:r>
            <a:r>
              <a:rPr lang="zh-CN" altLang="en-US" sz="2800" dirty="0">
                <a:solidFill>
                  <a:srgbClr val="FF0000"/>
                </a:solidFill>
              </a:rPr>
              <a:t>键值对</a:t>
            </a:r>
            <a:r>
              <a:rPr lang="en-US" altLang="zh-CN" sz="2800" dirty="0"/>
              <a:t> </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16" name="矩形 15"/>
          <p:cNvSpPr/>
          <p:nvPr/>
        </p:nvSpPr>
        <p:spPr>
          <a:xfrm>
            <a:off x="738275" y="5317688"/>
            <a:ext cx="6252033"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集合   无序，不可索引，元素不可重复</a:t>
            </a:r>
          </a:p>
        </p:txBody>
      </p:sp>
    </p:spTree>
    <p:extLst>
      <p:ext uri="{BB962C8B-B14F-4D97-AF65-F5344CB8AC3E}">
        <p14:creationId xmlns:p14="http://schemas.microsoft.com/office/powerpoint/2010/main" val="4258143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p>
        </p:txBody>
      </p:sp>
      <p:sp>
        <p:nvSpPr>
          <p:cNvPr id="3" name="Text Box 2"/>
          <p:cNvSpPr txBox="1">
            <a:spLocks noChangeArrowheads="1"/>
          </p:cNvSpPr>
          <p:nvPr/>
        </p:nvSpPr>
        <p:spPr bwMode="auto">
          <a:xfrm>
            <a:off x="5980661" y="1768079"/>
            <a:ext cx="1125629" cy="2554545"/>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en-US" altLang="zh-CN" sz="3200" dirty="0"/>
              <a:t>0 -&gt; a</a:t>
            </a:r>
          </a:p>
          <a:p>
            <a:r>
              <a:rPr lang="en-US" altLang="zh-CN" sz="3200" dirty="0"/>
              <a:t>1 -&gt; b</a:t>
            </a:r>
          </a:p>
          <a:p>
            <a:r>
              <a:rPr lang="en-US" altLang="zh-CN" sz="3200" dirty="0"/>
              <a:t>2 -&gt; c</a:t>
            </a:r>
          </a:p>
          <a:p>
            <a:r>
              <a:rPr lang="en-US" altLang="zh-CN" sz="3200" dirty="0"/>
              <a:t>3 -&gt; d</a:t>
            </a:r>
          </a:p>
          <a:p>
            <a:r>
              <a:rPr lang="en-US" altLang="zh-CN" sz="3200" dirty="0"/>
              <a:t>4 -&gt; e</a:t>
            </a:r>
            <a:endParaRPr lang="zh-CN" altLang="zh-CN" sz="3200" dirty="0"/>
          </a:p>
        </p:txBody>
      </p:sp>
      <p:sp>
        <p:nvSpPr>
          <p:cNvPr id="4" name="Rectangle 4"/>
          <p:cNvSpPr>
            <a:spLocks noChangeArrowheads="1"/>
          </p:cNvSpPr>
          <p:nvPr/>
        </p:nvSpPr>
        <p:spPr bwMode="auto">
          <a:xfrm>
            <a:off x="613513" y="1960246"/>
            <a:ext cx="446140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3200" dirty="0">
                <a:latin typeface="Times New Roman" pitchFamily="18" charset="0"/>
                <a:cs typeface="Times New Roman" pitchFamily="18" charset="0"/>
              </a:rPr>
              <a:t>arr=['a','b','c','d','e']</a:t>
            </a:r>
          </a:p>
          <a:p>
            <a:pPr lvl="0" indent="0"/>
            <a:r>
              <a:rPr lang="en-US" altLang="zh-CN" sz="3200" dirty="0">
                <a:latin typeface="Times New Roman" pitchFamily="18" charset="0"/>
                <a:cs typeface="Times New Roman" pitchFamily="18" charset="0"/>
              </a:rPr>
              <a:t>for i in range(len(arr)):</a:t>
            </a:r>
          </a:p>
          <a:p>
            <a:pPr lvl="0" indent="0"/>
            <a:r>
              <a:rPr lang="en-US" altLang="zh-CN" sz="3200" dirty="0">
                <a:latin typeface="Times New Roman" pitchFamily="18" charset="0"/>
                <a:cs typeface="Times New Roman" pitchFamily="18" charset="0"/>
              </a:rPr>
              <a:t>    print(i,'-&gt;' ,arr[i])</a:t>
            </a:r>
          </a:p>
        </p:txBody>
      </p:sp>
      <p:sp>
        <p:nvSpPr>
          <p:cNvPr id="7" name="矩形 6"/>
          <p:cNvSpPr/>
          <p:nvPr/>
        </p:nvSpPr>
        <p:spPr>
          <a:xfrm>
            <a:off x="609600" y="1071324"/>
            <a:ext cx="272542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en-US" sz="2800" b="1" dirty="0">
                <a:solidFill>
                  <a:srgbClr val="0070C0"/>
                </a:solidFill>
                <a:latin typeface="微软雅黑" panose="020B0503020204020204" pitchFamily="34" charset="-122"/>
                <a:ea typeface="微软雅黑" panose="020B0503020204020204" pitchFamily="34" charset="-122"/>
              </a:rPr>
              <a:t>遍历列表</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1" name="组合 20"/>
          <p:cNvGrpSpPr/>
          <p:nvPr/>
        </p:nvGrpSpPr>
        <p:grpSpPr>
          <a:xfrm>
            <a:off x="395987" y="4906570"/>
            <a:ext cx="3855974" cy="594124"/>
            <a:chOff x="6339097" y="1573726"/>
            <a:chExt cx="3744416" cy="376351"/>
          </a:xfrm>
        </p:grpSpPr>
        <p:sp>
          <p:nvSpPr>
            <p:cNvPr id="22" name="圆角矩形 21"/>
            <p:cNvSpPr/>
            <p:nvPr/>
          </p:nvSpPr>
          <p:spPr>
            <a:xfrm>
              <a:off x="6339097" y="1573726"/>
              <a:ext cx="3744416" cy="376351"/>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27265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len()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函数获取列表长度</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8" y="5737235"/>
            <a:ext cx="6957968"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range()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函数生成从</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到列表长度的下标值</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66143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p>
        </p:txBody>
      </p:sp>
      <p:sp>
        <p:nvSpPr>
          <p:cNvPr id="4" name="Rectangle 4"/>
          <p:cNvSpPr>
            <a:spLocks noChangeArrowheads="1"/>
          </p:cNvSpPr>
          <p:nvPr/>
        </p:nvSpPr>
        <p:spPr bwMode="auto">
          <a:xfrm>
            <a:off x="529331" y="1886725"/>
            <a:ext cx="853048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3200" dirty="0"/>
              <a:t>s={1,2,3}       #</a:t>
            </a:r>
            <a:r>
              <a:rPr lang="zh-CN" altLang="zh-CN" sz="3200" dirty="0"/>
              <a:t>整型集合</a:t>
            </a:r>
          </a:p>
          <a:p>
            <a:r>
              <a:rPr lang="en-US" altLang="zh-CN" sz="3200" dirty="0"/>
              <a:t>p={2.5,'tang',(1,2,3)}    #</a:t>
            </a:r>
            <a:r>
              <a:rPr lang="zh-CN" altLang="zh-CN" sz="3200" dirty="0"/>
              <a:t>混合类型的集合</a:t>
            </a:r>
          </a:p>
          <a:p>
            <a:r>
              <a:rPr lang="en-US" altLang="zh-CN" sz="3200" dirty="0"/>
              <a:t>q=set(['six','tang',6])   #</a:t>
            </a:r>
            <a:r>
              <a:rPr lang="zh-CN" altLang="zh-CN" sz="3200" dirty="0"/>
              <a:t>从列表创建集合</a:t>
            </a:r>
          </a:p>
          <a:p>
            <a:r>
              <a:rPr lang="en-US" altLang="zh-CN" sz="3200" dirty="0"/>
              <a:t>nu=set()        #</a:t>
            </a:r>
            <a:r>
              <a:rPr lang="zh-CN" altLang="zh-CN" sz="3200" dirty="0"/>
              <a:t>空集合</a:t>
            </a:r>
          </a:p>
          <a:p>
            <a:r>
              <a:rPr lang="en-US" altLang="zh-CN" sz="3200" dirty="0"/>
              <a:t>d={}            #</a:t>
            </a:r>
            <a:r>
              <a:rPr lang="zh-CN" altLang="zh-CN" sz="3200" dirty="0">
                <a:solidFill>
                  <a:srgbClr val="FF0000"/>
                </a:solidFill>
              </a:rPr>
              <a:t>空字典</a:t>
            </a:r>
            <a:r>
              <a:rPr lang="zh-CN" altLang="zh-CN" sz="3200" dirty="0"/>
              <a:t>，不是集合</a:t>
            </a:r>
          </a:p>
        </p:txBody>
      </p:sp>
      <p:sp>
        <p:nvSpPr>
          <p:cNvPr id="7" name="矩形 6"/>
          <p:cNvSpPr/>
          <p:nvPr/>
        </p:nvSpPr>
        <p:spPr>
          <a:xfrm>
            <a:off x="609600" y="1071324"/>
            <a:ext cx="272542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en-US" sz="2800" b="1" dirty="0">
                <a:solidFill>
                  <a:srgbClr val="0070C0"/>
                </a:solidFill>
                <a:latin typeface="微软雅黑" panose="020B0503020204020204" pitchFamily="34" charset="-122"/>
                <a:ea typeface="微软雅黑" panose="020B0503020204020204" pitchFamily="34" charset="-122"/>
              </a:rPr>
              <a:t>创建集合</a:t>
            </a:r>
          </a:p>
        </p:txBody>
      </p:sp>
      <p:grpSp>
        <p:nvGrpSpPr>
          <p:cNvPr id="21" name="组合 20"/>
          <p:cNvGrpSpPr/>
          <p:nvPr/>
        </p:nvGrpSpPr>
        <p:grpSpPr>
          <a:xfrm>
            <a:off x="395986" y="4907517"/>
            <a:ext cx="8260333" cy="923772"/>
            <a:chOff x="6339097" y="1573726"/>
            <a:chExt cx="3744416" cy="511504"/>
          </a:xfrm>
        </p:grpSpPr>
        <p:sp>
          <p:nvSpPr>
            <p:cNvPr id="22" name="圆角矩形 2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3" name="矩形 22"/>
            <p:cNvSpPr/>
            <p:nvPr/>
          </p:nvSpPr>
          <p:spPr>
            <a:xfrm>
              <a:off x="6399543" y="1599350"/>
              <a:ext cx="3683970" cy="477162"/>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创建集合有两种方式：① 将所有的元素写在花括号内，在 ‘</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里不能有字典、列表；② 用内置的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类型定义</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395987" y="5970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要创建空集合，只能用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131903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序列数据结构</a:t>
            </a:r>
          </a:p>
        </p:txBody>
      </p:sp>
      <p:sp>
        <p:nvSpPr>
          <p:cNvPr id="3" name="Text Box 2"/>
          <p:cNvSpPr txBox="1">
            <a:spLocks noChangeArrowheads="1"/>
          </p:cNvSpPr>
          <p:nvPr/>
        </p:nvSpPr>
        <p:spPr bwMode="auto">
          <a:xfrm>
            <a:off x="5059742" y="2072880"/>
            <a:ext cx="3703258" cy="1569660"/>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en-US" altLang="zh-CN" sz="3200" dirty="0"/>
              <a:t>{'P', 'y', 'h', 't', 'o', 'n'}</a:t>
            </a:r>
          </a:p>
          <a:p>
            <a:r>
              <a:rPr lang="en-US" altLang="zh-CN" sz="3200" dirty="0"/>
              <a:t>{'e', 'o', 'H', 'l'}</a:t>
            </a:r>
          </a:p>
          <a:p>
            <a:r>
              <a:rPr lang="en-US" altLang="zh-CN" sz="3200" dirty="0"/>
              <a:t>True</a:t>
            </a:r>
            <a:endParaRPr lang="zh-CN" altLang="zh-CN" sz="3200" dirty="0"/>
          </a:p>
        </p:txBody>
      </p:sp>
      <p:sp>
        <p:nvSpPr>
          <p:cNvPr id="4" name="Rectangle 4"/>
          <p:cNvSpPr>
            <a:spLocks noChangeArrowheads="1"/>
          </p:cNvSpPr>
          <p:nvPr/>
        </p:nvSpPr>
        <p:spPr bwMode="auto">
          <a:xfrm>
            <a:off x="531055" y="1814363"/>
            <a:ext cx="6012421"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2600" dirty="0">
                <a:latin typeface="Times New Roman" pitchFamily="18" charset="0"/>
                <a:cs typeface="Times New Roman" pitchFamily="18" charset="0"/>
              </a:rPr>
              <a:t>s=set('Python')</a:t>
            </a:r>
          </a:p>
          <a:p>
            <a:pPr lvl="0" indent="0"/>
            <a:r>
              <a:rPr lang="en-US" altLang="zh-CN" sz="2600" dirty="0">
                <a:latin typeface="Times New Roman" pitchFamily="18" charset="0"/>
                <a:cs typeface="Times New Roman" pitchFamily="18" charset="0"/>
              </a:rPr>
              <a:t>print(s)    #</a:t>
            </a:r>
            <a:r>
              <a:rPr lang="zh-CN" altLang="en-US" sz="2600" dirty="0">
                <a:latin typeface="Times New Roman" pitchFamily="18" charset="0"/>
                <a:cs typeface="Times New Roman" pitchFamily="18" charset="0"/>
              </a:rPr>
              <a:t>无序性</a:t>
            </a:r>
            <a:endParaRPr lang="en-US" altLang="zh-CN" sz="2600" dirty="0">
              <a:latin typeface="Times New Roman" pitchFamily="18" charset="0"/>
              <a:cs typeface="Times New Roman" pitchFamily="18" charset="0"/>
            </a:endParaRPr>
          </a:p>
          <a:p>
            <a:pPr lvl="0" indent="0"/>
            <a:r>
              <a:rPr lang="en-US" altLang="zh-CN" sz="2600" dirty="0">
                <a:latin typeface="Times New Roman" pitchFamily="18" charset="0"/>
                <a:cs typeface="Times New Roman" pitchFamily="18" charset="0"/>
              </a:rPr>
              <a:t>s=set('Hello')</a:t>
            </a:r>
          </a:p>
          <a:p>
            <a:pPr lvl="0" indent="0"/>
            <a:r>
              <a:rPr lang="en-US" altLang="zh-CN" sz="2600" dirty="0">
                <a:latin typeface="Times New Roman" pitchFamily="18" charset="0"/>
                <a:cs typeface="Times New Roman" pitchFamily="18" charset="0"/>
              </a:rPr>
              <a:t>print(s)   #</a:t>
            </a:r>
            <a:r>
              <a:rPr lang="zh-CN" altLang="en-US" sz="2600" dirty="0">
                <a:latin typeface="Times New Roman" pitchFamily="18" charset="0"/>
                <a:cs typeface="Times New Roman" pitchFamily="18" charset="0"/>
              </a:rPr>
              <a:t>不重复性</a:t>
            </a:r>
            <a:endParaRPr lang="en-US" altLang="zh-CN" sz="2600" dirty="0">
              <a:latin typeface="Times New Roman" pitchFamily="18" charset="0"/>
              <a:cs typeface="Times New Roman" pitchFamily="18" charset="0"/>
            </a:endParaRPr>
          </a:p>
          <a:p>
            <a:pPr lvl="0" indent="0"/>
            <a:r>
              <a:rPr lang="en-US" altLang="zh-CN" sz="2600" dirty="0">
                <a:latin typeface="Times New Roman" pitchFamily="18" charset="0"/>
                <a:cs typeface="Times New Roman" pitchFamily="18" charset="0"/>
              </a:rPr>
              <a:t>y='H' in s</a:t>
            </a:r>
          </a:p>
          <a:p>
            <a:pPr lvl="0" indent="0"/>
            <a:r>
              <a:rPr lang="en-US" altLang="zh-CN" sz="2600" dirty="0">
                <a:latin typeface="Times New Roman" pitchFamily="18" charset="0"/>
                <a:cs typeface="Times New Roman" pitchFamily="18" charset="0"/>
              </a:rPr>
              <a:t>print(y)   #</a:t>
            </a:r>
            <a:r>
              <a:rPr lang="zh-CN" altLang="en-US" sz="2600" dirty="0">
                <a:latin typeface="Times New Roman" pitchFamily="18" charset="0"/>
                <a:cs typeface="Times New Roman" pitchFamily="18" charset="0"/>
              </a:rPr>
              <a:t>确定性</a:t>
            </a:r>
            <a:endParaRPr lang="en-US" altLang="zh-CN" sz="2600" dirty="0">
              <a:latin typeface="Times New Roman" pitchFamily="18" charset="0"/>
              <a:cs typeface="Times New Roman" pitchFamily="18" charset="0"/>
            </a:endParaRPr>
          </a:p>
          <a:p>
            <a:pPr lvl="0" indent="0"/>
            <a:r>
              <a:rPr lang="en-US" altLang="zh-CN" sz="2600" dirty="0">
                <a:latin typeface="Times New Roman" pitchFamily="18" charset="0"/>
                <a:cs typeface="Times New Roman" pitchFamily="18" charset="0"/>
              </a:rPr>
              <a:t>print(s[2])   #</a:t>
            </a:r>
            <a:r>
              <a:rPr lang="zh-CN" altLang="en-US" sz="2600" dirty="0">
                <a:latin typeface="Times New Roman" pitchFamily="18" charset="0"/>
                <a:cs typeface="Times New Roman" pitchFamily="18" charset="0"/>
              </a:rPr>
              <a:t>执行出错，集合不支持索引</a:t>
            </a:r>
          </a:p>
        </p:txBody>
      </p:sp>
      <p:sp>
        <p:nvSpPr>
          <p:cNvPr id="7" name="矩形 6"/>
          <p:cNvSpPr/>
          <p:nvPr/>
        </p:nvSpPr>
        <p:spPr>
          <a:xfrm>
            <a:off x="609600" y="1071324"/>
            <a:ext cx="3084499"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en-US" sz="2800" b="1" dirty="0">
                <a:solidFill>
                  <a:srgbClr val="0070C0"/>
                </a:solidFill>
                <a:latin typeface="微软雅黑" panose="020B0503020204020204" pitchFamily="34" charset="-122"/>
                <a:ea typeface="微软雅黑" panose="020B0503020204020204" pitchFamily="34" charset="-122"/>
              </a:rPr>
              <a:t>集合的性质</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4" name="组合 23"/>
          <p:cNvGrpSpPr/>
          <p:nvPr/>
        </p:nvGrpSpPr>
        <p:grpSpPr>
          <a:xfrm>
            <a:off x="388493" y="5589638"/>
            <a:ext cx="8367013"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集合是无序的，所以无法使用索引访问集合中的元素</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661438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序列处理函数</a:t>
            </a:r>
          </a:p>
        </p:txBody>
      </p:sp>
      <p:sp>
        <p:nvSpPr>
          <p:cNvPr id="4" name="Rectangle 4"/>
          <p:cNvSpPr>
            <a:spLocks noChangeArrowheads="1"/>
          </p:cNvSpPr>
          <p:nvPr/>
        </p:nvSpPr>
        <p:spPr bwMode="auto">
          <a:xfrm>
            <a:off x="381783" y="2256055"/>
            <a:ext cx="853048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indent="0"/>
            <a:r>
              <a:rPr lang="en-US" altLang="zh-CN" sz="2800" dirty="0"/>
              <a:t>aList = [123, 'xyz', 'abc']</a:t>
            </a:r>
          </a:p>
          <a:p>
            <a:pPr indent="0"/>
            <a:r>
              <a:rPr lang="en-US" altLang="zh-CN" sz="2800" dirty="0"/>
              <a:t>aList.append( 2020 )     	#</a:t>
            </a:r>
            <a:r>
              <a:rPr lang="zh-CN" altLang="en-US" sz="2800" dirty="0"/>
              <a:t>添加数值元素</a:t>
            </a:r>
          </a:p>
          <a:p>
            <a:pPr indent="0"/>
            <a:r>
              <a:rPr lang="en-US" altLang="zh-CN" sz="2800" dirty="0"/>
              <a:t>aList.append( [20,‘19’])    	#</a:t>
            </a:r>
            <a:r>
              <a:rPr lang="zh-CN" altLang="en-US" sz="2800" dirty="0"/>
              <a:t>添加列表元素</a:t>
            </a:r>
          </a:p>
          <a:p>
            <a:pPr indent="0"/>
            <a:r>
              <a:rPr lang="en-US" altLang="zh-CN" sz="2800" dirty="0"/>
              <a:t>print(aList)</a:t>
            </a:r>
          </a:p>
        </p:txBody>
      </p:sp>
      <p:sp>
        <p:nvSpPr>
          <p:cNvPr id="7" name="矩形 6"/>
          <p:cNvSpPr/>
          <p:nvPr/>
        </p:nvSpPr>
        <p:spPr>
          <a:xfrm>
            <a:off x="609600" y="1071324"/>
            <a:ext cx="8153400" cy="954107"/>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append()</a:t>
            </a:r>
            <a:r>
              <a:rPr lang="zh-CN" altLang="en-US" sz="2800" b="1" dirty="0">
                <a:solidFill>
                  <a:srgbClr val="0070C0"/>
                </a:solidFill>
                <a:latin typeface="微软雅黑" panose="020B0503020204020204" pitchFamily="34" charset="-122"/>
                <a:ea typeface="微软雅黑" panose="020B0503020204020204" pitchFamily="34" charset="-122"/>
              </a:rPr>
              <a:t>函数用于在列表末尾添加新的元素，每次只能添加一个元素。</a:t>
            </a:r>
          </a:p>
        </p:txBody>
      </p:sp>
      <p:sp>
        <p:nvSpPr>
          <p:cNvPr id="27" name="矩形 26"/>
          <p:cNvSpPr/>
          <p:nvPr/>
        </p:nvSpPr>
        <p:spPr>
          <a:xfrm>
            <a:off x="531056" y="5996248"/>
            <a:ext cx="8231945" cy="492417"/>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要创建空集合，只能用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2"/>
          <p:cNvSpPr txBox="1">
            <a:spLocks noChangeArrowheads="1"/>
          </p:cNvSpPr>
          <p:nvPr/>
        </p:nvSpPr>
        <p:spPr bwMode="auto">
          <a:xfrm>
            <a:off x="609600" y="5211418"/>
            <a:ext cx="5618654" cy="584775"/>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en-US" altLang="zh-CN" sz="3200" dirty="0"/>
              <a:t>[123, 'xyz', 'abc', 2020, [20, '19']]</a:t>
            </a:r>
            <a:endParaRPr lang="zh-CN" altLang="zh-CN" sz="3200" dirty="0"/>
          </a:p>
        </p:txBody>
      </p:sp>
      <p:sp>
        <p:nvSpPr>
          <p:cNvPr id="12" name="矩形 11"/>
          <p:cNvSpPr/>
          <p:nvPr/>
        </p:nvSpPr>
        <p:spPr>
          <a:xfrm>
            <a:off x="648355" y="446890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Tree>
    <p:extLst>
      <p:ext uri="{BB962C8B-B14F-4D97-AF65-F5344CB8AC3E}">
        <p14:creationId xmlns:p14="http://schemas.microsoft.com/office/powerpoint/2010/main" val="2467027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序列处理函数</a:t>
            </a:r>
          </a:p>
        </p:txBody>
      </p:sp>
      <p:sp>
        <p:nvSpPr>
          <p:cNvPr id="3" name="Text Box 2"/>
          <p:cNvSpPr txBox="1">
            <a:spLocks noChangeArrowheads="1"/>
          </p:cNvSpPr>
          <p:nvPr/>
        </p:nvSpPr>
        <p:spPr bwMode="auto">
          <a:xfrm>
            <a:off x="5059742" y="2072880"/>
            <a:ext cx="3859390" cy="1077218"/>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3200" dirty="0"/>
              <a:t>[[0, 0, 0, 0], [1, 1, 1, 1], [2, 2, 2, 2], [3, 3, 3, 3]]</a:t>
            </a:r>
            <a:endParaRPr lang="zh-CN" altLang="zh-CN" sz="3200" dirty="0"/>
          </a:p>
        </p:txBody>
      </p:sp>
      <p:sp>
        <p:nvSpPr>
          <p:cNvPr id="4" name="Rectangle 4"/>
          <p:cNvSpPr>
            <a:spLocks noChangeArrowheads="1"/>
          </p:cNvSpPr>
          <p:nvPr/>
        </p:nvSpPr>
        <p:spPr bwMode="auto">
          <a:xfrm>
            <a:off x="531055" y="1737419"/>
            <a:ext cx="601242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3200" dirty="0">
                <a:latin typeface="Times New Roman" pitchFamily="18" charset="0"/>
                <a:cs typeface="Times New Roman" pitchFamily="18" charset="0"/>
              </a:rPr>
              <a:t>a=[] </a:t>
            </a:r>
          </a:p>
          <a:p>
            <a:pPr lvl="0" indent="0"/>
            <a:r>
              <a:rPr lang="en-US" altLang="zh-CN" sz="3200" dirty="0">
                <a:latin typeface="Times New Roman" pitchFamily="18" charset="0"/>
                <a:cs typeface="Times New Roman" pitchFamily="18" charset="0"/>
              </a:rPr>
              <a:t>for i in range(4): </a:t>
            </a:r>
          </a:p>
          <a:p>
            <a:pPr lvl="0" indent="0"/>
            <a:r>
              <a:rPr lang="en-US" altLang="zh-CN" sz="3200" dirty="0">
                <a:latin typeface="Times New Roman" pitchFamily="18" charset="0"/>
                <a:cs typeface="Times New Roman" pitchFamily="18" charset="0"/>
              </a:rPr>
              <a:t>    a.append([])</a:t>
            </a:r>
          </a:p>
          <a:p>
            <a:pPr lvl="0" indent="0"/>
            <a:r>
              <a:rPr lang="en-US" altLang="zh-CN" sz="3200" dirty="0">
                <a:latin typeface="Times New Roman" pitchFamily="18" charset="0"/>
                <a:cs typeface="Times New Roman" pitchFamily="18" charset="0"/>
              </a:rPr>
              <a:t>    for j in range(4):</a:t>
            </a:r>
          </a:p>
          <a:p>
            <a:pPr lvl="0" indent="0"/>
            <a:r>
              <a:rPr lang="en-US" altLang="zh-CN" sz="3200" dirty="0">
                <a:latin typeface="Times New Roman" pitchFamily="18" charset="0"/>
                <a:cs typeface="Times New Roman" pitchFamily="18" charset="0"/>
              </a:rPr>
              <a:t>        a[i].append(i)</a:t>
            </a:r>
          </a:p>
          <a:p>
            <a:pPr lvl="0" indent="0"/>
            <a:r>
              <a:rPr lang="en-US" altLang="zh-CN" sz="3200" dirty="0">
                <a:latin typeface="Times New Roman" pitchFamily="18" charset="0"/>
                <a:cs typeface="Times New Roman" pitchFamily="18" charset="0"/>
              </a:rPr>
              <a:t>print(a)</a:t>
            </a:r>
          </a:p>
        </p:txBody>
      </p:sp>
      <p:sp>
        <p:nvSpPr>
          <p:cNvPr id="7" name="矩形 6"/>
          <p:cNvSpPr/>
          <p:nvPr/>
        </p:nvSpPr>
        <p:spPr>
          <a:xfrm>
            <a:off x="609600" y="1071324"/>
            <a:ext cx="404309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1-5] </a:t>
            </a:r>
            <a:r>
              <a:rPr lang="zh-CN" altLang="en-US" sz="2800" b="1" dirty="0">
                <a:solidFill>
                  <a:srgbClr val="0070C0"/>
                </a:solidFill>
                <a:latin typeface="微软雅黑" panose="020B0503020204020204" pitchFamily="34" charset="-122"/>
                <a:ea typeface="微软雅黑" panose="020B0503020204020204" pitchFamily="34" charset="-122"/>
              </a:rPr>
              <a:t>生成二维列表</a:t>
            </a: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4" name="组合 23"/>
          <p:cNvGrpSpPr/>
          <p:nvPr/>
        </p:nvGrpSpPr>
        <p:grpSpPr>
          <a:xfrm>
            <a:off x="388493" y="5589638"/>
            <a:ext cx="7810627"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双重循环，先添加列表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，再往列表中添加元素</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434079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1.1.3 </a:t>
            </a:r>
            <a:r>
              <a:rPr lang="zh-CN" altLang="en-US" sz="2800" b="1" dirty="0">
                <a:solidFill>
                  <a:srgbClr val="0070C0"/>
                </a:solidFill>
                <a:latin typeface="微软雅黑" panose="020B0503020204020204" pitchFamily="34" charset="-122"/>
                <a:ea typeface="微软雅黑" panose="020B0503020204020204" pitchFamily="34" charset="-122"/>
              </a:rPr>
              <a:t>序列处理函数</a:t>
            </a:r>
            <a:r>
              <a:rPr lang="en-US" altLang="zh-CN" sz="2800" b="1" dirty="0">
                <a:solidFill>
                  <a:srgbClr val="0070C0"/>
                </a:solidFill>
                <a:latin typeface="微软雅黑" panose="020B0503020204020204" pitchFamily="34" charset="-122"/>
                <a:ea typeface="微软雅黑" panose="020B0503020204020204" pitchFamily="34" charset="-122"/>
              </a:rPr>
              <a:t>——zip()</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609600" y="2444493"/>
            <a:ext cx="3962400" cy="3884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a:lnSpc>
                <a:spcPct val="110000"/>
              </a:lnSpc>
            </a:pPr>
            <a:r>
              <a:rPr lang="en-US" altLang="zh-CN" sz="2800" dirty="0">
                <a:latin typeface="Times New Roman" panose="02020603050405020304" pitchFamily="18" charset="0"/>
                <a:cs typeface="Times New Roman" panose="02020603050405020304" pitchFamily="18" charset="0"/>
              </a:rPr>
              <a:t>a = [1,2,3]</a:t>
            </a:r>
          </a:p>
          <a:p>
            <a:pPr>
              <a:lnSpc>
                <a:spcPct val="110000"/>
              </a:lnSpc>
            </a:pPr>
            <a:r>
              <a:rPr lang="en-US" altLang="zh-CN" sz="2800" dirty="0">
                <a:latin typeface="Times New Roman" panose="02020603050405020304" pitchFamily="18" charset="0"/>
                <a:cs typeface="Times New Roman" panose="02020603050405020304" pitchFamily="18" charset="0"/>
              </a:rPr>
              <a:t>b = [4,5,6]</a:t>
            </a:r>
          </a:p>
          <a:p>
            <a:pPr>
              <a:lnSpc>
                <a:spcPct val="110000"/>
              </a:lnSpc>
            </a:pPr>
            <a:r>
              <a:rPr lang="en-US" altLang="zh-CN" sz="2800" dirty="0">
                <a:latin typeface="Times New Roman" panose="02020603050405020304" pitchFamily="18" charset="0"/>
                <a:cs typeface="Times New Roman" panose="02020603050405020304" pitchFamily="18" charset="0"/>
              </a:rPr>
              <a:t>c = [4,5,6,7,8]</a:t>
            </a:r>
          </a:p>
          <a:p>
            <a:pPr>
              <a:lnSpc>
                <a:spcPct val="110000"/>
              </a:lnSpc>
            </a:pPr>
            <a:r>
              <a:rPr lang="en-US" altLang="zh-CN" sz="2800" dirty="0">
                <a:latin typeface="Times New Roman" panose="02020603050405020304" pitchFamily="18" charset="0"/>
                <a:cs typeface="Times New Roman" panose="02020603050405020304" pitchFamily="18" charset="0"/>
              </a:rPr>
              <a:t>zipped = zip(a,b) </a:t>
            </a:r>
            <a:r>
              <a:rPr lang="zh-CN" altLang="en-US" sz="2800" dirty="0">
                <a:latin typeface="Times New Roman" panose="02020603050405020304" pitchFamily="18" charset="0"/>
                <a:cs typeface="Times New Roman" panose="02020603050405020304" pitchFamily="18" charset="0"/>
              </a:rPr>
              <a:t> </a:t>
            </a:r>
          </a:p>
          <a:p>
            <a:pPr>
              <a:lnSpc>
                <a:spcPct val="110000"/>
              </a:lnSpc>
            </a:pPr>
            <a:r>
              <a:rPr lang="en-US" altLang="zh-CN" sz="2800" dirty="0">
                <a:latin typeface="Times New Roman" panose="02020603050405020304" pitchFamily="18" charset="0"/>
                <a:cs typeface="Times New Roman" panose="02020603050405020304" pitchFamily="18" charset="0"/>
              </a:rPr>
              <a:t>print(list(zipped))</a:t>
            </a:r>
          </a:p>
          <a:p>
            <a:pPr>
              <a:lnSpc>
                <a:spcPct val="110000"/>
              </a:lnSpc>
            </a:pPr>
            <a:r>
              <a:rPr lang="en-US" altLang="zh-CN" sz="2800" dirty="0">
                <a:latin typeface="Times New Roman" panose="02020603050405020304" pitchFamily="18" charset="0"/>
                <a:cs typeface="Times New Roman" panose="02020603050405020304" pitchFamily="18" charset="0"/>
              </a:rPr>
              <a:t>zipped = zip(a,b) </a:t>
            </a:r>
          </a:p>
          <a:p>
            <a:pPr>
              <a:lnSpc>
                <a:spcPct val="110000"/>
              </a:lnSpc>
            </a:pPr>
            <a:r>
              <a:rPr lang="en-US" altLang="zh-CN" sz="2800" dirty="0">
                <a:latin typeface="Times New Roman" panose="02020603050405020304" pitchFamily="18" charset="0"/>
                <a:cs typeface="Times New Roman" panose="02020603050405020304" pitchFamily="18" charset="0"/>
              </a:rPr>
              <a:t>print(list(zip(</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zipped))) </a:t>
            </a:r>
          </a:p>
          <a:p>
            <a:pPr>
              <a:lnSpc>
                <a:spcPct val="110000"/>
              </a:lnSpc>
            </a:pPr>
            <a:r>
              <a:rPr lang="en-US" altLang="zh-CN" sz="2800" dirty="0">
                <a:latin typeface="Times New Roman" panose="02020603050405020304" pitchFamily="18" charset="0"/>
                <a:cs typeface="Times New Roman" panose="02020603050405020304" pitchFamily="18" charset="0"/>
              </a:rPr>
              <a:t>print(list(zip(a,c))) </a:t>
            </a:r>
            <a:endParaRPr lang="zh-CN"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609600" y="801528"/>
            <a:ext cx="8153400" cy="954107"/>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zip() </a:t>
            </a:r>
            <a:r>
              <a:rPr lang="zh-CN" altLang="en-US" sz="2800" b="1" dirty="0">
                <a:solidFill>
                  <a:srgbClr val="0070C0"/>
                </a:solidFill>
                <a:latin typeface="微软雅黑" panose="020B0503020204020204" pitchFamily="34" charset="-122"/>
                <a:ea typeface="微软雅黑" panose="020B0503020204020204" pitchFamily="34" charset="-122"/>
              </a:rPr>
              <a:t>函数用于将对象中对应的元素打包成一个个元组，然后返回由这些元组组成的列表。</a:t>
            </a:r>
          </a:p>
        </p:txBody>
      </p:sp>
      <p:sp>
        <p:nvSpPr>
          <p:cNvPr id="11" name="Text Box 2"/>
          <p:cNvSpPr txBox="1">
            <a:spLocks noChangeArrowheads="1"/>
          </p:cNvSpPr>
          <p:nvPr/>
        </p:nvSpPr>
        <p:spPr bwMode="auto">
          <a:xfrm>
            <a:off x="4793923" y="2812479"/>
            <a:ext cx="3935406" cy="1569660"/>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3200" dirty="0"/>
              <a:t>[(1, 4), (2, 5), (3, 6)]</a:t>
            </a:r>
          </a:p>
          <a:p>
            <a:r>
              <a:rPr lang="en-US" altLang="zh-CN" sz="3200" dirty="0"/>
              <a:t>[(1, 2, 3), (4, 5, 6)]</a:t>
            </a:r>
          </a:p>
          <a:p>
            <a:r>
              <a:rPr lang="en-US" altLang="zh-CN" sz="3200" dirty="0"/>
              <a:t>[(1, 4), (2, 5), (3, 6)]</a:t>
            </a:r>
            <a:endParaRPr lang="zh-CN" altLang="zh-CN" sz="3200" dirty="0"/>
          </a:p>
        </p:txBody>
      </p:sp>
      <p:sp>
        <p:nvSpPr>
          <p:cNvPr id="12" name="矩形 11"/>
          <p:cNvSpPr/>
          <p:nvPr/>
        </p:nvSpPr>
        <p:spPr>
          <a:xfrm>
            <a:off x="5140669" y="227213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
        <p:nvSpPr>
          <p:cNvPr id="8" name="矩形 7"/>
          <p:cNvSpPr/>
          <p:nvPr/>
        </p:nvSpPr>
        <p:spPr>
          <a:xfrm>
            <a:off x="513666" y="1893074"/>
            <a:ext cx="3533340"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 zip()</a:t>
            </a:r>
            <a:r>
              <a:rPr lang="zh-CN" altLang="en-US" sz="2800" b="1" dirty="0">
                <a:solidFill>
                  <a:srgbClr val="0070C0"/>
                </a:solidFill>
                <a:latin typeface="微软雅黑" panose="020B0503020204020204" pitchFamily="34" charset="-122"/>
                <a:ea typeface="微软雅黑" panose="020B0503020204020204" pitchFamily="34" charset="-122"/>
              </a:rPr>
              <a:t>函数示例</a:t>
            </a:r>
          </a:p>
        </p:txBody>
      </p:sp>
      <p:grpSp>
        <p:nvGrpSpPr>
          <p:cNvPr id="9" name="组合 8"/>
          <p:cNvGrpSpPr/>
          <p:nvPr/>
        </p:nvGrpSpPr>
        <p:grpSpPr>
          <a:xfrm>
            <a:off x="2590800" y="6204246"/>
            <a:ext cx="6373133" cy="518028"/>
            <a:chOff x="6339097" y="1573726"/>
            <a:chExt cx="3744416" cy="518298"/>
          </a:xfrm>
        </p:grpSpPr>
        <p:sp>
          <p:nvSpPr>
            <p:cNvPr id="10" name="圆角矩形 9"/>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利用 * 号操作符，可以将元组解压为列表</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4" name="组合 13"/>
          <p:cNvGrpSpPr/>
          <p:nvPr/>
        </p:nvGrpSpPr>
        <p:grpSpPr>
          <a:xfrm>
            <a:off x="4162077" y="4532441"/>
            <a:ext cx="4752176" cy="951947"/>
            <a:chOff x="6339097" y="1573726"/>
            <a:chExt cx="3744416" cy="511504"/>
          </a:xfrm>
        </p:grpSpPr>
        <p:sp>
          <p:nvSpPr>
            <p:cNvPr id="15" name="圆角矩形 1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6" name="矩形 15"/>
            <p:cNvSpPr/>
            <p:nvPr/>
          </p:nvSpPr>
          <p:spPr>
            <a:xfrm>
              <a:off x="6399543" y="1599350"/>
              <a:ext cx="3683970" cy="324822"/>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zip()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返回的是一个对象。如需打印列表，需先用 </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list()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转换</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522402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函数和类</a:t>
            </a:r>
          </a:p>
        </p:txBody>
      </p:sp>
      <p:sp>
        <p:nvSpPr>
          <p:cNvPr id="3" name="Text Box 2"/>
          <p:cNvSpPr txBox="1">
            <a:spLocks noChangeArrowheads="1"/>
          </p:cNvSpPr>
          <p:nvPr/>
        </p:nvSpPr>
        <p:spPr bwMode="auto">
          <a:xfrm>
            <a:off x="5699822" y="1737419"/>
            <a:ext cx="2499298" cy="3046988"/>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3200" dirty="0"/>
              <a:t>$ </a:t>
            </a:r>
          </a:p>
          <a:p>
            <a:r>
              <a:rPr lang="en-US" altLang="zh-CN" sz="3200" dirty="0"/>
              <a:t>$ $ </a:t>
            </a:r>
          </a:p>
          <a:p>
            <a:r>
              <a:rPr lang="en-US" altLang="zh-CN" sz="3200" dirty="0"/>
              <a:t>$ $ $ </a:t>
            </a:r>
          </a:p>
          <a:p>
            <a:r>
              <a:rPr lang="en-US" altLang="zh-CN" sz="3200" dirty="0"/>
              <a:t>$ $ $ $ </a:t>
            </a:r>
          </a:p>
          <a:p>
            <a:r>
              <a:rPr lang="en-US" altLang="zh-CN" sz="3200" dirty="0"/>
              <a:t>$ $ $ $ $ </a:t>
            </a:r>
          </a:p>
          <a:p>
            <a:r>
              <a:rPr lang="en-US" altLang="zh-CN" sz="3200" dirty="0"/>
              <a:t>$ $ $ $ $ $ </a:t>
            </a:r>
            <a:endParaRPr lang="zh-CN" altLang="zh-CN" sz="3200" dirty="0"/>
          </a:p>
        </p:txBody>
      </p:sp>
      <p:sp>
        <p:nvSpPr>
          <p:cNvPr id="4" name="Rectangle 4"/>
          <p:cNvSpPr>
            <a:spLocks noChangeArrowheads="1"/>
          </p:cNvSpPr>
          <p:nvPr/>
        </p:nvSpPr>
        <p:spPr bwMode="auto">
          <a:xfrm>
            <a:off x="531055" y="1737419"/>
            <a:ext cx="601242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3200" dirty="0">
                <a:solidFill>
                  <a:schemeClr val="accent1"/>
                </a:solidFill>
                <a:latin typeface="Times New Roman" pitchFamily="18" charset="0"/>
                <a:cs typeface="Times New Roman" pitchFamily="18" charset="0"/>
              </a:rPr>
              <a:t>def</a:t>
            </a:r>
            <a:r>
              <a:rPr lang="en-US" altLang="zh-CN" sz="3200" dirty="0">
                <a:latin typeface="Times New Roman" pitchFamily="18" charset="0"/>
                <a:cs typeface="Times New Roman" pitchFamily="18" charset="0"/>
              </a:rPr>
              <a:t> jzt(n,shape) </a:t>
            </a:r>
            <a:r>
              <a:rPr lang="en-US" altLang="zh-CN" sz="3200" dirty="0">
                <a:solidFill>
                  <a:schemeClr val="accent1"/>
                </a:solidFill>
                <a:latin typeface="Times New Roman" pitchFamily="18" charset="0"/>
                <a:cs typeface="Times New Roman" pitchFamily="18" charset="0"/>
              </a:rPr>
              <a:t>:</a:t>
            </a:r>
          </a:p>
          <a:p>
            <a:pPr lvl="0" indent="0"/>
            <a:r>
              <a:rPr lang="en-US" altLang="zh-CN" sz="3200" dirty="0">
                <a:latin typeface="Times New Roman" pitchFamily="18" charset="0"/>
                <a:cs typeface="Times New Roman" pitchFamily="18" charset="0"/>
              </a:rPr>
              <a:t>   for i in range(n):</a:t>
            </a:r>
          </a:p>
          <a:p>
            <a:pPr lvl="0" indent="0"/>
            <a:r>
              <a:rPr lang="en-US" altLang="zh-CN" sz="3200" dirty="0">
                <a:latin typeface="Times New Roman" pitchFamily="18" charset="0"/>
                <a:cs typeface="Times New Roman" pitchFamily="18" charset="0"/>
              </a:rPr>
              <a:t>    for j in range(-1,i):</a:t>
            </a:r>
          </a:p>
          <a:p>
            <a:pPr lvl="0" indent="0"/>
            <a:r>
              <a:rPr lang="en-US" altLang="zh-CN" sz="3200" dirty="0">
                <a:latin typeface="Times New Roman" pitchFamily="18" charset="0"/>
                <a:cs typeface="Times New Roman" pitchFamily="18" charset="0"/>
              </a:rPr>
              <a:t>        print(shape,end=' ')</a:t>
            </a:r>
          </a:p>
          <a:p>
            <a:pPr lvl="0" indent="0"/>
            <a:r>
              <a:rPr lang="en-US" altLang="zh-CN" sz="3200" dirty="0">
                <a:latin typeface="Times New Roman" pitchFamily="18" charset="0"/>
                <a:cs typeface="Times New Roman" pitchFamily="18" charset="0"/>
              </a:rPr>
              <a:t>    print()</a:t>
            </a:r>
          </a:p>
          <a:p>
            <a:pPr lvl="0" indent="0"/>
            <a:r>
              <a:rPr lang="en-US" altLang="zh-CN" sz="3200" dirty="0">
                <a:latin typeface="Times New Roman" pitchFamily="18" charset="0"/>
                <a:cs typeface="Times New Roman" pitchFamily="18" charset="0"/>
              </a:rPr>
              <a:t>jzt(6,'$')</a:t>
            </a:r>
          </a:p>
        </p:txBody>
      </p:sp>
      <p:sp>
        <p:nvSpPr>
          <p:cNvPr id="7" name="矩形 6"/>
          <p:cNvSpPr/>
          <p:nvPr/>
        </p:nvSpPr>
        <p:spPr>
          <a:xfrm>
            <a:off x="609600" y="1071324"/>
            <a:ext cx="4681090"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1-6] </a:t>
            </a:r>
            <a:r>
              <a:rPr lang="zh-CN" altLang="en-US" sz="2800" b="1" dirty="0">
                <a:solidFill>
                  <a:srgbClr val="0070C0"/>
                </a:solidFill>
                <a:latin typeface="微软雅黑" panose="020B0503020204020204" pitchFamily="34" charset="-122"/>
                <a:ea typeface="微软雅黑" panose="020B0503020204020204" pitchFamily="34" charset="-122"/>
              </a:rPr>
              <a:t>画金字塔</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函数版</a:t>
            </a:r>
            <a:r>
              <a:rPr lang="en-US" altLang="zh-CN" sz="2800" b="1" dirty="0">
                <a:solidFill>
                  <a:srgbClr val="0070C0"/>
                </a:solidFill>
                <a:latin typeface="微软雅黑" panose="020B0503020204020204" pitchFamily="34" charset="-122"/>
                <a:ea typeface="微软雅黑" panose="020B0503020204020204" pitchFamily="34" charset="-122"/>
              </a:rPr>
              <a:t>)</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5732998" y="1091088"/>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4" name="组合 23"/>
          <p:cNvGrpSpPr/>
          <p:nvPr/>
        </p:nvGrpSpPr>
        <p:grpSpPr>
          <a:xfrm>
            <a:off x="388493" y="5589638"/>
            <a:ext cx="7810627"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本例中函数只有输入，没有输出，所以没有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4448884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函数和类</a:t>
            </a:r>
          </a:p>
        </p:txBody>
      </p:sp>
      <p:sp>
        <p:nvSpPr>
          <p:cNvPr id="3" name="Text Box 2"/>
          <p:cNvSpPr txBox="1">
            <a:spLocks noChangeArrowheads="1"/>
          </p:cNvSpPr>
          <p:nvPr/>
        </p:nvSpPr>
        <p:spPr bwMode="auto">
          <a:xfrm>
            <a:off x="5570890" y="2027038"/>
            <a:ext cx="3420710" cy="523220"/>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zh-CN" altLang="zh-CN" sz="2800" dirty="0"/>
              <a:t>航空母舰已经下水…</a:t>
            </a:r>
          </a:p>
        </p:txBody>
      </p:sp>
      <p:sp>
        <p:nvSpPr>
          <p:cNvPr id="4" name="Rectangle 4"/>
          <p:cNvSpPr>
            <a:spLocks noChangeArrowheads="1"/>
          </p:cNvSpPr>
          <p:nvPr/>
        </p:nvSpPr>
        <p:spPr bwMode="auto">
          <a:xfrm>
            <a:off x="514580" y="1821309"/>
            <a:ext cx="683937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lvl="0" indent="0"/>
            <a:r>
              <a:rPr lang="en-US" altLang="zh-CN" sz="2800" dirty="0">
                <a:latin typeface="Times New Roman" pitchFamily="18" charset="0"/>
                <a:cs typeface="Times New Roman" pitchFamily="18" charset="0"/>
              </a:rPr>
              <a:t>def Title(string,n) :</a:t>
            </a:r>
          </a:p>
          <a:p>
            <a:pPr lvl="0" indent="0"/>
            <a:r>
              <a:rPr lang="en-US" altLang="zh-CN" sz="2800" dirty="0">
                <a:latin typeface="Times New Roman" pitchFamily="18" charset="0"/>
                <a:cs typeface="Times New Roman" pitchFamily="18" charset="0"/>
              </a:rPr>
              <a:t>   if len(string)&gt;n:</a:t>
            </a:r>
          </a:p>
          <a:p>
            <a:pPr lvl="0" indent="0"/>
            <a:r>
              <a:rPr lang="en-US" altLang="zh-CN" sz="2800" dirty="0">
                <a:latin typeface="Times New Roman" pitchFamily="18" charset="0"/>
                <a:cs typeface="Times New Roman" pitchFamily="18" charset="0"/>
              </a:rPr>
              <a:t>       return string[0:n]+"…"</a:t>
            </a:r>
          </a:p>
          <a:p>
            <a:pPr lvl="0" indent="0"/>
            <a:r>
              <a:rPr lang="en-US" altLang="zh-CN" sz="2800" dirty="0">
                <a:latin typeface="Times New Roman" pitchFamily="18" charset="0"/>
                <a:cs typeface="Times New Roman" pitchFamily="18" charset="0"/>
              </a:rPr>
              <a:t>   else:</a:t>
            </a:r>
          </a:p>
          <a:p>
            <a:pPr lvl="0" indent="0"/>
            <a:r>
              <a:rPr lang="en-US" altLang="zh-CN" sz="2800" dirty="0">
                <a:latin typeface="Times New Roman" pitchFamily="18" charset="0"/>
                <a:cs typeface="Times New Roman" pitchFamily="18" charset="0"/>
              </a:rPr>
              <a:t>       </a:t>
            </a:r>
            <a:r>
              <a:rPr lang="en-US" altLang="zh-CN" sz="2800" dirty="0">
                <a:solidFill>
                  <a:schemeClr val="accent1"/>
                </a:solidFill>
                <a:latin typeface="Times New Roman" pitchFamily="18" charset="0"/>
                <a:cs typeface="Times New Roman" pitchFamily="18" charset="0"/>
              </a:rPr>
              <a:t>return</a:t>
            </a:r>
            <a:r>
              <a:rPr lang="en-US" altLang="zh-CN" sz="2800" dirty="0">
                <a:latin typeface="Times New Roman" pitchFamily="18" charset="0"/>
                <a:cs typeface="Times New Roman" pitchFamily="18" charset="0"/>
              </a:rPr>
              <a:t> string</a:t>
            </a:r>
          </a:p>
          <a:p>
            <a:pPr lvl="0" indent="0"/>
            <a:r>
              <a:rPr lang="en-US" altLang="zh-CN" sz="2800" dirty="0">
                <a:latin typeface="Times New Roman" pitchFamily="18" charset="0"/>
                <a:cs typeface="Times New Roman" pitchFamily="18" charset="0"/>
              </a:rPr>
              <a:t>a=Title('</a:t>
            </a:r>
            <a:r>
              <a:rPr lang="zh-CN" altLang="en-US" sz="2800" dirty="0">
                <a:latin typeface="Times New Roman" pitchFamily="18" charset="0"/>
                <a:cs typeface="Times New Roman" pitchFamily="18" charset="0"/>
              </a:rPr>
              <a:t>航空母舰已经下水入列！</a:t>
            </a:r>
            <a:r>
              <a:rPr lang="en-US" altLang="zh-CN" sz="2800" dirty="0">
                <a:latin typeface="Times New Roman" pitchFamily="18" charset="0"/>
                <a:cs typeface="Times New Roman" pitchFamily="18" charset="0"/>
              </a:rPr>
              <a:t>',8)</a:t>
            </a:r>
          </a:p>
          <a:p>
            <a:pPr lvl="0" indent="0"/>
            <a:r>
              <a:rPr lang="en-US" altLang="zh-CN" sz="2800" dirty="0">
                <a:latin typeface="Times New Roman" pitchFamily="18" charset="0"/>
                <a:cs typeface="Times New Roman" pitchFamily="18" charset="0"/>
              </a:rPr>
              <a:t>print(a)</a:t>
            </a:r>
          </a:p>
        </p:txBody>
      </p:sp>
      <p:sp>
        <p:nvSpPr>
          <p:cNvPr id="7" name="矩形 6"/>
          <p:cNvSpPr/>
          <p:nvPr/>
        </p:nvSpPr>
        <p:spPr>
          <a:xfrm>
            <a:off x="609600" y="1071324"/>
            <a:ext cx="5352747"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1-7] </a:t>
            </a:r>
            <a:r>
              <a:rPr lang="zh-CN" altLang="en-US" sz="2800" b="1" dirty="0">
                <a:solidFill>
                  <a:srgbClr val="0070C0"/>
                </a:solidFill>
                <a:latin typeface="微软雅黑" panose="020B0503020204020204" pitchFamily="34" charset="-122"/>
                <a:ea typeface="微软雅黑" panose="020B0503020204020204" pitchFamily="34" charset="-122"/>
              </a:rPr>
              <a:t>截取字符串前</a:t>
            </a:r>
            <a:r>
              <a:rPr lang="en-US" altLang="zh-CN" sz="2800" b="1" dirty="0">
                <a:solidFill>
                  <a:srgbClr val="0070C0"/>
                </a:solidFill>
                <a:latin typeface="微软雅黑" panose="020B0503020204020204" pitchFamily="34" charset="-122"/>
                <a:ea typeface="微软雅黑" panose="020B0503020204020204" pitchFamily="34" charset="-122"/>
              </a:rPr>
              <a:t>n</a:t>
            </a:r>
            <a:r>
              <a:rPr lang="zh-CN" altLang="en-US" sz="2800" b="1" dirty="0">
                <a:solidFill>
                  <a:srgbClr val="0070C0"/>
                </a:solidFill>
                <a:latin typeface="微软雅黑" panose="020B0503020204020204" pitchFamily="34" charset="-122"/>
                <a:ea typeface="微软雅黑" panose="020B0503020204020204" pitchFamily="34" charset="-122"/>
              </a:rPr>
              <a:t>个字符</a:t>
            </a:r>
          </a:p>
        </p:txBody>
      </p:sp>
      <p:sp>
        <p:nvSpPr>
          <p:cNvPr id="8" name="矩形 7"/>
          <p:cNvSpPr/>
          <p:nvPr/>
        </p:nvSpPr>
        <p:spPr>
          <a:xfrm>
            <a:off x="6138992" y="106513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4" name="组合 23"/>
          <p:cNvGrpSpPr/>
          <p:nvPr/>
        </p:nvGrpSpPr>
        <p:grpSpPr>
          <a:xfrm>
            <a:off x="451537" y="5811203"/>
            <a:ext cx="6696024" cy="518028"/>
            <a:chOff x="6339097" y="1573726"/>
            <a:chExt cx="3744416" cy="518298"/>
          </a:xfrm>
        </p:grpSpPr>
        <p:sp>
          <p:nvSpPr>
            <p:cNvPr id="25" name="圆角矩形 24"/>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语句将返回一个值给函数的调用方</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1" name="组合 10"/>
          <p:cNvGrpSpPr/>
          <p:nvPr/>
        </p:nvGrpSpPr>
        <p:grpSpPr>
          <a:xfrm>
            <a:off x="451537" y="5049203"/>
            <a:ext cx="6696024" cy="518028"/>
            <a:chOff x="6339097" y="1573726"/>
            <a:chExt cx="3744416" cy="518298"/>
          </a:xfrm>
        </p:grpSpPr>
        <p:sp>
          <p:nvSpPr>
            <p:cNvPr id="12" name="圆角矩形 11"/>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9267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由</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string[0:n]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可见，字符串实际上是个列表</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843073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Lambda</a:t>
            </a:r>
            <a:r>
              <a:rPr lang="zh-CN" altLang="en-US" sz="2800" b="1" dirty="0">
                <a:solidFill>
                  <a:srgbClr val="0070C0"/>
                </a:solidFill>
                <a:latin typeface="微软雅黑" panose="020B0503020204020204" pitchFamily="34" charset="-122"/>
                <a:ea typeface="微软雅黑" panose="020B0503020204020204" pitchFamily="34" charset="-122"/>
              </a:rPr>
              <a:t>表达式</a:t>
            </a:r>
          </a:p>
        </p:txBody>
      </p:sp>
      <p:sp>
        <p:nvSpPr>
          <p:cNvPr id="4" name="Rectangle 4"/>
          <p:cNvSpPr>
            <a:spLocks noChangeArrowheads="1"/>
          </p:cNvSpPr>
          <p:nvPr/>
        </p:nvSpPr>
        <p:spPr bwMode="auto">
          <a:xfrm>
            <a:off x="531056" y="3146402"/>
            <a:ext cx="419021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pPr indent="0"/>
            <a:r>
              <a:rPr lang="en-US" altLang="zh-CN" sz="2800" dirty="0">
                <a:latin typeface="Times New Roman" panose="02020603050405020304" pitchFamily="18" charset="0"/>
                <a:cs typeface="Times New Roman" panose="02020603050405020304" pitchFamily="18" charset="0"/>
              </a:rPr>
              <a:t>s=lambda x,y,z:x+y+z</a:t>
            </a:r>
          </a:p>
          <a:p>
            <a:pPr indent="0"/>
            <a:r>
              <a:rPr lang="en-US" altLang="zh-CN" sz="2800" dirty="0">
                <a:latin typeface="Times New Roman" panose="02020603050405020304" pitchFamily="18" charset="0"/>
                <a:cs typeface="Times New Roman" panose="02020603050405020304" pitchFamily="18" charset="0"/>
              </a:rPr>
              <a:t>print(s(1,2,3))</a:t>
            </a:r>
          </a:p>
        </p:txBody>
      </p:sp>
      <p:sp>
        <p:nvSpPr>
          <p:cNvPr id="7" name="矩形 6"/>
          <p:cNvSpPr/>
          <p:nvPr/>
        </p:nvSpPr>
        <p:spPr>
          <a:xfrm>
            <a:off x="570328" y="906064"/>
            <a:ext cx="8153400" cy="1384995"/>
          </a:xfrm>
          <a:prstGeom prst="rect">
            <a:avLst/>
          </a:prstGeom>
        </p:spPr>
        <p:txBody>
          <a:bodyPr wrap="squar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Lambda</a:t>
            </a:r>
            <a:r>
              <a:rPr lang="zh-CN" altLang="en-US" sz="2800" b="1" dirty="0">
                <a:solidFill>
                  <a:srgbClr val="0070C0"/>
                </a:solidFill>
                <a:latin typeface="微软雅黑" panose="020B0503020204020204" pitchFamily="34" charset="-122"/>
                <a:ea typeface="微软雅黑" panose="020B0503020204020204" pitchFamily="34" charset="-122"/>
              </a:rPr>
              <a:t>表达式实际上是定义了一个匿名函数，它只可以包含一个表达式，且该表达式的计算结果为函数的返回值，但可在表达式中调用其他函数。</a:t>
            </a:r>
          </a:p>
        </p:txBody>
      </p:sp>
      <p:sp>
        <p:nvSpPr>
          <p:cNvPr id="27" name="矩形 26"/>
          <p:cNvSpPr/>
          <p:nvPr/>
        </p:nvSpPr>
        <p:spPr>
          <a:xfrm>
            <a:off x="531056" y="5996248"/>
            <a:ext cx="8231945" cy="861750"/>
          </a:xfrm>
          <a:prstGeom prst="rect">
            <a:avLst/>
          </a:prstGeom>
        </p:spPr>
        <p:txBody>
          <a:bodyPr wrap="square" lIns="121897" tIns="60948" rIns="121897" bIns="60948">
            <a:spAutoFit/>
          </a:bodyPr>
          <a:lstStyle/>
          <a:p>
            <a:pPr defTabSz="1218565">
              <a:defRPr/>
            </a:pPr>
            <a:r>
              <a:rPr lang="zh-CN" altLang="zh-CN" sz="2400" b="1" dirty="0">
                <a:solidFill>
                  <a:schemeClr val="accent1"/>
                </a:solidFill>
              </a:rPr>
              <a:t>想一想</a:t>
            </a:r>
            <a:r>
              <a:rPr lang="zh-CN" altLang="zh-CN" sz="2400" dirty="0"/>
              <a:t>：能否将求阶乘的函数改写成</a:t>
            </a:r>
            <a:r>
              <a:rPr lang="en-US" altLang="zh-CN" sz="2400" dirty="0"/>
              <a:t>Lambda</a:t>
            </a:r>
            <a:r>
              <a:rPr lang="zh-CN" altLang="zh-CN" sz="2400" dirty="0"/>
              <a:t>表达式的形式？</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集合，只能用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，不能用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2"/>
          <p:cNvSpPr txBox="1">
            <a:spLocks noChangeArrowheads="1"/>
          </p:cNvSpPr>
          <p:nvPr/>
        </p:nvSpPr>
        <p:spPr bwMode="auto">
          <a:xfrm>
            <a:off x="5895265" y="3165781"/>
            <a:ext cx="393056" cy="584775"/>
          </a:xfrm>
          <a:prstGeom prst="rect">
            <a:avLst/>
          </a:prstGeom>
          <a:solidFill>
            <a:schemeClr val="bg2"/>
          </a:solidFill>
          <a:ln>
            <a:noFill/>
          </a:ln>
        </p:spPr>
        <p:txBody>
          <a:bodyPr vert="horz" wrap="none" lIns="91440" tIns="45720" rIns="91440" bIns="45720" numCol="1" anchor="t" anchorCtr="0" compatLnSpc="1">
            <a:prstTxWarp prst="textNoShape">
              <a:avLst/>
            </a:prstTxWarp>
            <a:spAutoFit/>
          </a:bodyPr>
          <a:lstStyle/>
          <a:p>
            <a:r>
              <a:rPr lang="en-US" altLang="zh-CN" sz="3200" dirty="0"/>
              <a:t>6</a:t>
            </a:r>
            <a:endParaRPr lang="zh-CN" altLang="zh-CN" sz="3200" dirty="0"/>
          </a:p>
        </p:txBody>
      </p:sp>
      <p:sp>
        <p:nvSpPr>
          <p:cNvPr id="12" name="矩形 11"/>
          <p:cNvSpPr/>
          <p:nvPr/>
        </p:nvSpPr>
        <p:spPr>
          <a:xfrm>
            <a:off x="5281315" y="2457895"/>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
        <p:nvSpPr>
          <p:cNvPr id="8" name="矩形 7"/>
          <p:cNvSpPr/>
          <p:nvPr/>
        </p:nvSpPr>
        <p:spPr>
          <a:xfrm>
            <a:off x="456812" y="2457895"/>
            <a:ext cx="3305713"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 </a:t>
            </a:r>
            <a:r>
              <a:rPr lang="zh-CN" altLang="en-US" sz="2800" b="1" dirty="0">
                <a:solidFill>
                  <a:srgbClr val="0070C0"/>
                </a:solidFill>
                <a:latin typeface="微软雅黑" panose="020B0503020204020204" pitchFamily="34" charset="-122"/>
                <a:ea typeface="微软雅黑" panose="020B0503020204020204" pitchFamily="34" charset="-122"/>
              </a:rPr>
              <a:t>求</a:t>
            </a:r>
            <a:r>
              <a:rPr lang="en-US" altLang="zh-CN" sz="2800" b="1" dirty="0">
                <a:solidFill>
                  <a:srgbClr val="0070C0"/>
                </a:solidFill>
                <a:latin typeface="微软雅黑" panose="020B0503020204020204" pitchFamily="34" charset="-122"/>
                <a:ea typeface="微软雅黑" panose="020B0503020204020204" pitchFamily="34" charset="-122"/>
              </a:rPr>
              <a:t>3</a:t>
            </a:r>
            <a:r>
              <a:rPr lang="zh-CN" altLang="en-US" sz="2800" b="1" dirty="0">
                <a:solidFill>
                  <a:srgbClr val="0070C0"/>
                </a:solidFill>
                <a:latin typeface="微软雅黑" panose="020B0503020204020204" pitchFamily="34" charset="-122"/>
                <a:ea typeface="微软雅黑" panose="020B0503020204020204" pitchFamily="34" charset="-122"/>
              </a:rPr>
              <a:t>个数的和</a:t>
            </a:r>
          </a:p>
        </p:txBody>
      </p:sp>
      <p:grpSp>
        <p:nvGrpSpPr>
          <p:cNvPr id="9" name="组合 8"/>
          <p:cNvGrpSpPr/>
          <p:nvPr/>
        </p:nvGrpSpPr>
        <p:grpSpPr>
          <a:xfrm>
            <a:off x="434737" y="4645864"/>
            <a:ext cx="8192673" cy="951947"/>
            <a:chOff x="6339097" y="1573726"/>
            <a:chExt cx="3744416" cy="511504"/>
          </a:xfrm>
        </p:grpSpPr>
        <p:sp>
          <p:nvSpPr>
            <p:cNvPr id="10" name="圆角矩形 9"/>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3" name="矩形 12"/>
            <p:cNvSpPr/>
            <p:nvPr/>
          </p:nvSpPr>
          <p:spPr>
            <a:xfrm>
              <a:off x="6399543" y="1599350"/>
              <a:ext cx="3683970" cy="463039"/>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Lambda</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表达式冒号前的部分相当于函数的参数（输入），冒号后的部分相当于函数的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return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语句（输出）</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704990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954107"/>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类的声明和调用</a:t>
            </a:r>
          </a:p>
          <a:p>
            <a:pPr algn="ctr" defTabSz="1218565"/>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6389107" y="1794598"/>
            <a:ext cx="1929695" cy="2246769"/>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800" dirty="0"/>
              <a:t>% </a:t>
            </a:r>
          </a:p>
          <a:p>
            <a:r>
              <a:rPr lang="en-US" altLang="zh-CN" sz="2800" dirty="0"/>
              <a:t>% % </a:t>
            </a:r>
          </a:p>
          <a:p>
            <a:r>
              <a:rPr lang="en-US" altLang="zh-CN" sz="2800" dirty="0"/>
              <a:t>% % % </a:t>
            </a:r>
          </a:p>
          <a:p>
            <a:r>
              <a:rPr lang="en-US" altLang="zh-CN" sz="2800" dirty="0"/>
              <a:t>% % % % </a:t>
            </a:r>
          </a:p>
          <a:p>
            <a:r>
              <a:rPr lang="en-US" altLang="zh-CN" sz="2800" dirty="0"/>
              <a:t>* 5</a:t>
            </a:r>
            <a:endParaRPr lang="zh-CN" altLang="zh-CN" sz="2800" dirty="0"/>
          </a:p>
        </p:txBody>
      </p:sp>
      <p:sp>
        <p:nvSpPr>
          <p:cNvPr id="4" name="Rectangle 4"/>
          <p:cNvSpPr>
            <a:spLocks noChangeArrowheads="1"/>
          </p:cNvSpPr>
          <p:nvPr/>
        </p:nvSpPr>
        <p:spPr bwMode="auto">
          <a:xfrm>
            <a:off x="393895" y="1594544"/>
            <a:ext cx="5339103"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class Jzt:          #</a:t>
            </a:r>
            <a:r>
              <a:rPr lang="zh-CN" altLang="zh-CN" sz="2400" dirty="0">
                <a:latin typeface="Times New Roman" panose="02020603050405020304" pitchFamily="18" charset="0"/>
                <a:cs typeface="Times New Roman" panose="02020603050405020304" pitchFamily="18" charset="0"/>
              </a:rPr>
              <a:t>定义</a:t>
            </a:r>
            <a:r>
              <a:rPr lang="en-US" altLang="zh-CN" sz="2400" dirty="0">
                <a:latin typeface="Times New Roman" panose="02020603050405020304" pitchFamily="18" charset="0"/>
                <a:cs typeface="Times New Roman" panose="02020603050405020304" pitchFamily="18" charset="0"/>
              </a:rPr>
              <a:t>Jzt</a:t>
            </a:r>
            <a:r>
              <a:rPr lang="zh-CN" altLang="zh-CN" sz="2400" dirty="0">
                <a:latin typeface="Times New Roman" panose="02020603050405020304" pitchFamily="18" charset="0"/>
                <a:cs typeface="Times New Roman" panose="02020603050405020304" pitchFamily="18" charset="0"/>
              </a:rPr>
              <a:t>类</a:t>
            </a:r>
          </a:p>
          <a:p>
            <a:r>
              <a:rPr lang="en-US" altLang="zh-CN" sz="2400" dirty="0">
                <a:latin typeface="Times New Roman" panose="02020603050405020304" pitchFamily="18" charset="0"/>
                <a:cs typeface="Times New Roman" panose="02020603050405020304" pitchFamily="18" charset="0"/>
              </a:rPr>
              <a:t>    shape="*"       #</a:t>
            </a:r>
            <a:r>
              <a:rPr lang="zh-CN" altLang="zh-CN" sz="2400" dirty="0">
                <a:latin typeface="Times New Roman" panose="02020603050405020304" pitchFamily="18" charset="0"/>
                <a:cs typeface="Times New Roman" panose="02020603050405020304" pitchFamily="18" charset="0"/>
              </a:rPr>
              <a:t>成员变量</a:t>
            </a:r>
          </a:p>
          <a:p>
            <a:r>
              <a:rPr lang="en-US" altLang="zh-CN" sz="2400" dirty="0">
                <a:latin typeface="Times New Roman" panose="02020603050405020304" pitchFamily="18" charset="0"/>
                <a:cs typeface="Times New Roman" panose="02020603050405020304" pitchFamily="18" charset="0"/>
              </a:rPr>
              <a:t>    row=5</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def draw(</a:t>
            </a:r>
            <a:r>
              <a:rPr lang="en-US" altLang="zh-CN" sz="2400" dirty="0">
                <a:solidFill>
                  <a:schemeClr val="accent1"/>
                </a:solidFill>
                <a:latin typeface="Times New Roman" panose="02020603050405020304" pitchFamily="18" charset="0"/>
                <a:cs typeface="Times New Roman" panose="02020603050405020304" pitchFamily="18" charset="0"/>
              </a:rPr>
              <a:t>self</a:t>
            </a:r>
            <a:r>
              <a:rPr lang="en-US" altLang="zh-CN" sz="2400" dirty="0">
                <a:latin typeface="Times New Roman" panose="02020603050405020304" pitchFamily="18" charset="0"/>
                <a:cs typeface="Times New Roman" panose="02020603050405020304" pitchFamily="18" charset="0"/>
              </a:rPr>
              <a:t>,row,shape):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i in range(row):</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for j in range(-1,i):</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print(shape,end='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p=Jzt()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shape="%"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row=4</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p.draw(row,shape)   #</a:t>
            </a:r>
            <a:r>
              <a:rPr lang="zh-CN" altLang="zh-CN" sz="2400" dirty="0">
                <a:latin typeface="Times New Roman" panose="02020603050405020304" pitchFamily="18" charset="0"/>
                <a:cs typeface="Times New Roman" panose="02020603050405020304" pitchFamily="18" charset="0"/>
              </a:rPr>
              <a:t>调用类的方法</a:t>
            </a:r>
          </a:p>
          <a:p>
            <a:r>
              <a:rPr lang="en-US" altLang="zh-CN" sz="2400" dirty="0">
                <a:latin typeface="Times New Roman" panose="02020603050405020304" pitchFamily="18" charset="0"/>
                <a:cs typeface="Times New Roman" panose="02020603050405020304" pitchFamily="18" charset="0"/>
              </a:rPr>
              <a:t>print(p.shape,p.row)  #</a:t>
            </a:r>
            <a:r>
              <a:rPr lang="zh-CN" altLang="zh-CN" sz="2400" dirty="0">
                <a:latin typeface="Times New Roman" panose="02020603050405020304" pitchFamily="18" charset="0"/>
                <a:cs typeface="Times New Roman" panose="02020603050405020304" pitchFamily="18" charset="0"/>
              </a:rPr>
              <a:t>调用类的属性</a:t>
            </a:r>
          </a:p>
        </p:txBody>
      </p:sp>
      <p:sp>
        <p:nvSpPr>
          <p:cNvPr id="7" name="矩形 6"/>
          <p:cNvSpPr/>
          <p:nvPr/>
        </p:nvSpPr>
        <p:spPr>
          <a:xfrm>
            <a:off x="384259" y="1060608"/>
            <a:ext cx="5399235"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1-8] </a:t>
            </a:r>
            <a:r>
              <a:rPr lang="zh-CN" altLang="en-US" sz="2800" b="1" dirty="0">
                <a:solidFill>
                  <a:srgbClr val="0070C0"/>
                </a:solidFill>
                <a:latin typeface="微软雅黑" panose="020B0503020204020204" pitchFamily="34" charset="-122"/>
                <a:ea typeface="微软雅黑" panose="020B0503020204020204" pitchFamily="34" charset="-122"/>
              </a:rPr>
              <a:t>画金字塔</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类和对象版</a:t>
            </a:r>
            <a:r>
              <a:rPr lang="en-US" altLang="zh-CN" sz="2800" b="1" dirty="0">
                <a:solidFill>
                  <a:srgbClr val="0070C0"/>
                </a:solidFill>
                <a:latin typeface="微软雅黑" panose="020B0503020204020204" pitchFamily="34" charset="-122"/>
                <a:ea typeface="微软雅黑" panose="020B0503020204020204" pitchFamily="34" charset="-122"/>
              </a:rPr>
              <a:t>)</a:t>
            </a:r>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8" name="矩形 7"/>
          <p:cNvSpPr/>
          <p:nvPr/>
        </p:nvSpPr>
        <p:spPr>
          <a:xfrm>
            <a:off x="6543476" y="107132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24" name="组合 23"/>
          <p:cNvGrpSpPr/>
          <p:nvPr/>
        </p:nvGrpSpPr>
        <p:grpSpPr>
          <a:xfrm>
            <a:off x="2604924" y="4355198"/>
            <a:ext cx="6256147" cy="1256692"/>
            <a:chOff x="6339097" y="1573726"/>
            <a:chExt cx="3744416" cy="1257347"/>
          </a:xfrm>
        </p:grpSpPr>
        <p:sp>
          <p:nvSpPr>
            <p:cNvPr id="25" name="圆角矩形 24"/>
            <p:cNvSpPr/>
            <p:nvPr/>
          </p:nvSpPr>
          <p:spPr>
            <a:xfrm>
              <a:off x="6339097" y="1573726"/>
              <a:ext cx="3744416" cy="125734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7" name="矩形 26"/>
            <p:cNvSpPr/>
            <p:nvPr/>
          </p:nvSpPr>
          <p:spPr>
            <a:xfrm>
              <a:off x="6399543" y="1599350"/>
              <a:ext cx="3683970" cy="1231723"/>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规定类的成员函数中必须要有一个参数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self</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，而且位于参数列表的开头。这也是类的成员函数和普通函数的主要区别。</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038885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954107"/>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构造函数和析构函数</a:t>
            </a:r>
          </a:p>
          <a:p>
            <a:pPr algn="ctr" defTabSz="1218565"/>
            <a:endParaRPr lang="zh-CN" altLang="en-US" sz="2800" b="1" dirty="0">
              <a:solidFill>
                <a:srgbClr val="0070C0"/>
              </a:solidFill>
              <a:latin typeface="微软雅黑" panose="020B0503020204020204" pitchFamily="34" charset="-122"/>
              <a:ea typeface="微软雅黑" panose="020B0503020204020204" pitchFamily="34" charset="-122"/>
            </a:endParaRPr>
          </a:p>
        </p:txBody>
      </p:sp>
      <p:sp>
        <p:nvSpPr>
          <p:cNvPr id="3" name="Text Box 2"/>
          <p:cNvSpPr txBox="1">
            <a:spLocks noChangeArrowheads="1"/>
          </p:cNvSpPr>
          <p:nvPr/>
        </p:nvSpPr>
        <p:spPr bwMode="auto">
          <a:xfrm>
            <a:off x="6389106" y="2457475"/>
            <a:ext cx="1929695" cy="954107"/>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800" dirty="0"/>
              <a:t>Sixtang </a:t>
            </a:r>
            <a:r>
              <a:rPr lang="zh-CN" altLang="en-US" sz="2800" dirty="0"/>
              <a:t>说</a:t>
            </a:r>
            <a:r>
              <a:rPr lang="en-US" altLang="zh-CN" sz="2800" dirty="0"/>
              <a:t>: </a:t>
            </a:r>
            <a:r>
              <a:rPr lang="zh-CN" altLang="en-US" sz="2800" dirty="0"/>
              <a:t>我 </a:t>
            </a:r>
            <a:r>
              <a:rPr lang="en-US" altLang="zh-CN" sz="2800" dirty="0"/>
              <a:t>39 </a:t>
            </a:r>
            <a:r>
              <a:rPr lang="zh-CN" altLang="en-US" sz="2800" dirty="0"/>
              <a:t>岁。</a:t>
            </a:r>
            <a:endParaRPr lang="zh-CN" altLang="zh-CN" sz="2800" dirty="0"/>
          </a:p>
        </p:txBody>
      </p:sp>
      <p:sp>
        <p:nvSpPr>
          <p:cNvPr id="4" name="Rectangle 4"/>
          <p:cNvSpPr>
            <a:spLocks noChangeArrowheads="1"/>
          </p:cNvSpPr>
          <p:nvPr/>
        </p:nvSpPr>
        <p:spPr bwMode="auto">
          <a:xfrm>
            <a:off x="384259" y="2267818"/>
            <a:ext cx="742422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solidFill>
                  <a:schemeClr val="accent1"/>
                </a:solidFill>
                <a:latin typeface="Times New Roman" panose="02020603050405020304" pitchFamily="18" charset="0"/>
                <a:cs typeface="Times New Roman" panose="02020603050405020304" pitchFamily="18" charset="0"/>
              </a:rPr>
              <a:t>class</a:t>
            </a:r>
            <a:r>
              <a:rPr lang="en-US" altLang="zh-CN" sz="2400" dirty="0">
                <a:latin typeface="Times New Roman" panose="02020603050405020304" pitchFamily="18" charset="0"/>
                <a:cs typeface="Times New Roman" panose="02020603050405020304" pitchFamily="18" charset="0"/>
              </a:rPr>
              <a:t> people: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name =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age = 0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__weight = 0 	#</a:t>
            </a:r>
            <a:r>
              <a:rPr lang="zh-CN" altLang="zh-CN" sz="2400" dirty="0">
                <a:latin typeface="Times New Roman" panose="02020603050405020304" pitchFamily="18" charset="0"/>
                <a:cs typeface="Times New Roman" panose="02020603050405020304" pitchFamily="18" charset="0"/>
              </a:rPr>
              <a:t>定义私有属性</a:t>
            </a:r>
            <a:r>
              <a:rPr lang="en-US" altLang="zh-CN" sz="2400" dirty="0">
                <a:latin typeface="Times New Roman" panose="02020603050405020304" pitchFamily="18" charset="0"/>
                <a:cs typeface="Times New Roman" panose="02020603050405020304" pitchFamily="18" charset="0"/>
              </a:rPr>
              <a:t>   </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def </a:t>
            </a:r>
            <a:r>
              <a:rPr lang="en-US" altLang="zh-CN" sz="2400" dirty="0">
                <a:solidFill>
                  <a:schemeClr val="accent1"/>
                </a:solidFill>
                <a:latin typeface="Times New Roman" panose="02020603050405020304" pitchFamily="18" charset="0"/>
                <a:cs typeface="Times New Roman" panose="02020603050405020304" pitchFamily="18" charset="0"/>
              </a:rPr>
              <a:t>__init__(</a:t>
            </a:r>
            <a:r>
              <a:rPr lang="en-US" altLang="zh-CN" sz="2400" dirty="0">
                <a:latin typeface="Times New Roman" panose="02020603050405020304" pitchFamily="18" charset="0"/>
                <a:cs typeface="Times New Roman" panose="02020603050405020304" pitchFamily="18" charset="0"/>
              </a:rPr>
              <a:t>self,n,a,w</a:t>
            </a:r>
            <a:r>
              <a:rPr lang="en-US" altLang="zh-CN" sz="2400" dirty="0">
                <a:solidFill>
                  <a:schemeClr val="accent1"/>
                </a:solidFill>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构造函数</a:t>
            </a:r>
          </a:p>
          <a:p>
            <a:r>
              <a:rPr lang="en-US" altLang="zh-CN" sz="2400" dirty="0">
                <a:latin typeface="Times New Roman" panose="02020603050405020304" pitchFamily="18" charset="0"/>
                <a:cs typeface="Times New Roman" panose="02020603050405020304" pitchFamily="18" charset="0"/>
              </a:rPr>
              <a:t>        self.name = n	#</a:t>
            </a:r>
            <a:r>
              <a:rPr lang="zh-CN" altLang="zh-CN" sz="2400" dirty="0">
                <a:latin typeface="Times New Roman" panose="02020603050405020304" pitchFamily="18" charset="0"/>
                <a:cs typeface="Times New Roman" panose="02020603050405020304" pitchFamily="18" charset="0"/>
              </a:rPr>
              <a:t>姓名</a:t>
            </a:r>
          </a:p>
          <a:p>
            <a:r>
              <a:rPr lang="en-US" altLang="zh-CN" sz="2400" dirty="0">
                <a:latin typeface="Times New Roman" panose="02020603050405020304" pitchFamily="18" charset="0"/>
                <a:cs typeface="Times New Roman" panose="02020603050405020304" pitchFamily="18" charset="0"/>
              </a:rPr>
              <a:t>        self.age = a	#</a:t>
            </a:r>
            <a:r>
              <a:rPr lang="zh-CN" altLang="zh-CN" sz="2400" dirty="0">
                <a:latin typeface="Times New Roman" panose="02020603050405020304" pitchFamily="18" charset="0"/>
                <a:cs typeface="Times New Roman" panose="02020603050405020304" pitchFamily="18" charset="0"/>
              </a:rPr>
              <a:t>年龄</a:t>
            </a:r>
          </a:p>
          <a:p>
            <a:r>
              <a:rPr lang="en-US" altLang="zh-CN" sz="2400" dirty="0">
                <a:latin typeface="Times New Roman" panose="02020603050405020304" pitchFamily="18" charset="0"/>
                <a:cs typeface="Times New Roman" panose="02020603050405020304" pitchFamily="18" charset="0"/>
              </a:rPr>
              <a:t>        self.__weight = w</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def speak(self):</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print("%s </a:t>
            </a:r>
            <a:r>
              <a:rPr lang="zh-CN" altLang="zh-CN" sz="2400" dirty="0">
                <a:latin typeface="Times New Roman" panose="02020603050405020304" pitchFamily="18" charset="0"/>
                <a:cs typeface="Times New Roman" panose="02020603050405020304" pitchFamily="18" charset="0"/>
              </a:rPr>
              <a:t>说</a:t>
            </a:r>
            <a:r>
              <a:rPr lang="en-US" altLang="zh-CN" sz="2400" dirty="0">
                <a:latin typeface="Times New Roman" panose="02020603050405020304" pitchFamily="18" charset="0"/>
                <a:cs typeface="Times New Roman" panose="02020603050405020304" pitchFamily="18" charset="0"/>
              </a:rPr>
              <a:t>: </a:t>
            </a:r>
            <a:r>
              <a:rPr lang="zh-CN" altLang="zh-CN" sz="2400" dirty="0">
                <a:latin typeface="Times New Roman" panose="02020603050405020304" pitchFamily="18" charset="0"/>
                <a:cs typeface="Times New Roman" panose="02020603050405020304" pitchFamily="18" charset="0"/>
              </a:rPr>
              <a:t>我</a:t>
            </a:r>
            <a:r>
              <a:rPr lang="en-US" altLang="zh-CN" sz="2400" dirty="0">
                <a:latin typeface="Times New Roman" panose="02020603050405020304" pitchFamily="18" charset="0"/>
                <a:cs typeface="Times New Roman" panose="02020603050405020304" pitchFamily="18" charset="0"/>
              </a:rPr>
              <a:t> %d </a:t>
            </a:r>
            <a:r>
              <a:rPr lang="zh-CN" altLang="zh-CN" sz="2400" dirty="0">
                <a:latin typeface="Times New Roman" panose="02020603050405020304" pitchFamily="18" charset="0"/>
                <a:cs typeface="Times New Roman" panose="02020603050405020304" pitchFamily="18" charset="0"/>
              </a:rPr>
              <a:t>岁。</a:t>
            </a:r>
            <a:r>
              <a:rPr lang="en-US" altLang="zh-CN" sz="2400" dirty="0">
                <a:latin typeface="Times New Roman" panose="02020603050405020304" pitchFamily="18" charset="0"/>
                <a:cs typeface="Times New Roman" panose="02020603050405020304" pitchFamily="18" charset="0"/>
              </a:rPr>
              <a:t>" %(self.name,self.age))</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 = people('Sixtang',39,75)</a:t>
            </a:r>
            <a:endParaRPr lang="zh-CN"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p.speak() 	</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1735958"/>
            <a:ext cx="5120312"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zh-CN"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1-9] </a:t>
            </a:r>
            <a:r>
              <a:rPr lang="zh-CN" altLang="en-US" sz="2800" b="1" dirty="0">
                <a:solidFill>
                  <a:srgbClr val="0070C0"/>
                </a:solidFill>
                <a:latin typeface="微软雅黑" panose="020B0503020204020204" pitchFamily="34" charset="-122"/>
                <a:ea typeface="微软雅黑" panose="020B0503020204020204" pitchFamily="34" charset="-122"/>
              </a:rPr>
              <a:t>用构造函数初始化类</a:t>
            </a:r>
          </a:p>
        </p:txBody>
      </p:sp>
      <p:sp>
        <p:nvSpPr>
          <p:cNvPr id="8" name="矩形 7"/>
          <p:cNvSpPr/>
          <p:nvPr/>
        </p:nvSpPr>
        <p:spPr>
          <a:xfrm>
            <a:off x="6543476" y="174667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
        <p:nvSpPr>
          <p:cNvPr id="5" name="矩形 4"/>
          <p:cNvSpPr/>
          <p:nvPr/>
        </p:nvSpPr>
        <p:spPr>
          <a:xfrm>
            <a:off x="384258" y="895522"/>
            <a:ext cx="8363501" cy="830997"/>
          </a:xfrm>
          <a:prstGeom prst="rect">
            <a:avLst/>
          </a:prstGeom>
          <a:solidFill>
            <a:schemeClr val="accent1">
              <a:lumMod val="20000"/>
              <a:lumOff val="80000"/>
            </a:schemeClr>
          </a:solidFill>
        </p:spPr>
        <p:txBody>
          <a:bodyPr wrap="square">
            <a:spAutoFit/>
          </a:bodyPr>
          <a:lstStyle/>
          <a:p>
            <a:r>
              <a:rPr lang="zh-CN" altLang="zh-CN" sz="2400" dirty="0">
                <a:solidFill>
                  <a:schemeClr val="accent1"/>
                </a:solidFill>
                <a:latin typeface="微软雅黑" panose="020B0503020204020204" pitchFamily="34" charset="-122"/>
                <a:ea typeface="微软雅黑" panose="020B0503020204020204" pitchFamily="34" charset="-122"/>
              </a:rPr>
              <a:t>构造函数</a:t>
            </a:r>
            <a:r>
              <a:rPr lang="zh-CN" altLang="en-US" sz="2400" dirty="0"/>
              <a:t>：</a:t>
            </a:r>
            <a:r>
              <a:rPr lang="zh-CN" altLang="zh-CN" sz="2400" dirty="0"/>
              <a:t>用来为对象的成员变量设置初始值，或进行其他必要的初始化工作。</a:t>
            </a:r>
            <a:endParaRPr lang="zh-CN" altLang="en-US" sz="2400" dirty="0"/>
          </a:p>
        </p:txBody>
      </p:sp>
    </p:spTree>
    <p:extLst>
      <p:ext uri="{BB962C8B-B14F-4D97-AF65-F5344CB8AC3E}">
        <p14:creationId xmlns:p14="http://schemas.microsoft.com/office/powerpoint/2010/main" val="1827176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p:nvPr/>
        </p:nvSpPr>
        <p:spPr>
          <a:xfrm>
            <a:off x="411481" y="755904"/>
            <a:ext cx="8330184" cy="567842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公有属性、私有属性</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defTabSz="913765"/>
            <a:r>
              <a:rPr lang="zh-CN" altLang="en-US" sz="2600" dirty="0">
                <a:solidFill>
                  <a:schemeClr val="tx1"/>
                </a:solidFill>
                <a:latin typeface="宋体" panose="02010600030101010101" pitchFamily="2" charset="-122"/>
                <a:ea typeface="宋体" panose="02010600030101010101" pitchFamily="2" charset="-122"/>
                <a:cs typeface="Arial" panose="020B0604020202020204" pitchFamily="34" charset="0"/>
              </a:rPr>
              <a:t>公有属性</a:t>
            </a:r>
            <a:r>
              <a:rPr lang="en-US" altLang="zh-CN" sz="2600" dirty="0">
                <a:solidFill>
                  <a:schemeClr val="tx1"/>
                </a:solidFill>
                <a:latin typeface="宋体" panose="02010600030101010101" pitchFamily="2" charset="-122"/>
                <a:ea typeface="宋体" panose="02010600030101010101" pitchFamily="2" charset="-122"/>
                <a:cs typeface="Arial" panose="020B0604020202020204" pitchFamily="34" charset="0"/>
              </a:rPr>
              <a:t>: </a:t>
            </a:r>
            <a:r>
              <a:rPr lang="zh-CN" altLang="en-US" sz="2600" dirty="0">
                <a:solidFill>
                  <a:schemeClr val="tx1"/>
                </a:solidFill>
                <a:latin typeface="宋体" panose="02010600030101010101" pitchFamily="2" charset="-122"/>
                <a:ea typeface="宋体" panose="02010600030101010101" pitchFamily="2" charset="-122"/>
                <a:cs typeface="Arial" panose="020B0604020202020204" pitchFamily="34" charset="0"/>
              </a:rPr>
              <a:t>默认的都是公有属性</a:t>
            </a:r>
            <a:endParaRPr lang="en-US" altLang="zh-CN" sz="2600" dirty="0">
              <a:solidFill>
                <a:schemeClr val="tx1"/>
              </a:solidFill>
              <a:latin typeface="宋体" panose="02010600030101010101" pitchFamily="2" charset="-122"/>
              <a:ea typeface="宋体" panose="02010600030101010101" pitchFamily="2" charset="-122"/>
              <a:cs typeface="Arial" panose="020B0604020202020204" pitchFamily="34" charset="0"/>
            </a:endParaRPr>
          </a:p>
          <a:p>
            <a:pPr defTabSz="913765"/>
            <a:r>
              <a:rPr lang="zh-CN" altLang="en-US" sz="2600" dirty="0">
                <a:solidFill>
                  <a:schemeClr val="tx1"/>
                </a:solidFill>
                <a:latin typeface="宋体" panose="02010600030101010101" pitchFamily="2" charset="-122"/>
                <a:ea typeface="宋体" panose="02010600030101010101" pitchFamily="2" charset="-122"/>
                <a:cs typeface="Arial" panose="020B0604020202020204" pitchFamily="34" charset="0"/>
              </a:rPr>
              <a:t>私有属性：属性名以两个下划线开头。私有属性在类的外部不能直接被访问，需要通过调用对象的公有成员方法来访问，或者通过如下特殊方法来访问。</a:t>
            </a:r>
            <a:endParaRPr lang="en-US" altLang="zh-CN" sz="2600" dirty="0">
              <a:solidFill>
                <a:schemeClr val="tx1"/>
              </a:solidFill>
              <a:latin typeface="宋体" panose="02010600030101010101" pitchFamily="2" charset="-122"/>
              <a:ea typeface="宋体" panose="02010600030101010101" pitchFamily="2" charset="-122"/>
              <a:cs typeface="Arial" panose="020B0604020202020204" pitchFamily="34" charset="0"/>
            </a:endParaRPr>
          </a:p>
          <a:p>
            <a:pPr marL="0" indent="457200" defTabSz="913765">
              <a:lnSpc>
                <a:spcPct val="150000"/>
              </a:lnSpc>
              <a:buNone/>
            </a:pPr>
            <a:r>
              <a:rPr lang="zh-CN" altLang="en-US" sz="2400" b="1" dirty="0">
                <a:solidFill>
                  <a:schemeClr val="accent1"/>
                </a:solidFill>
              </a:rPr>
              <a:t>对象名</a:t>
            </a:r>
            <a:r>
              <a:rPr lang="en-US" altLang="zh-CN" sz="2400" b="1" dirty="0">
                <a:solidFill>
                  <a:schemeClr val="accent1"/>
                </a:solidFill>
              </a:rPr>
              <a:t>._</a:t>
            </a:r>
            <a:r>
              <a:rPr lang="zh-CN" altLang="en-US" sz="2400" b="1" dirty="0">
                <a:solidFill>
                  <a:schemeClr val="accent1"/>
                </a:solidFill>
              </a:rPr>
              <a:t>类名</a:t>
            </a:r>
            <a:r>
              <a:rPr lang="en-US" altLang="zh-CN" sz="2400" b="1" dirty="0">
                <a:solidFill>
                  <a:schemeClr val="accent1"/>
                </a:solidFill>
              </a:rPr>
              <a:t>+</a:t>
            </a:r>
            <a:r>
              <a:rPr lang="zh-CN" altLang="en-US" sz="2400" b="1" dirty="0">
                <a:solidFill>
                  <a:schemeClr val="accent1"/>
                </a:solidFill>
              </a:rPr>
              <a:t>私有成员，例如</a:t>
            </a:r>
            <a:r>
              <a:rPr lang="en-US" altLang="zh-CN" sz="2400" b="1" dirty="0">
                <a:solidFill>
                  <a:schemeClr val="accent1"/>
                </a:solidFill>
              </a:rPr>
              <a:t>:</a:t>
            </a:r>
            <a:r>
              <a:rPr lang="zh-CN" altLang="en-US" sz="2400" b="1" dirty="0">
                <a:solidFill>
                  <a:schemeClr val="accent1"/>
                </a:solidFill>
              </a:rPr>
              <a:t>   </a:t>
            </a:r>
            <a:r>
              <a:rPr lang="en-US" altLang="zh-CN" sz="2400" b="1" dirty="0">
                <a:solidFill>
                  <a:schemeClr val="accent1"/>
                </a:solidFill>
              </a:rPr>
              <a:t>car1._Car. __price</a:t>
            </a:r>
          </a:p>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公有方法、私有方法、静态方法</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buNone/>
            </a:pPr>
            <a:r>
              <a:rPr lang="zh-CN" altLang="en-US" sz="2600" b="1" dirty="0">
                <a:solidFill>
                  <a:schemeClr val="accent1"/>
                </a:solidFill>
              </a:rPr>
              <a:t>私有方法</a:t>
            </a:r>
            <a:r>
              <a:rPr lang="zh-CN" altLang="en-US" sz="2600" dirty="0">
                <a:solidFill>
                  <a:schemeClr val="tx1"/>
                </a:solidFill>
              </a:rPr>
              <a:t>的名字以两下划线开头。私有方法不能通过对象名调用，只能在属于对象的方法中通过</a:t>
            </a:r>
            <a:r>
              <a:rPr lang="en-US" altLang="zh-CN" sz="2600" dirty="0">
                <a:solidFill>
                  <a:schemeClr val="tx1"/>
                </a:solidFill>
              </a:rPr>
              <a:t>self</a:t>
            </a:r>
            <a:r>
              <a:rPr lang="zh-CN" altLang="en-US" sz="2600" dirty="0">
                <a:solidFill>
                  <a:schemeClr val="tx1"/>
                </a:solidFill>
              </a:rPr>
              <a:t>调用。</a:t>
            </a:r>
            <a:endParaRPr lang="en-US" altLang="zh-CN" sz="2600" dirty="0">
              <a:solidFill>
                <a:schemeClr val="tx1"/>
              </a:solidFill>
            </a:endParaRPr>
          </a:p>
          <a:p>
            <a:pPr marL="0" indent="457200" defTabSz="913765">
              <a:buNone/>
            </a:pPr>
            <a:r>
              <a:rPr lang="zh-CN" altLang="en-US" sz="2600" b="1" dirty="0">
                <a:solidFill>
                  <a:schemeClr val="accent1"/>
                </a:solidFill>
              </a:rPr>
              <a:t>静态方法</a:t>
            </a:r>
            <a:r>
              <a:rPr lang="zh-CN" altLang="en-US" sz="2600" dirty="0">
                <a:solidFill>
                  <a:schemeClr val="tx1"/>
                </a:solidFill>
              </a:rPr>
              <a:t>可以通过类名和对象名调用，但不能直接访问属于对象的成员，只能访问属于类的成员。</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 name="矩形 2"/>
          <p:cNvSpPr/>
          <p:nvPr/>
        </p:nvSpPr>
        <p:spPr>
          <a:xfrm>
            <a:off x="2475719" y="135374"/>
            <a:ext cx="3674404" cy="523220"/>
          </a:xfrm>
          <a:prstGeom prst="rect">
            <a:avLst/>
          </a:prstGeom>
        </p:spPr>
        <p:txBody>
          <a:bodyPr wrap="none">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1.1.4 </a:t>
            </a:r>
            <a:r>
              <a:rPr lang="zh-CN" altLang="en-US" sz="2800" b="1" dirty="0">
                <a:solidFill>
                  <a:srgbClr val="0070C0"/>
                </a:solidFill>
                <a:latin typeface="微软雅黑" panose="020B0503020204020204" pitchFamily="34" charset="-122"/>
                <a:ea typeface="微软雅黑" panose="020B0503020204020204" pitchFamily="34" charset="-122"/>
              </a:rPr>
              <a:t>类的声明和调用</a:t>
            </a:r>
          </a:p>
        </p:txBody>
      </p:sp>
    </p:spTree>
    <p:extLst>
      <p:ext uri="{BB962C8B-B14F-4D97-AF65-F5344CB8AC3E}">
        <p14:creationId xmlns:p14="http://schemas.microsoft.com/office/powerpoint/2010/main" val="1451546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集成开发环境</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513399" y="3336319"/>
              <a:ext cx="3570115"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库数据可视化</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科学计算</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主  要</a:t>
            </a:r>
            <a:endParaRPr lang="en-US" altLang="zh-CN" sz="4800" b="1" spc="200" dirty="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88" name="下箭头 87"/>
          <p:cNvSpPr/>
          <p:nvPr/>
        </p:nvSpPr>
        <p:spPr>
          <a:xfrm rot="16200000">
            <a:off x="3156224" y="2258595"/>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Sklearn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机器学习</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3200147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80">
                                          <p:stCondLst>
                                            <p:cond delay="0"/>
                                          </p:stCondLst>
                                        </p:cTn>
                                        <p:tgtEl>
                                          <p:spTgt spid="88"/>
                                        </p:tgtEl>
                                      </p:cBhvr>
                                    </p:animEffect>
                                    <p:anim calcmode="lin" valueType="num">
                                      <p:cBhvr>
                                        <p:cTn id="8" dur="1822" tmFilter="0,0; 0.14,0.36; 0.43,0.73; 0.71,0.91; 1.0,1.0">
                                          <p:stCondLst>
                                            <p:cond delay="0"/>
                                          </p:stCondLst>
                                        </p:cTn>
                                        <p:tgtEl>
                                          <p:spTgt spid="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
                                        </p:tgtEl>
                                        <p:attrNameLst>
                                          <p:attrName>ppt_y</p:attrName>
                                        </p:attrNameLst>
                                      </p:cBhvr>
                                      <p:tavLst>
                                        <p:tav tm="0" fmla="#ppt_y-sin(pi*$)/81">
                                          <p:val>
                                            <p:fltVal val="0"/>
                                          </p:val>
                                        </p:tav>
                                        <p:tav tm="100000">
                                          <p:val>
                                            <p:fltVal val="1"/>
                                          </p:val>
                                        </p:tav>
                                      </p:tavLst>
                                    </p:anim>
                                    <p:animScale>
                                      <p:cBhvr>
                                        <p:cTn id="13" dur="26">
                                          <p:stCondLst>
                                            <p:cond delay="650"/>
                                          </p:stCondLst>
                                        </p:cTn>
                                        <p:tgtEl>
                                          <p:spTgt spid="88"/>
                                        </p:tgtEl>
                                      </p:cBhvr>
                                      <p:to x="100000" y="60000"/>
                                    </p:animScale>
                                    <p:animScale>
                                      <p:cBhvr>
                                        <p:cTn id="14" dur="166" decel="50000">
                                          <p:stCondLst>
                                            <p:cond delay="676"/>
                                          </p:stCondLst>
                                        </p:cTn>
                                        <p:tgtEl>
                                          <p:spTgt spid="88"/>
                                        </p:tgtEl>
                                      </p:cBhvr>
                                      <p:to x="100000" y="100000"/>
                                    </p:animScale>
                                    <p:animScale>
                                      <p:cBhvr>
                                        <p:cTn id="15" dur="26">
                                          <p:stCondLst>
                                            <p:cond delay="1312"/>
                                          </p:stCondLst>
                                        </p:cTn>
                                        <p:tgtEl>
                                          <p:spTgt spid="88"/>
                                        </p:tgtEl>
                                      </p:cBhvr>
                                      <p:to x="100000" y="80000"/>
                                    </p:animScale>
                                    <p:animScale>
                                      <p:cBhvr>
                                        <p:cTn id="16" dur="166" decel="50000">
                                          <p:stCondLst>
                                            <p:cond delay="1338"/>
                                          </p:stCondLst>
                                        </p:cTn>
                                        <p:tgtEl>
                                          <p:spTgt spid="88"/>
                                        </p:tgtEl>
                                      </p:cBhvr>
                                      <p:to x="100000" y="100000"/>
                                    </p:animScale>
                                    <p:animScale>
                                      <p:cBhvr>
                                        <p:cTn id="17" dur="26">
                                          <p:stCondLst>
                                            <p:cond delay="1642"/>
                                          </p:stCondLst>
                                        </p:cTn>
                                        <p:tgtEl>
                                          <p:spTgt spid="88"/>
                                        </p:tgtEl>
                                      </p:cBhvr>
                                      <p:to x="100000" y="90000"/>
                                    </p:animScale>
                                    <p:animScale>
                                      <p:cBhvr>
                                        <p:cTn id="18" dur="166" decel="50000">
                                          <p:stCondLst>
                                            <p:cond delay="1668"/>
                                          </p:stCondLst>
                                        </p:cTn>
                                        <p:tgtEl>
                                          <p:spTgt spid="88"/>
                                        </p:tgtEl>
                                      </p:cBhvr>
                                      <p:to x="100000" y="100000"/>
                                    </p:animScale>
                                    <p:animScale>
                                      <p:cBhvr>
                                        <p:cTn id="19" dur="26">
                                          <p:stCondLst>
                                            <p:cond delay="1808"/>
                                          </p:stCondLst>
                                        </p:cTn>
                                        <p:tgtEl>
                                          <p:spTgt spid="88"/>
                                        </p:tgtEl>
                                      </p:cBhvr>
                                      <p:to x="100000" y="95000"/>
                                    </p:animScale>
                                    <p:animScale>
                                      <p:cBhvr>
                                        <p:cTn id="20" dur="166" decel="50000">
                                          <p:stCondLst>
                                            <p:cond delay="1834"/>
                                          </p:stCondLst>
                                        </p:cTn>
                                        <p:tgtEl>
                                          <p:spTgt spid="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Anaconda</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（一个开源的</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Python</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发行版本</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p>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用于一次性地安装</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编译器和它大量的第三方库，以及</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的集成开发环境。</a:t>
            </a:r>
            <a:r>
              <a:rPr lang="en-US" altLang="zh-CN" sz="2400" b="1" dirty="0">
                <a:solidFill>
                  <a:schemeClr val="tx1"/>
                </a:solidFill>
              </a:rPr>
              <a:t>https://www.anaconda.com/download/success</a:t>
            </a:r>
            <a:endParaRPr lang="en-US" altLang="zh-CN" sz="2200" b="1"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zh-CN" sz="2400" dirty="0">
                <a:solidFill>
                  <a:schemeClr val="accent1"/>
                </a:solidFill>
              </a:rPr>
              <a:t>常用扩展库有：</a:t>
            </a:r>
            <a:r>
              <a:rPr lang="en-US" altLang="zh-CN" sz="2400" dirty="0">
                <a:solidFill>
                  <a:schemeClr val="accent1"/>
                </a:solidFill>
              </a:rPr>
              <a:t>openpyxl</a:t>
            </a:r>
            <a:r>
              <a:rPr lang="zh-CN" altLang="zh-CN" sz="2400" dirty="0">
                <a:solidFill>
                  <a:schemeClr val="accent1"/>
                </a:solidFill>
              </a:rPr>
              <a:t>、</a:t>
            </a:r>
            <a:r>
              <a:rPr lang="en-US" altLang="zh-CN" sz="2400" dirty="0">
                <a:solidFill>
                  <a:schemeClr val="accent1"/>
                </a:solidFill>
              </a:rPr>
              <a:t>python-docx</a:t>
            </a:r>
            <a:r>
              <a:rPr lang="zh-CN" altLang="zh-CN" sz="2400" dirty="0">
                <a:solidFill>
                  <a:schemeClr val="accent1"/>
                </a:solidFill>
              </a:rPr>
              <a:t>、</a:t>
            </a:r>
            <a:r>
              <a:rPr lang="en-US" altLang="zh-CN" sz="2400" dirty="0">
                <a:solidFill>
                  <a:schemeClr val="accent1"/>
                </a:solidFill>
              </a:rPr>
              <a:t>pymssql</a:t>
            </a:r>
            <a:r>
              <a:rPr lang="zh-CN" altLang="zh-CN" sz="2400" dirty="0">
                <a:solidFill>
                  <a:schemeClr val="accent1"/>
                </a:solidFill>
              </a:rPr>
              <a:t>（用于操作</a:t>
            </a:r>
            <a:r>
              <a:rPr lang="en-US" altLang="zh-CN" sz="2400" dirty="0">
                <a:solidFill>
                  <a:schemeClr val="accent1"/>
                </a:solidFill>
              </a:rPr>
              <a:t>SQLServer</a:t>
            </a:r>
            <a:r>
              <a:rPr lang="zh-CN" altLang="zh-CN" sz="2400" dirty="0">
                <a:solidFill>
                  <a:schemeClr val="accent1"/>
                </a:solidFill>
              </a:rPr>
              <a:t>）、</a:t>
            </a:r>
            <a:r>
              <a:rPr lang="en-US" altLang="zh-CN" sz="2400" dirty="0">
                <a:solidFill>
                  <a:schemeClr val="accent1"/>
                </a:solidFill>
              </a:rPr>
              <a:t>numpy</a:t>
            </a:r>
            <a:r>
              <a:rPr lang="zh-CN" altLang="zh-CN" sz="2400" dirty="0">
                <a:solidFill>
                  <a:schemeClr val="accent1"/>
                </a:solidFill>
              </a:rPr>
              <a:t>、</a:t>
            </a:r>
            <a:r>
              <a:rPr lang="en-US" altLang="zh-CN" sz="2400" dirty="0">
                <a:solidFill>
                  <a:schemeClr val="accent1"/>
                </a:solidFill>
              </a:rPr>
              <a:t>scipy</a:t>
            </a:r>
            <a:r>
              <a:rPr lang="zh-CN" altLang="zh-CN" sz="2400" dirty="0">
                <a:solidFill>
                  <a:schemeClr val="accent1"/>
                </a:solidFill>
              </a:rPr>
              <a:t>、</a:t>
            </a:r>
            <a:r>
              <a:rPr lang="en-US" altLang="zh-CN" sz="2400" dirty="0">
                <a:solidFill>
                  <a:schemeClr val="accent1"/>
                </a:solidFill>
              </a:rPr>
              <a:t>pandas</a:t>
            </a:r>
            <a:r>
              <a:rPr lang="zh-CN" altLang="zh-CN" sz="2400" dirty="0">
                <a:solidFill>
                  <a:schemeClr val="accent1"/>
                </a:solidFill>
              </a:rPr>
              <a:t>（用于数据分析）、</a:t>
            </a:r>
            <a:r>
              <a:rPr lang="en-US" altLang="zh-CN" sz="2400" dirty="0">
                <a:solidFill>
                  <a:schemeClr val="accent1"/>
                </a:solidFill>
              </a:rPr>
              <a:t>matplotlib</a:t>
            </a:r>
            <a:r>
              <a:rPr lang="zh-CN" altLang="zh-CN" sz="2400" dirty="0">
                <a:solidFill>
                  <a:schemeClr val="accent1"/>
                </a:solidFill>
              </a:rPr>
              <a:t>（用于数据可视化）、</a:t>
            </a:r>
            <a:r>
              <a:rPr lang="en-US" altLang="zh-CN" sz="2400" dirty="0">
                <a:solidFill>
                  <a:schemeClr val="accent1"/>
                </a:solidFill>
              </a:rPr>
              <a:t>scrapy</a:t>
            </a:r>
            <a:r>
              <a:rPr lang="zh-CN" altLang="zh-CN" sz="2400" dirty="0">
                <a:solidFill>
                  <a:schemeClr val="accent1"/>
                </a:solidFill>
              </a:rPr>
              <a:t>（爬虫框架）、</a:t>
            </a:r>
            <a:r>
              <a:rPr lang="en-US" altLang="zh-CN" sz="2400" dirty="0">
                <a:solidFill>
                  <a:schemeClr val="accent1"/>
                </a:solidFill>
              </a:rPr>
              <a:t>sklearn</a:t>
            </a:r>
            <a:r>
              <a:rPr lang="zh-CN" altLang="zh-CN" sz="2400" dirty="0">
                <a:solidFill>
                  <a:schemeClr val="accent1"/>
                </a:solidFill>
              </a:rPr>
              <a:t>（用于机器学习）、</a:t>
            </a:r>
            <a:r>
              <a:rPr lang="en-US" altLang="zh-CN" sz="2400" dirty="0">
                <a:solidFill>
                  <a:schemeClr val="accent1"/>
                </a:solidFill>
              </a:rPr>
              <a:t>tensorflow</a:t>
            </a:r>
            <a:r>
              <a:rPr lang="zh-CN" altLang="zh-CN" sz="2400" dirty="0">
                <a:solidFill>
                  <a:schemeClr val="accent1"/>
                </a:solidFill>
              </a:rPr>
              <a:t>（用于深度学习）</a:t>
            </a:r>
            <a:endParaRPr lang="en-US" altLang="zh-CN" sz="2400" dirty="0">
              <a:solidFill>
                <a:schemeClr val="accent1"/>
              </a:solidFill>
            </a:endParaRPr>
          </a:p>
          <a:p>
            <a:pPr marL="0" indent="457200" defTabSz="913765">
              <a:lnSpc>
                <a:spcPct val="150000"/>
              </a:lnSpc>
              <a:buNone/>
            </a:pP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其他功能：</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）提供了包管理功能</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2</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）提供环境管理的功能，解决了多版本</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切换的问题。</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1.2 Python</a:t>
            </a:r>
            <a:r>
              <a:rPr lang="zh-CN" altLang="en-US" sz="2800" b="1" dirty="0">
                <a:solidFill>
                  <a:srgbClr val="0070C0"/>
                </a:solidFill>
                <a:latin typeface="微软雅黑" panose="020B0503020204020204" pitchFamily="34" charset="-122"/>
                <a:ea typeface="微软雅黑" panose="020B0503020204020204" pitchFamily="34" charset="-122"/>
              </a:rPr>
              <a:t>集成开发环境</a:t>
            </a:r>
          </a:p>
        </p:txBody>
      </p:sp>
    </p:spTree>
    <p:extLst>
      <p:ext uri="{BB962C8B-B14F-4D97-AF65-F5344CB8AC3E}">
        <p14:creationId xmlns:p14="http://schemas.microsoft.com/office/powerpoint/2010/main" val="245389046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1.2.2 Spyder</a:t>
            </a:r>
            <a:r>
              <a:rPr lang="zh-CN" altLang="en-US" sz="2800" b="1" dirty="0">
                <a:solidFill>
                  <a:srgbClr val="0070C0"/>
                </a:solidFill>
                <a:latin typeface="微软雅黑" panose="020B0503020204020204" pitchFamily="34" charset="-122"/>
                <a:ea typeface="微软雅黑" panose="020B0503020204020204" pitchFamily="34" charset="-122"/>
              </a:rPr>
              <a:t>集成开发环境</a:t>
            </a:r>
          </a:p>
        </p:txBody>
      </p:sp>
      <p:pic>
        <p:nvPicPr>
          <p:cNvPr id="1026" name="Picture 2" descr="Spyd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953" y="2087880"/>
            <a:ext cx="8682105"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02351" y="961907"/>
            <a:ext cx="8539298" cy="892552"/>
          </a:xfrm>
          <a:prstGeom prst="rect">
            <a:avLst/>
          </a:prstGeom>
          <a:solidFill>
            <a:schemeClr val="accent1">
              <a:lumMod val="20000"/>
              <a:lumOff val="80000"/>
            </a:schemeClr>
          </a:solidFill>
        </p:spPr>
        <p:txBody>
          <a:bodyPr wrap="square">
            <a:spAutoFit/>
          </a:bodyPr>
          <a:lstStyle/>
          <a:p>
            <a:r>
              <a:rPr lang="en-US" altLang="zh-CN" sz="2600" dirty="0">
                <a:solidFill>
                  <a:schemeClr val="accent1"/>
                </a:solidFill>
              </a:rPr>
              <a:t>Spyder</a:t>
            </a:r>
            <a:r>
              <a:rPr lang="zh-CN" altLang="zh-CN" sz="2600" dirty="0">
                <a:solidFill>
                  <a:schemeClr val="accent1"/>
                </a:solidFill>
              </a:rPr>
              <a:t>是</a:t>
            </a:r>
            <a:r>
              <a:rPr lang="en-US" altLang="zh-CN" sz="2600" dirty="0">
                <a:solidFill>
                  <a:schemeClr val="accent1"/>
                </a:solidFill>
              </a:rPr>
              <a:t>Anaconda</a:t>
            </a:r>
            <a:r>
              <a:rPr lang="zh-CN" altLang="zh-CN" sz="2600" dirty="0">
                <a:solidFill>
                  <a:schemeClr val="accent1"/>
                </a:solidFill>
              </a:rPr>
              <a:t>中一个集成开发环境</a:t>
            </a:r>
            <a:r>
              <a:rPr lang="zh-CN" altLang="en-US" sz="2600" dirty="0">
                <a:solidFill>
                  <a:schemeClr val="accent1"/>
                </a:solidFill>
              </a:rPr>
              <a:t>，既可以直接编写程序代码，又</a:t>
            </a:r>
            <a:r>
              <a:rPr lang="zh-CN" altLang="zh-CN" sz="2600" dirty="0">
                <a:solidFill>
                  <a:schemeClr val="accent1"/>
                </a:solidFill>
              </a:rPr>
              <a:t>可以在</a:t>
            </a:r>
            <a:r>
              <a:rPr lang="zh-CN" altLang="en-US" sz="2600" dirty="0">
                <a:solidFill>
                  <a:schemeClr val="accent1"/>
                </a:solidFill>
              </a:rPr>
              <a:t>右边</a:t>
            </a:r>
            <a:r>
              <a:rPr lang="en-US" altLang="zh-CN" sz="2600" dirty="0">
                <a:solidFill>
                  <a:schemeClr val="accent1"/>
                </a:solidFill>
              </a:rPr>
              <a:t>In[]</a:t>
            </a:r>
            <a:r>
              <a:rPr lang="zh-CN" altLang="en-US" sz="2600" dirty="0">
                <a:solidFill>
                  <a:schemeClr val="accent1"/>
                </a:solidFill>
              </a:rPr>
              <a:t>后面</a:t>
            </a:r>
            <a:r>
              <a:rPr lang="zh-CN" altLang="zh-CN" sz="2600" dirty="0">
                <a:solidFill>
                  <a:schemeClr val="accent1"/>
                </a:solidFill>
              </a:rPr>
              <a:t>直接输入交互式命令</a:t>
            </a:r>
            <a:endParaRPr lang="zh-CN" altLang="en-US" sz="2600" dirty="0">
              <a:solidFill>
                <a:schemeClr val="accent1"/>
              </a:solidFill>
            </a:endParaRPr>
          </a:p>
        </p:txBody>
      </p:sp>
      <p:cxnSp>
        <p:nvCxnSpPr>
          <p:cNvPr id="4" name="直接连接符 3"/>
          <p:cNvCxnSpPr/>
          <p:nvPr/>
        </p:nvCxnSpPr>
        <p:spPr>
          <a:xfrm>
            <a:off x="5532120" y="3749040"/>
            <a:ext cx="1463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287818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06908" y="893064"/>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Numpy</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Numerical Python</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）简介</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是</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的一个科学计算库，提供了大量有用的工具，如数组对象（用来表示向量、矩阵、图像等）以及线性代数函数。</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中的数组对象可以帮助实现数组中的重要操作，如矩阵转置、相乘、解方程、向量乘积和归一化。</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① ndarray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对象，这是一个具有矢量算术运算和复杂广播能力的快速且节省空间的多维数组。</a:t>
            </a:r>
          </a:p>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② 用于对整组数据进行快速运算的标准数学函数。</a:t>
            </a:r>
          </a:p>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③ 用于读写磁盘数据的工具以及用于操作内存映射文件的工具。</a:t>
            </a:r>
          </a:p>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④ 线性代数、随机数生成以及傅里叶变换功能。</a:t>
            </a: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1.3 Numpy</a:t>
            </a:r>
            <a:r>
              <a:rPr lang="zh-CN" altLang="en-US" sz="2800" b="1" dirty="0">
                <a:solidFill>
                  <a:srgbClr val="0070C0"/>
                </a:solidFill>
                <a:latin typeface="微软雅黑" panose="020B0503020204020204" pitchFamily="34" charset="-122"/>
                <a:ea typeface="微软雅黑" panose="020B0503020204020204" pitchFamily="34" charset="-122"/>
              </a:rPr>
              <a:t>库</a:t>
            </a:r>
          </a:p>
        </p:txBody>
      </p:sp>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数组</a:t>
            </a:r>
          </a:p>
        </p:txBody>
      </p:sp>
      <p:sp>
        <p:nvSpPr>
          <p:cNvPr id="3" name="Text Box 2"/>
          <p:cNvSpPr txBox="1">
            <a:spLocks noChangeArrowheads="1"/>
          </p:cNvSpPr>
          <p:nvPr/>
        </p:nvSpPr>
        <p:spPr bwMode="auto">
          <a:xfrm>
            <a:off x="5647074" y="1606062"/>
            <a:ext cx="3190175" cy="4401205"/>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800" dirty="0"/>
              <a:t>[1 2 3] </a:t>
            </a:r>
          </a:p>
          <a:p>
            <a:r>
              <a:rPr lang="en-US" altLang="zh-CN" sz="2800" dirty="0"/>
              <a:t>[[1 2]</a:t>
            </a:r>
          </a:p>
          <a:p>
            <a:r>
              <a:rPr lang="en-US" altLang="zh-CN" sz="2800" dirty="0"/>
              <a:t> [3 4]] </a:t>
            </a:r>
          </a:p>
          <a:p>
            <a:r>
              <a:rPr lang="en-US" altLang="zh-CN" sz="2800" dirty="0"/>
              <a:t>[[[2 3 4 5]]] </a:t>
            </a:r>
          </a:p>
          <a:p>
            <a:r>
              <a:rPr lang="en-US" altLang="zh-CN" sz="2800" dirty="0"/>
              <a:t>[1.+0.j 2.+0.j 3.+0.j] [0.  0.2 0.4 0.6 0.8] [ 0.   2.5  5.   7.5 10. ] </a:t>
            </a:r>
          </a:p>
          <a:p>
            <a:r>
              <a:rPr lang="en-US" altLang="zh-CN" sz="2800" dirty="0"/>
              <a:t>[[0. 0. 0. 0.]</a:t>
            </a:r>
          </a:p>
          <a:p>
            <a:r>
              <a:rPr lang="en-US" altLang="zh-CN" sz="2800" dirty="0"/>
              <a:t> [0. 0. 0. 0.]</a:t>
            </a:r>
          </a:p>
          <a:p>
            <a:r>
              <a:rPr lang="en-US" altLang="zh-CN" sz="2800" dirty="0"/>
              <a:t> [0. 0. 0. 0.]]</a:t>
            </a:r>
            <a:endParaRPr lang="zh-CN" altLang="zh-CN" sz="2800" dirty="0"/>
          </a:p>
        </p:txBody>
      </p:sp>
      <p:sp>
        <p:nvSpPr>
          <p:cNvPr id="4" name="Rectangle 4"/>
          <p:cNvSpPr>
            <a:spLocks noChangeArrowheads="1"/>
          </p:cNvSpPr>
          <p:nvPr/>
        </p:nvSpPr>
        <p:spPr bwMode="auto">
          <a:xfrm>
            <a:off x="384259" y="1952207"/>
            <a:ext cx="533910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 = np.array([1,2,3])</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b = np.array([[1,2], [3,4]])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c = np.array([2,3,4,5], ndmin = 3</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d = np.array([1,2,3], dtype = complex)</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e = np.arange(0,1,0.2) </a:t>
            </a:r>
          </a:p>
          <a:p>
            <a:r>
              <a:rPr lang="en-US" altLang="zh-CN" sz="2400" dirty="0">
                <a:latin typeface="Times New Roman" panose="02020603050405020304" pitchFamily="18" charset="0"/>
                <a:cs typeface="Times New Roman" panose="02020603050405020304" pitchFamily="18" charset="0"/>
              </a:rPr>
              <a:t>f = np.linspace(0,10,5) 		</a:t>
            </a:r>
          </a:p>
          <a:p>
            <a:r>
              <a:rPr lang="en-US" altLang="zh-CN" sz="2400" dirty="0">
                <a:latin typeface="Times New Roman" panose="02020603050405020304" pitchFamily="18" charset="0"/>
                <a:cs typeface="Times New Roman" panose="02020603050405020304" pitchFamily="18" charset="0"/>
              </a:rPr>
              <a:t>g = np.zeros((3,4)) </a:t>
            </a:r>
          </a:p>
          <a:p>
            <a:r>
              <a:rPr lang="en-US" altLang="zh-CN" sz="2400" dirty="0">
                <a:latin typeface="Times New Roman" panose="02020603050405020304" pitchFamily="18" charset="0"/>
                <a:cs typeface="Times New Roman" panose="02020603050405020304" pitchFamily="18" charset="0"/>
              </a:rPr>
              <a:t>print (a,b,c,d,e,f,g)</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1060608"/>
            <a:ext cx="502092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2-10] </a:t>
            </a:r>
            <a:r>
              <a:rPr lang="zh-CN" altLang="en-US" sz="2800" b="1" dirty="0">
                <a:solidFill>
                  <a:srgbClr val="0070C0"/>
                </a:solidFill>
                <a:latin typeface="微软雅黑" panose="020B0503020204020204" pitchFamily="34" charset="-122"/>
                <a:ea typeface="微软雅黑" panose="020B0503020204020204" pitchFamily="34" charset="-122"/>
              </a:rPr>
              <a:t>创建</a:t>
            </a:r>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数组</a:t>
            </a:r>
          </a:p>
        </p:txBody>
      </p:sp>
      <p:sp>
        <p:nvSpPr>
          <p:cNvPr id="8" name="矩形 7"/>
          <p:cNvSpPr/>
          <p:nvPr/>
        </p:nvSpPr>
        <p:spPr>
          <a:xfrm>
            <a:off x="6543476" y="1071324"/>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293474" y="6110895"/>
            <a:ext cx="5878726" cy="518028"/>
            <a:chOff x="6339097" y="1573726"/>
            <a:chExt cx="3744416" cy="518298"/>
          </a:xfrm>
        </p:grpSpPr>
        <p:sp>
          <p:nvSpPr>
            <p:cNvPr id="11" name="圆角矩形 10"/>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dtype = complex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指定元素类型为复数</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253417" y="5432326"/>
            <a:ext cx="4059503" cy="518028"/>
            <a:chOff x="6339097" y="1573726"/>
            <a:chExt cx="3744416" cy="518298"/>
          </a:xfrm>
        </p:grpSpPr>
        <p:sp>
          <p:nvSpPr>
            <p:cNvPr id="14" name="圆角矩形 13"/>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3" y="1599350"/>
              <a:ext cx="3683970" cy="492674"/>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ndmin</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指定数组的维度</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6249165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arrange()</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函数</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41325"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通过指定开始值、终值和步长来创建一维数组</a:t>
            </a: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linspace()</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函数</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通过指定开始值、终值和元素个数来创建一维数组。</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zh-CN" sz="2800" b="1" dirty="0">
                <a:solidFill>
                  <a:schemeClr val="accent1"/>
                </a:solidFill>
              </a:rPr>
              <a:t>函数</a:t>
            </a:r>
            <a:r>
              <a:rPr lang="en-US" altLang="zh-CN" sz="2800" b="1" dirty="0">
                <a:solidFill>
                  <a:schemeClr val="accent1"/>
                </a:solidFill>
              </a:rPr>
              <a:t>zeros()</a:t>
            </a:r>
            <a:r>
              <a:rPr lang="zh-CN" altLang="zh-CN" sz="2800" b="1" dirty="0">
                <a:solidFill>
                  <a:schemeClr val="accent1"/>
                </a:solidFill>
              </a:rPr>
              <a:t>可创建一个全</a:t>
            </a:r>
            <a:r>
              <a:rPr lang="en-US" altLang="zh-CN" sz="2800" b="1" dirty="0">
                <a:solidFill>
                  <a:schemeClr val="accent1"/>
                </a:solidFill>
              </a:rPr>
              <a:t>0</a:t>
            </a:r>
            <a:r>
              <a:rPr lang="zh-CN" altLang="zh-CN" sz="2800" b="1" dirty="0">
                <a:solidFill>
                  <a:schemeClr val="accent1"/>
                </a:solidFill>
              </a:rPr>
              <a:t>的数组</a:t>
            </a:r>
            <a:endParaRPr lang="en-US" altLang="zh-CN" sz="2800" b="1" dirty="0">
              <a:solidFill>
                <a:schemeClr val="accent1"/>
              </a:solidFill>
            </a:endParaRPr>
          </a:p>
          <a:p>
            <a:pPr marL="0" indent="457200" defTabSz="913765">
              <a:lnSpc>
                <a:spcPct val="150000"/>
              </a:lnSpc>
              <a:buNone/>
            </a:pPr>
            <a:r>
              <a:rPr lang="zh-CN" altLang="zh-CN" sz="2800" b="1" dirty="0">
                <a:solidFill>
                  <a:schemeClr val="accent1"/>
                </a:solidFill>
              </a:rPr>
              <a:t>函数</a:t>
            </a:r>
            <a:r>
              <a:rPr lang="en-US" altLang="zh-CN" sz="2800" b="1" dirty="0">
                <a:solidFill>
                  <a:schemeClr val="accent1"/>
                </a:solidFill>
              </a:rPr>
              <a:t>ones()</a:t>
            </a:r>
            <a:r>
              <a:rPr lang="zh-CN" altLang="zh-CN" sz="2800" b="1" dirty="0">
                <a:solidFill>
                  <a:schemeClr val="accent1"/>
                </a:solidFill>
              </a:rPr>
              <a:t>可创建一个全为</a:t>
            </a:r>
            <a:r>
              <a:rPr lang="en-US" altLang="zh-CN" sz="2800" b="1" dirty="0">
                <a:solidFill>
                  <a:schemeClr val="accent1"/>
                </a:solidFill>
              </a:rPr>
              <a:t>1</a:t>
            </a:r>
            <a:r>
              <a:rPr lang="zh-CN" altLang="zh-CN" sz="2800" b="1" dirty="0">
                <a:solidFill>
                  <a:schemeClr val="accent1"/>
                </a:solidFill>
              </a:rPr>
              <a:t>的数组</a:t>
            </a:r>
            <a:endParaRPr lang="en-US" altLang="zh-CN" sz="2800" b="1" dirty="0">
              <a:solidFill>
                <a:schemeClr val="accent1"/>
              </a:solidFill>
            </a:endParaRPr>
          </a:p>
          <a:p>
            <a:pPr marL="0" indent="457200" defTabSz="913765">
              <a:lnSpc>
                <a:spcPct val="150000"/>
              </a:lnSpc>
              <a:buNone/>
            </a:pPr>
            <a:r>
              <a:rPr lang="zh-CN" altLang="zh-CN" sz="2800" b="1" dirty="0">
                <a:solidFill>
                  <a:schemeClr val="accent1"/>
                </a:solidFill>
              </a:rPr>
              <a:t>函数</a:t>
            </a:r>
            <a:r>
              <a:rPr lang="en-US" altLang="zh-CN" sz="2800" b="1" dirty="0">
                <a:solidFill>
                  <a:schemeClr val="accent1"/>
                </a:solidFill>
              </a:rPr>
              <a:t>random()</a:t>
            </a:r>
            <a:r>
              <a:rPr lang="zh-CN" altLang="zh-CN" sz="2800" b="1" dirty="0">
                <a:solidFill>
                  <a:schemeClr val="accent1"/>
                </a:solidFill>
              </a:rPr>
              <a:t>可创建一个内容随机的数组</a:t>
            </a:r>
            <a:endParaRPr lang="en-US" altLang="zh-CN" sz="2600" b="1" dirty="0">
              <a:solidFill>
                <a:schemeClr val="accent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快速创建数组的函数</a:t>
            </a:r>
          </a:p>
        </p:txBody>
      </p:sp>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数组的形状操作</a:t>
            </a:r>
          </a:p>
        </p:txBody>
      </p:sp>
      <p:sp>
        <p:nvSpPr>
          <p:cNvPr id="3" name="Text Box 2"/>
          <p:cNvSpPr txBox="1">
            <a:spLocks noChangeArrowheads="1"/>
          </p:cNvSpPr>
          <p:nvPr/>
        </p:nvSpPr>
        <p:spPr bwMode="auto">
          <a:xfrm>
            <a:off x="5758865" y="1424044"/>
            <a:ext cx="3190175" cy="5262979"/>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[[45 35 30 28]</a:t>
            </a:r>
          </a:p>
          <a:p>
            <a:r>
              <a:rPr lang="en-US" altLang="zh-CN" sz="2400" dirty="0"/>
              <a:t> [45 16 52 63]</a:t>
            </a:r>
          </a:p>
          <a:p>
            <a:r>
              <a:rPr lang="en-US" altLang="zh-CN" sz="2400" dirty="0"/>
              <a:t> [ 6 70 20  5]]</a:t>
            </a:r>
          </a:p>
          <a:p>
            <a:r>
              <a:rPr lang="en-US" altLang="zh-CN" sz="2400" dirty="0"/>
              <a:t>(3, 4)</a:t>
            </a:r>
          </a:p>
          <a:p>
            <a:r>
              <a:rPr lang="en-US" altLang="zh-CN" sz="2400" dirty="0"/>
              <a:t>[45 35 30 28 45 16 52 63  6 70 20  5]</a:t>
            </a:r>
          </a:p>
          <a:p>
            <a:r>
              <a:rPr lang="en-US" altLang="zh-CN" sz="2400" dirty="0"/>
              <a:t>[[45 35]</a:t>
            </a:r>
          </a:p>
          <a:p>
            <a:r>
              <a:rPr lang="en-US" altLang="zh-CN" sz="2400" dirty="0"/>
              <a:t> [30 28]</a:t>
            </a:r>
          </a:p>
          <a:p>
            <a:r>
              <a:rPr lang="en-US" altLang="zh-CN" sz="2400" dirty="0"/>
              <a:t> [45 16]</a:t>
            </a:r>
          </a:p>
          <a:p>
            <a:r>
              <a:rPr lang="en-US" altLang="zh-CN" sz="2400" dirty="0"/>
              <a:t> [52 63]</a:t>
            </a:r>
          </a:p>
          <a:p>
            <a:r>
              <a:rPr lang="en-US" altLang="zh-CN" sz="2400" dirty="0"/>
              <a:t> [ 6 70]</a:t>
            </a:r>
          </a:p>
          <a:p>
            <a:r>
              <a:rPr lang="en-US" altLang="zh-CN" sz="2400" dirty="0"/>
              <a:t> [20  5]]</a:t>
            </a:r>
          </a:p>
          <a:p>
            <a:r>
              <a:rPr lang="en-US" altLang="zh-CN" sz="2400" dirty="0"/>
              <a:t>[[45 30 45 52  6 20]</a:t>
            </a:r>
          </a:p>
          <a:p>
            <a:r>
              <a:rPr lang="en-US" altLang="zh-CN" sz="2400" dirty="0"/>
              <a:t> [35 28 16 63 70  5]]</a:t>
            </a:r>
            <a:endParaRPr lang="zh-CN" altLang="zh-CN" sz="2400" dirty="0"/>
          </a:p>
        </p:txBody>
      </p:sp>
      <p:sp>
        <p:nvSpPr>
          <p:cNvPr id="4" name="Rectangle 4"/>
          <p:cNvSpPr>
            <a:spLocks noChangeArrowheads="1"/>
          </p:cNvSpPr>
          <p:nvPr/>
        </p:nvSpPr>
        <p:spPr bwMode="auto">
          <a:xfrm>
            <a:off x="384258" y="1424044"/>
            <a:ext cx="533910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a=np.int32(100*np.random.random((3,4)))		#</a:t>
            </a:r>
            <a:r>
              <a:rPr lang="zh-CN" altLang="en-US" sz="2400" dirty="0">
                <a:latin typeface="Times New Roman" panose="02020603050405020304" pitchFamily="18" charset="0"/>
                <a:cs typeface="Times New Roman" panose="02020603050405020304" pitchFamily="18" charset="0"/>
              </a:rPr>
              <a:t>创建</a:t>
            </a:r>
            <a:r>
              <a:rPr lang="en-US" altLang="zh-CN" sz="2400" dirty="0">
                <a:latin typeface="Times New Roman" panose="02020603050405020304" pitchFamily="18" charset="0"/>
                <a:cs typeface="Times New Roman" panose="02020603050405020304" pitchFamily="18" charset="0"/>
              </a:rPr>
              <a:t>3*4</a:t>
            </a:r>
            <a:r>
              <a:rPr lang="zh-CN" altLang="en-US" sz="2400" dirty="0">
                <a:latin typeface="Times New Roman" panose="02020603050405020304" pitchFamily="18" charset="0"/>
                <a:cs typeface="Times New Roman" panose="02020603050405020304" pitchFamily="18" charset="0"/>
              </a:rPr>
              <a:t>的二维数组</a:t>
            </a:r>
          </a:p>
          <a:p>
            <a:r>
              <a:rPr lang="en-US" altLang="zh-CN" sz="2400" dirty="0">
                <a:latin typeface="Times New Roman" panose="02020603050405020304" pitchFamily="18" charset="0"/>
                <a:cs typeface="Times New Roman" panose="02020603050405020304" pitchFamily="18" charset="0"/>
              </a:rPr>
              <a:t>print (a)</a:t>
            </a:r>
          </a:p>
          <a:p>
            <a:r>
              <a:rPr lang="en-US" altLang="zh-CN" sz="2400" dirty="0">
                <a:latin typeface="Times New Roman" panose="02020603050405020304" pitchFamily="18" charset="0"/>
                <a:cs typeface="Times New Roman" panose="02020603050405020304" pitchFamily="18" charset="0"/>
              </a:rPr>
              <a:t>print(a.shape)   #</a:t>
            </a:r>
            <a:r>
              <a:rPr lang="zh-CN" altLang="en-US" sz="2400" dirty="0">
                <a:latin typeface="Times New Roman" panose="02020603050405020304" pitchFamily="18" charset="0"/>
                <a:cs typeface="Times New Roman" panose="02020603050405020304" pitchFamily="18" charset="0"/>
              </a:rPr>
              <a:t>输出</a:t>
            </a:r>
            <a:r>
              <a:rPr lang="en-US" altLang="zh-CN" sz="2400" dirty="0">
                <a:latin typeface="Times New Roman" panose="02020603050405020304" pitchFamily="18" charset="0"/>
                <a:cs typeface="Times New Roman" panose="02020603050405020304" pitchFamily="18" charset="0"/>
              </a:rPr>
              <a:t>(3, 4)</a:t>
            </a:r>
          </a:p>
          <a:p>
            <a:r>
              <a:rPr lang="en-US" altLang="zh-CN" sz="2400" dirty="0">
                <a:latin typeface="Times New Roman" panose="02020603050405020304" pitchFamily="18" charset="0"/>
                <a:cs typeface="Times New Roman" panose="02020603050405020304" pitchFamily="18" charset="0"/>
              </a:rPr>
              <a:t>b=a.ravel()        #</a:t>
            </a:r>
            <a:r>
              <a:rPr lang="zh-CN" altLang="en-US" sz="2400" dirty="0">
                <a:latin typeface="Times New Roman" panose="02020603050405020304" pitchFamily="18" charset="0"/>
                <a:cs typeface="Times New Roman" panose="02020603050405020304" pitchFamily="18" charset="0"/>
              </a:rPr>
              <a:t>将数组</a:t>
            </a:r>
            <a:r>
              <a:rPr lang="en-US" altLang="zh-CN" sz="2400"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扁平化</a:t>
            </a:r>
          </a:p>
          <a:p>
            <a:r>
              <a:rPr lang="en-US" altLang="zh-CN" sz="2400" dirty="0">
                <a:latin typeface="Times New Roman" panose="02020603050405020304" pitchFamily="18" charset="0"/>
                <a:cs typeface="Times New Roman" panose="02020603050405020304" pitchFamily="18" charset="0"/>
              </a:rPr>
              <a:t>print(b)</a:t>
            </a:r>
          </a:p>
          <a:p>
            <a:r>
              <a:rPr lang="en-US" altLang="zh-CN" sz="2400" dirty="0">
                <a:latin typeface="Times New Roman" panose="02020603050405020304" pitchFamily="18" charset="0"/>
                <a:cs typeface="Times New Roman" panose="02020603050405020304" pitchFamily="18" charset="0"/>
              </a:rPr>
              <a:t>b.shape=(6,2)   #</a:t>
            </a:r>
            <a:r>
              <a:rPr lang="zh-CN" altLang="en-US" sz="2400" dirty="0">
                <a:latin typeface="Times New Roman" panose="02020603050405020304" pitchFamily="18" charset="0"/>
                <a:cs typeface="Times New Roman" panose="02020603050405020304" pitchFamily="18" charset="0"/>
              </a:rPr>
              <a:t>改变数组</a:t>
            </a:r>
            <a:r>
              <a:rPr lang="en-US" altLang="zh-CN" sz="2400" dirty="0">
                <a:latin typeface="Times New Roman" panose="02020603050405020304" pitchFamily="18" charset="0"/>
                <a:cs typeface="Times New Roman" panose="02020603050405020304" pitchFamily="18" charset="0"/>
              </a:rPr>
              <a:t>b</a:t>
            </a:r>
            <a:r>
              <a:rPr lang="zh-CN" altLang="en-US" sz="2400" dirty="0">
                <a:latin typeface="Times New Roman" panose="02020603050405020304" pitchFamily="18" charset="0"/>
                <a:cs typeface="Times New Roman" panose="02020603050405020304" pitchFamily="18" charset="0"/>
              </a:rPr>
              <a:t>的维度</a:t>
            </a:r>
          </a:p>
          <a:p>
            <a:r>
              <a:rPr lang="en-US" altLang="zh-CN" sz="2400" dirty="0">
                <a:latin typeface="Times New Roman" panose="02020603050405020304" pitchFamily="18" charset="0"/>
                <a:cs typeface="Times New Roman" panose="02020603050405020304" pitchFamily="18" charset="0"/>
              </a:rPr>
              <a:t>print (b)</a:t>
            </a:r>
          </a:p>
          <a:p>
            <a:r>
              <a:rPr lang="en-US" altLang="zh-CN" sz="2400" dirty="0">
                <a:latin typeface="Times New Roman" panose="02020603050405020304" pitchFamily="18" charset="0"/>
                <a:cs typeface="Times New Roman" panose="02020603050405020304" pitchFamily="18" charset="0"/>
              </a:rPr>
              <a:t>c=b.transpose()   #</a:t>
            </a:r>
            <a:r>
              <a:rPr lang="zh-CN" altLang="en-US" sz="2400" dirty="0">
                <a:latin typeface="Times New Roman" panose="02020603050405020304" pitchFamily="18" charset="0"/>
                <a:cs typeface="Times New Roman" panose="02020603050405020304" pitchFamily="18" charset="0"/>
              </a:rPr>
              <a:t>转置数组</a:t>
            </a:r>
            <a:r>
              <a:rPr lang="en-US" altLang="zh-CN" sz="2400" dirty="0">
                <a:latin typeface="Times New Roman" panose="02020603050405020304" pitchFamily="18" charset="0"/>
                <a:cs typeface="Times New Roman" panose="02020603050405020304" pitchFamily="18" charset="0"/>
              </a:rPr>
              <a:t>b</a:t>
            </a:r>
          </a:p>
          <a:p>
            <a:r>
              <a:rPr lang="en-US" altLang="zh-CN" sz="2400" dirty="0">
                <a:latin typeface="Times New Roman" panose="02020603050405020304" pitchFamily="18" charset="0"/>
                <a:cs typeface="Times New Roman" panose="02020603050405020304" pitchFamily="18" charset="0"/>
              </a:rPr>
              <a:t>print (c)</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623382"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1-11] </a:t>
            </a:r>
            <a:r>
              <a:rPr lang="zh-CN" altLang="en-US" sz="2800" b="1" dirty="0">
                <a:solidFill>
                  <a:srgbClr val="0070C0"/>
                </a:solidFill>
                <a:latin typeface="微软雅黑" panose="020B0503020204020204" pitchFamily="34" charset="-122"/>
                <a:ea typeface="微软雅黑" panose="020B0503020204020204" pitchFamily="34" charset="-122"/>
              </a:rPr>
              <a:t>更改数组的形状</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114446" y="5667214"/>
            <a:ext cx="5644419" cy="887362"/>
            <a:chOff x="6339097" y="1573725"/>
            <a:chExt cx="3744416" cy="887824"/>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9"/>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np.random.random()</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，前面的表示</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模块，后面是</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random()</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779520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提取数组中的行或列</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数组中的元素可以通过下标来访问。对于多维数组，每个维之间用逗号隔开。</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提取数组的行或列</a:t>
            </a:r>
          </a:p>
        </p:txBody>
      </p:sp>
      <p:graphicFrame>
        <p:nvGraphicFramePr>
          <p:cNvPr id="2" name="表格 1"/>
          <p:cNvGraphicFramePr>
            <a:graphicFrameLocks noGrp="1"/>
          </p:cNvGraphicFramePr>
          <p:nvPr>
            <p:extLst>
              <p:ext uri="{D42A27DB-BD31-4B8C-83A1-F6EECF244321}">
                <p14:modId xmlns:p14="http://schemas.microsoft.com/office/powerpoint/2010/main" val="2136767015"/>
              </p:ext>
            </p:extLst>
          </p:nvPr>
        </p:nvGraphicFramePr>
        <p:xfrm>
          <a:off x="754825" y="2784951"/>
          <a:ext cx="8008175" cy="3437639"/>
        </p:xfrm>
        <a:graphic>
          <a:graphicData uri="http://schemas.openxmlformats.org/drawingml/2006/table">
            <a:tbl>
              <a:tblPr firstRow="1" firstCol="1" bandRow="1">
                <a:tableStyleId>{5C22544A-7EE6-4342-B048-85BDC9FD1C3A}</a:tableStyleId>
              </a:tblPr>
              <a:tblGrid>
                <a:gridCol w="1242695">
                  <a:extLst>
                    <a:ext uri="{9D8B030D-6E8A-4147-A177-3AD203B41FA5}">
                      <a16:colId xmlns:a16="http://schemas.microsoft.com/office/drawing/2014/main" val="20000"/>
                    </a:ext>
                  </a:extLst>
                </a:gridCol>
                <a:gridCol w="6765480">
                  <a:extLst>
                    <a:ext uri="{9D8B030D-6E8A-4147-A177-3AD203B41FA5}">
                      <a16:colId xmlns:a16="http://schemas.microsoft.com/office/drawing/2014/main" val="20001"/>
                    </a:ext>
                  </a:extLst>
                </a:gridCol>
              </a:tblGrid>
              <a:tr h="0">
                <a:tc>
                  <a:txBody>
                    <a:bodyPr/>
                    <a:lstStyle/>
                    <a:p>
                      <a:pPr algn="ctr">
                        <a:lnSpc>
                          <a:spcPct val="150000"/>
                        </a:lnSpc>
                        <a:spcAft>
                          <a:spcPts val="0"/>
                        </a:spcAft>
                      </a:pPr>
                      <a:r>
                        <a:rPr lang="zh-CN" altLang="en-US" sz="2400" kern="100" dirty="0">
                          <a:effectLst/>
                          <a:latin typeface="Calibri"/>
                          <a:ea typeface="宋体"/>
                          <a:cs typeface="Times New Roman"/>
                        </a:rPr>
                        <a:t>形式</a:t>
                      </a:r>
                      <a:endParaRPr lang="zh-CN" sz="2400" kern="100" dirty="0">
                        <a:effectLst/>
                        <a:latin typeface="Calibri"/>
                        <a:ea typeface="宋体"/>
                        <a:cs typeface="Times New Roman"/>
                      </a:endParaRPr>
                    </a:p>
                  </a:txBody>
                  <a:tcPr marL="68580" marR="68580" marT="0" marB="0"/>
                </a:tc>
                <a:tc>
                  <a:txBody>
                    <a:bodyPr/>
                    <a:lstStyle/>
                    <a:p>
                      <a:pPr algn="ctr">
                        <a:lnSpc>
                          <a:spcPct val="150000"/>
                        </a:lnSpc>
                        <a:spcAft>
                          <a:spcPts val="0"/>
                        </a:spcAft>
                      </a:pPr>
                      <a:r>
                        <a:rPr lang="zh-CN" altLang="en-US" sz="2400" kern="100" dirty="0">
                          <a:effectLst/>
                        </a:rPr>
                        <a:t>功 能 </a:t>
                      </a:r>
                      <a:r>
                        <a:rPr lang="zh-CN" sz="2400" kern="100" dirty="0">
                          <a:effectLst/>
                        </a:rPr>
                        <a:t>描</a:t>
                      </a:r>
                      <a:r>
                        <a:rPr lang="en-US" altLang="zh-CN" sz="2400" kern="100" dirty="0">
                          <a:effectLst/>
                        </a:rPr>
                        <a:t> </a:t>
                      </a:r>
                      <a:r>
                        <a:rPr lang="zh-CN" sz="2400" kern="100" dirty="0">
                          <a:effectLst/>
                        </a:rPr>
                        <a:t>述</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algn="just">
                        <a:lnSpc>
                          <a:spcPct val="150000"/>
                        </a:lnSpc>
                        <a:spcAft>
                          <a:spcPts val="0"/>
                        </a:spcAft>
                      </a:pPr>
                      <a:r>
                        <a:rPr lang="en-US" sz="2400" kern="100" dirty="0">
                          <a:effectLst/>
                        </a:rPr>
                        <a:t>a[i]</a:t>
                      </a:r>
                      <a:endParaRPr lang="zh-CN" sz="2400" kern="100" dirty="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dirty="0">
                          <a:effectLst/>
                        </a:rPr>
                        <a:t>访问第</a:t>
                      </a:r>
                      <a:r>
                        <a:rPr lang="en-US" sz="2400" kern="100" dirty="0">
                          <a:effectLst/>
                        </a:rPr>
                        <a:t>i</a:t>
                      </a:r>
                      <a:r>
                        <a:rPr lang="zh-CN" sz="2400" kern="100" dirty="0">
                          <a:effectLst/>
                        </a:rPr>
                        <a:t>个元素，如果是二维数组，表示访问第</a:t>
                      </a:r>
                      <a:r>
                        <a:rPr lang="en-US" sz="2400" kern="100" dirty="0">
                          <a:effectLst/>
                        </a:rPr>
                        <a:t>i</a:t>
                      </a:r>
                      <a:r>
                        <a:rPr lang="zh-CN" sz="2400" kern="100" dirty="0">
                          <a:effectLst/>
                        </a:rPr>
                        <a:t>行</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algn="just">
                        <a:lnSpc>
                          <a:spcPct val="150000"/>
                        </a:lnSpc>
                        <a:spcAft>
                          <a:spcPts val="0"/>
                        </a:spcAft>
                      </a:pPr>
                      <a:r>
                        <a:rPr lang="en-US" sz="2400" kern="100" dirty="0">
                          <a:effectLst/>
                        </a:rPr>
                        <a:t>a[-i]</a:t>
                      </a:r>
                      <a:endParaRPr lang="zh-CN" sz="2400" kern="100" dirty="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a:effectLst/>
                        </a:rPr>
                        <a:t>访问倒数第</a:t>
                      </a:r>
                      <a:r>
                        <a:rPr lang="en-US" sz="2400" kern="100">
                          <a:effectLst/>
                        </a:rPr>
                        <a:t>i</a:t>
                      </a:r>
                      <a:r>
                        <a:rPr lang="zh-CN" sz="2400" kern="100">
                          <a:effectLst/>
                        </a:rPr>
                        <a:t>个元素（从后向前索引）</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0">
                <a:tc>
                  <a:txBody>
                    <a:bodyPr/>
                    <a:lstStyle/>
                    <a:p>
                      <a:pPr algn="just">
                        <a:lnSpc>
                          <a:spcPct val="150000"/>
                        </a:lnSpc>
                        <a:spcAft>
                          <a:spcPts val="0"/>
                        </a:spcAft>
                      </a:pPr>
                      <a:r>
                        <a:rPr lang="en-US" sz="2400" kern="100" dirty="0">
                          <a:effectLst/>
                        </a:rPr>
                        <a:t>a[n:m]</a:t>
                      </a:r>
                      <a:endParaRPr lang="zh-CN" sz="2400" kern="100" dirty="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a:effectLst/>
                        </a:rPr>
                        <a:t>访问第</a:t>
                      </a:r>
                      <a:r>
                        <a:rPr lang="en-US" sz="2400" kern="100">
                          <a:effectLst/>
                        </a:rPr>
                        <a:t>n</a:t>
                      </a:r>
                      <a:r>
                        <a:rPr lang="zh-CN" sz="2400" kern="100">
                          <a:effectLst/>
                        </a:rPr>
                        <a:t>到第</a:t>
                      </a:r>
                      <a:r>
                        <a:rPr lang="en-US" sz="2400" kern="100">
                          <a:effectLst/>
                        </a:rPr>
                        <a:t>m-1</a:t>
                      </a:r>
                      <a:r>
                        <a:rPr lang="zh-CN" sz="2400" kern="100">
                          <a:effectLst/>
                        </a:rPr>
                        <a:t>个元素，索引从</a:t>
                      </a:r>
                      <a:r>
                        <a:rPr lang="en-US" sz="2400" kern="100">
                          <a:effectLst/>
                        </a:rPr>
                        <a:t>0</a:t>
                      </a:r>
                      <a:r>
                        <a:rPr lang="zh-CN" sz="2400" kern="100">
                          <a:effectLst/>
                        </a:rPr>
                        <a:t>开始</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0">
                <a:tc>
                  <a:txBody>
                    <a:bodyPr/>
                    <a:lstStyle/>
                    <a:p>
                      <a:pPr algn="just">
                        <a:lnSpc>
                          <a:spcPct val="150000"/>
                        </a:lnSpc>
                        <a:spcAft>
                          <a:spcPts val="0"/>
                        </a:spcAft>
                      </a:pPr>
                      <a:r>
                        <a:rPr lang="en-US" sz="2400" kern="100" dirty="0">
                          <a:effectLst/>
                        </a:rPr>
                        <a:t>a[-n:-m]</a:t>
                      </a:r>
                      <a:endParaRPr lang="zh-CN" sz="2400" kern="100" dirty="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dirty="0">
                          <a:effectLst/>
                        </a:rPr>
                        <a:t>访问倒数第</a:t>
                      </a:r>
                      <a:r>
                        <a:rPr lang="en-US" sz="2400" kern="100" dirty="0">
                          <a:effectLst/>
                        </a:rPr>
                        <a:t>n</a:t>
                      </a:r>
                      <a:r>
                        <a:rPr lang="zh-CN" sz="2400" kern="100" dirty="0">
                          <a:effectLst/>
                        </a:rPr>
                        <a:t>到倒数第</a:t>
                      </a:r>
                      <a:r>
                        <a:rPr lang="en-US" sz="2400" kern="100" dirty="0">
                          <a:effectLst/>
                        </a:rPr>
                        <a:t>m-1</a:t>
                      </a:r>
                      <a:r>
                        <a:rPr lang="zh-CN" sz="2400" kern="100" dirty="0">
                          <a:effectLst/>
                        </a:rPr>
                        <a:t>个元素</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0">
                <a:tc>
                  <a:txBody>
                    <a:bodyPr/>
                    <a:lstStyle/>
                    <a:p>
                      <a:pPr algn="just">
                        <a:lnSpc>
                          <a:spcPct val="150000"/>
                        </a:lnSpc>
                        <a:spcAft>
                          <a:spcPts val="0"/>
                        </a:spcAft>
                      </a:pPr>
                      <a:r>
                        <a:rPr lang="en-US" sz="2400" kern="100">
                          <a:effectLst/>
                        </a:rPr>
                        <a:t>a[n:m:i]</a:t>
                      </a:r>
                      <a:endParaRPr lang="zh-CN" sz="2400" kern="10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dirty="0">
                          <a:effectLst/>
                        </a:rPr>
                        <a:t>访问第</a:t>
                      </a:r>
                      <a:r>
                        <a:rPr lang="en-US" sz="2400" kern="100" dirty="0">
                          <a:effectLst/>
                        </a:rPr>
                        <a:t>n</a:t>
                      </a:r>
                      <a:r>
                        <a:rPr lang="zh-CN" sz="2400" kern="100" dirty="0">
                          <a:effectLst/>
                        </a:rPr>
                        <a:t>到第</a:t>
                      </a:r>
                      <a:r>
                        <a:rPr lang="en-US" sz="2400" kern="100" dirty="0">
                          <a:effectLst/>
                        </a:rPr>
                        <a:t>m-1</a:t>
                      </a:r>
                      <a:r>
                        <a:rPr lang="zh-CN" sz="2400" kern="100" dirty="0">
                          <a:effectLst/>
                        </a:rPr>
                        <a:t>中步长为</a:t>
                      </a:r>
                      <a:r>
                        <a:rPr lang="en-US" sz="2400" kern="100" dirty="0">
                          <a:effectLst/>
                        </a:rPr>
                        <a:t>i</a:t>
                      </a:r>
                      <a:r>
                        <a:rPr lang="zh-CN" sz="2400" kern="100" dirty="0">
                          <a:effectLst/>
                        </a:rPr>
                        <a:t>的元素</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0">
                <a:tc>
                  <a:txBody>
                    <a:bodyPr/>
                    <a:lstStyle/>
                    <a:p>
                      <a:pPr algn="just">
                        <a:lnSpc>
                          <a:spcPct val="150000"/>
                        </a:lnSpc>
                        <a:spcAft>
                          <a:spcPts val="0"/>
                        </a:spcAft>
                      </a:pPr>
                      <a:r>
                        <a:rPr lang="en-US" sz="2400" kern="100">
                          <a:effectLst/>
                        </a:rPr>
                        <a:t>a[:,i]</a:t>
                      </a:r>
                      <a:endParaRPr lang="zh-CN" sz="2400" kern="100">
                        <a:effectLst/>
                        <a:latin typeface="Calibri"/>
                        <a:ea typeface="宋体"/>
                        <a:cs typeface="Times New Roman"/>
                      </a:endParaRPr>
                    </a:p>
                  </a:txBody>
                  <a:tcPr marL="68580" marR="68580" marT="0" marB="0"/>
                </a:tc>
                <a:tc>
                  <a:txBody>
                    <a:bodyPr/>
                    <a:lstStyle/>
                    <a:p>
                      <a:pPr algn="just">
                        <a:lnSpc>
                          <a:spcPct val="150000"/>
                        </a:lnSpc>
                        <a:spcAft>
                          <a:spcPts val="0"/>
                        </a:spcAft>
                      </a:pPr>
                      <a:r>
                        <a:rPr lang="zh-CN" sz="2400" kern="100" dirty="0">
                          <a:effectLst/>
                        </a:rPr>
                        <a:t>仅用于二维数组，表示访问第</a:t>
                      </a:r>
                      <a:r>
                        <a:rPr lang="en-US" sz="2400" kern="100" dirty="0">
                          <a:effectLst/>
                        </a:rPr>
                        <a:t>i</a:t>
                      </a:r>
                      <a:r>
                        <a:rPr lang="zh-CN" sz="2400" kern="100" dirty="0">
                          <a:effectLst/>
                        </a:rPr>
                        <a:t>列</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bl>
          </a:graphicData>
        </a:graphic>
      </p:graphicFrame>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提取数组的行或列</a:t>
            </a:r>
          </a:p>
        </p:txBody>
      </p:sp>
      <p:sp>
        <p:nvSpPr>
          <p:cNvPr id="3" name="Text Box 2"/>
          <p:cNvSpPr txBox="1">
            <a:spLocks noChangeArrowheads="1"/>
          </p:cNvSpPr>
          <p:nvPr/>
        </p:nvSpPr>
        <p:spPr bwMode="auto">
          <a:xfrm>
            <a:off x="561120" y="4313040"/>
            <a:ext cx="3347285" cy="1569660"/>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[0] [1 2] [4 3 2 1 0] [1 3]</a:t>
            </a:r>
          </a:p>
          <a:p>
            <a:r>
              <a:rPr lang="en-US" altLang="zh-CN" sz="2400" dirty="0"/>
              <a:t>[[10 11] [20 21]]</a:t>
            </a:r>
          </a:p>
          <a:p>
            <a:r>
              <a:rPr lang="en-US" altLang="zh-CN" sz="2400" dirty="0"/>
              <a:t> [[0 1 2 3]] [ 1 11 21 31] </a:t>
            </a:r>
          </a:p>
          <a:p>
            <a:r>
              <a:rPr lang="en-US" altLang="zh-CN" sz="2400" dirty="0"/>
              <a:t>[ </a:t>
            </a:r>
            <a:r>
              <a:rPr lang="en-US" altLang="zh-CN" sz="2400" dirty="0">
                <a:solidFill>
                  <a:schemeClr val="accent1"/>
                </a:solidFill>
              </a:rPr>
              <a:t>3 13 23 33</a:t>
            </a:r>
            <a:r>
              <a:rPr lang="en-US" altLang="zh-CN" sz="2400" dirty="0"/>
              <a:t>]</a:t>
            </a:r>
            <a:endParaRPr lang="zh-CN" altLang="zh-CN" sz="2400" dirty="0"/>
          </a:p>
        </p:txBody>
      </p:sp>
      <p:sp>
        <p:nvSpPr>
          <p:cNvPr id="4" name="Rectangle 4"/>
          <p:cNvSpPr>
            <a:spLocks noChangeArrowheads="1"/>
          </p:cNvSpPr>
          <p:nvPr/>
        </p:nvSpPr>
        <p:spPr bwMode="auto">
          <a:xfrm>
            <a:off x="312662" y="1394426"/>
            <a:ext cx="849605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a=np.array([0,1,2,3,4])</a:t>
            </a:r>
          </a:p>
          <a:p>
            <a:r>
              <a:rPr lang="en-US" altLang="zh-CN" sz="2400" dirty="0">
                <a:latin typeface="Times New Roman" panose="02020603050405020304" pitchFamily="18" charset="0"/>
                <a:cs typeface="Times New Roman" panose="02020603050405020304" pitchFamily="18" charset="0"/>
              </a:rPr>
              <a:t>b=np.array([[0,1,2,3],[10,11,12,13],[20,21,22,23],[30,31,32,33]])</a:t>
            </a:r>
          </a:p>
          <a:p>
            <a:r>
              <a:rPr lang="en-US" altLang="zh-CN" sz="2400" dirty="0">
                <a:latin typeface="Times New Roman" panose="02020603050405020304" pitchFamily="18" charset="0"/>
                <a:cs typeface="Times New Roman" panose="02020603050405020304" pitchFamily="18" charset="0"/>
              </a:rPr>
              <a:t>print(a[:1],a[1:3],a[::-1],a[1:-1:2],)</a:t>
            </a:r>
          </a:p>
          <a:p>
            <a:r>
              <a:rPr lang="en-US" altLang="zh-CN" sz="2400" dirty="0">
                <a:latin typeface="Times New Roman" panose="02020603050405020304" pitchFamily="18" charset="0"/>
                <a:cs typeface="Times New Roman" panose="02020603050405020304" pitchFamily="18" charset="0"/>
              </a:rPr>
              <a:t>print(b[1:-1,:2],b[:1],b[:,1],b[:,-1]) </a:t>
            </a:r>
            <a:endParaRPr lang="zh-CN" altLang="zh-CN" sz="24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98245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1-12] </a:t>
            </a:r>
            <a:r>
              <a:rPr lang="zh-CN" altLang="en-US" sz="2800" b="1" dirty="0">
                <a:solidFill>
                  <a:srgbClr val="0070C0"/>
                </a:solidFill>
                <a:latin typeface="微软雅黑" panose="020B0503020204020204" pitchFamily="34" charset="-122"/>
                <a:ea typeface="微软雅黑" panose="020B0503020204020204" pitchFamily="34" charset="-122"/>
              </a:rPr>
              <a:t>提取数组中行或列</a:t>
            </a:r>
          </a:p>
        </p:txBody>
      </p:sp>
      <p:sp>
        <p:nvSpPr>
          <p:cNvPr id="8" name="矩形 7"/>
          <p:cNvSpPr/>
          <p:nvPr/>
        </p:nvSpPr>
        <p:spPr>
          <a:xfrm>
            <a:off x="561120" y="376708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4305049" y="3901196"/>
            <a:ext cx="4283343" cy="2017344"/>
            <a:chOff x="6339097" y="1573726"/>
            <a:chExt cx="3744416" cy="1086035"/>
          </a:xfrm>
        </p:grpSpPr>
        <p:sp>
          <p:nvSpPr>
            <p:cNvPr id="11" name="圆角矩形 10"/>
            <p:cNvSpPr/>
            <p:nvPr/>
          </p:nvSpPr>
          <p:spPr>
            <a:xfrm>
              <a:off x="6339097" y="1573726"/>
              <a:ext cx="3744416" cy="1077175"/>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1060411"/>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b[:,-1])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在机器学习中特别有用，分类的数据集中，前面</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列是特征属性，而最后一列是类别属性，通过</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b[:,-1]</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就能将最后一列提取出来。</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0451908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Numpy</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矩阵：</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matrix</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库中提供了矩阵对象</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matrix</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，能够实现矩阵数据的处理，包括矩阵的计算、转置、可逆性及基本的统计功能，还包括对复数的处理。</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zh-CN" sz="2400" dirty="0">
                <a:solidFill>
                  <a:schemeClr val="accent1"/>
                </a:solidFill>
              </a:rPr>
              <a:t>矩阵对象的属性如下：</a:t>
            </a:r>
          </a:p>
          <a:p>
            <a:pPr lvl="0"/>
            <a:r>
              <a:rPr lang="en-US" altLang="zh-CN" sz="2400" dirty="0">
                <a:solidFill>
                  <a:schemeClr val="accent1"/>
                </a:solidFill>
              </a:rPr>
              <a:t>matrix.T(transpose)</a:t>
            </a:r>
            <a:r>
              <a:rPr lang="zh-CN" altLang="zh-CN" sz="2400" dirty="0">
                <a:solidFill>
                  <a:schemeClr val="accent1"/>
                </a:solidFill>
              </a:rPr>
              <a:t>：返回矩阵的转置矩阵；</a:t>
            </a:r>
          </a:p>
          <a:p>
            <a:pPr lvl="0"/>
            <a:r>
              <a:rPr lang="en-US" altLang="zh-CN" sz="2400" dirty="0">
                <a:solidFill>
                  <a:schemeClr val="accent1"/>
                </a:solidFill>
              </a:rPr>
              <a:t>matrix.H(conjugate)</a:t>
            </a:r>
            <a:r>
              <a:rPr lang="zh-CN" altLang="zh-CN" sz="2400" dirty="0">
                <a:solidFill>
                  <a:schemeClr val="accent1"/>
                </a:solidFill>
              </a:rPr>
              <a:t>：返回复数矩阵的共轭元素矩阵；</a:t>
            </a:r>
          </a:p>
          <a:p>
            <a:pPr lvl="0"/>
            <a:r>
              <a:rPr lang="en-US" altLang="zh-CN" sz="2400" dirty="0">
                <a:solidFill>
                  <a:schemeClr val="accent1"/>
                </a:solidFill>
              </a:rPr>
              <a:t>matrix.I(inverse)</a:t>
            </a:r>
            <a:r>
              <a:rPr lang="zh-CN" altLang="zh-CN" sz="2400" dirty="0">
                <a:solidFill>
                  <a:schemeClr val="accent1"/>
                </a:solidFill>
              </a:rPr>
              <a:t>：返回矩阵的逆矩阵；</a:t>
            </a:r>
          </a:p>
          <a:p>
            <a:pPr lvl="0"/>
            <a:r>
              <a:rPr lang="en-US" altLang="zh-CN" sz="2400" dirty="0">
                <a:solidFill>
                  <a:schemeClr val="accent1"/>
                </a:solidFill>
              </a:rPr>
              <a:t>matrix.A(base array)</a:t>
            </a:r>
            <a:r>
              <a:rPr lang="zh-CN" altLang="zh-CN" sz="2400" dirty="0">
                <a:solidFill>
                  <a:schemeClr val="accent1"/>
                </a:solidFill>
              </a:rPr>
              <a:t>：返回矩阵基于的数组；</a:t>
            </a: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矩阵</a:t>
            </a:r>
          </a:p>
        </p:txBody>
      </p:sp>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Numpy</a:t>
            </a:r>
            <a:r>
              <a:rPr lang="zh-CN" altLang="en-US" sz="2800" b="1" dirty="0">
                <a:solidFill>
                  <a:srgbClr val="0070C0"/>
                </a:solidFill>
                <a:latin typeface="微软雅黑" panose="020B0503020204020204" pitchFamily="34" charset="-122"/>
                <a:ea typeface="微软雅黑" panose="020B0503020204020204" pitchFamily="34" charset="-122"/>
              </a:rPr>
              <a:t>矩阵</a:t>
            </a:r>
          </a:p>
        </p:txBody>
      </p:sp>
      <p:sp>
        <p:nvSpPr>
          <p:cNvPr id="3" name="Text Box 2"/>
          <p:cNvSpPr txBox="1">
            <a:spLocks noChangeArrowheads="1"/>
          </p:cNvSpPr>
          <p:nvPr/>
        </p:nvSpPr>
        <p:spPr bwMode="auto">
          <a:xfrm>
            <a:off x="5758865" y="1424044"/>
            <a:ext cx="3190175" cy="4893647"/>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[[1 2 3] [4 5 6] [7 8 9]] [[1 3] [2 4]] </a:t>
            </a:r>
          </a:p>
          <a:p>
            <a:r>
              <a:rPr lang="en-US" altLang="zh-CN" sz="2400" dirty="0"/>
              <a:t>[[1 4 7] [2 5 8]</a:t>
            </a:r>
          </a:p>
          <a:p>
            <a:r>
              <a:rPr lang="en-US" altLang="zh-CN" sz="2400" dirty="0"/>
              <a:t> [3 6 9]] </a:t>
            </a:r>
          </a:p>
          <a:p>
            <a:r>
              <a:rPr lang="en-US" altLang="zh-CN" sz="2400" dirty="0"/>
              <a:t>[[1 4 7] [2 5 8]</a:t>
            </a:r>
          </a:p>
          <a:p>
            <a:r>
              <a:rPr lang="en-US" altLang="zh-CN" sz="2400" dirty="0"/>
              <a:t> [3 6 9]] [[-4.5e+15  9.0e+15 -4.5e+15]</a:t>
            </a:r>
          </a:p>
          <a:p>
            <a:r>
              <a:rPr lang="en-US" altLang="zh-CN" sz="2400" dirty="0"/>
              <a:t> [ 9.0e+15 -1.8e+16  9.0e+15]</a:t>
            </a:r>
          </a:p>
          <a:p>
            <a:r>
              <a:rPr lang="en-US" altLang="zh-CN" sz="2400" dirty="0"/>
              <a:t> [-4.5e+15  9.0e+15 -4.5e+15]] [[1 2 3]</a:t>
            </a:r>
          </a:p>
          <a:p>
            <a:r>
              <a:rPr lang="en-US" altLang="zh-CN" sz="2400" dirty="0"/>
              <a:t> [4 5 6] [7 8 9]]</a:t>
            </a:r>
          </a:p>
          <a:p>
            <a:r>
              <a:rPr lang="en-US" altLang="zh-CN" sz="2400" dirty="0"/>
              <a:t> [[3] [6] [9]]</a:t>
            </a:r>
            <a:endParaRPr lang="zh-CN" altLang="zh-CN" sz="2400" dirty="0"/>
          </a:p>
        </p:txBody>
      </p:sp>
      <p:sp>
        <p:nvSpPr>
          <p:cNvPr id="4" name="Rectangle 4"/>
          <p:cNvSpPr>
            <a:spLocks noChangeArrowheads="1"/>
          </p:cNvSpPr>
          <p:nvPr/>
        </p:nvSpPr>
        <p:spPr bwMode="auto">
          <a:xfrm>
            <a:off x="384257" y="1478274"/>
            <a:ext cx="533910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a=np.matrix('1 2 3;4 5 6;7 8 9')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x=np.array([[1,3],[2,4]])</a:t>
            </a:r>
          </a:p>
          <a:p>
            <a:r>
              <a:rPr lang="en-US" altLang="zh-CN" sz="2400" dirty="0">
                <a:latin typeface="Times New Roman" panose="02020603050405020304" pitchFamily="18" charset="0"/>
                <a:cs typeface="Times New Roman" panose="02020603050405020304" pitchFamily="18" charset="0"/>
              </a:rPr>
              <a:t>b=np.matrix(x)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c=a.T    #</a:t>
            </a:r>
            <a:r>
              <a:rPr lang="zh-CN" altLang="en-US" sz="2400" dirty="0">
                <a:latin typeface="Times New Roman" panose="02020603050405020304" pitchFamily="18" charset="0"/>
                <a:cs typeface="Times New Roman" panose="02020603050405020304" pitchFamily="18" charset="0"/>
              </a:rPr>
              <a:t>转置矩阵</a:t>
            </a:r>
          </a:p>
          <a:p>
            <a:r>
              <a:rPr lang="en-US" altLang="zh-CN" sz="2400" dirty="0">
                <a:latin typeface="Times New Roman" panose="02020603050405020304" pitchFamily="18" charset="0"/>
                <a:cs typeface="Times New Roman" panose="02020603050405020304" pitchFamily="18" charset="0"/>
              </a:rPr>
              <a:t>d=a.H  #</a:t>
            </a:r>
            <a:r>
              <a:rPr lang="zh-CN" altLang="en-US" sz="2400" dirty="0">
                <a:latin typeface="Times New Roman" panose="02020603050405020304" pitchFamily="18" charset="0"/>
                <a:cs typeface="Times New Roman" panose="02020603050405020304" pitchFamily="18" charset="0"/>
              </a:rPr>
              <a:t>求共轭矩阵</a:t>
            </a:r>
          </a:p>
          <a:p>
            <a:r>
              <a:rPr lang="en-US" altLang="zh-CN" sz="2400" dirty="0">
                <a:latin typeface="Times New Roman" panose="02020603050405020304" pitchFamily="18" charset="0"/>
                <a:cs typeface="Times New Roman" panose="02020603050405020304" pitchFamily="18" charset="0"/>
              </a:rPr>
              <a:t>e=a.I  #</a:t>
            </a:r>
            <a:r>
              <a:rPr lang="zh-CN" altLang="en-US" sz="2400" dirty="0">
                <a:latin typeface="Times New Roman" panose="02020603050405020304" pitchFamily="18" charset="0"/>
                <a:cs typeface="Times New Roman" panose="02020603050405020304" pitchFamily="18" charset="0"/>
              </a:rPr>
              <a:t>求逆矩阵</a:t>
            </a:r>
          </a:p>
          <a:p>
            <a:r>
              <a:rPr lang="en-US" altLang="zh-CN" sz="2400" dirty="0">
                <a:latin typeface="Times New Roman" panose="02020603050405020304" pitchFamily="18" charset="0"/>
                <a:cs typeface="Times New Roman" panose="02020603050405020304" pitchFamily="18" charset="0"/>
              </a:rPr>
              <a:t>f=a.A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g=a[:,-1]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print(a,b,c,d,e,f,g)</a:t>
            </a:r>
          </a:p>
        </p:txBody>
      </p:sp>
      <p:sp>
        <p:nvSpPr>
          <p:cNvPr id="7" name="矩形 6"/>
          <p:cNvSpPr/>
          <p:nvPr/>
        </p:nvSpPr>
        <p:spPr>
          <a:xfrm>
            <a:off x="384259" y="849242"/>
            <a:ext cx="4515980"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1-13]</a:t>
            </a:r>
            <a:r>
              <a:rPr lang="zh-CN" altLang="en-US" sz="2800" b="1" dirty="0">
                <a:solidFill>
                  <a:srgbClr val="0070C0"/>
                </a:solidFill>
                <a:latin typeface="微软雅黑" panose="020B0503020204020204" pitchFamily="34" charset="-122"/>
                <a:ea typeface="微软雅黑" panose="020B0503020204020204" pitchFamily="34" charset="-122"/>
              </a:rPr>
              <a:t>定义矩阵及操作</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114447" y="5430329"/>
            <a:ext cx="5463393" cy="887362"/>
            <a:chOff x="6339097" y="1573725"/>
            <a:chExt cx="3744416" cy="887824"/>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创建矩阵有两种方式：用字符串创建或用数组创建</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5711789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513399" y="3336319"/>
              <a:ext cx="3570115"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库数据可视化</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科学计算</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主  要</a:t>
            </a:r>
            <a:endParaRPr lang="en-US" altLang="zh-CN" sz="4800" b="1" spc="200" dirty="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88" name="下箭头 87"/>
          <p:cNvSpPr/>
          <p:nvPr/>
        </p:nvSpPr>
        <p:spPr>
          <a:xfrm rot="16200000">
            <a:off x="3095262" y="3128745"/>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Sklearn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机器学习</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3200147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80">
                                          <p:stCondLst>
                                            <p:cond delay="0"/>
                                          </p:stCondLst>
                                        </p:cTn>
                                        <p:tgtEl>
                                          <p:spTgt spid="88"/>
                                        </p:tgtEl>
                                      </p:cBhvr>
                                    </p:animEffect>
                                    <p:anim calcmode="lin" valueType="num">
                                      <p:cBhvr>
                                        <p:cTn id="8" dur="1822" tmFilter="0,0; 0.14,0.36; 0.43,0.73; 0.71,0.91; 1.0,1.0">
                                          <p:stCondLst>
                                            <p:cond delay="0"/>
                                          </p:stCondLst>
                                        </p:cTn>
                                        <p:tgtEl>
                                          <p:spTgt spid="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
                                        </p:tgtEl>
                                        <p:attrNameLst>
                                          <p:attrName>ppt_y</p:attrName>
                                        </p:attrNameLst>
                                      </p:cBhvr>
                                      <p:tavLst>
                                        <p:tav tm="0" fmla="#ppt_y-sin(pi*$)/81">
                                          <p:val>
                                            <p:fltVal val="0"/>
                                          </p:val>
                                        </p:tav>
                                        <p:tav tm="100000">
                                          <p:val>
                                            <p:fltVal val="1"/>
                                          </p:val>
                                        </p:tav>
                                      </p:tavLst>
                                    </p:anim>
                                    <p:animScale>
                                      <p:cBhvr>
                                        <p:cTn id="13" dur="26">
                                          <p:stCondLst>
                                            <p:cond delay="650"/>
                                          </p:stCondLst>
                                        </p:cTn>
                                        <p:tgtEl>
                                          <p:spTgt spid="88"/>
                                        </p:tgtEl>
                                      </p:cBhvr>
                                      <p:to x="100000" y="60000"/>
                                    </p:animScale>
                                    <p:animScale>
                                      <p:cBhvr>
                                        <p:cTn id="14" dur="166" decel="50000">
                                          <p:stCondLst>
                                            <p:cond delay="676"/>
                                          </p:stCondLst>
                                        </p:cTn>
                                        <p:tgtEl>
                                          <p:spTgt spid="88"/>
                                        </p:tgtEl>
                                      </p:cBhvr>
                                      <p:to x="100000" y="100000"/>
                                    </p:animScale>
                                    <p:animScale>
                                      <p:cBhvr>
                                        <p:cTn id="15" dur="26">
                                          <p:stCondLst>
                                            <p:cond delay="1312"/>
                                          </p:stCondLst>
                                        </p:cTn>
                                        <p:tgtEl>
                                          <p:spTgt spid="88"/>
                                        </p:tgtEl>
                                      </p:cBhvr>
                                      <p:to x="100000" y="80000"/>
                                    </p:animScale>
                                    <p:animScale>
                                      <p:cBhvr>
                                        <p:cTn id="16" dur="166" decel="50000">
                                          <p:stCondLst>
                                            <p:cond delay="1338"/>
                                          </p:stCondLst>
                                        </p:cTn>
                                        <p:tgtEl>
                                          <p:spTgt spid="88"/>
                                        </p:tgtEl>
                                      </p:cBhvr>
                                      <p:to x="100000" y="100000"/>
                                    </p:animScale>
                                    <p:animScale>
                                      <p:cBhvr>
                                        <p:cTn id="17" dur="26">
                                          <p:stCondLst>
                                            <p:cond delay="1642"/>
                                          </p:stCondLst>
                                        </p:cTn>
                                        <p:tgtEl>
                                          <p:spTgt spid="88"/>
                                        </p:tgtEl>
                                      </p:cBhvr>
                                      <p:to x="100000" y="90000"/>
                                    </p:animScale>
                                    <p:animScale>
                                      <p:cBhvr>
                                        <p:cTn id="18" dur="166" decel="50000">
                                          <p:stCondLst>
                                            <p:cond delay="1668"/>
                                          </p:stCondLst>
                                        </p:cTn>
                                        <p:tgtEl>
                                          <p:spTgt spid="88"/>
                                        </p:tgtEl>
                                      </p:cBhvr>
                                      <p:to x="100000" y="100000"/>
                                    </p:animScale>
                                    <p:animScale>
                                      <p:cBhvr>
                                        <p:cTn id="19" dur="26">
                                          <p:stCondLst>
                                            <p:cond delay="1808"/>
                                          </p:stCondLst>
                                        </p:cTn>
                                        <p:tgtEl>
                                          <p:spTgt spid="88"/>
                                        </p:tgtEl>
                                      </p:cBhvr>
                                      <p:to x="100000" y="95000"/>
                                    </p:animScale>
                                    <p:animScale>
                                      <p:cBhvr>
                                        <p:cTn id="20" dur="166" decel="50000">
                                          <p:stCondLst>
                                            <p:cond delay="1834"/>
                                          </p:stCondLst>
                                        </p:cTn>
                                        <p:tgtEl>
                                          <p:spTgt spid="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MatPlotLib</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是</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中基于面向对象编程的绘图库，能方便地设计和输出二维及三维的图形，它所绘制的图表中的每个绘图元素，如线条、文字、刻度等都对应一个对象。</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0" defTabSz="913765">
              <a:lnSpc>
                <a:spcPct val="150000"/>
              </a:lnSpc>
              <a:buNone/>
            </a:pPr>
            <a:r>
              <a:rPr lang="en-US" altLang="zh-CN" sz="2800" b="1" dirty="0">
                <a:solidFill>
                  <a:srgbClr val="0070C0"/>
                </a:solidFill>
                <a:latin typeface="Arial" panose="020B0604020202020204" pitchFamily="34" charset="0"/>
                <a:ea typeface="微软雅黑" panose="020B0503020204020204" pitchFamily="34" charset="-122"/>
                <a:cs typeface="Arial" panose="020B0604020202020204" pitchFamily="34" charset="0"/>
              </a:rPr>
              <a:t>MatPlotLib</a:t>
            </a:r>
            <a:r>
              <a:rPr lang="zh-CN" altLang="en-US" sz="2800" b="1" dirty="0">
                <a:solidFill>
                  <a:srgbClr val="0070C0"/>
                </a:solidFill>
                <a:latin typeface="Arial" panose="020B0604020202020204" pitchFamily="34" charset="0"/>
                <a:ea typeface="微软雅黑" panose="020B0503020204020204" pitchFamily="34" charset="-122"/>
                <a:cs typeface="Arial" panose="020B0604020202020204" pitchFamily="34" charset="0"/>
              </a:rPr>
              <a:t>库中主要的几个对象</a:t>
            </a:r>
            <a:endParaRPr lang="en-US" altLang="zh-CN" sz="28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 </a:t>
            </a:r>
            <a:r>
              <a:rPr lang="zh-CN" altLang="en-US" sz="2800" b="1" dirty="0">
                <a:solidFill>
                  <a:srgbClr val="0070C0"/>
                </a:solidFill>
                <a:latin typeface="微软雅黑" panose="020B0503020204020204" pitchFamily="34" charset="-122"/>
                <a:ea typeface="微软雅黑" panose="020B0503020204020204" pitchFamily="34" charset="-122"/>
              </a:rPr>
              <a:t>数据可视化</a:t>
            </a:r>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基于</a:t>
            </a:r>
            <a:r>
              <a:rPr lang="en-US" altLang="zh-CN" sz="2800" b="1" dirty="0">
                <a:solidFill>
                  <a:srgbClr val="0070C0"/>
                </a:solidFill>
                <a:latin typeface="微软雅黑" panose="020B0503020204020204" pitchFamily="34" charset="-122"/>
                <a:ea typeface="微软雅黑" panose="020B0503020204020204" pitchFamily="34" charset="-122"/>
              </a:rPr>
              <a:t>MatPlotLib</a:t>
            </a:r>
            <a:r>
              <a:rPr lang="zh-CN" altLang="en-US" sz="2800" b="1" dirty="0">
                <a:solidFill>
                  <a:srgbClr val="0070C0"/>
                </a:solidFill>
                <a:latin typeface="微软雅黑" panose="020B0503020204020204" pitchFamily="34" charset="-122"/>
                <a:ea typeface="微软雅黑" panose="020B0503020204020204" pitchFamily="34" charset="-122"/>
              </a:rPr>
              <a:t>库</a:t>
            </a:r>
          </a:p>
        </p:txBody>
      </p:sp>
      <p:sp>
        <p:nvSpPr>
          <p:cNvPr id="2" name="矩形 1"/>
          <p:cNvSpPr/>
          <p:nvPr/>
        </p:nvSpPr>
        <p:spPr>
          <a:xfrm>
            <a:off x="411481" y="3449674"/>
            <a:ext cx="8162545" cy="2796407"/>
          </a:xfrm>
          <a:prstGeom prst="rect">
            <a:avLst/>
          </a:prstGeom>
        </p:spPr>
        <p:txBody>
          <a:bodyPr wrap="square">
            <a:spAutoFit/>
          </a:bodyPr>
          <a:lstStyle/>
          <a:p>
            <a:pPr marL="342900" lvl="0" indent="-342900">
              <a:lnSpc>
                <a:spcPct val="150000"/>
              </a:lnSpc>
              <a:buFont typeface="Arial" panose="020B0604020202020204" pitchFamily="34" charset="0"/>
              <a:buChar char="•"/>
            </a:pP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整个图形即是一个</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Figure</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对象，即一个弹出的绘图的窗口，便是一个</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Figure</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p>
          <a:p>
            <a:pPr marL="342900" lvl="0" indent="-342900">
              <a:lnSpc>
                <a:spcPct val="150000"/>
              </a:lnSpc>
              <a:buFont typeface="Arial" panose="020B0604020202020204" pitchFamily="34" charset="0"/>
              <a:buChar char="•"/>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Figure</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对象至少包含一个子图，也就是</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Axes</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a:t>
            </a:r>
          </a:p>
          <a:p>
            <a:pPr marL="342900" lvl="0" indent="-342900">
              <a:lnSpc>
                <a:spcPct val="150000"/>
              </a:lnSpc>
              <a:buFont typeface="Arial" panose="020B0604020202020204" pitchFamily="34" charset="0"/>
              <a:buChar char="•"/>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Figure</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对象包含一些特殊的</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Artist</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对象，如</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title</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标题、图例</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legend</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p>
        </p:txBody>
      </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800" b="1" dirty="0">
                <a:solidFill>
                  <a:srgbClr val="0070C0"/>
                </a:solidFill>
                <a:latin typeface="Arial" panose="020B0604020202020204" pitchFamily="34" charset="0"/>
                <a:ea typeface="微软雅黑" panose="020B0503020204020204" pitchFamily="34" charset="-122"/>
                <a:cs typeface="Arial" panose="020B0604020202020204" pitchFamily="34" charset="0"/>
              </a:rPr>
              <a:t>绘图的一般步骤：</a:t>
            </a:r>
            <a:endParaRPr lang="en-US" altLang="zh-CN" sz="28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①用</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figure()</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函数创建一个绘图对象</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②用数组或序列设置</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y</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坐标值；</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③ 用</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plot()</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函数在坐标系中绘制曲线、直线或点；或者用其他函数绘制散点图、直方图等其他图形。</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MatPlotLib</a:t>
            </a:r>
            <a:r>
              <a:rPr lang="zh-CN" altLang="en-US" sz="2800" b="1" dirty="0">
                <a:solidFill>
                  <a:srgbClr val="0070C0"/>
                </a:solidFill>
                <a:latin typeface="微软雅黑" panose="020B0503020204020204" pitchFamily="34" charset="-122"/>
                <a:ea typeface="微软雅黑" panose="020B0503020204020204" pitchFamily="34" charset="-122"/>
              </a:rPr>
              <a:t>绘图的一般步骤</a:t>
            </a:r>
          </a:p>
        </p:txBody>
      </p:sp>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a:t>
            </a:r>
            <a:r>
              <a:rPr lang="zh-CN" altLang="en-US" sz="2800" b="1" dirty="0">
                <a:solidFill>
                  <a:srgbClr val="0070C0"/>
                </a:solidFill>
                <a:latin typeface="微软雅黑" panose="020B0503020204020204" pitchFamily="34" charset="-122"/>
                <a:ea typeface="微软雅黑" panose="020B0503020204020204" pitchFamily="34" charset="-122"/>
              </a:rPr>
              <a:t>绘制曲线图</a:t>
            </a:r>
          </a:p>
        </p:txBody>
      </p:sp>
      <p:sp>
        <p:nvSpPr>
          <p:cNvPr id="4" name="Rectangle 4"/>
          <p:cNvSpPr>
            <a:spLocks noChangeArrowheads="1"/>
          </p:cNvSpPr>
          <p:nvPr/>
        </p:nvSpPr>
        <p:spPr bwMode="auto">
          <a:xfrm>
            <a:off x="238737" y="1710149"/>
            <a:ext cx="5339103"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800" dirty="0">
                <a:latin typeface="Times New Roman" panose="02020603050405020304" pitchFamily="18" charset="0"/>
                <a:cs typeface="Times New Roman" panose="02020603050405020304" pitchFamily="18" charset="0"/>
              </a:rPr>
              <a:t>import numpy as np</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import matplotlib.pyplot as plt</a:t>
            </a:r>
          </a:p>
          <a:p>
            <a:r>
              <a:rPr lang="en-US" altLang="zh-CN" sz="2800" dirty="0">
                <a:latin typeface="Times New Roman" panose="02020603050405020304" pitchFamily="18" charset="0"/>
                <a:cs typeface="Times New Roman" panose="02020603050405020304" pitchFamily="18" charset="0"/>
              </a:rPr>
              <a:t>plt.figure()</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x=np.arange(-5,5,0.01)  #x</a:t>
            </a:r>
            <a:r>
              <a:rPr lang="zh-CN" altLang="en-US" sz="2800" dirty="0">
                <a:latin typeface="Times New Roman" panose="02020603050405020304" pitchFamily="18" charset="0"/>
                <a:cs typeface="Times New Roman" panose="02020603050405020304" pitchFamily="18" charset="0"/>
              </a:rPr>
              <a:t>值</a:t>
            </a:r>
          </a:p>
          <a:p>
            <a:r>
              <a:rPr lang="en-US" altLang="zh-CN" sz="2800" dirty="0">
                <a:latin typeface="Times New Roman" panose="02020603050405020304" pitchFamily="18" charset="0"/>
                <a:cs typeface="Times New Roman" panose="02020603050405020304" pitchFamily="18" charset="0"/>
              </a:rPr>
              <a:t>y=x*x     		#y</a:t>
            </a:r>
            <a:r>
              <a:rPr lang="zh-CN" altLang="en-US" sz="2800" dirty="0">
                <a:latin typeface="Times New Roman" panose="02020603050405020304" pitchFamily="18" charset="0"/>
                <a:cs typeface="Times New Roman" panose="02020603050405020304" pitchFamily="18" charset="0"/>
              </a:rPr>
              <a:t>值</a:t>
            </a:r>
          </a:p>
          <a:p>
            <a:r>
              <a:rPr lang="en-US" altLang="zh-CN" sz="2800" dirty="0">
                <a:latin typeface="Times New Roman" panose="02020603050405020304" pitchFamily="18" charset="0"/>
                <a:cs typeface="Times New Roman" panose="02020603050405020304" pitchFamily="18" charset="0"/>
              </a:rPr>
              <a:t>plt.plot(x,y,'b--')  	</a:t>
            </a:r>
            <a:endParaRPr lang="zh-CN" altLang="en-US" sz="2800" dirty="0">
              <a:latin typeface="Times New Roman" panose="02020603050405020304" pitchFamily="18" charset="0"/>
              <a:cs typeface="Times New Roman" panose="02020603050405020304" pitchFamily="18" charset="0"/>
            </a:endParaRPr>
          </a:p>
          <a:p>
            <a:r>
              <a:rPr lang="en-US" altLang="zh-CN" sz="2800" dirty="0">
                <a:latin typeface="Times New Roman" panose="02020603050405020304" pitchFamily="18" charset="0"/>
                <a:cs typeface="Times New Roman" panose="02020603050405020304" pitchFamily="18" charset="0"/>
              </a:rPr>
              <a:t>plt.show()  	#</a:t>
            </a:r>
            <a:r>
              <a:rPr lang="zh-CN" altLang="en-US" sz="2800" dirty="0">
                <a:latin typeface="Times New Roman" panose="02020603050405020304" pitchFamily="18" charset="0"/>
                <a:cs typeface="Times New Roman" panose="02020603050405020304" pitchFamily="18" charset="0"/>
              </a:rPr>
              <a:t>显示图像</a:t>
            </a:r>
            <a:endParaRPr lang="en-US" altLang="zh-CN" sz="28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63620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1-14]</a:t>
            </a:r>
            <a:r>
              <a:rPr lang="zh-CN" altLang="en-US" sz="2800" b="1" dirty="0">
                <a:solidFill>
                  <a:srgbClr val="0070C0"/>
                </a:solidFill>
                <a:latin typeface="微软雅黑" panose="020B0503020204020204" pitchFamily="34" charset="-122"/>
                <a:ea typeface="微软雅黑" panose="020B0503020204020204" pitchFamily="34" charset="-122"/>
              </a:rPr>
              <a:t>绘制</a:t>
            </a:r>
            <a:r>
              <a:rPr lang="en-US" altLang="zh-CN" sz="2800" b="1" dirty="0">
                <a:solidFill>
                  <a:srgbClr val="0070C0"/>
                </a:solidFill>
                <a:latin typeface="微软雅黑" panose="020B0503020204020204" pitchFamily="34" charset="-122"/>
                <a:ea typeface="微软雅黑" panose="020B0503020204020204" pitchFamily="34" charset="-122"/>
              </a:rPr>
              <a:t>y=x</a:t>
            </a:r>
            <a:r>
              <a:rPr lang="en-US" altLang="zh-CN" sz="2800" b="1" baseline="30000" dirty="0">
                <a:solidFill>
                  <a:srgbClr val="0070C0"/>
                </a:solidFill>
                <a:latin typeface="微软雅黑" panose="020B0503020204020204" pitchFamily="34" charset="-122"/>
                <a:ea typeface="微软雅黑" panose="020B0503020204020204" pitchFamily="34" charset="-122"/>
              </a:rPr>
              <a:t>2</a:t>
            </a:r>
            <a:r>
              <a:rPr lang="zh-CN" altLang="en-US" sz="2800" b="1" dirty="0">
                <a:solidFill>
                  <a:srgbClr val="0070C0"/>
                </a:solidFill>
                <a:latin typeface="微软雅黑" panose="020B0503020204020204" pitchFamily="34" charset="-122"/>
                <a:ea typeface="微软雅黑" panose="020B0503020204020204" pitchFamily="34" charset="-122"/>
              </a:rPr>
              <a:t>的图形</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238737" y="5430328"/>
            <a:ext cx="8679033"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plt.figure()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创建绘图对象，删除试试；</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plt.plot(x,y,‘b--’)</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前</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个参数是</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的值，第</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表示蓝色虚线</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3074" name="Picture 2" descr="ha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962" y="1874520"/>
            <a:ext cx="3759889" cy="249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78676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274321" y="807720"/>
            <a:ext cx="8357616"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设置坐标值的方法</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zh-CN" sz="2400" dirty="0">
                <a:solidFill>
                  <a:schemeClr val="tx1"/>
                </a:solidFill>
              </a:rPr>
              <a:t>二维坐标图是由很多点组成的，则可以用</a:t>
            </a:r>
            <a:r>
              <a:rPr lang="en-US" altLang="zh-CN" sz="2400" dirty="0">
                <a:solidFill>
                  <a:schemeClr val="tx1"/>
                </a:solidFill>
              </a:rPr>
              <a:t>np.arange()</a:t>
            </a:r>
            <a:r>
              <a:rPr lang="zh-CN" altLang="zh-CN" sz="2400" dirty="0">
                <a:solidFill>
                  <a:schemeClr val="tx1"/>
                </a:solidFill>
              </a:rPr>
              <a:t>函数生成一个一维数组，表示各个点的</a:t>
            </a:r>
            <a:r>
              <a:rPr lang="en-US" altLang="zh-CN" sz="2400" i="1" dirty="0">
                <a:solidFill>
                  <a:schemeClr val="tx1"/>
                </a:solidFill>
              </a:rPr>
              <a:t>x</a:t>
            </a:r>
            <a:r>
              <a:rPr lang="zh-CN" altLang="zh-CN" sz="2400" dirty="0">
                <a:solidFill>
                  <a:schemeClr val="tx1"/>
                </a:solidFill>
              </a:rPr>
              <a:t>坐标值，然后再用这些</a:t>
            </a:r>
            <a:r>
              <a:rPr lang="en-US" altLang="zh-CN" sz="2400" i="1" dirty="0">
                <a:solidFill>
                  <a:schemeClr val="tx1"/>
                </a:solidFill>
              </a:rPr>
              <a:t>x</a:t>
            </a:r>
            <a:r>
              <a:rPr lang="zh-CN" altLang="zh-CN" sz="2400" dirty="0">
                <a:solidFill>
                  <a:schemeClr val="tx1"/>
                </a:solidFill>
              </a:rPr>
              <a:t>坐标值计算</a:t>
            </a:r>
            <a:r>
              <a:rPr lang="en-US" altLang="zh-CN" sz="2400" i="1" dirty="0">
                <a:solidFill>
                  <a:schemeClr val="tx1"/>
                </a:solidFill>
              </a:rPr>
              <a:t>y</a:t>
            </a:r>
            <a:r>
              <a:rPr lang="zh-CN" altLang="zh-CN" sz="2400" dirty="0">
                <a:solidFill>
                  <a:schemeClr val="tx1"/>
                </a:solidFill>
              </a:rPr>
              <a:t>的坐标值。则</a:t>
            </a:r>
            <a:r>
              <a:rPr lang="en-US" altLang="zh-CN" sz="2400" dirty="0">
                <a:solidFill>
                  <a:schemeClr val="tx1"/>
                </a:solidFill>
              </a:rPr>
              <a:t>plot</a:t>
            </a:r>
            <a:r>
              <a:rPr lang="zh-CN" altLang="zh-CN" sz="2400" dirty="0">
                <a:solidFill>
                  <a:schemeClr val="tx1"/>
                </a:solidFill>
              </a:rPr>
              <a:t>会自动连接这些坐标点绘制出一个曲线图出来。</a:t>
            </a:r>
            <a:endParaRPr lang="en-US" altLang="zh-CN" sz="2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a:t>
            </a:r>
            <a:r>
              <a:rPr lang="zh-CN" altLang="en-US" sz="2800" b="1" dirty="0">
                <a:solidFill>
                  <a:srgbClr val="0070C0"/>
                </a:solidFill>
                <a:latin typeface="微软雅黑" panose="020B0503020204020204" pitchFamily="34" charset="-122"/>
                <a:ea typeface="微软雅黑" panose="020B0503020204020204" pitchFamily="34" charset="-122"/>
              </a:rPr>
              <a:t>绘制曲线图</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Content Placeholder 2"/>
          <p:cNvSpPr txBox="1"/>
          <p:nvPr/>
        </p:nvSpPr>
        <p:spPr>
          <a:xfrm>
            <a:off x="4823417" y="3222053"/>
            <a:ext cx="3808520" cy="3300667"/>
          </a:xfrm>
          <a:prstGeom prst="rect">
            <a:avLst/>
          </a:prstGeom>
          <a:solidFill>
            <a:schemeClr val="accent1">
              <a:lumMod val="20000"/>
              <a:lumOff val="80000"/>
            </a:schemeClr>
          </a:solidFill>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这些坐标点的数量要足够多，如果坐标点太少，绘制出的曲线图就会不够精确，例如将步长设置为</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之后，即</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x=np.arange(-5,5,1)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绘制的图形如左图所示</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4098" name="Picture 2" descr="r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554" y="3807756"/>
            <a:ext cx="4072446" cy="2714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274321" y="868680"/>
            <a:ext cx="8357616"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用</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plot()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函数在当前绘图对象中绘图</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400" dirty="0">
                <a:solidFill>
                  <a:schemeClr val="tx1"/>
                </a:solidFill>
              </a:rPr>
              <a:t>创建</a:t>
            </a:r>
            <a:r>
              <a:rPr lang="en-US" altLang="zh-CN" sz="2400" dirty="0">
                <a:solidFill>
                  <a:schemeClr val="tx1"/>
                </a:solidFill>
              </a:rPr>
              <a:t>figure</a:t>
            </a:r>
            <a:r>
              <a:rPr lang="zh-CN" altLang="en-US" sz="2400" dirty="0">
                <a:solidFill>
                  <a:schemeClr val="tx1"/>
                </a:solidFill>
              </a:rPr>
              <a:t>对象后，接下来调用</a:t>
            </a:r>
            <a:r>
              <a:rPr lang="en-US" altLang="zh-CN" sz="2400" dirty="0">
                <a:solidFill>
                  <a:schemeClr val="tx1"/>
                </a:solidFill>
              </a:rPr>
              <a:t>plot</a:t>
            </a:r>
            <a:r>
              <a:rPr lang="zh-CN" altLang="en-US" sz="2400" dirty="0">
                <a:solidFill>
                  <a:schemeClr val="tx1"/>
                </a:solidFill>
              </a:rPr>
              <a:t>函数就可在当前</a:t>
            </a:r>
            <a:r>
              <a:rPr lang="en-US" altLang="zh-CN" sz="2400" dirty="0">
                <a:solidFill>
                  <a:schemeClr val="tx1"/>
                </a:solidFill>
              </a:rPr>
              <a:t>figure</a:t>
            </a:r>
            <a:r>
              <a:rPr lang="zh-CN" altLang="en-US" sz="2400" dirty="0">
                <a:solidFill>
                  <a:schemeClr val="tx1"/>
                </a:solidFill>
              </a:rPr>
              <a:t>对象中绘图。</a:t>
            </a:r>
            <a:r>
              <a:rPr lang="en-US" altLang="zh-CN" sz="2400" dirty="0">
                <a:solidFill>
                  <a:schemeClr val="tx1"/>
                </a:solidFill>
              </a:rPr>
              <a:t>plot()</a:t>
            </a:r>
            <a:r>
              <a:rPr lang="zh-CN" altLang="en-US" sz="2400" dirty="0">
                <a:solidFill>
                  <a:schemeClr val="tx1"/>
                </a:solidFill>
              </a:rPr>
              <a:t>函数实际上是在（</a:t>
            </a:r>
            <a:r>
              <a:rPr lang="en-US" altLang="zh-CN" sz="2400" dirty="0">
                <a:solidFill>
                  <a:schemeClr val="tx1"/>
                </a:solidFill>
              </a:rPr>
              <a:t>Axes</a:t>
            </a:r>
            <a:r>
              <a:rPr lang="zh-CN" altLang="en-US" sz="2400" dirty="0">
                <a:solidFill>
                  <a:schemeClr val="tx1"/>
                </a:solidFill>
              </a:rPr>
              <a:t>）子图对象上绘图</a:t>
            </a:r>
            <a:r>
              <a:rPr lang="zh-CN" altLang="zh-CN" sz="2400" dirty="0">
                <a:solidFill>
                  <a:schemeClr val="tx1"/>
                </a:solidFill>
              </a:rPr>
              <a:t>。</a:t>
            </a:r>
            <a:r>
              <a:rPr lang="en-US" altLang="zh-CN" sz="2400" dirty="0">
                <a:solidFill>
                  <a:schemeClr val="tx1"/>
                </a:solidFill>
              </a:rPr>
              <a:t>plot()</a:t>
            </a:r>
            <a:r>
              <a:rPr lang="zh-CN" altLang="en-US" sz="2400" dirty="0">
                <a:solidFill>
                  <a:schemeClr val="tx1"/>
                </a:solidFill>
              </a:rPr>
              <a:t>函数的第</a:t>
            </a:r>
            <a:r>
              <a:rPr lang="en-US" altLang="zh-CN" sz="2400" dirty="0">
                <a:solidFill>
                  <a:schemeClr val="tx1"/>
                </a:solidFill>
              </a:rPr>
              <a:t>3</a:t>
            </a:r>
            <a:r>
              <a:rPr lang="zh-CN" altLang="en-US" sz="2400" dirty="0">
                <a:solidFill>
                  <a:schemeClr val="tx1"/>
                </a:solidFill>
              </a:rPr>
              <a:t>个参数</a:t>
            </a:r>
            <a:r>
              <a:rPr lang="en-US" altLang="zh-CN" sz="2400" dirty="0">
                <a:solidFill>
                  <a:schemeClr val="tx1"/>
                </a:solidFill>
              </a:rPr>
              <a:t>'b--'</a:t>
            </a:r>
            <a:r>
              <a:rPr lang="zh-CN" altLang="en-US" sz="2400" dirty="0">
                <a:solidFill>
                  <a:schemeClr val="tx1"/>
                </a:solidFill>
              </a:rPr>
              <a:t>用来指定线条的颜色和线型</a:t>
            </a:r>
            <a:endParaRPr lang="en-US" altLang="zh-CN" sz="2400" dirty="0">
              <a:solidFill>
                <a:schemeClr val="tx1"/>
              </a:solidFill>
            </a:endParaRPr>
          </a:p>
          <a:p>
            <a:pPr marL="0" indent="0" defTabSz="913765">
              <a:lnSpc>
                <a:spcPct val="150000"/>
              </a:lnSpc>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颜色</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0" defTabSz="913765">
              <a:lnSpc>
                <a:spcPct val="150000"/>
              </a:lnSpc>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线形</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0" defTabSz="913765">
              <a:lnSpc>
                <a:spcPct val="150000"/>
              </a:lnSpc>
              <a:buNone/>
            </a:pP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1.4.1</a:t>
            </a:r>
            <a:r>
              <a:rPr lang="zh-CN" altLang="en-US" sz="2800" b="1" dirty="0">
                <a:solidFill>
                  <a:srgbClr val="0070C0"/>
                </a:solidFill>
                <a:latin typeface="微软雅黑" panose="020B0503020204020204" pitchFamily="34" charset="-122"/>
                <a:ea typeface="微软雅黑" panose="020B0503020204020204" pitchFamily="34" charset="-122"/>
              </a:rPr>
              <a:t>绘制曲线图</a:t>
            </a:r>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3272424643"/>
              </p:ext>
            </p:extLst>
          </p:nvPr>
        </p:nvGraphicFramePr>
        <p:xfrm>
          <a:off x="1366394" y="3212592"/>
          <a:ext cx="5411470" cy="731520"/>
        </p:xfrm>
        <a:graphic>
          <a:graphicData uri="http://schemas.openxmlformats.org/drawingml/2006/table">
            <a:tbl>
              <a:tblPr firstRow="1" firstCol="1" bandRow="1">
                <a:tableStyleId>{5C22544A-7EE6-4342-B048-85BDC9FD1C3A}</a:tableStyleId>
              </a:tblPr>
              <a:tblGrid>
                <a:gridCol w="67627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gridCol w="676275">
                  <a:extLst>
                    <a:ext uri="{9D8B030D-6E8A-4147-A177-3AD203B41FA5}">
                      <a16:colId xmlns:a16="http://schemas.microsoft.com/office/drawing/2014/main" val="20002"/>
                    </a:ext>
                  </a:extLst>
                </a:gridCol>
                <a:gridCol w="676275">
                  <a:extLst>
                    <a:ext uri="{9D8B030D-6E8A-4147-A177-3AD203B41FA5}">
                      <a16:colId xmlns:a16="http://schemas.microsoft.com/office/drawing/2014/main" val="20003"/>
                    </a:ext>
                  </a:extLst>
                </a:gridCol>
                <a:gridCol w="823595">
                  <a:extLst>
                    <a:ext uri="{9D8B030D-6E8A-4147-A177-3AD203B41FA5}">
                      <a16:colId xmlns:a16="http://schemas.microsoft.com/office/drawing/2014/main" val="20004"/>
                    </a:ext>
                  </a:extLst>
                </a:gridCol>
                <a:gridCol w="528955">
                  <a:extLst>
                    <a:ext uri="{9D8B030D-6E8A-4147-A177-3AD203B41FA5}">
                      <a16:colId xmlns:a16="http://schemas.microsoft.com/office/drawing/2014/main" val="20005"/>
                    </a:ext>
                  </a:extLst>
                </a:gridCol>
                <a:gridCol w="676910">
                  <a:extLst>
                    <a:ext uri="{9D8B030D-6E8A-4147-A177-3AD203B41FA5}">
                      <a16:colId xmlns:a16="http://schemas.microsoft.com/office/drawing/2014/main" val="20006"/>
                    </a:ext>
                  </a:extLst>
                </a:gridCol>
                <a:gridCol w="676910">
                  <a:extLst>
                    <a:ext uri="{9D8B030D-6E8A-4147-A177-3AD203B41FA5}">
                      <a16:colId xmlns:a16="http://schemas.microsoft.com/office/drawing/2014/main" val="20007"/>
                    </a:ext>
                  </a:extLst>
                </a:gridCol>
              </a:tblGrid>
              <a:tr h="0">
                <a:tc>
                  <a:txBody>
                    <a:bodyPr/>
                    <a:lstStyle/>
                    <a:p>
                      <a:pPr algn="ctr">
                        <a:spcAft>
                          <a:spcPts val="0"/>
                        </a:spcAft>
                      </a:pPr>
                      <a:r>
                        <a:rPr lang="zh-CN" sz="2400" kern="100" dirty="0">
                          <a:solidFill>
                            <a:schemeClr val="accent1"/>
                          </a:solidFill>
                          <a:effectLst/>
                        </a:rPr>
                        <a:t>蓝</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绿</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红</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青</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品红</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黄</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黑</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白</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spcAft>
                          <a:spcPts val="0"/>
                        </a:spcAft>
                      </a:pPr>
                      <a:r>
                        <a:rPr lang="en-US" sz="2400" kern="100">
                          <a:solidFill>
                            <a:schemeClr val="tx1"/>
                          </a:solidFill>
                          <a:effectLst/>
                        </a:rPr>
                        <a:t>'b'</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'g'</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'r'</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'c'</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'm'</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'y'</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'k'</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tx1"/>
                          </a:solidFill>
                          <a:effectLst/>
                        </a:rPr>
                        <a:t>'w'</a:t>
                      </a:r>
                      <a:endParaRPr lang="zh-CN" sz="24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505162333"/>
              </p:ext>
            </p:extLst>
          </p:nvPr>
        </p:nvGraphicFramePr>
        <p:xfrm>
          <a:off x="578041" y="4550664"/>
          <a:ext cx="7750175" cy="1463040"/>
        </p:xfrm>
        <a:graphic>
          <a:graphicData uri="http://schemas.openxmlformats.org/drawingml/2006/table">
            <a:tbl>
              <a:tblPr firstRow="1" firstCol="1" bandRow="1">
                <a:tableStyleId>{5C22544A-7EE6-4342-B048-85BDC9FD1C3A}</a:tableStyleId>
              </a:tblPr>
              <a:tblGrid>
                <a:gridCol w="772795">
                  <a:extLst>
                    <a:ext uri="{9D8B030D-6E8A-4147-A177-3AD203B41FA5}">
                      <a16:colId xmlns:a16="http://schemas.microsoft.com/office/drawing/2014/main" val="20000"/>
                    </a:ext>
                  </a:extLst>
                </a:gridCol>
                <a:gridCol w="1094740">
                  <a:extLst>
                    <a:ext uri="{9D8B030D-6E8A-4147-A177-3AD203B41FA5}">
                      <a16:colId xmlns:a16="http://schemas.microsoft.com/office/drawing/2014/main" val="20001"/>
                    </a:ext>
                  </a:extLst>
                </a:gridCol>
                <a:gridCol w="117348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10640">
                  <a:extLst>
                    <a:ext uri="{9D8B030D-6E8A-4147-A177-3AD203B41FA5}">
                      <a16:colId xmlns:a16="http://schemas.microsoft.com/office/drawing/2014/main" val="20004"/>
                    </a:ext>
                  </a:extLst>
                </a:gridCol>
                <a:gridCol w="853440">
                  <a:extLst>
                    <a:ext uri="{9D8B030D-6E8A-4147-A177-3AD203B41FA5}">
                      <a16:colId xmlns:a16="http://schemas.microsoft.com/office/drawing/2014/main" val="20005"/>
                    </a:ext>
                  </a:extLst>
                </a:gridCol>
                <a:gridCol w="1173480">
                  <a:extLst>
                    <a:ext uri="{9D8B030D-6E8A-4147-A177-3AD203B41FA5}">
                      <a16:colId xmlns:a16="http://schemas.microsoft.com/office/drawing/2014/main" val="20006"/>
                    </a:ext>
                  </a:extLst>
                </a:gridCol>
              </a:tblGrid>
              <a:tr h="0">
                <a:tc>
                  <a:txBody>
                    <a:bodyPr/>
                    <a:lstStyle/>
                    <a:p>
                      <a:pPr algn="ctr">
                        <a:spcAft>
                          <a:spcPts val="0"/>
                        </a:spcAft>
                      </a:pPr>
                      <a:r>
                        <a:rPr lang="zh-CN" sz="2400" kern="100" dirty="0">
                          <a:solidFill>
                            <a:schemeClr val="accent1"/>
                          </a:solidFill>
                          <a:effectLst/>
                        </a:rPr>
                        <a:t>实线</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虚线</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点划线</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点线</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点标记</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星型</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圆标记</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'o'</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spcAft>
                          <a:spcPts val="0"/>
                        </a:spcAft>
                      </a:pPr>
                      <a:r>
                        <a:rPr lang="zh-CN" sz="2400" b="0" kern="100" dirty="0">
                          <a:solidFill>
                            <a:schemeClr val="accent1"/>
                          </a:solidFill>
                          <a:effectLst/>
                        </a:rPr>
                        <a:t>像素</a:t>
                      </a:r>
                      <a:endParaRPr lang="zh-CN" sz="2400" b="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正方形</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五边形</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六边形</a:t>
                      </a:r>
                      <a:r>
                        <a:rPr lang="en-US" sz="2400" kern="100">
                          <a:solidFill>
                            <a:schemeClr val="accent1"/>
                          </a:solidFill>
                          <a:effectLst/>
                        </a:rPr>
                        <a:t>1</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六边形</a:t>
                      </a:r>
                      <a:r>
                        <a:rPr lang="en-US" sz="2400" kern="100">
                          <a:solidFill>
                            <a:schemeClr val="accent1"/>
                          </a:solidFill>
                          <a:effectLst/>
                        </a:rPr>
                        <a:t>2</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加号</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accent1"/>
                          </a:solidFill>
                          <a:effectLst/>
                        </a:rPr>
                        <a:t>X</a:t>
                      </a:r>
                      <a:r>
                        <a:rPr lang="zh-CN" sz="2400" kern="100" dirty="0">
                          <a:solidFill>
                            <a:schemeClr val="accent1"/>
                          </a:solidFill>
                          <a:effectLst/>
                        </a:rPr>
                        <a:t>标记</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's'</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'p'</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'h'</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'H'</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tx1"/>
                          </a:solidFill>
                          <a:effectLst/>
                        </a:rPr>
                        <a:t>'+'</a:t>
                      </a:r>
                      <a:endParaRPr lang="zh-CN" sz="24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dirty="0">
                          <a:solidFill>
                            <a:schemeClr val="tx1"/>
                          </a:solidFill>
                          <a:effectLst/>
                        </a:rPr>
                        <a:t>'x'</a:t>
                      </a:r>
                      <a:endParaRPr lang="zh-CN" sz="24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009415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在坐标图中绘制多个图形</a:t>
            </a:r>
          </a:p>
        </p:txBody>
      </p:sp>
      <p:sp>
        <p:nvSpPr>
          <p:cNvPr id="4" name="Rectangle 4"/>
          <p:cNvSpPr>
            <a:spLocks noChangeArrowheads="1"/>
          </p:cNvSpPr>
          <p:nvPr/>
        </p:nvSpPr>
        <p:spPr bwMode="auto">
          <a:xfrm>
            <a:off x="254226" y="1413827"/>
            <a:ext cx="655830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plt.xlabel('x')</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plt.ylabel('y')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plt.title('Simple Diagram') </a:t>
            </a:r>
          </a:p>
          <a:p>
            <a:r>
              <a:rPr lang="en-US" altLang="zh-CN" sz="2400" dirty="0">
                <a:latin typeface="Times New Roman" panose="02020603050405020304" pitchFamily="18" charset="0"/>
                <a:cs typeface="Times New Roman" panose="02020603050405020304" pitchFamily="18" charset="0"/>
              </a:rPr>
              <a:t>x=np.arange(-5,5,0.01)</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y,y2=x*x,2*x+9     #</a:t>
            </a:r>
            <a:r>
              <a:rPr lang="zh-CN" altLang="en-US" sz="2400" dirty="0">
                <a:latin typeface="Times New Roman" panose="02020603050405020304" pitchFamily="18" charset="0"/>
                <a:cs typeface="Times New Roman" panose="02020603050405020304" pitchFamily="18" charset="0"/>
              </a:rPr>
              <a:t>给</a:t>
            </a:r>
            <a:r>
              <a:rPr lang="en-US" altLang="zh-CN" sz="2400" dirty="0">
                <a:latin typeface="Times New Roman" panose="02020603050405020304" pitchFamily="18" charset="0"/>
                <a:cs typeface="Times New Roman" panose="02020603050405020304" pitchFamily="18" charset="0"/>
              </a:rPr>
              <a:t>y</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y2</a:t>
            </a:r>
            <a:r>
              <a:rPr lang="zh-CN" altLang="en-US" sz="2400" dirty="0">
                <a:latin typeface="Times New Roman" panose="02020603050405020304" pitchFamily="18" charset="0"/>
                <a:cs typeface="Times New Roman" panose="02020603050405020304" pitchFamily="18" charset="0"/>
              </a:rPr>
              <a:t>赋值</a:t>
            </a:r>
          </a:p>
          <a:p>
            <a:r>
              <a:rPr lang="en-US" altLang="zh-CN" sz="2400" dirty="0">
                <a:latin typeface="Times New Roman" panose="02020603050405020304" pitchFamily="18" charset="0"/>
                <a:cs typeface="Times New Roman" panose="02020603050405020304" pitchFamily="18" charset="0"/>
              </a:rPr>
              <a:t>plt.plot(x,y,'b--',label="x^2")  </a:t>
            </a:r>
          </a:p>
          <a:p>
            <a:r>
              <a:rPr lang="en-US" altLang="zh-CN" sz="2400" dirty="0">
                <a:latin typeface="Times New Roman" panose="02020603050405020304" pitchFamily="18" charset="0"/>
                <a:cs typeface="Times New Roman" panose="02020603050405020304" pitchFamily="18" charset="0"/>
              </a:rPr>
              <a:t>plt.plot(x,y2,'r-.',label="2x+9")</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plt.legend()	#</a:t>
            </a:r>
            <a:r>
              <a:rPr lang="zh-CN" altLang="en-US" sz="2400" dirty="0">
                <a:latin typeface="Times New Roman" panose="02020603050405020304" pitchFamily="18" charset="0"/>
                <a:cs typeface="Times New Roman" panose="02020603050405020304" pitchFamily="18" charset="0"/>
              </a:rPr>
              <a:t>显示图例</a:t>
            </a:r>
          </a:p>
          <a:p>
            <a:r>
              <a:rPr lang="en-US" altLang="zh-CN" sz="2400" dirty="0">
                <a:latin typeface="Times New Roman" panose="02020603050405020304" pitchFamily="18" charset="0"/>
                <a:cs typeface="Times New Roman" panose="02020603050405020304" pitchFamily="18" charset="0"/>
              </a:rPr>
              <a:t>plt.show() </a:t>
            </a:r>
          </a:p>
        </p:txBody>
      </p:sp>
      <p:sp>
        <p:nvSpPr>
          <p:cNvPr id="7" name="矩形 6"/>
          <p:cNvSpPr/>
          <p:nvPr/>
        </p:nvSpPr>
        <p:spPr>
          <a:xfrm>
            <a:off x="604425" y="869006"/>
            <a:ext cx="4156907"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1-15]</a:t>
            </a:r>
            <a:r>
              <a:rPr lang="zh-CN" altLang="en-US" sz="2800" b="1" dirty="0">
                <a:solidFill>
                  <a:srgbClr val="0070C0"/>
                </a:solidFill>
                <a:latin typeface="微软雅黑" panose="020B0503020204020204" pitchFamily="34" charset="-122"/>
                <a:ea typeface="微软雅黑" panose="020B0503020204020204" pitchFamily="34" charset="-122"/>
              </a:rPr>
              <a:t>绘制多个图形</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2056010" y="5585901"/>
            <a:ext cx="6725942"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绘制多条曲线也可在一个</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plot()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函数中传入多对</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值，例如：</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plt.plot(x,y,'b--',x,y2,'r-.')</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6145" name="Picture 1" descr="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74956" y="1727753"/>
            <a:ext cx="3925913" cy="2828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0544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设置</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plt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对象的属性和方法</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plt.xlabel()</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：设置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轴的标签，</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plt.ylabel()</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：设置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轴标签。</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plt.title</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：设置图的标题。</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plt.xlim():</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设置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轴的起始坐标</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plt.ylim():</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设置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轴的起始坐标。</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plt.legend()</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：显示图例，即图中表示每条曲线的标签和样式的矩形区域。</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设置</a:t>
            </a:r>
            <a:r>
              <a:rPr lang="en-US" altLang="zh-CN" sz="2800" b="1" dirty="0">
                <a:solidFill>
                  <a:srgbClr val="0070C0"/>
                </a:solidFill>
                <a:latin typeface="微软雅黑" panose="020B0503020204020204" pitchFamily="34" charset="-122"/>
                <a:ea typeface="微软雅黑" panose="020B0503020204020204" pitchFamily="34" charset="-122"/>
              </a:rPr>
              <a:t>plt</a:t>
            </a:r>
            <a:r>
              <a:rPr lang="zh-CN" altLang="en-US" sz="2800" b="1" dirty="0">
                <a:solidFill>
                  <a:srgbClr val="0070C0"/>
                </a:solidFill>
                <a:latin typeface="微软雅黑" panose="020B0503020204020204" pitchFamily="34" charset="-122"/>
                <a:ea typeface="微软雅黑" panose="020B0503020204020204" pitchFamily="34" charset="-122"/>
              </a:rPr>
              <a:t>对象的属性和方法</a:t>
            </a:r>
          </a:p>
        </p:txBody>
      </p:sp>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设置</a:t>
            </a:r>
            <a:r>
              <a:rPr lang="en-US" altLang="zh-CN" sz="2800" b="1" dirty="0">
                <a:solidFill>
                  <a:srgbClr val="0070C0"/>
                </a:solidFill>
                <a:latin typeface="微软雅黑" panose="020B0503020204020204" pitchFamily="34" charset="-122"/>
                <a:ea typeface="微软雅黑" panose="020B0503020204020204" pitchFamily="34" charset="-122"/>
              </a:rPr>
              <a:t>plt</a:t>
            </a:r>
            <a:r>
              <a:rPr lang="zh-CN" altLang="en-US" sz="2800" b="1" dirty="0">
                <a:solidFill>
                  <a:srgbClr val="0070C0"/>
                </a:solidFill>
                <a:latin typeface="微软雅黑" panose="020B0503020204020204" pitchFamily="34" charset="-122"/>
                <a:ea typeface="微软雅黑" panose="020B0503020204020204" pitchFamily="34" charset="-122"/>
              </a:rPr>
              <a:t>对象的属性和方法</a:t>
            </a:r>
          </a:p>
        </p:txBody>
      </p:sp>
      <p:sp>
        <p:nvSpPr>
          <p:cNvPr id="4" name="Rectangle 4"/>
          <p:cNvSpPr>
            <a:spLocks noChangeArrowheads="1"/>
          </p:cNvSpPr>
          <p:nvPr/>
        </p:nvSpPr>
        <p:spPr bwMode="auto">
          <a:xfrm>
            <a:off x="254226" y="1598492"/>
            <a:ext cx="655830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a:t>
            </a:r>
            <a:r>
              <a:rPr lang="en-US" altLang="zh-CN" sz="2400" dirty="0">
                <a:solidFill>
                  <a:schemeClr val="accent1"/>
                </a:solidFill>
                <a:latin typeface="Times New Roman" panose="02020603050405020304" pitchFamily="18" charset="0"/>
                <a:cs typeface="Times New Roman" panose="02020603050405020304" pitchFamily="18" charset="0"/>
              </a:rPr>
              <a:t>xlim</a:t>
            </a:r>
            <a:r>
              <a:rPr lang="en-US" altLang="zh-CN" sz="2400" dirty="0">
                <a:latin typeface="Times New Roman" panose="02020603050405020304" pitchFamily="18" charset="0"/>
                <a:cs typeface="Times New Roman" panose="02020603050405020304" pitchFamily="18" charset="0"/>
              </a:rPr>
              <a:t>(-8,8)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a:t>
            </a:r>
            <a:r>
              <a:rPr lang="en-US" altLang="zh-CN" sz="2400" dirty="0">
                <a:solidFill>
                  <a:schemeClr val="accent1"/>
                </a:solidFill>
                <a:latin typeface="Times New Roman" panose="02020603050405020304" pitchFamily="18" charset="0"/>
                <a:cs typeface="Times New Roman" panose="02020603050405020304" pitchFamily="18" charset="0"/>
              </a:rPr>
              <a:t>ylim</a:t>
            </a:r>
            <a:r>
              <a:rPr lang="en-US" altLang="zh-CN" sz="2400" dirty="0">
                <a:latin typeface="Times New Roman" panose="02020603050405020304" pitchFamily="18" charset="0"/>
                <a:cs typeface="Times New Roman" panose="02020603050405020304" pitchFamily="18" charset="0"/>
              </a:rPr>
              <a:t>(0,10)</a:t>
            </a:r>
          </a:p>
          <a:p>
            <a:r>
              <a:rPr lang="en-US" altLang="zh-CN" sz="2400" dirty="0">
                <a:latin typeface="Times New Roman" panose="02020603050405020304" pitchFamily="18" charset="0"/>
                <a:cs typeface="Times New Roman" panose="02020603050405020304" pitchFamily="18" charset="0"/>
              </a:rPr>
              <a:t>plt.plot(x,y,'b--',</a:t>
            </a:r>
            <a:r>
              <a:rPr lang="en-US" altLang="zh-CN" sz="2400" dirty="0">
                <a:solidFill>
                  <a:schemeClr val="accent1"/>
                </a:solidFill>
                <a:latin typeface="Times New Roman" panose="02020603050405020304" pitchFamily="18" charset="0"/>
                <a:cs typeface="Times New Roman" panose="02020603050405020304" pitchFamily="18" charset="0"/>
              </a:rPr>
              <a:t>label</a:t>
            </a:r>
            <a:r>
              <a:rPr lang="en-US" altLang="zh-CN" sz="2400" dirty="0">
                <a:latin typeface="Times New Roman" panose="02020603050405020304" pitchFamily="18" charset="0"/>
                <a:cs typeface="Times New Roman" panose="02020603050405020304" pitchFamily="18" charset="0"/>
              </a:rPr>
              <a:t>="x^2")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plt.xlabel('x')</a:t>
            </a:r>
          </a:p>
          <a:p>
            <a:r>
              <a:rPr lang="en-US" altLang="zh-CN" sz="2400" dirty="0">
                <a:latin typeface="Times New Roman" panose="02020603050405020304" pitchFamily="18" charset="0"/>
                <a:cs typeface="Times New Roman" panose="02020603050405020304" pitchFamily="18" charset="0"/>
              </a:rPr>
              <a:t>plt.ylabel('y')  #y</a:t>
            </a:r>
            <a:r>
              <a:rPr lang="zh-CN" altLang="en-US" sz="2400" dirty="0">
                <a:latin typeface="Times New Roman" panose="02020603050405020304" pitchFamily="18" charset="0"/>
                <a:cs typeface="Times New Roman" panose="02020603050405020304" pitchFamily="18" charset="0"/>
              </a:rPr>
              <a:t>轴标签</a:t>
            </a:r>
          </a:p>
          <a:p>
            <a:r>
              <a:rPr lang="en-US" altLang="zh-CN" sz="2400" dirty="0">
                <a:latin typeface="Times New Roman" panose="02020603050405020304" pitchFamily="18" charset="0"/>
                <a:cs typeface="Times New Roman" panose="02020603050405020304" pitchFamily="18" charset="0"/>
              </a:rPr>
              <a:t>plt.title('Simple Diagram') </a:t>
            </a:r>
          </a:p>
          <a:p>
            <a:r>
              <a:rPr lang="en-US" altLang="zh-CN" sz="2400" dirty="0">
                <a:latin typeface="Times New Roman" panose="02020603050405020304" pitchFamily="18" charset="0"/>
                <a:cs typeface="Times New Roman" panose="02020603050405020304" pitchFamily="18" charset="0"/>
              </a:rPr>
              <a:t>plt.legend()	#</a:t>
            </a:r>
            <a:r>
              <a:rPr lang="zh-CN" altLang="en-US" sz="2400" dirty="0">
                <a:latin typeface="Times New Roman" panose="02020603050405020304" pitchFamily="18" charset="0"/>
                <a:cs typeface="Times New Roman" panose="02020603050405020304" pitchFamily="18" charset="0"/>
              </a:rPr>
              <a:t>显示图例</a:t>
            </a:r>
          </a:p>
          <a:p>
            <a:r>
              <a:rPr lang="en-US" altLang="zh-CN" sz="2400" dirty="0">
                <a:latin typeface="Times New Roman" panose="02020603050405020304" pitchFamily="18" charset="0"/>
                <a:cs typeface="Times New Roman" panose="02020603050405020304" pitchFamily="18" charset="0"/>
              </a:rPr>
              <a:t>plt.show() </a:t>
            </a:r>
          </a:p>
        </p:txBody>
      </p:sp>
      <p:sp>
        <p:nvSpPr>
          <p:cNvPr id="7" name="矩形 6"/>
          <p:cNvSpPr/>
          <p:nvPr/>
        </p:nvSpPr>
        <p:spPr>
          <a:xfrm>
            <a:off x="604425" y="869006"/>
            <a:ext cx="5593198"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1-16]</a:t>
            </a:r>
            <a:r>
              <a:rPr lang="zh-CN" altLang="en-US" sz="2800" b="1" dirty="0">
                <a:solidFill>
                  <a:srgbClr val="0070C0"/>
                </a:solidFill>
                <a:latin typeface="微软雅黑" panose="020B0503020204020204" pitchFamily="34" charset="-122"/>
                <a:ea typeface="微软雅黑" panose="020B0503020204020204" pitchFamily="34" charset="-122"/>
              </a:rPr>
              <a:t>设置坐标轴的起始范围</a:t>
            </a:r>
          </a:p>
        </p:txBody>
      </p:sp>
      <p:sp>
        <p:nvSpPr>
          <p:cNvPr id="8" name="矩形 7"/>
          <p:cNvSpPr/>
          <p:nvPr/>
        </p:nvSpPr>
        <p:spPr>
          <a:xfrm>
            <a:off x="6197623" y="138237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7170" name="Picture 2" descr="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6785" y="1997864"/>
            <a:ext cx="4425167" cy="3158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23275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subplot()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函数可绘制包含多个子图的图表</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subplot(numRows,numCols,plotNum)</a:t>
            </a:r>
          </a:p>
          <a:p>
            <a:pPr mar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subplot()</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会将整个绘图区域等分为</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numRows</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行</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×numCols</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列个子区域，然后按照从左至右、从上到下的顺序对每个子区域进行编号，左上的子区域编号为</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plotNum</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指定使用第几个子区域。</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绘制多个子图</a:t>
            </a:r>
          </a:p>
        </p:txBody>
      </p:sp>
    </p:spTree>
    <p:extLst>
      <p:ext uri="{BB962C8B-B14F-4D97-AF65-F5344CB8AC3E}">
        <p14:creationId xmlns:p14="http://schemas.microsoft.com/office/powerpoint/2010/main" val="2282638547"/>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绘制多个子图</a:t>
            </a:r>
          </a:p>
        </p:txBody>
      </p:sp>
      <p:sp>
        <p:nvSpPr>
          <p:cNvPr id="4" name="Rectangle 4"/>
          <p:cNvSpPr>
            <a:spLocks noChangeArrowheads="1"/>
          </p:cNvSpPr>
          <p:nvPr/>
        </p:nvSpPr>
        <p:spPr bwMode="auto">
          <a:xfrm>
            <a:off x="299947" y="1468593"/>
            <a:ext cx="485117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ax1=plt.subplot(121) </a:t>
            </a:r>
          </a:p>
          <a:p>
            <a:r>
              <a:rPr lang="en-US" altLang="zh-CN" sz="2400" dirty="0">
                <a:latin typeface="Times New Roman" panose="02020603050405020304" pitchFamily="18" charset="0"/>
                <a:cs typeface="Times New Roman" panose="02020603050405020304" pitchFamily="18" charset="0"/>
              </a:rPr>
              <a:t>ax2=plt.subplot(122) </a:t>
            </a:r>
          </a:p>
          <a:p>
            <a:r>
              <a:rPr lang="en-US" altLang="zh-CN" sz="2400" dirty="0">
                <a:latin typeface="Times New Roman" panose="02020603050405020304" pitchFamily="18" charset="0"/>
                <a:cs typeface="Times New Roman" panose="02020603050405020304" pitchFamily="18" charset="0"/>
              </a:rPr>
              <a:t>x=np.arange(-5,5,0.01)  #x</a:t>
            </a:r>
            <a:r>
              <a:rPr lang="zh-CN" altLang="en-US" sz="2400" dirty="0">
                <a:latin typeface="Times New Roman" panose="02020603050405020304" pitchFamily="18" charset="0"/>
                <a:cs typeface="Times New Roman" panose="02020603050405020304" pitchFamily="18" charset="0"/>
              </a:rPr>
              <a:t>值</a:t>
            </a:r>
          </a:p>
          <a:p>
            <a:r>
              <a:rPr lang="en-US" altLang="zh-CN" sz="2400" dirty="0">
                <a:latin typeface="Times New Roman" panose="02020603050405020304" pitchFamily="18" charset="0"/>
                <a:cs typeface="Times New Roman" panose="02020603050405020304" pitchFamily="18" charset="0"/>
              </a:rPr>
              <a:t>y=x*x     #y</a:t>
            </a:r>
            <a:r>
              <a:rPr lang="zh-CN" altLang="en-US" sz="2400" dirty="0">
                <a:latin typeface="Times New Roman" panose="02020603050405020304" pitchFamily="18" charset="0"/>
                <a:cs typeface="Times New Roman" panose="02020603050405020304" pitchFamily="18" charset="0"/>
              </a:rPr>
              <a:t>值</a:t>
            </a:r>
          </a:p>
          <a:p>
            <a:r>
              <a:rPr lang="en-US" altLang="zh-CN" sz="2400" dirty="0">
                <a:latin typeface="Times New Roman" panose="02020603050405020304" pitchFamily="18" charset="0"/>
                <a:cs typeface="Times New Roman" panose="02020603050405020304" pitchFamily="18" charset="0"/>
              </a:rPr>
              <a:t>plt.sca(ax1)   #</a:t>
            </a:r>
            <a:r>
              <a:rPr lang="zh-CN" altLang="en-US" sz="2400" dirty="0">
                <a:latin typeface="Times New Roman" panose="02020603050405020304" pitchFamily="18" charset="0"/>
                <a:cs typeface="Times New Roman" panose="02020603050405020304" pitchFamily="18" charset="0"/>
              </a:rPr>
              <a:t>选择子图</a:t>
            </a:r>
            <a:r>
              <a:rPr lang="en-US" altLang="zh-CN" sz="2400" dirty="0">
                <a:latin typeface="Times New Roman" panose="02020603050405020304" pitchFamily="18" charset="0"/>
                <a:cs typeface="Times New Roman" panose="02020603050405020304" pitchFamily="18" charset="0"/>
              </a:rPr>
              <a:t>1</a:t>
            </a:r>
          </a:p>
          <a:p>
            <a:r>
              <a:rPr lang="en-US" altLang="zh-CN" sz="2400" dirty="0">
                <a:latin typeface="Times New Roman" panose="02020603050405020304" pitchFamily="18" charset="0"/>
                <a:cs typeface="Times New Roman" panose="02020603050405020304" pitchFamily="18" charset="0"/>
              </a:rPr>
              <a:t>plt.plot(x,y,‘b--’,label=“x^2)</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x2=np.arange(-5,5,0.01)  #x</a:t>
            </a:r>
            <a:r>
              <a:rPr lang="zh-CN" altLang="en-US" sz="2400" dirty="0">
                <a:latin typeface="Times New Roman" panose="02020603050405020304" pitchFamily="18" charset="0"/>
                <a:cs typeface="Times New Roman" panose="02020603050405020304" pitchFamily="18" charset="0"/>
              </a:rPr>
              <a:t>值</a:t>
            </a:r>
          </a:p>
          <a:p>
            <a:r>
              <a:rPr lang="en-US" altLang="zh-CN" sz="2400" dirty="0">
                <a:latin typeface="Times New Roman" panose="02020603050405020304" pitchFamily="18" charset="0"/>
                <a:cs typeface="Times New Roman" panose="02020603050405020304" pitchFamily="18" charset="0"/>
              </a:rPr>
              <a:t>y2=2*x2+9</a:t>
            </a:r>
          </a:p>
          <a:p>
            <a:r>
              <a:rPr lang="en-US" altLang="zh-CN" sz="2400" dirty="0">
                <a:latin typeface="Times New Roman" panose="02020603050405020304" pitchFamily="18" charset="0"/>
                <a:cs typeface="Times New Roman" panose="02020603050405020304" pitchFamily="18" charset="0"/>
              </a:rPr>
              <a:t>plt.sca(ax2)  #</a:t>
            </a:r>
            <a:r>
              <a:rPr lang="zh-CN" altLang="en-US" sz="2400" dirty="0">
                <a:latin typeface="Times New Roman" panose="02020603050405020304" pitchFamily="18" charset="0"/>
                <a:cs typeface="Times New Roman" panose="02020603050405020304" pitchFamily="18" charset="0"/>
              </a:rPr>
              <a:t>选择子图</a:t>
            </a:r>
            <a:r>
              <a:rPr lang="en-US" altLang="zh-CN" sz="2400" dirty="0">
                <a:latin typeface="Times New Roman" panose="02020603050405020304" pitchFamily="18" charset="0"/>
                <a:cs typeface="Times New Roman" panose="02020603050405020304" pitchFamily="18" charset="0"/>
              </a:rPr>
              <a:t>2</a:t>
            </a:r>
          </a:p>
          <a:p>
            <a:r>
              <a:rPr lang="en-US" altLang="zh-CN" sz="2400" dirty="0">
                <a:latin typeface="Times New Roman" panose="02020603050405020304" pitchFamily="18" charset="0"/>
                <a:cs typeface="Times New Roman" panose="02020603050405020304" pitchFamily="18" charset="0"/>
              </a:rPr>
              <a:t>plt.plot(x2,y2,'r-.',label="2x+9")</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plt.legend();  plt.show()</a:t>
            </a:r>
            <a:endParaRPr lang="zh-CN" altLang="en-US" sz="2400" dirty="0">
              <a:latin typeface="Times New Roman" panose="02020603050405020304" pitchFamily="18" charset="0"/>
              <a:cs typeface="Times New Roman" panose="02020603050405020304" pitchFamily="18" charset="0"/>
            </a:endParaRPr>
          </a:p>
        </p:txBody>
      </p:sp>
      <p:sp>
        <p:nvSpPr>
          <p:cNvPr id="7" name="矩形 6"/>
          <p:cNvSpPr/>
          <p:nvPr/>
        </p:nvSpPr>
        <p:spPr>
          <a:xfrm>
            <a:off x="604425" y="852147"/>
            <a:ext cx="4264309"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1-17] </a:t>
            </a:r>
            <a:r>
              <a:rPr lang="zh-CN" altLang="en-US" sz="2800" b="1" dirty="0">
                <a:solidFill>
                  <a:srgbClr val="0070C0"/>
                </a:solidFill>
                <a:latin typeface="微软雅黑" panose="020B0503020204020204" pitchFamily="34" charset="-122"/>
                <a:ea typeface="微软雅黑" panose="020B0503020204020204" pitchFamily="34" charset="-122"/>
              </a:rPr>
              <a:t>绘制多个子图</a:t>
            </a:r>
          </a:p>
        </p:txBody>
      </p:sp>
      <p:sp>
        <p:nvSpPr>
          <p:cNvPr id="8" name="矩形 7"/>
          <p:cNvSpPr/>
          <p:nvPr/>
        </p:nvSpPr>
        <p:spPr>
          <a:xfrm>
            <a:off x="6197623" y="138237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8194" name="Picture 2" descr="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8640" y="2089321"/>
            <a:ext cx="4726178" cy="313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04582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79248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保存图像文件和输出设置</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a:t>
            </a: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savefig</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("tang.png",dpi=120)</a:t>
            </a:r>
          </a:p>
          <a:p>
            <a:pPr marL="0" indent="457200" defTabSz="91376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plt.show()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显示图像</a:t>
            </a:r>
          </a:p>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交互式标注</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plt.imshow(img)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显示图像</a:t>
            </a:r>
          </a:p>
          <a:p>
            <a:pPr marL="0" indent="457200" defTabSz="91376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print('</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请单击图片中的物品</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p>
          <a:p>
            <a:pPr marL="0" indent="457200" defTabSz="91376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x=plt.</a:t>
            </a: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ginput(1</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等待用户单击</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次</a:t>
            </a:r>
          </a:p>
          <a:p>
            <a:pPr marL="0" indent="0" defTabSz="913765">
              <a:lnSpc>
                <a:spcPct val="150000"/>
              </a:lnSpc>
              <a:buNone/>
            </a:pPr>
            <a:r>
              <a:rPr lang="zh-CN"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在图表中显示中文和负号</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4132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plt.rcParams[‘font.sans-serif’]=[‘SimSun’]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显示中文</a:t>
            </a:r>
            <a:endPar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41325">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plt.rcParams[‘axes.unicode_minus’]=False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显示</a:t>
            </a:r>
            <a:r>
              <a:rPr lang="zh-CN"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负号</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其他设置</a:t>
            </a:r>
          </a:p>
        </p:txBody>
      </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pyplot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模块中绘制基础图表的函数</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1.4.2</a:t>
            </a:r>
            <a:r>
              <a:rPr lang="zh-CN" altLang="en-US" sz="2800" b="1" dirty="0">
                <a:solidFill>
                  <a:srgbClr val="0070C0"/>
                </a:solidFill>
                <a:latin typeface="微软雅黑" panose="020B0503020204020204" pitchFamily="34" charset="-122"/>
                <a:ea typeface="微软雅黑" panose="020B0503020204020204" pitchFamily="34" charset="-122"/>
              </a:rPr>
              <a:t>绘制散点图等其他图形</a:t>
            </a:r>
          </a:p>
        </p:txBody>
      </p:sp>
      <p:graphicFrame>
        <p:nvGraphicFramePr>
          <p:cNvPr id="2" name="表格 1"/>
          <p:cNvGraphicFramePr>
            <a:graphicFrameLocks noGrp="1"/>
          </p:cNvGraphicFramePr>
          <p:nvPr>
            <p:extLst>
              <p:ext uri="{D42A27DB-BD31-4B8C-83A1-F6EECF244321}">
                <p14:modId xmlns:p14="http://schemas.microsoft.com/office/powerpoint/2010/main" val="540968177"/>
              </p:ext>
            </p:extLst>
          </p:nvPr>
        </p:nvGraphicFramePr>
        <p:xfrm>
          <a:off x="539940" y="1703832"/>
          <a:ext cx="8064120" cy="4270248"/>
        </p:xfrm>
        <a:graphic>
          <a:graphicData uri="http://schemas.openxmlformats.org/drawingml/2006/table">
            <a:tbl>
              <a:tblPr firstRow="1" firstCol="1">
                <a:tableStyleId>{5C22544A-7EE6-4342-B048-85BDC9FD1C3A}</a:tableStyleId>
              </a:tblPr>
              <a:tblGrid>
                <a:gridCol w="3757740">
                  <a:extLst>
                    <a:ext uri="{9D8B030D-6E8A-4147-A177-3AD203B41FA5}">
                      <a16:colId xmlns:a16="http://schemas.microsoft.com/office/drawing/2014/main" val="20000"/>
                    </a:ext>
                  </a:extLst>
                </a:gridCol>
                <a:gridCol w="4306380">
                  <a:extLst>
                    <a:ext uri="{9D8B030D-6E8A-4147-A177-3AD203B41FA5}">
                      <a16:colId xmlns:a16="http://schemas.microsoft.com/office/drawing/2014/main" val="20001"/>
                    </a:ext>
                  </a:extLst>
                </a:gridCol>
              </a:tblGrid>
              <a:tr h="429768">
                <a:tc>
                  <a:txBody>
                    <a:bodyPr/>
                    <a:lstStyle/>
                    <a:p>
                      <a:pPr algn="ctr">
                        <a:spcAft>
                          <a:spcPts val="0"/>
                        </a:spcAft>
                      </a:pPr>
                      <a:r>
                        <a:rPr lang="zh-CN" sz="2000" kern="100" dirty="0">
                          <a:solidFill>
                            <a:schemeClr val="tx1"/>
                          </a:solidFill>
                          <a:effectLst/>
                        </a:rPr>
                        <a:t>函数</a:t>
                      </a:r>
                      <a:endParaRPr lang="zh-CN" sz="20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zh-CN" sz="2000" kern="100" dirty="0">
                          <a:solidFill>
                            <a:schemeClr val="tx1"/>
                          </a:solidFill>
                          <a:effectLst/>
                        </a:rPr>
                        <a:t>功能</a:t>
                      </a:r>
                      <a:endParaRPr lang="zh-CN" sz="20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0">
                <a:tc>
                  <a:txBody>
                    <a:bodyPr/>
                    <a:lstStyle/>
                    <a:p>
                      <a:pPr algn="just">
                        <a:spcAft>
                          <a:spcPts val="0"/>
                        </a:spcAft>
                      </a:pPr>
                      <a:r>
                        <a:rPr lang="en-US" sz="2800" b="0" kern="100" dirty="0">
                          <a:solidFill>
                            <a:schemeClr val="tx1"/>
                          </a:solidFill>
                          <a:effectLst/>
                        </a:rPr>
                        <a:t>plt.</a:t>
                      </a:r>
                      <a:r>
                        <a:rPr lang="en-US" sz="2800" b="0" kern="100" dirty="0">
                          <a:solidFill>
                            <a:schemeClr val="accent1"/>
                          </a:solidFill>
                          <a:effectLst/>
                        </a:rPr>
                        <a:t>scatter</a:t>
                      </a:r>
                      <a:r>
                        <a:rPr lang="en-US" sz="2800" b="0" kern="100" dirty="0">
                          <a:solidFill>
                            <a:schemeClr val="tx1"/>
                          </a:solidFill>
                          <a:effectLst/>
                        </a:rPr>
                        <a:t>(x,y)</a:t>
                      </a:r>
                      <a:endParaRPr lang="zh-CN" sz="28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绘制散点图（</a:t>
                      </a:r>
                      <a:r>
                        <a:rPr lang="en-US" sz="2000" kern="100">
                          <a:solidFill>
                            <a:schemeClr val="tx1"/>
                          </a:solidFill>
                          <a:effectLst/>
                        </a:rPr>
                        <a:t>x,y</a:t>
                      </a:r>
                      <a:r>
                        <a:rPr lang="zh-CN" sz="2000" kern="100">
                          <a:solidFill>
                            <a:schemeClr val="tx1"/>
                          </a:solidFill>
                          <a:effectLst/>
                        </a:rPr>
                        <a:t>必须是长度相同的序列或数组）</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hist</a:t>
                      </a:r>
                      <a:r>
                        <a:rPr lang="en-US" sz="2400" b="0" kern="100" dirty="0">
                          <a:solidFill>
                            <a:schemeClr val="tx1"/>
                          </a:solidFill>
                          <a:effectLst/>
                        </a:rPr>
                        <a:t>(x,bins,normed)</a:t>
                      </a:r>
                      <a:endParaRPr lang="zh-CN" sz="24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绘制直方图</a:t>
                      </a:r>
                      <a:endParaRPr lang="zh-CN" sz="20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just">
                        <a:spcAft>
                          <a:spcPts val="0"/>
                        </a:spcAft>
                      </a:pPr>
                      <a:r>
                        <a:rPr lang="en-US" sz="2000" b="0" kern="100">
                          <a:solidFill>
                            <a:schemeClr val="tx1"/>
                          </a:solidFill>
                          <a:effectLst/>
                        </a:rPr>
                        <a:t>plt.bar(left,height,width,bottom)</a:t>
                      </a:r>
                      <a:endParaRPr lang="zh-CN" sz="20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绘制条形图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just">
                        <a:spcAft>
                          <a:spcPts val="0"/>
                        </a:spcAft>
                      </a:pPr>
                      <a:r>
                        <a:rPr lang="en-US" sz="2000" b="0" kern="100">
                          <a:solidFill>
                            <a:schemeClr val="tx1"/>
                          </a:solidFill>
                          <a:effectLst/>
                        </a:rPr>
                        <a:t>plt.barh(bottom,width,height,left)</a:t>
                      </a:r>
                      <a:endParaRPr lang="zh-CN" sz="20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绘制横向条形图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just">
                        <a:spcAft>
                          <a:spcPts val="0"/>
                        </a:spcAft>
                      </a:pPr>
                      <a:r>
                        <a:rPr lang="en-US" sz="2000" b="0" kern="100" dirty="0">
                          <a:solidFill>
                            <a:schemeClr val="tx1"/>
                          </a:solidFill>
                          <a:effectLst/>
                        </a:rPr>
                        <a:t>plt.boxplot(data,notch,position)</a:t>
                      </a:r>
                      <a:endParaRPr lang="zh-CN" sz="20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绘制箱型图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algn="just">
                        <a:spcAft>
                          <a:spcPts val="0"/>
                        </a:spcAft>
                      </a:pPr>
                      <a:r>
                        <a:rPr lang="en-US" sz="2000" b="0" kern="100">
                          <a:solidFill>
                            <a:schemeClr val="tx1"/>
                          </a:solidFill>
                          <a:effectLst/>
                        </a:rPr>
                        <a:t>plt.psd(x,NFFT,pad_to,Fs2)</a:t>
                      </a:r>
                      <a:endParaRPr lang="zh-CN" sz="20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绘制功率谱密度图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0">
                <a:tc>
                  <a:txBody>
                    <a:bodyPr/>
                    <a:lstStyle/>
                    <a:p>
                      <a:pPr algn="just">
                        <a:spcAft>
                          <a:spcPts val="0"/>
                        </a:spcAft>
                      </a:pPr>
                      <a:r>
                        <a:rPr lang="en-US" sz="2000" b="0" kern="100">
                          <a:solidFill>
                            <a:schemeClr val="tx1"/>
                          </a:solidFill>
                          <a:effectLst/>
                        </a:rPr>
                        <a:t>plt.specgram(x,NFFT,pad_to,F)</a:t>
                      </a:r>
                      <a:endParaRPr lang="zh-CN" sz="20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绘制谱图，即音频文件的波形图</a:t>
                      </a:r>
                      <a:endParaRPr lang="zh-CN" sz="20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polar</a:t>
                      </a:r>
                      <a:r>
                        <a:rPr lang="en-US" sz="2400" b="0" kern="100" dirty="0">
                          <a:solidFill>
                            <a:schemeClr val="tx1"/>
                          </a:solidFill>
                          <a:effectLst/>
                        </a:rPr>
                        <a:t>(theta,r)</a:t>
                      </a:r>
                      <a:endParaRPr lang="zh-CN" sz="24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绘制极坐标图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0">
                <a:tc>
                  <a:txBody>
                    <a:bodyPr/>
                    <a:lstStyle/>
                    <a:p>
                      <a:pPr algn="just">
                        <a:spcAft>
                          <a:spcPts val="0"/>
                        </a:spcAft>
                      </a:pPr>
                      <a:r>
                        <a:rPr lang="en-US" sz="2400" b="0" kern="100" dirty="0">
                          <a:solidFill>
                            <a:schemeClr val="tx1"/>
                          </a:solidFill>
                          <a:effectLst/>
                        </a:rPr>
                        <a:t>plt.</a:t>
                      </a:r>
                      <a:r>
                        <a:rPr lang="en-US" sz="2400" b="0" kern="100" dirty="0">
                          <a:solidFill>
                            <a:schemeClr val="accent1"/>
                          </a:solidFill>
                          <a:effectLst/>
                        </a:rPr>
                        <a:t>pie</a:t>
                      </a:r>
                      <a:r>
                        <a:rPr lang="en-US" sz="2400" b="0" kern="100" dirty="0">
                          <a:solidFill>
                            <a:schemeClr val="tx1"/>
                          </a:solidFill>
                          <a:effectLst/>
                        </a:rPr>
                        <a:t>(data,explode)</a:t>
                      </a:r>
                      <a:endParaRPr lang="zh-CN" sz="24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绘制饼图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0">
                <a:tc>
                  <a:txBody>
                    <a:bodyPr/>
                    <a:lstStyle/>
                    <a:p>
                      <a:pPr algn="just">
                        <a:spcAft>
                          <a:spcPts val="0"/>
                        </a:spcAft>
                      </a:pPr>
                      <a:r>
                        <a:rPr lang="en-US" sz="2000" b="0" kern="100">
                          <a:solidFill>
                            <a:schemeClr val="tx1"/>
                          </a:solidFill>
                          <a:effectLst/>
                        </a:rPr>
                        <a:t>plt.step(x,y,where)</a:t>
                      </a:r>
                      <a:endParaRPr lang="zh-CN" sz="2000" b="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a:solidFill>
                            <a:schemeClr val="tx1"/>
                          </a:solidFill>
                          <a:effectLst/>
                        </a:rPr>
                        <a:t>绘制步阶图</a:t>
                      </a:r>
                      <a:endParaRPr lang="zh-CN" sz="2000" kern="10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0">
                <a:tc>
                  <a:txBody>
                    <a:bodyPr/>
                    <a:lstStyle/>
                    <a:p>
                      <a:pPr algn="just">
                        <a:spcAft>
                          <a:spcPts val="0"/>
                        </a:spcAft>
                      </a:pPr>
                      <a:r>
                        <a:rPr lang="en-US" sz="2000" b="0" kern="100" dirty="0">
                          <a:solidFill>
                            <a:schemeClr val="tx1"/>
                          </a:solidFill>
                          <a:effectLst/>
                        </a:rPr>
                        <a:t>plt.contour(X,Y,Z,N)</a:t>
                      </a:r>
                      <a:endParaRPr lang="zh-CN" sz="2000" b="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spcAft>
                          <a:spcPts val="0"/>
                        </a:spcAft>
                      </a:pPr>
                      <a:r>
                        <a:rPr lang="zh-CN" sz="2000" kern="100" dirty="0">
                          <a:solidFill>
                            <a:schemeClr val="tx1"/>
                          </a:solidFill>
                          <a:effectLst/>
                        </a:rPr>
                        <a:t>绘制等值图</a:t>
                      </a:r>
                      <a:endParaRPr lang="zh-CN" sz="2000" kern="100" dirty="0">
                        <a:solidFill>
                          <a:schemeClr val="tx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bl>
          </a:graphicData>
        </a:graphic>
      </p:graphicFrame>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绘制散点图</a:t>
            </a:r>
          </a:p>
        </p:txBody>
      </p:sp>
      <p:sp>
        <p:nvSpPr>
          <p:cNvPr id="4" name="Rectangle 4"/>
          <p:cNvSpPr>
            <a:spLocks noChangeArrowheads="1"/>
          </p:cNvSpPr>
          <p:nvPr/>
        </p:nvSpPr>
        <p:spPr bwMode="auto">
          <a:xfrm>
            <a:off x="254227" y="1607422"/>
            <a:ext cx="497309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plt.figure()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x=[2,1,2,3,4,5]</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y=[1,2,2,5,4,3]</a:t>
            </a:r>
          </a:p>
          <a:p>
            <a:r>
              <a:rPr lang="en-US" altLang="zh-CN" sz="2400" dirty="0">
                <a:latin typeface="Times New Roman" panose="02020603050405020304" pitchFamily="18" charset="0"/>
                <a:cs typeface="Times New Roman" panose="02020603050405020304" pitchFamily="18" charset="0"/>
              </a:rPr>
              <a:t>plt.scatter(x,y,s=60,c='r',marker='o')</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  </a:t>
            </a: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1-19]</a:t>
            </a:r>
            <a:r>
              <a:rPr lang="zh-CN" altLang="en-US" sz="2800" b="1" dirty="0">
                <a:solidFill>
                  <a:srgbClr val="0070C0"/>
                </a:solidFill>
                <a:latin typeface="微软雅黑" panose="020B0503020204020204" pitchFamily="34" charset="-122"/>
                <a:ea typeface="微软雅黑" panose="020B0503020204020204" pitchFamily="34" charset="-122"/>
              </a:rPr>
              <a:t>绘制散点图</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432583" y="4427661"/>
            <a:ext cx="8345657" cy="632019"/>
            <a:chOff x="6339097" y="1573726"/>
            <a:chExt cx="3744417" cy="887823"/>
          </a:xfrm>
        </p:grpSpPr>
        <p:sp>
          <p:nvSpPr>
            <p:cNvPr id="11" name="圆角矩形 10"/>
            <p:cNvSpPr/>
            <p:nvPr/>
          </p:nvSpPr>
          <p:spPr>
            <a:xfrm>
              <a:off x="6339097" y="1573726"/>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4"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散点图需要两组数据分别表示所有点的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坐标值和</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y</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坐标值</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2050" name="Picture 2" descr="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320" y="1542405"/>
            <a:ext cx="3714865" cy="2438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p:cNvGrpSpPr/>
          <p:nvPr/>
        </p:nvGrpSpPr>
        <p:grpSpPr>
          <a:xfrm>
            <a:off x="432583" y="5344287"/>
            <a:ext cx="8345657" cy="1234440"/>
            <a:chOff x="6339097" y="1573725"/>
            <a:chExt cx="3744417" cy="1236161"/>
          </a:xfrm>
        </p:grpSpPr>
        <p:sp>
          <p:nvSpPr>
            <p:cNvPr id="14" name="圆角矩形 13"/>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4" y="1599350"/>
              <a:ext cx="3683970" cy="1210536"/>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plot()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函数也能画散点图，只要它的第</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个参数是点型（而不是线型）</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4541149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绘制直方图</a:t>
            </a:r>
          </a:p>
        </p:txBody>
      </p:sp>
      <p:sp>
        <p:nvSpPr>
          <p:cNvPr id="4" name="Rectangle 4"/>
          <p:cNvSpPr>
            <a:spLocks noChangeArrowheads="1"/>
          </p:cNvSpPr>
          <p:nvPr/>
        </p:nvSpPr>
        <p:spPr bwMode="auto">
          <a:xfrm>
            <a:off x="254227" y="1531222"/>
            <a:ext cx="584177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import numpy as np</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mu,sigma=100,20</a:t>
            </a:r>
          </a:p>
          <a:p>
            <a:r>
              <a:rPr lang="en-US" altLang="zh-CN" sz="2400" dirty="0">
                <a:latin typeface="Times New Roman" panose="02020603050405020304" pitchFamily="18" charset="0"/>
                <a:cs typeface="Times New Roman" panose="02020603050405020304" pitchFamily="18" charset="0"/>
              </a:rPr>
              <a:t>x=mu+sigma*np.random.randn(20000)</a:t>
            </a:r>
          </a:p>
          <a:p>
            <a:r>
              <a:rPr lang="en-US" altLang="zh-CN" sz="2400" dirty="0">
                <a:latin typeface="Times New Roman" panose="02020603050405020304" pitchFamily="18" charset="0"/>
                <a:cs typeface="Times New Roman" panose="02020603050405020304" pitchFamily="18" charset="0"/>
              </a:rPr>
              <a:t>plt.hist(x,bins=100,color='r',normed=True)</a:t>
            </a:r>
          </a:p>
          <a:p>
            <a:r>
              <a:rPr lang="en-US" altLang="zh-CN" sz="2400" dirty="0">
                <a:latin typeface="Times New Roman" panose="02020603050405020304" pitchFamily="18" charset="0"/>
                <a:cs typeface="Times New Roman" panose="02020603050405020304" pitchFamily="18" charset="0"/>
              </a:rPr>
              <a:t>plt.show()</a:t>
            </a:r>
          </a:p>
        </p:txBody>
      </p:sp>
      <p:sp>
        <p:nvSpPr>
          <p:cNvPr id="7" name="矩形 6"/>
          <p:cNvSpPr/>
          <p:nvPr/>
        </p:nvSpPr>
        <p:spPr>
          <a:xfrm>
            <a:off x="604425" y="869006"/>
            <a:ext cx="390523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1-20] </a:t>
            </a:r>
            <a:r>
              <a:rPr lang="zh-CN" altLang="en-US" sz="2800" b="1" dirty="0">
                <a:solidFill>
                  <a:srgbClr val="0070C0"/>
                </a:solidFill>
                <a:latin typeface="微软雅黑" panose="020B0503020204020204" pitchFamily="34" charset="-122"/>
                <a:ea typeface="微软雅黑" panose="020B0503020204020204" pitchFamily="34" charset="-122"/>
              </a:rPr>
              <a:t>绘制直方图</a:t>
            </a:r>
          </a:p>
        </p:txBody>
      </p:sp>
      <p:sp>
        <p:nvSpPr>
          <p:cNvPr id="8" name="矩形 7"/>
          <p:cNvSpPr/>
          <p:nvPr/>
        </p:nvSpPr>
        <p:spPr>
          <a:xfrm>
            <a:off x="6096001" y="331632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149670" y="4209453"/>
            <a:ext cx="4084331" cy="887361"/>
            <a:chOff x="6339097" y="1573725"/>
            <a:chExt cx="3744416" cy="887823"/>
          </a:xfrm>
        </p:grpSpPr>
        <p:sp>
          <p:nvSpPr>
            <p:cNvPr id="11" name="圆角矩形 10"/>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8"/>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直方图横轴表示数据类型，纵轴表示分布情况</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3074" name="Picture 2" descr="6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9161" y="3788648"/>
            <a:ext cx="4194068" cy="2676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p:cNvGrpSpPr/>
          <p:nvPr/>
        </p:nvGrpSpPr>
        <p:grpSpPr>
          <a:xfrm>
            <a:off x="149671" y="5318968"/>
            <a:ext cx="4559490" cy="887361"/>
            <a:chOff x="6339097" y="1573725"/>
            <a:chExt cx="3744416" cy="887823"/>
          </a:xfrm>
        </p:grpSpPr>
        <p:sp>
          <p:nvSpPr>
            <p:cNvPr id="14" name="圆角矩形 13"/>
            <p:cNvSpPr/>
            <p:nvPr/>
          </p:nvSpPr>
          <p:spPr>
            <a:xfrm>
              <a:off x="6339097" y="1573725"/>
              <a:ext cx="3744416" cy="8878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99543" y="1599350"/>
              <a:ext cx="3683970" cy="86219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bins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指定直方的个数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,normed</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指定每个条状图的占比例比</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4541149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绘制饼状图</a:t>
            </a:r>
          </a:p>
        </p:txBody>
      </p:sp>
      <p:sp>
        <p:nvSpPr>
          <p:cNvPr id="4" name="Rectangle 4"/>
          <p:cNvSpPr>
            <a:spLocks noChangeArrowheads="1"/>
          </p:cNvSpPr>
          <p:nvPr/>
        </p:nvSpPr>
        <p:spPr bwMode="auto">
          <a:xfrm>
            <a:off x="254226" y="1578756"/>
            <a:ext cx="520169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a:t>
            </a:r>
          </a:p>
          <a:p>
            <a:r>
              <a:rPr lang="en-US" altLang="zh-CN" sz="2400" dirty="0">
                <a:latin typeface="Times New Roman" panose="02020603050405020304" pitchFamily="18" charset="0"/>
                <a:cs typeface="Times New Roman" panose="02020603050405020304" pitchFamily="18" charset="0"/>
              </a:rPr>
              <a:t>labels = 'Frogs', 'Hogs' ,'Dogs' ,'Logs'</a:t>
            </a:r>
          </a:p>
          <a:p>
            <a:r>
              <a:rPr lang="en-US" altLang="zh-CN" sz="2400" dirty="0">
                <a:latin typeface="Times New Roman" panose="02020603050405020304" pitchFamily="18" charset="0"/>
                <a:cs typeface="Times New Roman" panose="02020603050405020304" pitchFamily="18" charset="0"/>
              </a:rPr>
              <a:t>sizes = [15, 30, 45, 10]</a:t>
            </a:r>
          </a:p>
          <a:p>
            <a:r>
              <a:rPr lang="en-US" altLang="zh-CN" sz="2400" dirty="0">
                <a:latin typeface="Times New Roman" panose="02020603050405020304" pitchFamily="18" charset="0"/>
                <a:cs typeface="Times New Roman" panose="02020603050405020304" pitchFamily="18" charset="0"/>
              </a:rPr>
              <a:t>explode = (0, 0.1, 0, 0)</a:t>
            </a:r>
          </a:p>
          <a:p>
            <a:r>
              <a:rPr lang="en-US" altLang="zh-CN" sz="2400" dirty="0">
                <a:latin typeface="Times New Roman" panose="02020603050405020304" pitchFamily="18" charset="0"/>
                <a:cs typeface="Times New Roman" panose="02020603050405020304" pitchFamily="18" charset="0"/>
              </a:rPr>
              <a:t>plt.pie(sizes, explode=explode, labels=labels, autopct='%1.1f%%', shadow=False, startangle=90)</a:t>
            </a:r>
          </a:p>
          <a:p>
            <a:r>
              <a:rPr lang="en-US" altLang="zh-CN" sz="2400" dirty="0">
                <a:latin typeface="Times New Roman" panose="02020603050405020304" pitchFamily="18" charset="0"/>
                <a:cs typeface="Times New Roman" panose="02020603050405020304" pitchFamily="18" charset="0"/>
              </a:rPr>
              <a:t>plt.show()  </a:t>
            </a: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1-21]</a:t>
            </a:r>
            <a:r>
              <a:rPr lang="zh-CN" altLang="en-US" sz="2800" b="1" dirty="0">
                <a:solidFill>
                  <a:srgbClr val="0070C0"/>
                </a:solidFill>
                <a:latin typeface="微软雅黑" panose="020B0503020204020204" pitchFamily="34" charset="-122"/>
                <a:ea typeface="微软雅黑" panose="020B0503020204020204" pitchFamily="34" charset="-122"/>
              </a:rPr>
              <a:t>绘制饼状图</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3" name="组合 12"/>
          <p:cNvGrpSpPr/>
          <p:nvPr/>
        </p:nvGrpSpPr>
        <p:grpSpPr>
          <a:xfrm>
            <a:off x="369300" y="5006723"/>
            <a:ext cx="8453464" cy="1058797"/>
            <a:chOff x="6339097" y="1540915"/>
            <a:chExt cx="3744416" cy="1232798"/>
          </a:xfrm>
        </p:grpSpPr>
        <p:sp>
          <p:nvSpPr>
            <p:cNvPr id="14" name="圆角矩形 13"/>
            <p:cNvSpPr/>
            <p:nvPr/>
          </p:nvSpPr>
          <p:spPr>
            <a:xfrm>
              <a:off x="6339097" y="1573725"/>
              <a:ext cx="3744416" cy="104028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71511" y="1540915"/>
              <a:ext cx="3683970" cy="123279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labels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设置数据的标签；</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sizes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设置每块所占比例，</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explode </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设置某一块或多块突出来显示。</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shadow</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设置阴影，</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4098" name="Picture 2" descr="4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8570" y="1606824"/>
            <a:ext cx="3709670" cy="293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64268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绘制条状图</a:t>
            </a:r>
          </a:p>
        </p:txBody>
      </p:sp>
      <p:sp>
        <p:nvSpPr>
          <p:cNvPr id="4" name="Rectangle 4"/>
          <p:cNvSpPr>
            <a:spLocks noChangeArrowheads="1"/>
          </p:cNvSpPr>
          <p:nvPr/>
        </p:nvSpPr>
        <p:spPr bwMode="auto">
          <a:xfrm>
            <a:off x="279852" y="1392226"/>
            <a:ext cx="779249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p>
          <a:p>
            <a:r>
              <a:rPr lang="en-US" altLang="zh-CN" sz="2400" dirty="0">
                <a:latin typeface="Times New Roman" panose="02020603050405020304" pitchFamily="18" charset="0"/>
                <a:cs typeface="Times New Roman" panose="02020603050405020304" pitchFamily="18" charset="0"/>
              </a:rPr>
              <a:t>import matplotlib.pyplot as plt</a:t>
            </a:r>
          </a:p>
          <a:p>
            <a:r>
              <a:rPr lang="en-US" altLang="zh-CN" sz="2400" dirty="0">
                <a:latin typeface="Times New Roman" panose="02020603050405020304" pitchFamily="18" charset="0"/>
                <a:cs typeface="Times New Roman" panose="02020603050405020304" pitchFamily="18" charset="0"/>
              </a:rPr>
              <a:t>y = [15, 30, 25, 10,20,34,33,18]</a:t>
            </a:r>
          </a:p>
          <a:p>
            <a:r>
              <a:rPr lang="en-US" altLang="zh-CN" sz="2400" dirty="0">
                <a:latin typeface="Times New Roman" panose="02020603050405020304" pitchFamily="18" charset="0"/>
                <a:cs typeface="Times New Roman" panose="02020603050405020304" pitchFamily="18" charset="0"/>
              </a:rPr>
              <a:t>x=np.arange(8)  #0-7</a:t>
            </a:r>
            <a:r>
              <a:rPr lang="zh-CN" altLang="en-US" sz="2400" dirty="0">
                <a:latin typeface="Times New Roman" panose="02020603050405020304" pitchFamily="18" charset="0"/>
                <a:cs typeface="Times New Roman" panose="02020603050405020304" pitchFamily="18" charset="0"/>
              </a:rPr>
              <a:t>个条形</a:t>
            </a:r>
          </a:p>
          <a:p>
            <a:r>
              <a:rPr lang="en-US" altLang="zh-CN" sz="2400" dirty="0">
                <a:latin typeface="Times New Roman" panose="02020603050405020304" pitchFamily="18" charset="0"/>
                <a:cs typeface="Times New Roman" panose="02020603050405020304" pitchFamily="18" charset="0"/>
              </a:rPr>
              <a:t>plt.bar(x, y, color='r', width=0.5)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plt.plot(x, y, "b", marker='*')</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for x1, yy in zip(x, y):	</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plt.text(x1, yy + 1, str(yy), ha='center', va='bottom')</a:t>
            </a:r>
          </a:p>
          <a:p>
            <a:r>
              <a:rPr lang="en-US" altLang="zh-CN" sz="2400" dirty="0">
                <a:latin typeface="Times New Roman" panose="02020603050405020304" pitchFamily="18" charset="0"/>
                <a:cs typeface="Times New Roman" panose="02020603050405020304" pitchFamily="18" charset="0"/>
              </a:rPr>
              <a:t>plt.show()</a:t>
            </a:r>
          </a:p>
          <a:p>
            <a:r>
              <a:rPr lang="en-US" altLang="zh-CN" sz="2400" dirty="0">
                <a:latin typeface="Times New Roman" panose="02020603050405020304" pitchFamily="18" charset="0"/>
                <a:cs typeface="Times New Roman" panose="02020603050405020304" pitchFamily="18" charset="0"/>
              </a:rPr>
              <a:t> </a:t>
            </a:r>
          </a:p>
        </p:txBody>
      </p:sp>
      <p:sp>
        <p:nvSpPr>
          <p:cNvPr id="7" name="矩形 6"/>
          <p:cNvSpPr/>
          <p:nvPr/>
        </p:nvSpPr>
        <p:spPr>
          <a:xfrm>
            <a:off x="604425" y="869006"/>
            <a:ext cx="3797835"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1-22]</a:t>
            </a:r>
            <a:r>
              <a:rPr lang="zh-CN" altLang="en-US" sz="2800" b="1" dirty="0">
                <a:solidFill>
                  <a:srgbClr val="0070C0"/>
                </a:solidFill>
                <a:latin typeface="微软雅黑" panose="020B0503020204020204" pitchFamily="34" charset="-122"/>
                <a:ea typeface="微软雅黑" panose="020B0503020204020204" pitchFamily="34" charset="-122"/>
              </a:rPr>
              <a:t>绘制条状图</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3" name="组合 12"/>
          <p:cNvGrpSpPr/>
          <p:nvPr/>
        </p:nvGrpSpPr>
        <p:grpSpPr>
          <a:xfrm>
            <a:off x="369300" y="5006723"/>
            <a:ext cx="7703046" cy="921637"/>
            <a:chOff x="6339097" y="1540915"/>
            <a:chExt cx="3744416" cy="1073097"/>
          </a:xfrm>
        </p:grpSpPr>
        <p:sp>
          <p:nvSpPr>
            <p:cNvPr id="14" name="圆角矩形 13"/>
            <p:cNvSpPr/>
            <p:nvPr/>
          </p:nvSpPr>
          <p:spPr>
            <a:xfrm>
              <a:off x="6339097" y="1573725"/>
              <a:ext cx="3744416" cy="104028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5" name="矩形 14"/>
            <p:cNvSpPr/>
            <p:nvPr/>
          </p:nvSpPr>
          <p:spPr>
            <a:xfrm>
              <a:off x="6371511" y="1540915"/>
              <a:ext cx="3683970" cy="1003368"/>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width=0.5</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使条状和间隙各占一半宽，设置参数</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orientation =‘horizontal’</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可绘制水平方向条形图</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5122" name="Picture 2" descr="0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4278" y="1392225"/>
            <a:ext cx="3745200" cy="252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37364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绘制极坐标图</a:t>
            </a:r>
          </a:p>
        </p:txBody>
      </p:sp>
      <p:sp>
        <p:nvSpPr>
          <p:cNvPr id="4" name="Rectangle 4"/>
          <p:cNvSpPr>
            <a:spLocks noChangeArrowheads="1"/>
          </p:cNvSpPr>
          <p:nvPr/>
        </p:nvSpPr>
        <p:spPr bwMode="auto">
          <a:xfrm>
            <a:off x="211202" y="1242742"/>
            <a:ext cx="571715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p>
          <a:p>
            <a:r>
              <a:rPr lang="en-US" altLang="zh-CN" sz="2400" dirty="0">
                <a:latin typeface="Times New Roman" panose="02020603050405020304" pitchFamily="18" charset="0"/>
                <a:cs typeface="Times New Roman" panose="02020603050405020304" pitchFamily="18" charset="0"/>
              </a:rPr>
              <a:t>import matplotlib.pyplot as plt</a:t>
            </a:r>
          </a:p>
          <a:p>
            <a:r>
              <a:rPr lang="en-US" altLang="zh-CN" sz="2400" dirty="0">
                <a:latin typeface="Times New Roman" panose="02020603050405020304" pitchFamily="18" charset="0"/>
                <a:cs typeface="Times New Roman" panose="02020603050405020304" pitchFamily="18" charset="0"/>
              </a:rPr>
              <a:t>N = 20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theta = np.linspace(0.0, 2 * np.pi, N, endpoint=False)</a:t>
            </a:r>
          </a:p>
          <a:p>
            <a:r>
              <a:rPr lang="en-US" altLang="zh-CN" sz="2400" dirty="0">
                <a:latin typeface="Times New Roman" panose="02020603050405020304" pitchFamily="18" charset="0"/>
                <a:cs typeface="Times New Roman" panose="02020603050405020304" pitchFamily="18" charset="0"/>
              </a:rPr>
              <a:t>radii = 10 * np.random.rand(N)</a:t>
            </a:r>
          </a:p>
          <a:p>
            <a:r>
              <a:rPr lang="en-US" altLang="zh-CN" sz="2400" dirty="0">
                <a:latin typeface="Times New Roman" panose="02020603050405020304" pitchFamily="18" charset="0"/>
                <a:cs typeface="Times New Roman" panose="02020603050405020304" pitchFamily="18" charset="0"/>
              </a:rPr>
              <a:t>width = np.pi / 4 * np.random.rand(N)</a:t>
            </a:r>
          </a:p>
          <a:p>
            <a:r>
              <a:rPr lang="en-US" altLang="zh-CN" sz="2400" dirty="0">
                <a:latin typeface="Times New Roman" panose="02020603050405020304" pitchFamily="18" charset="0"/>
                <a:cs typeface="Times New Roman" panose="02020603050405020304" pitchFamily="18" charset="0"/>
              </a:rPr>
              <a:t>ax = plt.subplot(111, projection='polar')</a:t>
            </a:r>
          </a:p>
          <a:p>
            <a:r>
              <a:rPr lang="en-US" altLang="zh-CN" sz="2400" dirty="0">
                <a:latin typeface="Times New Roman" panose="02020603050405020304" pitchFamily="18" charset="0"/>
                <a:cs typeface="Times New Roman" panose="02020603050405020304" pitchFamily="18" charset="0"/>
              </a:rPr>
              <a:t>bars = ax.bar(theta, radii, width = width, bottom = 0.0)</a:t>
            </a:r>
          </a:p>
          <a:p>
            <a:r>
              <a:rPr lang="en-US" altLang="zh-CN" sz="2400" dirty="0">
                <a:latin typeface="Times New Roman" panose="02020603050405020304" pitchFamily="18" charset="0"/>
                <a:cs typeface="Times New Roman" panose="02020603050405020304" pitchFamily="18" charset="0"/>
              </a:rPr>
              <a:t>for r, bar in zip(radii, bars):</a:t>
            </a:r>
          </a:p>
          <a:p>
            <a:r>
              <a:rPr lang="en-US" altLang="zh-CN" sz="2400" dirty="0">
                <a:latin typeface="Times New Roman" panose="02020603050405020304" pitchFamily="18" charset="0"/>
                <a:cs typeface="Times New Roman" panose="02020603050405020304" pitchFamily="18" charset="0"/>
              </a:rPr>
              <a:t>    bar.set_facecolor(plt.cm.viridis(r / 10.))	</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bar.set_alpha(0.5)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plt.show()</a:t>
            </a:r>
          </a:p>
          <a:p>
            <a:r>
              <a:rPr lang="en-US" altLang="zh-CN" sz="2400" dirty="0">
                <a:latin typeface="Times New Roman" panose="02020603050405020304" pitchFamily="18" charset="0"/>
                <a:cs typeface="Times New Roman" panose="02020603050405020304" pitchFamily="18" charset="0"/>
              </a:rPr>
              <a:t>  </a:t>
            </a:r>
          </a:p>
        </p:txBody>
      </p:sp>
      <p:sp>
        <p:nvSpPr>
          <p:cNvPr id="7" name="矩形 6"/>
          <p:cNvSpPr/>
          <p:nvPr/>
        </p:nvSpPr>
        <p:spPr>
          <a:xfrm>
            <a:off x="604425" y="869006"/>
            <a:ext cx="4156907"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1-23]</a:t>
            </a:r>
            <a:r>
              <a:rPr lang="zh-CN" altLang="en-US" sz="2800" b="1" dirty="0">
                <a:solidFill>
                  <a:srgbClr val="0070C0"/>
                </a:solidFill>
                <a:latin typeface="微软雅黑" panose="020B0503020204020204" pitchFamily="34" charset="-122"/>
                <a:ea typeface="微软雅黑" panose="020B0503020204020204" pitchFamily="34" charset="-122"/>
              </a:rPr>
              <a:t>绘制极坐标图</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6146" name="Picture 2" descr="8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0240" y="1627493"/>
            <a:ext cx="3169920" cy="3099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37364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513399" y="3336319"/>
              <a:ext cx="3570115"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库数据可视化</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科学计算</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主  要</a:t>
            </a:r>
            <a:endParaRPr lang="en-US" altLang="zh-CN" sz="4800" b="1" spc="200" dirty="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88" name="下箭头 87"/>
          <p:cNvSpPr/>
          <p:nvPr/>
        </p:nvSpPr>
        <p:spPr>
          <a:xfrm rot="16200000">
            <a:off x="3095261" y="4011744"/>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Sklearn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机器学习</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9131005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80">
                                          <p:stCondLst>
                                            <p:cond delay="0"/>
                                          </p:stCondLst>
                                        </p:cTn>
                                        <p:tgtEl>
                                          <p:spTgt spid="88"/>
                                        </p:tgtEl>
                                      </p:cBhvr>
                                    </p:animEffect>
                                    <p:anim calcmode="lin" valueType="num">
                                      <p:cBhvr>
                                        <p:cTn id="8" dur="1822" tmFilter="0,0; 0.14,0.36; 0.43,0.73; 0.71,0.91; 1.0,1.0">
                                          <p:stCondLst>
                                            <p:cond delay="0"/>
                                          </p:stCondLst>
                                        </p:cTn>
                                        <p:tgtEl>
                                          <p:spTgt spid="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
                                        </p:tgtEl>
                                        <p:attrNameLst>
                                          <p:attrName>ppt_y</p:attrName>
                                        </p:attrNameLst>
                                      </p:cBhvr>
                                      <p:tavLst>
                                        <p:tav tm="0" fmla="#ppt_y-sin(pi*$)/81">
                                          <p:val>
                                            <p:fltVal val="0"/>
                                          </p:val>
                                        </p:tav>
                                        <p:tav tm="100000">
                                          <p:val>
                                            <p:fltVal val="1"/>
                                          </p:val>
                                        </p:tav>
                                      </p:tavLst>
                                    </p:anim>
                                    <p:animScale>
                                      <p:cBhvr>
                                        <p:cTn id="13" dur="26">
                                          <p:stCondLst>
                                            <p:cond delay="650"/>
                                          </p:stCondLst>
                                        </p:cTn>
                                        <p:tgtEl>
                                          <p:spTgt spid="88"/>
                                        </p:tgtEl>
                                      </p:cBhvr>
                                      <p:to x="100000" y="60000"/>
                                    </p:animScale>
                                    <p:animScale>
                                      <p:cBhvr>
                                        <p:cTn id="14" dur="166" decel="50000">
                                          <p:stCondLst>
                                            <p:cond delay="676"/>
                                          </p:stCondLst>
                                        </p:cTn>
                                        <p:tgtEl>
                                          <p:spTgt spid="88"/>
                                        </p:tgtEl>
                                      </p:cBhvr>
                                      <p:to x="100000" y="100000"/>
                                    </p:animScale>
                                    <p:animScale>
                                      <p:cBhvr>
                                        <p:cTn id="15" dur="26">
                                          <p:stCondLst>
                                            <p:cond delay="1312"/>
                                          </p:stCondLst>
                                        </p:cTn>
                                        <p:tgtEl>
                                          <p:spTgt spid="88"/>
                                        </p:tgtEl>
                                      </p:cBhvr>
                                      <p:to x="100000" y="80000"/>
                                    </p:animScale>
                                    <p:animScale>
                                      <p:cBhvr>
                                        <p:cTn id="16" dur="166" decel="50000">
                                          <p:stCondLst>
                                            <p:cond delay="1338"/>
                                          </p:stCondLst>
                                        </p:cTn>
                                        <p:tgtEl>
                                          <p:spTgt spid="88"/>
                                        </p:tgtEl>
                                      </p:cBhvr>
                                      <p:to x="100000" y="100000"/>
                                    </p:animScale>
                                    <p:animScale>
                                      <p:cBhvr>
                                        <p:cTn id="17" dur="26">
                                          <p:stCondLst>
                                            <p:cond delay="1642"/>
                                          </p:stCondLst>
                                        </p:cTn>
                                        <p:tgtEl>
                                          <p:spTgt spid="88"/>
                                        </p:tgtEl>
                                      </p:cBhvr>
                                      <p:to x="100000" y="90000"/>
                                    </p:animScale>
                                    <p:animScale>
                                      <p:cBhvr>
                                        <p:cTn id="18" dur="166" decel="50000">
                                          <p:stCondLst>
                                            <p:cond delay="1668"/>
                                          </p:stCondLst>
                                        </p:cTn>
                                        <p:tgtEl>
                                          <p:spTgt spid="88"/>
                                        </p:tgtEl>
                                      </p:cBhvr>
                                      <p:to x="100000" y="100000"/>
                                    </p:animScale>
                                    <p:animScale>
                                      <p:cBhvr>
                                        <p:cTn id="19" dur="26">
                                          <p:stCondLst>
                                            <p:cond delay="1808"/>
                                          </p:stCondLst>
                                        </p:cTn>
                                        <p:tgtEl>
                                          <p:spTgt spid="88"/>
                                        </p:tgtEl>
                                      </p:cBhvr>
                                      <p:to x="100000" y="95000"/>
                                    </p:animScale>
                                    <p:animScale>
                                      <p:cBhvr>
                                        <p:cTn id="20" dur="166" decel="50000">
                                          <p:stCondLst>
                                            <p:cond delay="1834"/>
                                          </p:stCondLst>
                                        </p:cTn>
                                        <p:tgtEl>
                                          <p:spTgt spid="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SciPy</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库是</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Python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的一个高级科学计算库，它依赖于</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库运行，并且它一般都是操控</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Numpy</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的数组来进行科学计算、统计分析</a:t>
            </a:r>
            <a:r>
              <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1.5 SciPy</a:t>
            </a:r>
            <a:r>
              <a:rPr lang="zh-CN" altLang="en-US" sz="2800" b="1" dirty="0">
                <a:solidFill>
                  <a:srgbClr val="0070C0"/>
                </a:solidFill>
                <a:latin typeface="微软雅黑" panose="020B0503020204020204" pitchFamily="34" charset="-122"/>
                <a:ea typeface="微软雅黑" panose="020B0503020204020204" pitchFamily="34" charset="-122"/>
              </a:rPr>
              <a:t>库</a:t>
            </a:r>
          </a:p>
        </p:txBody>
      </p:sp>
      <p:graphicFrame>
        <p:nvGraphicFramePr>
          <p:cNvPr id="2" name="表格 1"/>
          <p:cNvGraphicFramePr>
            <a:graphicFrameLocks noGrp="1"/>
          </p:cNvGraphicFramePr>
          <p:nvPr>
            <p:extLst>
              <p:ext uri="{D42A27DB-BD31-4B8C-83A1-F6EECF244321}">
                <p14:modId xmlns:p14="http://schemas.microsoft.com/office/powerpoint/2010/main" val="3142466835"/>
              </p:ext>
            </p:extLst>
          </p:nvPr>
        </p:nvGraphicFramePr>
        <p:xfrm>
          <a:off x="411481" y="2941320"/>
          <a:ext cx="8170800" cy="2971800"/>
        </p:xfrm>
        <a:graphic>
          <a:graphicData uri="http://schemas.openxmlformats.org/drawingml/2006/table">
            <a:tbl>
              <a:tblPr firstRow="1" firstCol="1" bandRow="1">
                <a:tableStyleId>{5C22544A-7EE6-4342-B048-85BDC9FD1C3A}</a:tableStyleId>
              </a:tblPr>
              <a:tblGrid>
                <a:gridCol w="1699895">
                  <a:extLst>
                    <a:ext uri="{9D8B030D-6E8A-4147-A177-3AD203B41FA5}">
                      <a16:colId xmlns:a16="http://schemas.microsoft.com/office/drawing/2014/main" val="20000"/>
                    </a:ext>
                  </a:extLst>
                </a:gridCol>
                <a:gridCol w="2384547">
                  <a:extLst>
                    <a:ext uri="{9D8B030D-6E8A-4147-A177-3AD203B41FA5}">
                      <a16:colId xmlns:a16="http://schemas.microsoft.com/office/drawing/2014/main" val="20001"/>
                    </a:ext>
                  </a:extLst>
                </a:gridCol>
                <a:gridCol w="1212093">
                  <a:extLst>
                    <a:ext uri="{9D8B030D-6E8A-4147-A177-3AD203B41FA5}">
                      <a16:colId xmlns:a16="http://schemas.microsoft.com/office/drawing/2014/main" val="20002"/>
                    </a:ext>
                  </a:extLst>
                </a:gridCol>
                <a:gridCol w="2874265">
                  <a:extLst>
                    <a:ext uri="{9D8B030D-6E8A-4147-A177-3AD203B41FA5}">
                      <a16:colId xmlns:a16="http://schemas.microsoft.com/office/drawing/2014/main" val="20003"/>
                    </a:ext>
                  </a:extLst>
                </a:gridCol>
              </a:tblGrid>
              <a:tr h="411480">
                <a:tc>
                  <a:txBody>
                    <a:bodyPr/>
                    <a:lstStyle/>
                    <a:p>
                      <a:pPr algn="ctr">
                        <a:spcAft>
                          <a:spcPts val="0"/>
                        </a:spcAft>
                      </a:pPr>
                      <a:r>
                        <a:rPr lang="zh-CN" sz="2400" kern="100" dirty="0">
                          <a:solidFill>
                            <a:schemeClr val="accent1"/>
                          </a:solidFill>
                          <a:effectLst/>
                        </a:rPr>
                        <a:t>子模块</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功能</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子模块</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功能</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0">
                <a:tc>
                  <a:txBody>
                    <a:bodyPr/>
                    <a:lstStyle/>
                    <a:p>
                      <a:pPr algn="ctr">
                        <a:spcAft>
                          <a:spcPts val="0"/>
                        </a:spcAft>
                      </a:pPr>
                      <a:r>
                        <a:rPr lang="en-US" sz="2400" b="0" kern="100">
                          <a:solidFill>
                            <a:schemeClr val="accent1"/>
                          </a:solidFill>
                          <a:effectLst/>
                        </a:rPr>
                        <a:t>constans</a:t>
                      </a:r>
                      <a:endParaRPr lang="zh-CN" sz="2400" b="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物理和数学函数</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cluster</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聚类算法</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0">
                <a:tc>
                  <a:txBody>
                    <a:bodyPr/>
                    <a:lstStyle/>
                    <a:p>
                      <a:pPr algn="ctr">
                        <a:spcAft>
                          <a:spcPts val="0"/>
                        </a:spcAft>
                      </a:pPr>
                      <a:r>
                        <a:rPr lang="en-US" sz="2400" b="0" kern="100" dirty="0">
                          <a:solidFill>
                            <a:schemeClr val="accent1"/>
                          </a:solidFill>
                          <a:effectLst/>
                        </a:rPr>
                        <a:t>interpolate</a:t>
                      </a:r>
                      <a:endParaRPr lang="zh-CN" sz="2400" b="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拟合和平滑曲线</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linalg</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线性代数</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0">
                <a:tc>
                  <a:txBody>
                    <a:bodyPr/>
                    <a:lstStyle/>
                    <a:p>
                      <a:pPr algn="ctr">
                        <a:spcAft>
                          <a:spcPts val="0"/>
                        </a:spcAft>
                      </a:pPr>
                      <a:r>
                        <a:rPr lang="en-US" sz="2400" b="0" kern="100">
                          <a:solidFill>
                            <a:schemeClr val="accent1"/>
                          </a:solidFill>
                          <a:effectLst/>
                        </a:rPr>
                        <a:t>io</a:t>
                      </a:r>
                      <a:endParaRPr lang="zh-CN" sz="2400" b="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输入和输出</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ndimage</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N</a:t>
                      </a:r>
                      <a:r>
                        <a:rPr lang="zh-CN" sz="2400" kern="100">
                          <a:solidFill>
                            <a:schemeClr val="accent1"/>
                          </a:solidFill>
                          <a:effectLst/>
                        </a:rPr>
                        <a:t>维图像处理</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0">
                <a:tc>
                  <a:txBody>
                    <a:bodyPr/>
                    <a:lstStyle/>
                    <a:p>
                      <a:pPr algn="ctr">
                        <a:spcAft>
                          <a:spcPts val="0"/>
                        </a:spcAft>
                      </a:pPr>
                      <a:r>
                        <a:rPr lang="en-US" sz="2400" b="0" kern="100">
                          <a:solidFill>
                            <a:schemeClr val="accent1"/>
                          </a:solidFill>
                          <a:effectLst/>
                        </a:rPr>
                        <a:t>maxentropy</a:t>
                      </a:r>
                      <a:endParaRPr lang="zh-CN" sz="2400" b="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最大熵模型</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optimize</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求最优化解</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ctr">
                        <a:spcAft>
                          <a:spcPts val="0"/>
                        </a:spcAft>
                      </a:pPr>
                      <a:r>
                        <a:rPr lang="en-US" sz="2400" b="0" kern="100">
                          <a:solidFill>
                            <a:schemeClr val="accent1"/>
                          </a:solidFill>
                          <a:effectLst/>
                        </a:rPr>
                        <a:t>odr</a:t>
                      </a:r>
                      <a:endParaRPr lang="zh-CN" sz="2400" b="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正交距离回归</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sparse</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spcAft>
                          <a:spcPts val="0"/>
                        </a:spcAft>
                      </a:pPr>
                      <a:r>
                        <a:rPr lang="zh-CN" sz="2400" kern="100" dirty="0">
                          <a:solidFill>
                            <a:schemeClr val="accent1"/>
                          </a:solidFill>
                          <a:effectLst/>
                        </a:rPr>
                        <a:t>稀疏矩阵以及相关程序</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0">
                <a:tc>
                  <a:txBody>
                    <a:bodyPr/>
                    <a:lstStyle/>
                    <a:p>
                      <a:pPr algn="ctr">
                        <a:spcAft>
                          <a:spcPts val="0"/>
                        </a:spcAft>
                      </a:pPr>
                      <a:r>
                        <a:rPr lang="en-US" sz="2400" b="0" kern="100" dirty="0">
                          <a:solidFill>
                            <a:schemeClr val="accent1"/>
                          </a:solidFill>
                          <a:effectLst/>
                        </a:rPr>
                        <a:t>signal</a:t>
                      </a:r>
                      <a:endParaRPr lang="zh-CN" sz="2400" b="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a:solidFill>
                            <a:schemeClr val="accent1"/>
                          </a:solidFill>
                          <a:effectLst/>
                        </a:rPr>
                        <a:t>信号处理</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en-US" sz="2400" kern="100">
                          <a:solidFill>
                            <a:schemeClr val="accent1"/>
                          </a:solidFill>
                          <a:effectLst/>
                        </a:rPr>
                        <a:t>special</a:t>
                      </a:r>
                      <a:endParaRPr lang="zh-CN" sz="2400" kern="10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accent1"/>
                          </a:solidFill>
                          <a:effectLst/>
                        </a:rPr>
                        <a:t>特殊函数</a:t>
                      </a:r>
                      <a:endParaRPr lang="zh-CN" sz="2400" kern="100" dirty="0">
                        <a:solidFill>
                          <a:schemeClr val="accent1"/>
                        </a:solidFill>
                        <a:effectLst/>
                        <a:latin typeface="Calibri"/>
                        <a:ea typeface="宋体"/>
                        <a:cs typeface="Times New Roman"/>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求解最优化问题</a:t>
            </a:r>
          </a:p>
        </p:txBody>
      </p:sp>
      <p:sp>
        <p:nvSpPr>
          <p:cNvPr id="4" name="Rectangle 4"/>
          <p:cNvSpPr>
            <a:spLocks noChangeArrowheads="1"/>
          </p:cNvSpPr>
          <p:nvPr/>
        </p:nvSpPr>
        <p:spPr bwMode="auto">
          <a:xfrm>
            <a:off x="299945" y="1517885"/>
            <a:ext cx="806681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numpy as np</a:t>
            </a:r>
          </a:p>
          <a:p>
            <a:r>
              <a:rPr lang="en-US" altLang="zh-CN" sz="2400" dirty="0">
                <a:latin typeface="Times New Roman" panose="02020603050405020304" pitchFamily="18" charset="0"/>
                <a:cs typeface="Times New Roman" panose="02020603050405020304" pitchFamily="18" charset="0"/>
              </a:rPr>
              <a:t>from matplotlib import pyplot as plt</a:t>
            </a:r>
          </a:p>
          <a:p>
            <a:r>
              <a:rPr lang="en-US" altLang="zh-CN" sz="2400" dirty="0">
                <a:latin typeface="Times New Roman" panose="02020603050405020304" pitchFamily="18" charset="0"/>
                <a:cs typeface="Times New Roman" panose="02020603050405020304" pitchFamily="18" charset="0"/>
              </a:rPr>
              <a:t>from scipy import </a:t>
            </a:r>
            <a:r>
              <a:rPr lang="en-US" altLang="zh-CN" sz="2400" dirty="0">
                <a:solidFill>
                  <a:schemeClr val="accent1"/>
                </a:solidFill>
                <a:latin typeface="Times New Roman" panose="02020603050405020304" pitchFamily="18" charset="0"/>
                <a:cs typeface="Times New Roman" panose="02020603050405020304" pitchFamily="18" charset="0"/>
              </a:rPr>
              <a:t>optimize</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x=np.linspace(-5,3,100) 	</a:t>
            </a:r>
          </a:p>
          <a:p>
            <a:r>
              <a:rPr lang="en-US" altLang="zh-CN" sz="2400" dirty="0">
                <a:latin typeface="Times New Roman" panose="02020603050405020304" pitchFamily="18" charset="0"/>
                <a:cs typeface="Times New Roman" panose="02020603050405020304" pitchFamily="18" charset="0"/>
              </a:rPr>
              <a:t>def f(x):</a:t>
            </a:r>
          </a:p>
          <a:p>
            <a:r>
              <a:rPr lang="en-US" altLang="zh-CN" sz="2400" dirty="0">
                <a:latin typeface="Times New Roman" panose="02020603050405020304" pitchFamily="18" charset="0"/>
                <a:cs typeface="Times New Roman" panose="02020603050405020304" pitchFamily="18" charset="0"/>
              </a:rPr>
              <a:t>    return 4*x**3+(x-2)**2+x**4</a:t>
            </a:r>
          </a:p>
          <a:p>
            <a:r>
              <a:rPr lang="en-US" altLang="zh-CN" sz="2400" dirty="0">
                <a:latin typeface="Times New Roman" panose="02020603050405020304" pitchFamily="18" charset="0"/>
                <a:cs typeface="Times New Roman" panose="02020603050405020304" pitchFamily="18" charset="0"/>
              </a:rPr>
              <a:t>x_min_local=optimize</a:t>
            </a:r>
            <a:r>
              <a:rPr lang="en-US" altLang="zh-CN" sz="2400" dirty="0">
                <a:solidFill>
                  <a:schemeClr val="accent1"/>
                </a:solidFill>
                <a:latin typeface="Times New Roman" panose="02020603050405020304" pitchFamily="18" charset="0"/>
                <a:cs typeface="Times New Roman" panose="02020603050405020304" pitchFamily="18" charset="0"/>
              </a:rPr>
              <a:t>.fmin_bfgs</a:t>
            </a:r>
            <a:r>
              <a:rPr lang="en-US" altLang="zh-CN" sz="2400" dirty="0">
                <a:latin typeface="Times New Roman" panose="02020603050405020304" pitchFamily="18" charset="0"/>
                <a:cs typeface="Times New Roman" panose="02020603050405020304" pitchFamily="18" charset="0"/>
              </a:rPr>
              <a:t>(f,2)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print('f(x)</a:t>
            </a:r>
            <a:r>
              <a:rPr lang="zh-CN" altLang="en-US" sz="2400" dirty="0">
                <a:latin typeface="Times New Roman" panose="02020603050405020304" pitchFamily="18" charset="0"/>
                <a:cs typeface="Times New Roman" panose="02020603050405020304" pitchFamily="18" charset="0"/>
              </a:rPr>
              <a:t>极小值点</a:t>
            </a:r>
            <a:r>
              <a:rPr lang="en-US" altLang="zh-CN" sz="2400" dirty="0">
                <a:latin typeface="Times New Roman" panose="02020603050405020304" pitchFamily="18" charset="0"/>
                <a:cs typeface="Times New Roman" panose="02020603050405020304" pitchFamily="18" charset="0"/>
              </a:rPr>
              <a:t>:',x_min_local)</a:t>
            </a:r>
          </a:p>
          <a:p>
            <a:r>
              <a:rPr lang="en-US" altLang="zh-CN" sz="2400" dirty="0">
                <a:latin typeface="Times New Roman" panose="02020603050405020304" pitchFamily="18" charset="0"/>
                <a:cs typeface="Times New Roman" panose="02020603050405020304" pitchFamily="18" charset="0"/>
              </a:rPr>
              <a:t>x_max_global=optimize.fminbound(f,-10,10)</a:t>
            </a:r>
          </a:p>
          <a:p>
            <a:r>
              <a:rPr lang="en-US" altLang="zh-CN" sz="2400" dirty="0">
                <a:latin typeface="Times New Roman" panose="02020603050405020304" pitchFamily="18" charset="0"/>
                <a:cs typeface="Times New Roman" panose="02020603050405020304" pitchFamily="18" charset="0"/>
              </a:rPr>
              <a:t>print('</a:t>
            </a:r>
            <a:r>
              <a:rPr lang="zh-CN" altLang="en-US" sz="2400" dirty="0">
                <a:latin typeface="Times New Roman" panose="02020603050405020304" pitchFamily="18" charset="0"/>
                <a:cs typeface="Times New Roman" panose="02020603050405020304" pitchFamily="18" charset="0"/>
              </a:rPr>
              <a:t>取得极小值时的</a:t>
            </a:r>
            <a:r>
              <a:rPr lang="en-US" altLang="zh-CN" sz="2400" dirty="0">
                <a:latin typeface="Times New Roman" panose="02020603050405020304" pitchFamily="18" charset="0"/>
                <a:cs typeface="Times New Roman" panose="02020603050405020304" pitchFamily="18" charset="0"/>
              </a:rPr>
              <a:t>x</a:t>
            </a:r>
            <a:r>
              <a:rPr lang="zh-CN" altLang="en-US" sz="2400" dirty="0">
                <a:latin typeface="Times New Roman" panose="02020603050405020304" pitchFamily="18" charset="0"/>
                <a:cs typeface="Times New Roman" panose="02020603050405020304" pitchFamily="18" charset="0"/>
              </a:rPr>
              <a:t>值</a:t>
            </a:r>
            <a:r>
              <a:rPr lang="en-US" altLang="zh-CN" sz="2400" dirty="0">
                <a:latin typeface="Times New Roman" panose="02020603050405020304" pitchFamily="18" charset="0"/>
                <a:cs typeface="Times New Roman" panose="02020603050405020304" pitchFamily="18" charset="0"/>
              </a:rPr>
              <a:t>:',x_max_global)</a:t>
            </a:r>
          </a:p>
          <a:p>
            <a:r>
              <a:rPr lang="en-US" altLang="zh-CN" sz="2400" dirty="0">
                <a:latin typeface="Times New Roman" panose="02020603050405020304" pitchFamily="18" charset="0"/>
                <a:cs typeface="Times New Roman" panose="02020603050405020304" pitchFamily="18" charset="0"/>
              </a:rPr>
              <a:t>plt.plot(x,f(x))</a:t>
            </a:r>
          </a:p>
          <a:p>
            <a:r>
              <a:rPr lang="en-US" altLang="zh-CN" sz="2400" dirty="0">
                <a:latin typeface="Times New Roman" panose="02020603050405020304" pitchFamily="18" charset="0"/>
                <a:cs typeface="Times New Roman" panose="02020603050405020304" pitchFamily="18" charset="0"/>
              </a:rPr>
              <a:t>plt.show()</a:t>
            </a:r>
          </a:p>
        </p:txBody>
      </p:sp>
      <p:sp>
        <p:nvSpPr>
          <p:cNvPr id="7" name="矩形 6"/>
          <p:cNvSpPr/>
          <p:nvPr/>
        </p:nvSpPr>
        <p:spPr>
          <a:xfrm>
            <a:off x="467265" y="862919"/>
            <a:ext cx="6655989"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1-24]</a:t>
            </a:r>
            <a:r>
              <a:rPr lang="zh-CN" altLang="en-US" sz="2800" b="1" dirty="0">
                <a:solidFill>
                  <a:srgbClr val="0070C0"/>
                </a:solidFill>
                <a:latin typeface="微软雅黑" panose="020B0503020204020204" pitchFamily="34" charset="-122"/>
                <a:ea typeface="微软雅黑" panose="020B0503020204020204" pitchFamily="34" charset="-122"/>
              </a:rPr>
              <a:t>求函数</a:t>
            </a:r>
            <a:r>
              <a:rPr lang="en-US" altLang="zh-CN" sz="2800" b="1" dirty="0">
                <a:solidFill>
                  <a:srgbClr val="0070C0"/>
                </a:solidFill>
                <a:latin typeface="微软雅黑" panose="020B0503020204020204" pitchFamily="34" charset="-122"/>
                <a:ea typeface="微软雅黑" panose="020B0503020204020204" pitchFamily="34" charset="-122"/>
              </a:rPr>
              <a:t>4x</a:t>
            </a:r>
            <a:r>
              <a:rPr lang="en-US" altLang="zh-CN" sz="2800" b="1" baseline="30000" dirty="0">
                <a:solidFill>
                  <a:srgbClr val="0070C0"/>
                </a:solidFill>
                <a:latin typeface="微软雅黑" panose="020B0503020204020204" pitchFamily="34" charset="-122"/>
                <a:ea typeface="微软雅黑" panose="020B0503020204020204" pitchFamily="34" charset="-122"/>
              </a:rPr>
              <a:t>3</a:t>
            </a:r>
            <a:r>
              <a:rPr lang="en-US" altLang="zh-CN" sz="2800" b="1" dirty="0">
                <a:solidFill>
                  <a:srgbClr val="0070C0"/>
                </a:solidFill>
                <a:latin typeface="微软雅黑" panose="020B0503020204020204" pitchFamily="34" charset="-122"/>
                <a:ea typeface="微软雅黑" panose="020B0503020204020204" pitchFamily="34" charset="-122"/>
              </a:rPr>
              <a:t>+(x-2)</a:t>
            </a:r>
            <a:r>
              <a:rPr lang="en-US" altLang="zh-CN" sz="2800" b="1" baseline="30000" dirty="0">
                <a:solidFill>
                  <a:srgbClr val="0070C0"/>
                </a:solidFill>
                <a:latin typeface="微软雅黑" panose="020B0503020204020204" pitchFamily="34" charset="-122"/>
                <a:ea typeface="微软雅黑" panose="020B0503020204020204" pitchFamily="34" charset="-122"/>
              </a:rPr>
              <a:t>2</a:t>
            </a:r>
            <a:r>
              <a:rPr lang="en-US" altLang="zh-CN" sz="2800" b="1" dirty="0">
                <a:solidFill>
                  <a:srgbClr val="0070C0"/>
                </a:solidFill>
                <a:latin typeface="微软雅黑" panose="020B0503020204020204" pitchFamily="34" charset="-122"/>
                <a:ea typeface="微软雅黑" panose="020B0503020204020204" pitchFamily="34" charset="-122"/>
              </a:rPr>
              <a:t>+x</a:t>
            </a:r>
            <a:r>
              <a:rPr lang="en-US" altLang="zh-CN" sz="2800" b="1" baseline="30000" dirty="0">
                <a:solidFill>
                  <a:srgbClr val="0070C0"/>
                </a:solidFill>
                <a:latin typeface="微软雅黑" panose="020B0503020204020204" pitchFamily="34" charset="-122"/>
                <a:ea typeface="微软雅黑" panose="020B0503020204020204" pitchFamily="34" charset="-122"/>
              </a:rPr>
              <a:t>4</a:t>
            </a:r>
            <a:r>
              <a:rPr lang="zh-CN" altLang="en-US" sz="2800" b="1" dirty="0">
                <a:solidFill>
                  <a:srgbClr val="0070C0"/>
                </a:solidFill>
                <a:latin typeface="微软雅黑" panose="020B0503020204020204" pitchFamily="34" charset="-122"/>
                <a:ea typeface="微软雅黑" panose="020B0503020204020204" pitchFamily="34" charset="-122"/>
              </a:rPr>
              <a:t>的极值</a:t>
            </a:r>
          </a:p>
        </p:txBody>
      </p:sp>
      <p:sp>
        <p:nvSpPr>
          <p:cNvPr id="8" name="矩形 7"/>
          <p:cNvSpPr/>
          <p:nvPr/>
        </p:nvSpPr>
        <p:spPr>
          <a:xfrm>
            <a:off x="6197623" y="164398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3" name="Picture 2" descr="及值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9880" y="2254455"/>
            <a:ext cx="3349800" cy="222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3124200" y="5626701"/>
            <a:ext cx="5745480" cy="830997"/>
          </a:xfrm>
          <a:prstGeom prst="rect">
            <a:avLst/>
          </a:prstGeom>
          <a:solidFill>
            <a:schemeClr val="bg2"/>
          </a:solidFill>
        </p:spPr>
        <p:txBody>
          <a:bodyPr wrap="square">
            <a:spAutoFit/>
          </a:bodyPr>
          <a:lstStyle/>
          <a:p>
            <a:r>
              <a:rPr lang="en-US" altLang="zh-CN" sz="2400" dirty="0"/>
              <a:t>f(x)</a:t>
            </a:r>
            <a:r>
              <a:rPr lang="zh-CN" altLang="zh-CN" sz="2400" dirty="0"/>
              <a:t>极小值点</a:t>
            </a:r>
            <a:r>
              <a:rPr lang="en-US" altLang="zh-CN" sz="2400" dirty="0"/>
              <a:t>: [0.46961766]</a:t>
            </a:r>
            <a:endParaRPr lang="zh-CN" altLang="zh-CN" sz="2400" dirty="0"/>
          </a:p>
          <a:p>
            <a:r>
              <a:rPr lang="zh-CN" altLang="zh-CN" sz="2400" dirty="0"/>
              <a:t>取得极小值时的</a:t>
            </a:r>
            <a:r>
              <a:rPr lang="en-US" altLang="zh-CN" sz="2400" dirty="0"/>
              <a:t>x</a:t>
            </a:r>
            <a:r>
              <a:rPr lang="zh-CN" altLang="zh-CN" sz="2400" dirty="0"/>
              <a:t>值</a:t>
            </a:r>
            <a:r>
              <a:rPr lang="en-US" altLang="zh-CN" sz="2400" dirty="0"/>
              <a:t>: -2.6729805844842622</a:t>
            </a:r>
            <a:endParaRPr lang="zh-CN" altLang="en-US" sz="2400" dirty="0"/>
          </a:p>
        </p:txBody>
      </p:sp>
    </p:spTree>
    <p:extLst>
      <p:ext uri="{BB962C8B-B14F-4D97-AF65-F5344CB8AC3E}">
        <p14:creationId xmlns:p14="http://schemas.microsoft.com/office/powerpoint/2010/main" val="17199987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图像高斯模糊处理</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lvl="0" indent="457200" defTabSz="913765">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SciPy</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中的</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ndimage</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模块用来实现图像处理功能，其中用来做图像滤波操作的是</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scipy.ndimage.filters </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模块。</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lv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图像的高斯模糊是经典的图像卷积例子。本质上，图像模糊就是将（灰度）图像</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I</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和一个高斯核进行卷积操作</a:t>
            </a:r>
            <a:r>
              <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lv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高斯模糊通常是其他图像处理操作的一部分，比如图像插值操作、兴趣点计算以及很多其他应用，因此具有重要应用价值</a:t>
            </a:r>
            <a:r>
              <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p>
          <a:p>
            <a:pPr marL="0" indent="457200" defTabSz="913765">
              <a:lnSpc>
                <a:spcPct val="150000"/>
              </a:lnSpc>
              <a:buNone/>
            </a:pPr>
            <a:endPar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图像模糊处理</a:t>
            </a:r>
          </a:p>
        </p:txBody>
      </p:sp>
    </p:spTree>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3082" y="109709"/>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图像模糊处理</a:t>
            </a:r>
          </a:p>
        </p:txBody>
      </p:sp>
      <p:sp>
        <p:nvSpPr>
          <p:cNvPr id="4" name="Rectangle 4"/>
          <p:cNvSpPr>
            <a:spLocks noChangeArrowheads="1"/>
          </p:cNvSpPr>
          <p:nvPr/>
        </p:nvSpPr>
        <p:spPr bwMode="auto">
          <a:xfrm>
            <a:off x="299945" y="1101047"/>
            <a:ext cx="806681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PIL import Image</a:t>
            </a:r>
          </a:p>
          <a:p>
            <a:r>
              <a:rPr lang="en-US" altLang="zh-CN" sz="2400" dirty="0">
                <a:latin typeface="Times New Roman" panose="02020603050405020304" pitchFamily="18" charset="0"/>
                <a:cs typeface="Times New Roman" panose="02020603050405020304" pitchFamily="18" charset="0"/>
              </a:rPr>
              <a:t>import numpy as np</a:t>
            </a:r>
          </a:p>
          <a:p>
            <a:r>
              <a:rPr lang="en-US" altLang="zh-CN" sz="2400" dirty="0">
                <a:latin typeface="Times New Roman" panose="02020603050405020304" pitchFamily="18" charset="0"/>
                <a:cs typeface="Times New Roman" panose="02020603050405020304" pitchFamily="18" charset="0"/>
              </a:rPr>
              <a:t>from scipy.ndimage import filters	</a:t>
            </a:r>
          </a:p>
          <a:p>
            <a:r>
              <a:rPr lang="en-US" altLang="zh-CN" sz="2400" dirty="0">
                <a:latin typeface="Times New Roman" panose="02020603050405020304" pitchFamily="18" charset="0"/>
                <a:cs typeface="Times New Roman" panose="02020603050405020304" pitchFamily="18" charset="0"/>
              </a:rPr>
              <a:t>import matplotlib.pyplot as plt </a:t>
            </a:r>
          </a:p>
          <a:p>
            <a:r>
              <a:rPr lang="en-US" altLang="zh-CN" sz="2400" dirty="0">
                <a:latin typeface="Times New Roman" panose="02020603050405020304" pitchFamily="18" charset="0"/>
                <a:cs typeface="Times New Roman" panose="02020603050405020304" pitchFamily="18" charset="0"/>
              </a:rPr>
              <a:t>im = np.array(Image.open('D:\\wfz.jpg'))</a:t>
            </a:r>
          </a:p>
          <a:p>
            <a:r>
              <a:rPr lang="en-US" altLang="zh-CN" sz="2400" dirty="0">
                <a:latin typeface="Times New Roman" panose="02020603050405020304" pitchFamily="18" charset="0"/>
                <a:cs typeface="Times New Roman" panose="02020603050405020304" pitchFamily="18" charset="0"/>
              </a:rPr>
              <a:t>plt.subplot(141)</a:t>
            </a:r>
          </a:p>
          <a:p>
            <a:r>
              <a:rPr lang="en-US" altLang="zh-CN" sz="2400" dirty="0">
                <a:latin typeface="Times New Roman" panose="02020603050405020304" pitchFamily="18" charset="0"/>
                <a:cs typeface="Times New Roman" panose="02020603050405020304" pitchFamily="18" charset="0"/>
              </a:rPr>
              <a:t>plt.imshow(im)</a:t>
            </a:r>
          </a:p>
          <a:p>
            <a:r>
              <a:rPr lang="en-US" altLang="zh-CN" sz="2400" dirty="0">
                <a:latin typeface="Times New Roman" panose="02020603050405020304" pitchFamily="18" charset="0"/>
                <a:cs typeface="Times New Roman" panose="02020603050405020304" pitchFamily="18" charset="0"/>
              </a:rPr>
              <a:t>for sigma in (2, 5, 10): </a:t>
            </a:r>
          </a:p>
          <a:p>
            <a:r>
              <a:rPr lang="en-US" altLang="zh-CN" sz="2400" dirty="0">
                <a:latin typeface="Times New Roman" panose="02020603050405020304" pitchFamily="18" charset="0"/>
                <a:cs typeface="Times New Roman" panose="02020603050405020304" pitchFamily="18" charset="0"/>
              </a:rPr>
              <a:t>im_blur = np.zeros(im.shape, dtype=np.uint8)</a:t>
            </a:r>
          </a:p>
          <a:p>
            <a:r>
              <a:rPr lang="en-US" altLang="zh-CN" sz="2400" dirty="0">
                <a:latin typeface="Times New Roman" panose="02020603050405020304" pitchFamily="18" charset="0"/>
                <a:cs typeface="Times New Roman" panose="02020603050405020304" pitchFamily="18" charset="0"/>
              </a:rPr>
              <a:t>    for i in range(3):</a:t>
            </a:r>
            <a:endParaRPr lang="zh-CN" altLang="en-US" sz="2400" dirty="0">
              <a:latin typeface="Times New Roman" panose="02020603050405020304" pitchFamily="18" charset="0"/>
              <a:cs typeface="Times New Roman" panose="02020603050405020304" pitchFamily="18" charset="0"/>
            </a:endParaRPr>
          </a:p>
          <a:p>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im_blur[:,:,i] = filters.gaussian_filter(im[:,:,i], sigma)</a:t>
            </a:r>
          </a:p>
          <a:p>
            <a:r>
              <a:rPr lang="en-US" altLang="zh-CN" sz="2400" dirty="0">
                <a:latin typeface="Times New Roman" panose="02020603050405020304" pitchFamily="18" charset="0"/>
                <a:cs typeface="Times New Roman" panose="02020603050405020304" pitchFamily="18" charset="0"/>
              </a:rPr>
              <a:t>    index += 1</a:t>
            </a:r>
          </a:p>
          <a:p>
            <a:r>
              <a:rPr lang="en-US" altLang="zh-CN" sz="2400" dirty="0">
                <a:latin typeface="Times New Roman" panose="02020603050405020304" pitchFamily="18" charset="0"/>
                <a:cs typeface="Times New Roman" panose="02020603050405020304" pitchFamily="18" charset="0"/>
              </a:rPr>
              <a:t>    plt.subplot(141)</a:t>
            </a:r>
          </a:p>
          <a:p>
            <a:r>
              <a:rPr lang="en-US" altLang="zh-CN" sz="2400" dirty="0">
                <a:latin typeface="Times New Roman" panose="02020603050405020304" pitchFamily="18" charset="0"/>
                <a:cs typeface="Times New Roman" panose="02020603050405020304" pitchFamily="18" charset="0"/>
              </a:rPr>
              <a:t>    plt.imshow(im_blur)</a:t>
            </a:r>
          </a:p>
          <a:p>
            <a:r>
              <a:rPr lang="en-US" altLang="zh-CN" sz="2400" dirty="0">
                <a:latin typeface="Times New Roman" panose="02020603050405020304" pitchFamily="18" charset="0"/>
                <a:cs typeface="Times New Roman" panose="02020603050405020304" pitchFamily="18" charset="0"/>
              </a:rPr>
              <a:t>plt.show()</a:t>
            </a:r>
          </a:p>
        </p:txBody>
      </p:sp>
      <p:sp>
        <p:nvSpPr>
          <p:cNvPr id="7" name="矩形 6"/>
          <p:cNvSpPr/>
          <p:nvPr/>
        </p:nvSpPr>
        <p:spPr>
          <a:xfrm>
            <a:off x="467265" y="702277"/>
            <a:ext cx="774763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1-25]</a:t>
            </a:r>
            <a:r>
              <a:rPr lang="zh-CN" altLang="en-US" sz="2800" b="1" dirty="0">
                <a:solidFill>
                  <a:srgbClr val="0070C0"/>
                </a:solidFill>
                <a:latin typeface="微软雅黑" panose="020B0503020204020204" pitchFamily="34" charset="-122"/>
                <a:ea typeface="微软雅黑" panose="020B0503020204020204" pitchFamily="34" charset="-122"/>
              </a:rPr>
              <a:t>快速一维分离计算卷积实现高斯模糊</a:t>
            </a:r>
          </a:p>
        </p:txBody>
      </p:sp>
      <p:sp>
        <p:nvSpPr>
          <p:cNvPr id="8" name="矩形 7"/>
          <p:cNvSpPr/>
          <p:nvPr/>
        </p:nvSpPr>
        <p:spPr>
          <a:xfrm>
            <a:off x="6745801" y="4265262"/>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9218" name="Picture 2" descr="46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3714" y="5176202"/>
            <a:ext cx="4317266" cy="1526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36166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圆角矩形 66"/>
          <p:cNvSpPr/>
          <p:nvPr/>
        </p:nvSpPr>
        <p:spPr>
          <a:xfrm>
            <a:off x="3893405" y="146721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1</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4700499" y="1467217"/>
            <a:ext cx="3459941" cy="511238"/>
            <a:chOff x="6339097" y="1573726"/>
            <a:chExt cx="3744416" cy="511504"/>
          </a:xfrm>
        </p:grpSpPr>
        <p:sp>
          <p:nvSpPr>
            <p:cNvPr id="69" name="圆角矩形 6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0" name="矩形 69"/>
            <p:cNvSpPr/>
            <p:nvPr/>
          </p:nvSpPr>
          <p:spPr>
            <a:xfrm>
              <a:off x="6723349" y="1614014"/>
              <a:ext cx="3196827"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程序入门</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3893405" y="2303235"/>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2</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4682598" y="2303235"/>
            <a:ext cx="3806082" cy="511238"/>
            <a:chOff x="6315199" y="2410178"/>
            <a:chExt cx="4097814" cy="511504"/>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4" name="矩形 73"/>
            <p:cNvSpPr/>
            <p:nvPr/>
          </p:nvSpPr>
          <p:spPr>
            <a:xfrm>
              <a:off x="6747247" y="2450466"/>
              <a:ext cx="3665766"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Python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数据分析工具</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3893405" y="3188627"/>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3</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4700500" y="3188625"/>
            <a:ext cx="3459941" cy="511238"/>
            <a:chOff x="6339097" y="3296031"/>
            <a:chExt cx="3744417" cy="511504"/>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8" name="矩形 77"/>
            <p:cNvSpPr/>
            <p:nvPr/>
          </p:nvSpPr>
          <p:spPr>
            <a:xfrm>
              <a:off x="6513399" y="3336319"/>
              <a:ext cx="3570115" cy="431087"/>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MatPlotLib</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库数据可视化</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圆角矩形 78"/>
          <p:cNvSpPr/>
          <p:nvPr/>
        </p:nvSpPr>
        <p:spPr>
          <a:xfrm>
            <a:off x="3893405" y="407303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4</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80" name="组合 79"/>
          <p:cNvGrpSpPr/>
          <p:nvPr/>
        </p:nvGrpSpPr>
        <p:grpSpPr>
          <a:xfrm>
            <a:off x="4700499" y="4073036"/>
            <a:ext cx="3459941" cy="511237"/>
            <a:chOff x="6339097" y="4180903"/>
            <a:chExt cx="3744416" cy="511504"/>
          </a:xfrm>
        </p:grpSpPr>
        <p:sp>
          <p:nvSpPr>
            <p:cNvPr id="81" name="圆角矩形 80"/>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82" name="矩形 81"/>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SciPy</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科学计算</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04800" y="2219405"/>
            <a:ext cx="3426106" cy="1600329"/>
          </a:xfrm>
          <a:prstGeom prst="rect">
            <a:avLst/>
          </a:prstGeom>
          <a:noFill/>
        </p:spPr>
        <p:txBody>
          <a:bodyPr wrap="square" lIns="121817" tIns="60906" rIns="121817" bIns="60906">
            <a:spAutoFit/>
          </a:bodyPr>
          <a:lstStyle/>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主  要</a:t>
            </a:r>
            <a:endParaRPr lang="en-US" altLang="zh-CN" sz="4800" b="1" spc="200" dirty="0">
              <a:solidFill>
                <a:srgbClr val="0070C0"/>
              </a:solidFill>
              <a:latin typeface="微软雅黑" panose="020B0503020204020204" pitchFamily="34" charset="-122"/>
              <a:ea typeface="微软雅黑" panose="020B0503020204020204" pitchFamily="34" charset="-122"/>
            </a:endParaRPr>
          </a:p>
          <a:p>
            <a:pPr algn="ctr" defTabSz="1218565">
              <a:defRPr/>
            </a:pPr>
            <a:r>
              <a:rPr lang="zh-CN" altLang="en-US" sz="4800" b="1" spc="200" dirty="0">
                <a:solidFill>
                  <a:srgbClr val="0070C0"/>
                </a:solidFill>
                <a:latin typeface="微软雅黑" panose="020B0503020204020204" pitchFamily="34" charset="-122"/>
                <a:ea typeface="微软雅黑" panose="020B0503020204020204" pitchFamily="34" charset="-122"/>
              </a:rPr>
              <a:t>内  容</a:t>
            </a:r>
            <a:endParaRPr lang="zh-CN" altLang="en-US" sz="3200" b="1" spc="200" dirty="0">
              <a:solidFill>
                <a:srgbClr val="0070C0"/>
              </a:solidFill>
              <a:latin typeface="微软雅黑" panose="020B0503020204020204" pitchFamily="34" charset="-122"/>
              <a:ea typeface="微软雅黑" panose="020B0503020204020204" pitchFamily="34" charset="-122"/>
            </a:endParaRPr>
          </a:p>
        </p:txBody>
      </p:sp>
      <p:sp>
        <p:nvSpPr>
          <p:cNvPr id="88" name="下箭头 87"/>
          <p:cNvSpPr/>
          <p:nvPr/>
        </p:nvSpPr>
        <p:spPr>
          <a:xfrm rot="16200000">
            <a:off x="3181425" y="4910532"/>
            <a:ext cx="575764" cy="695523"/>
          </a:xfrm>
          <a:prstGeom prst="downArrow">
            <a:avLst/>
          </a:prstGeom>
          <a:solidFill>
            <a:srgbClr val="F5A609"/>
          </a:solidFill>
          <a:ln>
            <a:noFill/>
          </a:ln>
        </p:spPr>
        <p:style>
          <a:lnRef idx="2">
            <a:schemeClr val="accent1">
              <a:shade val="50000"/>
            </a:schemeClr>
          </a:lnRef>
          <a:fillRef idx="1">
            <a:schemeClr val="accent1"/>
          </a:fillRef>
          <a:effectRef idx="0">
            <a:schemeClr val="accent1"/>
          </a:effectRef>
          <a:fontRef idx="minor">
            <a:schemeClr val="lt1"/>
          </a:fontRef>
        </p:style>
        <p:txBody>
          <a:bodyPr lIns="91340" tIns="45671" rIns="91340" bIns="45671" rtlCol="0" anchor="ctr"/>
          <a:lstStyle/>
          <a:p>
            <a:pPr algn="ctr" defTabSz="1218565"/>
            <a:endParaRPr lang="zh-CN" altLang="en-US" sz="2400">
              <a:solidFill>
                <a:prstClr val="white"/>
              </a:solidFill>
              <a:latin typeface="Calibri" panose="020F0502020204030204"/>
              <a:ea typeface="宋体" panose="02010600030101010101" pitchFamily="2" charset="-122"/>
            </a:endParaRPr>
          </a:p>
        </p:txBody>
      </p:sp>
      <p:sp>
        <p:nvSpPr>
          <p:cNvPr id="25" name="圆角矩形 24"/>
          <p:cNvSpPr/>
          <p:nvPr/>
        </p:nvSpPr>
        <p:spPr>
          <a:xfrm>
            <a:off x="3894878" y="5002678"/>
            <a:ext cx="525109" cy="511238"/>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29" tIns="60914" rIns="121829" bIns="60914" anchor="ctr"/>
          <a:lstStyle/>
          <a:p>
            <a:pPr algn="ctr" defTabSz="1218565">
              <a:defRPr/>
            </a:pPr>
            <a:r>
              <a:rPr lang="en-US" altLang="zh-CN" sz="3600" dirty="0">
                <a:solidFill>
                  <a:prstClr val="white"/>
                </a:solidFill>
                <a:latin typeface="Calibri" panose="020F0502020204030204"/>
                <a:ea typeface="Arial Unicode MS" panose="020B0604020202020204" pitchFamily="34" charset="-122"/>
                <a:cs typeface="Arial Unicode MS" panose="020B0604020202020204" pitchFamily="34" charset="-122"/>
              </a:rPr>
              <a:t>5</a:t>
            </a: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grpSp>
        <p:nvGrpSpPr>
          <p:cNvPr id="26" name="组合 25"/>
          <p:cNvGrpSpPr/>
          <p:nvPr/>
        </p:nvGrpSpPr>
        <p:grpSpPr>
          <a:xfrm>
            <a:off x="4701972" y="5002676"/>
            <a:ext cx="3459941" cy="511237"/>
            <a:chOff x="6339097" y="4180903"/>
            <a:chExt cx="3744416" cy="511504"/>
          </a:xfrm>
        </p:grpSpPr>
        <p:sp>
          <p:nvSpPr>
            <p:cNvPr id="27" name="圆角矩形 26"/>
            <p:cNvSpPr/>
            <p:nvPr/>
          </p:nvSpPr>
          <p:spPr>
            <a:xfrm>
              <a:off x="6339097" y="4180903"/>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28" name="矩形 27"/>
            <p:cNvSpPr/>
            <p:nvPr/>
          </p:nvSpPr>
          <p:spPr>
            <a:xfrm>
              <a:off x="6723348" y="4221882"/>
              <a:ext cx="3196829" cy="431088"/>
            </a:xfrm>
            <a:prstGeom prst="rect">
              <a:avLst/>
            </a:prstGeom>
          </p:spPr>
          <p:txBody>
            <a:bodyPr wrap="square" lIns="121897" tIns="60948" rIns="121897" bIns="60948">
              <a:spAutoFit/>
            </a:bodyPr>
            <a:lstStyle/>
            <a:p>
              <a:pPr defTabSz="1218565">
                <a:defRPr/>
              </a:pP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Sklearn</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库</a:t>
              </a:r>
              <a:r>
                <a:rPr lang="en-US"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机器学习</a:t>
              </a:r>
              <a:endParaRPr lang="zh-CN" altLang="zh-CN" sz="20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6402503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wipe(down)">
                                      <p:cBhvr>
                                        <p:cTn id="7" dur="580">
                                          <p:stCondLst>
                                            <p:cond delay="0"/>
                                          </p:stCondLst>
                                        </p:cTn>
                                        <p:tgtEl>
                                          <p:spTgt spid="88"/>
                                        </p:tgtEl>
                                      </p:cBhvr>
                                    </p:animEffect>
                                    <p:anim calcmode="lin" valueType="num">
                                      <p:cBhvr>
                                        <p:cTn id="8" dur="1822" tmFilter="0,0; 0.14,0.36; 0.43,0.73; 0.71,0.91; 1.0,1.0">
                                          <p:stCondLst>
                                            <p:cond delay="0"/>
                                          </p:stCondLst>
                                        </p:cTn>
                                        <p:tgtEl>
                                          <p:spTgt spid="8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8"/>
                                        </p:tgtEl>
                                        <p:attrNameLst>
                                          <p:attrName>ppt_y</p:attrName>
                                        </p:attrNameLst>
                                      </p:cBhvr>
                                      <p:tavLst>
                                        <p:tav tm="0" fmla="#ppt_y-sin(pi*$)/81">
                                          <p:val>
                                            <p:fltVal val="0"/>
                                          </p:val>
                                        </p:tav>
                                        <p:tav tm="100000">
                                          <p:val>
                                            <p:fltVal val="1"/>
                                          </p:val>
                                        </p:tav>
                                      </p:tavLst>
                                    </p:anim>
                                    <p:animScale>
                                      <p:cBhvr>
                                        <p:cTn id="13" dur="26">
                                          <p:stCondLst>
                                            <p:cond delay="650"/>
                                          </p:stCondLst>
                                        </p:cTn>
                                        <p:tgtEl>
                                          <p:spTgt spid="88"/>
                                        </p:tgtEl>
                                      </p:cBhvr>
                                      <p:to x="100000" y="60000"/>
                                    </p:animScale>
                                    <p:animScale>
                                      <p:cBhvr>
                                        <p:cTn id="14" dur="166" decel="50000">
                                          <p:stCondLst>
                                            <p:cond delay="676"/>
                                          </p:stCondLst>
                                        </p:cTn>
                                        <p:tgtEl>
                                          <p:spTgt spid="88"/>
                                        </p:tgtEl>
                                      </p:cBhvr>
                                      <p:to x="100000" y="100000"/>
                                    </p:animScale>
                                    <p:animScale>
                                      <p:cBhvr>
                                        <p:cTn id="15" dur="26">
                                          <p:stCondLst>
                                            <p:cond delay="1312"/>
                                          </p:stCondLst>
                                        </p:cTn>
                                        <p:tgtEl>
                                          <p:spTgt spid="88"/>
                                        </p:tgtEl>
                                      </p:cBhvr>
                                      <p:to x="100000" y="80000"/>
                                    </p:animScale>
                                    <p:animScale>
                                      <p:cBhvr>
                                        <p:cTn id="16" dur="166" decel="50000">
                                          <p:stCondLst>
                                            <p:cond delay="1338"/>
                                          </p:stCondLst>
                                        </p:cTn>
                                        <p:tgtEl>
                                          <p:spTgt spid="88"/>
                                        </p:tgtEl>
                                      </p:cBhvr>
                                      <p:to x="100000" y="100000"/>
                                    </p:animScale>
                                    <p:animScale>
                                      <p:cBhvr>
                                        <p:cTn id="17" dur="26">
                                          <p:stCondLst>
                                            <p:cond delay="1642"/>
                                          </p:stCondLst>
                                        </p:cTn>
                                        <p:tgtEl>
                                          <p:spTgt spid="88"/>
                                        </p:tgtEl>
                                      </p:cBhvr>
                                      <p:to x="100000" y="90000"/>
                                    </p:animScale>
                                    <p:animScale>
                                      <p:cBhvr>
                                        <p:cTn id="18" dur="166" decel="50000">
                                          <p:stCondLst>
                                            <p:cond delay="1668"/>
                                          </p:stCondLst>
                                        </p:cTn>
                                        <p:tgtEl>
                                          <p:spTgt spid="88"/>
                                        </p:tgtEl>
                                      </p:cBhvr>
                                      <p:to x="100000" y="100000"/>
                                    </p:animScale>
                                    <p:animScale>
                                      <p:cBhvr>
                                        <p:cTn id="19" dur="26">
                                          <p:stCondLst>
                                            <p:cond delay="1808"/>
                                          </p:stCondLst>
                                        </p:cTn>
                                        <p:tgtEl>
                                          <p:spTgt spid="88"/>
                                        </p:tgtEl>
                                      </p:cBhvr>
                                      <p:to x="100000" y="95000"/>
                                    </p:animScale>
                                    <p:animScale>
                                      <p:cBhvr>
                                        <p:cTn id="20" dur="166" decel="50000">
                                          <p:stCondLst>
                                            <p:cond delay="1834"/>
                                          </p:stCondLst>
                                        </p:cTn>
                                        <p:tgtEl>
                                          <p:spTgt spid="8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09600" y="2407920"/>
            <a:ext cx="3139440" cy="624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lumMod val="20000"/>
                  <a:lumOff val="80000"/>
                </a:schemeClr>
              </a:solidFill>
            </a:endParaRPr>
          </a:p>
        </p:txBody>
      </p:sp>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机器学习的思想</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机器学习：从经验（实践）中学习</a:t>
            </a: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吃一堑，长一智</a:t>
            </a: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从大量事例中学习</a:t>
            </a:r>
            <a:r>
              <a:rPr lang="en-US"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吃十堑，长一智</a:t>
            </a:r>
            <a:r>
              <a:rPr lang="zh-CN"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srgbClr val="C00000"/>
                </a:solidFill>
                <a:latin typeface="Arial" panose="020B0604020202020204" pitchFamily="34" charset="0"/>
                <a:ea typeface="微软雅黑" panose="020B0503020204020204" pitchFamily="34" charset="-122"/>
                <a:cs typeface="Arial" panose="020B0604020202020204" pitchFamily="34" charset="0"/>
              </a:rPr>
              <a:t>机器学习的定义</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：如果一个程序可以在任务</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上，随着经验</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E</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的增加，效果</a:t>
            </a:r>
            <a:r>
              <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a:t>
            </a: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也随之增加，则称这个程序可以从经验中学习。</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2.5.1 </a:t>
            </a:r>
            <a:r>
              <a:rPr lang="zh-CN" altLang="en-US" sz="2800" b="1" dirty="0">
                <a:solidFill>
                  <a:srgbClr val="0070C0"/>
                </a:solidFill>
                <a:latin typeface="微软雅黑" panose="020B0503020204020204" pitchFamily="34" charset="-122"/>
                <a:ea typeface="微软雅黑" panose="020B0503020204020204" pitchFamily="34" charset="-122"/>
              </a:rPr>
              <a:t>机器学习的概念和方法</a:t>
            </a:r>
          </a:p>
        </p:txBody>
      </p:sp>
    </p:spTree>
    <p:extLst>
      <p:ext uri="{BB962C8B-B14F-4D97-AF65-F5344CB8AC3E}">
        <p14:creationId xmlns:p14="http://schemas.microsoft.com/office/powerpoint/2010/main" val="346782133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animEffect transition="in" filter="fade">
                                      <p:cBhvr>
                                        <p:cTn id="7" dur="500"/>
                                        <p:tgtEl>
                                          <p:spTgt spid="2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3" end="3"/>
                                            </p:txEl>
                                          </p:spTgt>
                                        </p:tgtEl>
                                        <p:attrNameLst>
                                          <p:attrName>style.visibility</p:attrName>
                                        </p:attrNameLst>
                                      </p:cBhvr>
                                      <p:to>
                                        <p:strVal val="visible"/>
                                      </p:to>
                                    </p:set>
                                    <p:animEffect transition="in" filter="fade">
                                      <p:cBhvr>
                                        <p:cTn id="12" dur="500"/>
                                        <p:tgtEl>
                                          <p:spTgt spid="2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4" end="4"/>
                                            </p:txEl>
                                          </p:spTgt>
                                        </p:tgtEl>
                                        <p:attrNameLst>
                                          <p:attrName>style.visibility</p:attrName>
                                        </p:attrNameLst>
                                      </p:cBhvr>
                                      <p:to>
                                        <p:strVal val="visible"/>
                                      </p:to>
                                    </p:set>
                                    <p:animEffect transition="in" filter="fade">
                                      <p:cBhvr>
                                        <p:cTn id="17" dur="500"/>
                                        <p:tgtEl>
                                          <p:spTgt spid="2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从事例中学习</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“事例”即“样本”</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r>
              <a:rPr lang="zh-CN" altLang="en-US" sz="2400" b="1" dirty="0">
                <a:solidFill>
                  <a:srgbClr val="C00000"/>
                </a:solidFill>
              </a:rPr>
              <a:t>统计学</a:t>
            </a:r>
            <a:r>
              <a:rPr lang="zh-CN" altLang="en-US" sz="2400" b="1" dirty="0">
                <a:solidFill>
                  <a:schemeClr val="accent1"/>
                </a:solidFill>
              </a:rPr>
              <a:t>：由样本的统计量估计总体的参数</a:t>
            </a:r>
          </a:p>
          <a:p>
            <a:r>
              <a:rPr lang="zh-CN" altLang="en-US" sz="2400" b="1" dirty="0">
                <a:solidFill>
                  <a:srgbClr val="C00000"/>
                </a:solidFill>
              </a:rPr>
              <a:t>机器学习</a:t>
            </a:r>
            <a:r>
              <a:rPr lang="zh-CN" altLang="en-US" sz="2400" b="1" dirty="0">
                <a:solidFill>
                  <a:schemeClr val="accent1"/>
                </a:solidFill>
              </a:rPr>
              <a:t>：利用训练集进行建模和参数估计，利用测试集进行模型测试</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2.5.1 </a:t>
            </a:r>
            <a:r>
              <a:rPr lang="zh-CN" altLang="en-US" sz="2800" b="1" dirty="0">
                <a:solidFill>
                  <a:srgbClr val="0070C0"/>
                </a:solidFill>
                <a:latin typeface="微软雅黑" panose="020B0503020204020204" pitchFamily="34" charset="-122"/>
                <a:ea typeface="微软雅黑" panose="020B0503020204020204" pitchFamily="34" charset="-122"/>
              </a:rPr>
              <a:t>机器学习的概念和方法</a:t>
            </a:r>
          </a:p>
        </p:txBody>
      </p:sp>
      <p:grpSp>
        <p:nvGrpSpPr>
          <p:cNvPr id="2" name="组合 1"/>
          <p:cNvGrpSpPr/>
          <p:nvPr/>
        </p:nvGrpSpPr>
        <p:grpSpPr>
          <a:xfrm>
            <a:off x="3965417" y="3175000"/>
            <a:ext cx="4504689" cy="3517207"/>
            <a:chOff x="844551" y="1539240"/>
            <a:chExt cx="4504689" cy="3517207"/>
          </a:xfrm>
        </p:grpSpPr>
        <p:sp>
          <p:nvSpPr>
            <p:cNvPr id="4" name="Oval 4"/>
            <p:cNvSpPr>
              <a:spLocks noChangeArrowheads="1"/>
            </p:cNvSpPr>
            <p:nvPr/>
          </p:nvSpPr>
          <p:spPr bwMode="auto">
            <a:xfrm>
              <a:off x="844551" y="1539240"/>
              <a:ext cx="4504689" cy="2282667"/>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3200" b="1" dirty="0"/>
            </a:p>
            <a:p>
              <a:pPr algn="ctr"/>
              <a:r>
                <a:rPr lang="zh-CN" altLang="en-US" sz="3200" b="1" dirty="0"/>
                <a:t>总体</a:t>
              </a:r>
              <a:endParaRPr lang="en-US" altLang="zh-CN" sz="3200" b="1" dirty="0"/>
            </a:p>
            <a:p>
              <a:pPr algn="ctr"/>
              <a:endParaRPr lang="zh-CN" altLang="en-US" sz="3200" b="1" dirty="0"/>
            </a:p>
            <a:p>
              <a:pPr algn="ctr"/>
              <a:endParaRPr lang="zh-CN" altLang="en-US" sz="3200" b="1" dirty="0"/>
            </a:p>
            <a:p>
              <a:pPr algn="ctr"/>
              <a:endParaRPr lang="zh-CN" altLang="en-US" sz="3200" b="1" dirty="0"/>
            </a:p>
            <a:p>
              <a:pPr algn="ctr"/>
              <a:endParaRPr lang="zh-CN" altLang="en-US" sz="3200" b="1" dirty="0"/>
            </a:p>
          </p:txBody>
        </p:sp>
        <p:sp>
          <p:nvSpPr>
            <p:cNvPr id="5" name="Oval 5"/>
            <p:cNvSpPr>
              <a:spLocks noChangeArrowheads="1"/>
            </p:cNvSpPr>
            <p:nvPr/>
          </p:nvSpPr>
          <p:spPr bwMode="auto">
            <a:xfrm>
              <a:off x="1849439" y="2349208"/>
              <a:ext cx="2708275" cy="1142339"/>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3200" b="1"/>
                <a:t>样本</a:t>
              </a:r>
            </a:p>
          </p:txBody>
        </p:sp>
        <p:sp>
          <p:nvSpPr>
            <p:cNvPr id="6" name="Line 6"/>
            <p:cNvSpPr>
              <a:spLocks noChangeShapeType="1"/>
            </p:cNvSpPr>
            <p:nvPr/>
          </p:nvSpPr>
          <p:spPr bwMode="auto">
            <a:xfrm flipH="1">
              <a:off x="1965959" y="3175000"/>
              <a:ext cx="928689" cy="9749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7"/>
            <p:cNvSpPr>
              <a:spLocks noChangeShapeType="1"/>
            </p:cNvSpPr>
            <p:nvPr/>
          </p:nvSpPr>
          <p:spPr bwMode="auto">
            <a:xfrm>
              <a:off x="3513139" y="3197537"/>
              <a:ext cx="815021" cy="97499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Oval 9"/>
            <p:cNvSpPr>
              <a:spLocks noChangeArrowheads="1"/>
            </p:cNvSpPr>
            <p:nvPr/>
          </p:nvSpPr>
          <p:spPr bwMode="auto">
            <a:xfrm>
              <a:off x="3722984" y="4172527"/>
              <a:ext cx="1626256" cy="675900"/>
            </a:xfrm>
            <a:prstGeom prst="ellipse">
              <a:avLst/>
            </a:prstGeom>
            <a:solidFill>
              <a:schemeClr val="accent2">
                <a:lumMod val="20000"/>
                <a:lumOff val="80000"/>
              </a:schemeClr>
            </a:solidFill>
            <a:ln w="9525">
              <a:solidFill>
                <a:schemeClr val="tx1"/>
              </a:solidFill>
              <a:round/>
              <a:headEnd/>
              <a:tailEnd/>
            </a:ln>
            <a:effectLst/>
            <a:extLst/>
          </p:spPr>
          <p:txBody>
            <a:bodyPr wrap="none" anchor="ctr"/>
            <a:lstStyle/>
            <a:p>
              <a:pPr algn="ctr"/>
              <a:r>
                <a:rPr lang="zh-CN" altLang="en-US" sz="2800" b="1"/>
                <a:t>测试集</a:t>
              </a:r>
            </a:p>
          </p:txBody>
        </p:sp>
        <p:sp>
          <p:nvSpPr>
            <p:cNvPr id="9" name="Oval 9"/>
            <p:cNvSpPr>
              <a:spLocks noChangeArrowheads="1"/>
            </p:cNvSpPr>
            <p:nvPr/>
          </p:nvSpPr>
          <p:spPr bwMode="auto">
            <a:xfrm>
              <a:off x="1206182" y="4123574"/>
              <a:ext cx="2244548" cy="932873"/>
            </a:xfrm>
            <a:prstGeom prst="ellipse">
              <a:avLst/>
            </a:prstGeom>
            <a:solidFill>
              <a:schemeClr val="tx2">
                <a:lumMod val="20000"/>
                <a:lumOff val="80000"/>
              </a:schemeClr>
            </a:solidFill>
            <a:ln w="9525">
              <a:solidFill>
                <a:schemeClr val="tx1"/>
              </a:solidFill>
              <a:round/>
              <a:headEnd/>
              <a:tailEnd/>
            </a:ln>
            <a:effectLst/>
            <a:extLst/>
          </p:spPr>
          <p:txBody>
            <a:bodyPr wrap="none" anchor="ctr"/>
            <a:lstStyle/>
            <a:p>
              <a:pPr algn="ctr"/>
              <a:r>
                <a:rPr lang="zh-CN" altLang="en-US" sz="2800" b="1" dirty="0"/>
                <a:t>训练集</a:t>
              </a:r>
            </a:p>
          </p:txBody>
        </p:sp>
      </p:grpSp>
    </p:spTree>
    <p:extLst>
      <p:ext uri="{BB962C8B-B14F-4D97-AF65-F5344CB8AC3E}">
        <p14:creationId xmlns:p14="http://schemas.microsoft.com/office/powerpoint/2010/main" val="501739145"/>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323852" y="1079502"/>
            <a:ext cx="8361363" cy="5192713"/>
          </a:xfrm>
          <a:prstGeom prst="rect">
            <a:avLst/>
          </a:prstGeom>
        </p:spPr>
        <p:txBody>
          <a:bodyPr/>
          <a:lstStyle/>
          <a:p>
            <a:r>
              <a:rPr lang="zh-CN" altLang="en-US" sz="2800" b="1" dirty="0"/>
              <a:t>问题：让机器自动识别一个物品是</a:t>
            </a:r>
            <a:r>
              <a:rPr lang="zh-CN" altLang="en-US" sz="2800" b="1" dirty="0">
                <a:solidFill>
                  <a:srgbClr val="FF0000"/>
                </a:solidFill>
              </a:rPr>
              <a:t>筷子</a:t>
            </a:r>
            <a:r>
              <a:rPr lang="en-US" altLang="zh-CN" sz="2800" b="1" dirty="0"/>
              <a:t>or</a:t>
            </a:r>
            <a:r>
              <a:rPr lang="zh-CN" altLang="en-US" sz="2800" b="1" dirty="0">
                <a:solidFill>
                  <a:srgbClr val="FF0000"/>
                </a:solidFill>
              </a:rPr>
              <a:t>牙签</a:t>
            </a:r>
            <a:r>
              <a:rPr lang="zh-CN" altLang="en-US" sz="2800" b="1" dirty="0"/>
              <a:t>。</a:t>
            </a:r>
            <a:r>
              <a:rPr lang="en-US" altLang="zh-CN" sz="2800" b="1" dirty="0"/>
              <a:t>(</a:t>
            </a:r>
            <a:r>
              <a:rPr lang="zh-CN" altLang="en-US" sz="2800" b="1" dirty="0"/>
              <a:t>注</a:t>
            </a:r>
            <a:r>
              <a:rPr lang="en-US" altLang="zh-CN" sz="2800" b="1" dirty="0"/>
              <a:t>: </a:t>
            </a:r>
            <a:r>
              <a:rPr lang="zh-CN" altLang="en-US" sz="2800" b="1" dirty="0"/>
              <a:t>机器开始并没有筷子和牙签的任何知识</a:t>
            </a:r>
            <a:r>
              <a:rPr lang="en-US" altLang="zh-CN" sz="2800" b="1" dirty="0"/>
              <a:t>)</a:t>
            </a:r>
            <a:endParaRPr lang="zh-CN" altLang="en-US" sz="2800" b="1" dirty="0"/>
          </a:p>
          <a:p>
            <a:r>
              <a:rPr lang="zh-CN" altLang="en-US" sz="2800" b="1" dirty="0"/>
              <a:t>第一步：收集一些筷子和牙签的样本。</a:t>
            </a:r>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endParaRPr lang="en-US" altLang="zh-CN" sz="2800" b="1" dirty="0"/>
          </a:p>
          <a:p>
            <a:r>
              <a:rPr lang="zh-CN" altLang="en-US" sz="2800" b="1" dirty="0"/>
              <a:t>第二步：特征选择，选择</a:t>
            </a:r>
            <a:r>
              <a:rPr lang="zh-CN" altLang="en-US" sz="2800" b="1" dirty="0">
                <a:solidFill>
                  <a:srgbClr val="FF0000"/>
                </a:solidFill>
              </a:rPr>
              <a:t>有区分度</a:t>
            </a:r>
            <a:r>
              <a:rPr lang="zh-CN" altLang="en-US" sz="2800" b="1" dirty="0"/>
              <a:t>的特征</a:t>
            </a:r>
            <a:endParaRPr lang="zh-CN" altLang="en-US" b="1" dirty="0"/>
          </a:p>
        </p:txBody>
      </p:sp>
      <p:sp>
        <p:nvSpPr>
          <p:cNvPr id="9" name="文本框 2"/>
          <p:cNvSpPr txBox="1"/>
          <p:nvPr/>
        </p:nvSpPr>
        <p:spPr>
          <a:xfrm>
            <a:off x="31750" y="174726"/>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机器学习的过程举例</a:t>
            </a:r>
          </a:p>
        </p:txBody>
      </p:sp>
      <p:graphicFrame>
        <p:nvGraphicFramePr>
          <p:cNvPr id="2" name="表格 1"/>
          <p:cNvGraphicFramePr>
            <a:graphicFrameLocks noGrp="1"/>
          </p:cNvGraphicFramePr>
          <p:nvPr>
            <p:extLst>
              <p:ext uri="{D42A27DB-BD31-4B8C-83A1-F6EECF244321}">
                <p14:modId xmlns:p14="http://schemas.microsoft.com/office/powerpoint/2010/main" val="4155844663"/>
              </p:ext>
            </p:extLst>
          </p:nvPr>
        </p:nvGraphicFramePr>
        <p:xfrm>
          <a:off x="1002349" y="2596139"/>
          <a:ext cx="5471795" cy="2743200"/>
        </p:xfrm>
        <a:graphic>
          <a:graphicData uri="http://schemas.openxmlformats.org/drawingml/2006/table">
            <a:tbl>
              <a:tblPr>
                <a:tableStyleId>{5C22544A-7EE6-4342-B048-85BDC9FD1C3A}</a:tableStyleId>
              </a:tblPr>
              <a:tblGrid>
                <a:gridCol w="594995">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b="1" dirty="0">
                          <a:solidFill>
                            <a:srgbClr val="FF0000"/>
                          </a:solidFill>
                        </a:rPr>
                        <a:t>长度</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b="1" dirty="0">
                          <a:solidFill>
                            <a:srgbClr val="FF0000"/>
                          </a:solidFill>
                        </a:rPr>
                        <a:t>质量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材质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b="1" dirty="0">
                          <a:solidFill>
                            <a:schemeClr val="accent1"/>
                          </a:solidFill>
                        </a:rPr>
                        <a:t>类别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25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筷子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23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1218565" rtl="0" eaLnBrk="1" fontAlgn="auto" latinLnBrk="0" hangingPunct="1">
                        <a:lnSpc>
                          <a:spcPct val="100000"/>
                        </a:lnSpc>
                        <a:spcBef>
                          <a:spcPts val="0"/>
                        </a:spcBef>
                        <a:spcAft>
                          <a:spcPts val="0"/>
                        </a:spcAft>
                        <a:buClrTx/>
                        <a:buSzTx/>
                        <a:buFontTx/>
                        <a:buNone/>
                        <a:tabLst/>
                        <a:defRPr/>
                      </a:pPr>
                      <a:r>
                        <a:rPr lang="zh-CN" altLang="en-US" dirty="0"/>
                        <a:t>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1218565" rtl="0" eaLnBrk="1" fontAlgn="auto" latinLnBrk="0" hangingPunct="1">
                        <a:lnSpc>
                          <a:spcPct val="100000"/>
                        </a:lnSpc>
                        <a:spcBef>
                          <a:spcPts val="0"/>
                        </a:spcBef>
                        <a:spcAft>
                          <a:spcPts val="0"/>
                        </a:spcAft>
                        <a:buClrTx/>
                        <a:buSzTx/>
                        <a:buFontTx/>
                        <a:buNone/>
                        <a:tabLst/>
                        <a:defRPr/>
                      </a:pPr>
                      <a:r>
                        <a:rPr lang="zh-CN" altLang="en-US" dirty="0"/>
                        <a:t>筷子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20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木</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1218565" rtl="0" eaLnBrk="1" fontAlgn="auto" latinLnBrk="0" hangingPunct="1">
                        <a:lnSpc>
                          <a:spcPct val="100000"/>
                        </a:lnSpc>
                        <a:spcBef>
                          <a:spcPts val="0"/>
                        </a:spcBef>
                        <a:spcAft>
                          <a:spcPts val="0"/>
                        </a:spcAft>
                        <a:buClrTx/>
                        <a:buSzTx/>
                        <a:buFontTx/>
                        <a:buNone/>
                        <a:tabLst/>
                        <a:defRPr/>
                      </a:pPr>
                      <a:r>
                        <a:rPr lang="zh-CN" altLang="en-US" dirty="0"/>
                        <a:t>筷子</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altLang="zh-CN" dirty="0"/>
                        <a:t>4</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6</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0.1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1218565" rtl="0" eaLnBrk="1" fontAlgn="auto" latinLnBrk="0" hangingPunct="1">
                        <a:lnSpc>
                          <a:spcPct val="100000"/>
                        </a:lnSpc>
                        <a:spcBef>
                          <a:spcPts val="0"/>
                        </a:spcBef>
                        <a:spcAft>
                          <a:spcPts val="0"/>
                        </a:spcAft>
                        <a:buClrTx/>
                        <a:buSzTx/>
                        <a:buFontTx/>
                        <a:buNone/>
                        <a:tabLst/>
                        <a:defRPr/>
                      </a:pPr>
                      <a:r>
                        <a:rPr lang="zh-CN" altLang="en-US" dirty="0"/>
                        <a:t>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牙签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a:t>0.08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1218565" rtl="0" eaLnBrk="1" fontAlgn="auto" latinLnBrk="0" hangingPunct="1">
                        <a:lnSpc>
                          <a:spcPct val="100000"/>
                        </a:lnSpc>
                        <a:spcBef>
                          <a:spcPts val="0"/>
                        </a:spcBef>
                        <a:spcAft>
                          <a:spcPts val="0"/>
                        </a:spcAft>
                        <a:buClrTx/>
                        <a:buSzTx/>
                        <a:buFontTx/>
                        <a:buNone/>
                        <a:tabLst/>
                        <a:defRPr/>
                      </a:pPr>
                      <a:r>
                        <a:rPr lang="zh-CN" altLang="en-US" dirty="0"/>
                        <a:t>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dirty="0"/>
                        <a:t>牙签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cxnSp>
        <p:nvCxnSpPr>
          <p:cNvPr id="4" name="直接连接符 3"/>
          <p:cNvCxnSpPr/>
          <p:nvPr/>
        </p:nvCxnSpPr>
        <p:spPr>
          <a:xfrm>
            <a:off x="4634230" y="2667000"/>
            <a:ext cx="0" cy="259080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3424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1">
                                            <p:txEl>
                                              <p:pRg st="1" end="1"/>
                                            </p:txEl>
                                          </p:spTgt>
                                        </p:tgtEl>
                                        <p:attrNameLst>
                                          <p:attrName>style.visibility</p:attrName>
                                        </p:attrNameLst>
                                      </p:cBhvr>
                                      <p:to>
                                        <p:strVal val="visible"/>
                                      </p:to>
                                    </p:set>
                                    <p:animEffect transition="in" filter="fade">
                                      <p:cBhvr>
                                        <p:cTn id="7" dur="500"/>
                                        <p:tgtEl>
                                          <p:spTgt spid="78851">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8851">
                                            <p:txEl>
                                              <p:pRg st="8" end="8"/>
                                            </p:txEl>
                                          </p:spTgt>
                                        </p:tgtEl>
                                        <p:attrNameLst>
                                          <p:attrName>style.visibility</p:attrName>
                                        </p:attrNameLst>
                                      </p:cBhvr>
                                      <p:to>
                                        <p:strVal val="visible"/>
                                      </p:to>
                                    </p:set>
                                    <p:animEffect transition="in" filter="fade">
                                      <p:cBhvr>
                                        <p:cTn id="16" dur="500"/>
                                        <p:tgtEl>
                                          <p:spTgt spid="78851">
                                            <p:txEl>
                                              <p:pRg st="8" end="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down)">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323852" y="1079502"/>
            <a:ext cx="3943347" cy="5580378"/>
          </a:xfrm>
          <a:prstGeom prst="rect">
            <a:avLst/>
          </a:prstGeom>
        </p:spPr>
        <p:txBody>
          <a:bodyPr/>
          <a:lstStyle/>
          <a:p>
            <a:r>
              <a:rPr lang="zh-CN" altLang="en-US" sz="2800" b="1" dirty="0"/>
              <a:t>第三步：训练模型。</a:t>
            </a:r>
            <a:endParaRPr lang="en-US" altLang="zh-CN" sz="2800" b="1" dirty="0"/>
          </a:p>
          <a:p>
            <a:r>
              <a:rPr lang="zh-CN" altLang="en-US" sz="2400" b="1" dirty="0"/>
              <a:t>训练</a:t>
            </a:r>
            <a:r>
              <a:rPr lang="zh-CN" altLang="en-US" sz="2400" dirty="0"/>
              <a:t>（</a:t>
            </a:r>
            <a:r>
              <a:rPr lang="en-US" altLang="zh-CN" sz="2400" dirty="0"/>
              <a:t>training</a:t>
            </a:r>
            <a:r>
              <a:rPr lang="zh-CN" altLang="en-US" sz="2400" dirty="0"/>
              <a:t>）：从数据中学得模型的过程称为</a:t>
            </a:r>
            <a:r>
              <a:rPr lang="zh-CN" altLang="en-US" sz="2400" b="1" dirty="0"/>
              <a:t>学习</a:t>
            </a:r>
            <a:r>
              <a:rPr lang="zh-CN" altLang="en-US" sz="2400" dirty="0"/>
              <a:t>（</a:t>
            </a:r>
            <a:r>
              <a:rPr lang="en-US" altLang="zh-CN" sz="2400" dirty="0"/>
              <a:t>learning</a:t>
            </a:r>
            <a:r>
              <a:rPr lang="zh-CN" altLang="en-US" sz="2400" dirty="0"/>
              <a:t>）或</a:t>
            </a:r>
            <a:r>
              <a:rPr lang="zh-CN" altLang="en-US" sz="2400" b="1" dirty="0"/>
              <a:t>训练</a:t>
            </a:r>
            <a:r>
              <a:rPr lang="zh-CN" altLang="en-US" sz="2400" dirty="0"/>
              <a:t>（</a:t>
            </a:r>
            <a:r>
              <a:rPr lang="en-US" altLang="zh-CN" sz="2400" dirty="0"/>
              <a:t>training</a:t>
            </a:r>
            <a:r>
              <a:rPr lang="zh-CN" altLang="en-US" sz="2400" dirty="0"/>
              <a:t>），这个过程通过执行某个学习算法来完成。</a:t>
            </a:r>
          </a:p>
          <a:p>
            <a:r>
              <a:rPr lang="zh-CN" altLang="en-US" sz="2400" dirty="0"/>
              <a:t>训练过程中使用的数据称为</a:t>
            </a:r>
            <a:r>
              <a:rPr lang="zh-CN" altLang="en-US" sz="2400" b="1" dirty="0"/>
              <a:t>训练数据</a:t>
            </a:r>
            <a:r>
              <a:rPr lang="zh-CN" altLang="en-US" sz="2400" dirty="0"/>
              <a:t>（</a:t>
            </a:r>
            <a:r>
              <a:rPr lang="en-US" altLang="zh-CN" sz="2400" dirty="0"/>
              <a:t>training data</a:t>
            </a:r>
            <a:r>
              <a:rPr lang="zh-CN" altLang="en-US" sz="2400" dirty="0"/>
              <a:t>），其中每个样本称为一个</a:t>
            </a:r>
            <a:r>
              <a:rPr lang="zh-CN" altLang="en-US" sz="2400" b="1" dirty="0"/>
              <a:t>训练样本</a:t>
            </a:r>
            <a:r>
              <a:rPr lang="zh-CN" altLang="en-US" sz="2400" dirty="0"/>
              <a:t>（</a:t>
            </a:r>
            <a:r>
              <a:rPr lang="en-US" altLang="zh-CN" sz="2400" dirty="0"/>
              <a:t>training sample</a:t>
            </a:r>
            <a:r>
              <a:rPr lang="zh-CN" altLang="en-US" sz="2400" dirty="0"/>
              <a:t>），训练样本组成的集合称为</a:t>
            </a:r>
            <a:r>
              <a:rPr lang="zh-CN" altLang="en-US" sz="2400" b="1" dirty="0"/>
              <a:t>训练集</a:t>
            </a:r>
            <a:r>
              <a:rPr lang="zh-CN" altLang="en-US" sz="2400" dirty="0"/>
              <a:t>（</a:t>
            </a:r>
            <a:r>
              <a:rPr lang="en-US" altLang="zh-CN" sz="2400" dirty="0"/>
              <a:t>training set</a:t>
            </a:r>
            <a:r>
              <a:rPr lang="zh-CN" altLang="en-US" sz="2400" dirty="0"/>
              <a:t>）。</a:t>
            </a:r>
          </a:p>
          <a:p>
            <a:endParaRPr lang="zh-CN" altLang="en-US" sz="2400" b="1" dirty="0"/>
          </a:p>
        </p:txBody>
      </p:sp>
      <p:sp>
        <p:nvSpPr>
          <p:cNvPr id="9" name="文本框 2"/>
          <p:cNvSpPr txBox="1"/>
          <p:nvPr/>
        </p:nvSpPr>
        <p:spPr>
          <a:xfrm>
            <a:off x="31750" y="174726"/>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机器学习的过程举例</a:t>
            </a:r>
          </a:p>
        </p:txBody>
      </p:sp>
      <p:cxnSp>
        <p:nvCxnSpPr>
          <p:cNvPr id="3" name="直接箭头连接符 2"/>
          <p:cNvCxnSpPr/>
          <p:nvPr/>
        </p:nvCxnSpPr>
        <p:spPr>
          <a:xfrm>
            <a:off x="4968240" y="4297680"/>
            <a:ext cx="3886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4968240" y="1173480"/>
            <a:ext cx="0" cy="3124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5242560" y="3749040"/>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06440" y="3977640"/>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501640" y="3855720"/>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356860" y="4084320"/>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650480" y="2011680"/>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7985760" y="1752600"/>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879080" y="2225040"/>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8092440" y="2468880"/>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135880" y="1554480"/>
            <a:ext cx="2956560" cy="263652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985760" y="4372094"/>
            <a:ext cx="731520" cy="369332"/>
          </a:xfrm>
          <a:prstGeom prst="rect">
            <a:avLst/>
          </a:prstGeom>
          <a:noFill/>
        </p:spPr>
        <p:txBody>
          <a:bodyPr wrap="square" rtlCol="0">
            <a:spAutoFit/>
          </a:bodyPr>
          <a:lstStyle/>
          <a:p>
            <a:r>
              <a:rPr lang="zh-CN" altLang="en-US" dirty="0">
                <a:solidFill>
                  <a:srgbClr val="FF0000"/>
                </a:solidFill>
              </a:rPr>
              <a:t>质量</a:t>
            </a:r>
          </a:p>
        </p:txBody>
      </p:sp>
      <p:sp>
        <p:nvSpPr>
          <p:cNvPr id="24" name="TextBox 23"/>
          <p:cNvSpPr txBox="1"/>
          <p:nvPr/>
        </p:nvSpPr>
        <p:spPr>
          <a:xfrm>
            <a:off x="4297680" y="1352788"/>
            <a:ext cx="998220" cy="369332"/>
          </a:xfrm>
          <a:prstGeom prst="rect">
            <a:avLst/>
          </a:prstGeom>
          <a:noFill/>
        </p:spPr>
        <p:txBody>
          <a:bodyPr wrap="square" rtlCol="0">
            <a:spAutoFit/>
          </a:bodyPr>
          <a:lstStyle/>
          <a:p>
            <a:r>
              <a:rPr lang="zh-CN" altLang="en-US" dirty="0">
                <a:solidFill>
                  <a:srgbClr val="FF0000"/>
                </a:solidFill>
              </a:rPr>
              <a:t>长度</a:t>
            </a:r>
          </a:p>
        </p:txBody>
      </p:sp>
      <p:sp>
        <p:nvSpPr>
          <p:cNvPr id="11" name="TextBox 10"/>
          <p:cNvSpPr txBox="1"/>
          <p:nvPr/>
        </p:nvSpPr>
        <p:spPr>
          <a:xfrm rot="2460639">
            <a:off x="6263640" y="2872740"/>
            <a:ext cx="1935480" cy="46166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ax+by+c=0</a:t>
            </a:r>
            <a:endParaRPr lang="zh-CN"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614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323852" y="1079502"/>
            <a:ext cx="3943347" cy="5580378"/>
          </a:xfrm>
          <a:prstGeom prst="rect">
            <a:avLst/>
          </a:prstGeom>
        </p:spPr>
        <p:txBody>
          <a:bodyPr/>
          <a:lstStyle/>
          <a:p>
            <a:r>
              <a:rPr lang="zh-CN" altLang="en-US" sz="2800" b="1" dirty="0"/>
              <a:t>第四步：预测新实例</a:t>
            </a:r>
            <a:endParaRPr lang="en-US" altLang="zh-CN" sz="2800" b="1" dirty="0"/>
          </a:p>
          <a:p>
            <a:r>
              <a:rPr lang="zh-CN" altLang="en-US" sz="2400" dirty="0"/>
              <a:t>学得模型后，使用其进行预测的过程称为</a:t>
            </a:r>
            <a:r>
              <a:rPr lang="zh-CN" altLang="en-US" sz="2400" b="1" dirty="0"/>
              <a:t>测试</a:t>
            </a:r>
            <a:r>
              <a:rPr lang="zh-CN" altLang="en-US" sz="2400" dirty="0"/>
              <a:t>（</a:t>
            </a:r>
            <a:r>
              <a:rPr lang="en-US" altLang="zh-CN" sz="2400" dirty="0"/>
              <a:t>testing</a:t>
            </a:r>
            <a:r>
              <a:rPr lang="zh-CN" altLang="en-US" sz="2400" dirty="0"/>
              <a:t>），被预测的样本称为</a:t>
            </a:r>
            <a:r>
              <a:rPr lang="zh-CN" altLang="en-US" sz="2400" b="1" dirty="0"/>
              <a:t>测试集</a:t>
            </a:r>
            <a:r>
              <a:rPr lang="zh-CN" altLang="en-US" sz="2400" dirty="0"/>
              <a:t>（</a:t>
            </a:r>
            <a:r>
              <a:rPr lang="en-US" altLang="zh-CN" sz="2400" dirty="0"/>
              <a:t>testing sample</a:t>
            </a:r>
            <a:r>
              <a:rPr lang="zh-CN" altLang="en-US" sz="2400" dirty="0"/>
              <a:t>）</a:t>
            </a:r>
            <a:endParaRPr lang="en-US" altLang="zh-CN" sz="2400" dirty="0"/>
          </a:p>
          <a:p>
            <a:endParaRPr lang="en-US" altLang="zh-CN" sz="2400" b="1" dirty="0"/>
          </a:p>
          <a:p>
            <a:r>
              <a:rPr lang="zh-CN" altLang="en-US" sz="2400" b="1" dirty="0"/>
              <a:t>泛化能力</a:t>
            </a:r>
            <a:r>
              <a:rPr lang="zh-CN" altLang="en-US" sz="2400" dirty="0"/>
              <a:t>（</a:t>
            </a:r>
            <a:r>
              <a:rPr lang="en-US" altLang="zh-CN" sz="2400" dirty="0"/>
              <a:t>generalization</a:t>
            </a:r>
            <a:r>
              <a:rPr lang="zh-CN" altLang="en-US" sz="2400" dirty="0"/>
              <a:t>）：学得模型适用于新样本的能力。</a:t>
            </a:r>
            <a:endParaRPr lang="zh-CN" altLang="en-US" sz="2400" b="1" dirty="0"/>
          </a:p>
        </p:txBody>
      </p:sp>
      <p:sp>
        <p:nvSpPr>
          <p:cNvPr id="9" name="文本框 2"/>
          <p:cNvSpPr txBox="1"/>
          <p:nvPr/>
        </p:nvSpPr>
        <p:spPr>
          <a:xfrm>
            <a:off x="31750" y="174726"/>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机器学习的过程举例</a:t>
            </a:r>
          </a:p>
        </p:txBody>
      </p:sp>
      <p:cxnSp>
        <p:nvCxnSpPr>
          <p:cNvPr id="3" name="直接箭头连接符 2"/>
          <p:cNvCxnSpPr/>
          <p:nvPr/>
        </p:nvCxnSpPr>
        <p:spPr>
          <a:xfrm>
            <a:off x="4775200" y="5063252"/>
            <a:ext cx="3886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V="1">
            <a:off x="4775200" y="1939052"/>
            <a:ext cx="0" cy="3124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5049520" y="4514612"/>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613400" y="4743212"/>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5308600" y="4621292"/>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5163820" y="4849892"/>
            <a:ext cx="106680" cy="1066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7457440" y="2777252"/>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7792720" y="2518172"/>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686040" y="2990612"/>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899400" y="3234452"/>
            <a:ext cx="106680" cy="10668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942840" y="2320052"/>
            <a:ext cx="2956560" cy="263652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792720" y="5137666"/>
            <a:ext cx="731520" cy="369332"/>
          </a:xfrm>
          <a:prstGeom prst="rect">
            <a:avLst/>
          </a:prstGeom>
          <a:noFill/>
        </p:spPr>
        <p:txBody>
          <a:bodyPr wrap="square" rtlCol="0">
            <a:spAutoFit/>
          </a:bodyPr>
          <a:lstStyle/>
          <a:p>
            <a:r>
              <a:rPr lang="zh-CN" altLang="en-US" dirty="0">
                <a:solidFill>
                  <a:srgbClr val="FF0000"/>
                </a:solidFill>
              </a:rPr>
              <a:t>质量</a:t>
            </a:r>
          </a:p>
        </p:txBody>
      </p:sp>
      <p:sp>
        <p:nvSpPr>
          <p:cNvPr id="24" name="TextBox 23"/>
          <p:cNvSpPr txBox="1"/>
          <p:nvPr/>
        </p:nvSpPr>
        <p:spPr>
          <a:xfrm>
            <a:off x="4104640" y="2118360"/>
            <a:ext cx="998220" cy="369332"/>
          </a:xfrm>
          <a:prstGeom prst="rect">
            <a:avLst/>
          </a:prstGeom>
          <a:noFill/>
        </p:spPr>
        <p:txBody>
          <a:bodyPr wrap="square" rtlCol="0">
            <a:spAutoFit/>
          </a:bodyPr>
          <a:lstStyle/>
          <a:p>
            <a:r>
              <a:rPr lang="zh-CN" altLang="en-US" dirty="0">
                <a:solidFill>
                  <a:srgbClr val="FF0000"/>
                </a:solidFill>
              </a:rPr>
              <a:t>长度</a:t>
            </a:r>
          </a:p>
        </p:txBody>
      </p:sp>
      <p:cxnSp>
        <p:nvCxnSpPr>
          <p:cNvPr id="4" name="直接连接符 3"/>
          <p:cNvCxnSpPr/>
          <p:nvPr/>
        </p:nvCxnSpPr>
        <p:spPr>
          <a:xfrm flipH="1">
            <a:off x="6725442" y="2655332"/>
            <a:ext cx="179071" cy="20574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flipV="1">
            <a:off x="6740682" y="2678192"/>
            <a:ext cx="162880" cy="15240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638040" y="1127760"/>
            <a:ext cx="3886200" cy="646331"/>
          </a:xfrm>
          <a:prstGeom prst="rect">
            <a:avLst/>
          </a:prstGeom>
          <a:solidFill>
            <a:schemeClr val="accent2">
              <a:lumMod val="20000"/>
              <a:lumOff val="80000"/>
            </a:schemeClr>
          </a:solidFill>
        </p:spPr>
        <p:txBody>
          <a:bodyPr wrap="square" rtlCol="0">
            <a:spAutoFit/>
          </a:bodyPr>
          <a:lstStyle/>
          <a:p>
            <a:r>
              <a:rPr lang="zh-CN" altLang="en-US" sz="3600" dirty="0"/>
              <a:t>模型：</a:t>
            </a:r>
            <a:r>
              <a:rPr lang="en-US" altLang="zh-CN" sz="3600" dirty="0"/>
              <a:t>2x+3y-5=0</a:t>
            </a:r>
            <a:endParaRPr lang="zh-CN" altLang="en-US" sz="3600" dirty="0"/>
          </a:p>
        </p:txBody>
      </p:sp>
    </p:spTree>
    <p:extLst>
      <p:ext uri="{BB962C8B-B14F-4D97-AF65-F5344CB8AC3E}">
        <p14:creationId xmlns:p14="http://schemas.microsoft.com/office/powerpoint/2010/main" val="38988662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06908" y="103632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机器学习的步骤</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收集相关样本</a:t>
            </a: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提取特征</a:t>
            </a:r>
            <a:endParaRPr lang="en-US"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将特征转换为数据（数据标准化）</a:t>
            </a:r>
            <a:endParaRPr lang="en-US" altLang="zh-CN" sz="28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训练模型</a:t>
            </a:r>
            <a:endParaRPr lang="en-US" altLang="zh-CN"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使用模型预测新实例</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机器学习的步骤总结</a:t>
            </a:r>
          </a:p>
        </p:txBody>
      </p:sp>
    </p:spTree>
    <p:extLst>
      <p:ext uri="{BB962C8B-B14F-4D97-AF65-F5344CB8AC3E}">
        <p14:creationId xmlns:p14="http://schemas.microsoft.com/office/powerpoint/2010/main" val="7790817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0">
                                            <p:txEl>
                                              <p:pRg st="2" end="2"/>
                                            </p:txEl>
                                          </p:spTgt>
                                        </p:tgtEl>
                                        <p:attrNameLst>
                                          <p:attrName>style.visibility</p:attrName>
                                        </p:attrNameLst>
                                      </p:cBhvr>
                                      <p:to>
                                        <p:strVal val="visible"/>
                                      </p:to>
                                    </p:set>
                                    <p:animEffect transition="in" filter="fade">
                                      <p:cBhvr>
                                        <p:cTn id="11" dur="500"/>
                                        <p:tgtEl>
                                          <p:spTgt spid="20">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0">
                                            <p:txEl>
                                              <p:pRg st="3" end="3"/>
                                            </p:txEl>
                                          </p:spTgt>
                                        </p:tgtEl>
                                        <p:attrNameLst>
                                          <p:attrName>style.visibility</p:attrName>
                                        </p:attrNameLst>
                                      </p:cBhvr>
                                      <p:to>
                                        <p:strVal val="visible"/>
                                      </p:to>
                                    </p:set>
                                    <p:animEffect transition="in" filter="fade">
                                      <p:cBhvr>
                                        <p:cTn id="16" dur="500"/>
                                        <p:tgtEl>
                                          <p:spTgt spid="2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xEl>
                                              <p:pRg st="4" end="4"/>
                                            </p:txEl>
                                          </p:spTgt>
                                        </p:tgtEl>
                                        <p:attrNameLst>
                                          <p:attrName>style.visibility</p:attrName>
                                        </p:attrNameLst>
                                      </p:cBhvr>
                                      <p:to>
                                        <p:strVal val="visible"/>
                                      </p:to>
                                    </p:set>
                                    <p:animEffect transition="in" filter="fade">
                                      <p:cBhvr>
                                        <p:cTn id="21" dur="500"/>
                                        <p:tgtEl>
                                          <p:spTgt spid="20">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xEl>
                                              <p:pRg st="5" end="5"/>
                                            </p:txEl>
                                          </p:spTgt>
                                        </p:tgtEl>
                                        <p:attrNameLst>
                                          <p:attrName>style.visibility</p:attrName>
                                        </p:attrNameLst>
                                      </p:cBhvr>
                                      <p:to>
                                        <p:strVal val="visible"/>
                                      </p:to>
                                    </p:set>
                                    <p:animEffect transition="in" filter="fade">
                                      <p:cBhvr>
                                        <p:cTn id="26"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训练集、验证集，测试集</a:t>
            </a:r>
            <a:endPar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样本</a:t>
            </a:r>
            <a:r>
              <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分为训练数据和测试数据。测试数据即为测试集，是需要应用模型进行预测的那部分数据，是机器学习所有工作的最终服务对象。为了防止训练出来的模型只对训练数据有效，一般将训练数据又分为训练集和验证集，训练集用来训练模型，而验证集一般只用来验证模型的有效性，不参与模型训练。</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2.5.2 </a:t>
            </a:r>
            <a:r>
              <a:rPr lang="zh-CN" altLang="en-US" sz="2800" b="1" dirty="0">
                <a:solidFill>
                  <a:srgbClr val="0070C0"/>
                </a:solidFill>
                <a:latin typeface="微软雅黑" panose="020B0503020204020204" pitchFamily="34" charset="-122"/>
                <a:ea typeface="微软雅黑" panose="020B0503020204020204" pitchFamily="34" charset="-122"/>
              </a:rPr>
              <a:t>样本及样本的划分</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2797" y="1534883"/>
            <a:ext cx="4945223" cy="241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8814628"/>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1</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train_test_split()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函数划分样本</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from sklearn.model_selection import train_test_split </a:t>
            </a:r>
          </a:p>
          <a:p>
            <a:pPr marL="0" indent="45720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Xtrain, Xtest, Ytrain, Ytest = train_test_split(X,y, test_size=0.3,random_state=420)</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划分样本的函数</a:t>
            </a:r>
          </a:p>
        </p:txBody>
      </p:sp>
      <p:grpSp>
        <p:nvGrpSpPr>
          <p:cNvPr id="5" name="组合 4"/>
          <p:cNvGrpSpPr/>
          <p:nvPr/>
        </p:nvGrpSpPr>
        <p:grpSpPr>
          <a:xfrm>
            <a:off x="451538" y="5457938"/>
            <a:ext cx="8433382" cy="887361"/>
            <a:chOff x="6339097" y="1573726"/>
            <a:chExt cx="3744416" cy="887823"/>
          </a:xfrm>
        </p:grpSpPr>
        <p:sp>
          <p:nvSpPr>
            <p:cNvPr id="6" name="圆角矩形 5"/>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7" name="矩形 6"/>
            <p:cNvSpPr/>
            <p:nvPr/>
          </p:nvSpPr>
          <p:spPr>
            <a:xfrm>
              <a:off x="6399543" y="1599350"/>
              <a:ext cx="3683970" cy="862199"/>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train_test_split()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函数返回</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个值（实际是一个元组）</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8" name="组合 7"/>
          <p:cNvGrpSpPr/>
          <p:nvPr/>
        </p:nvGrpSpPr>
        <p:grpSpPr>
          <a:xfrm>
            <a:off x="411481" y="4779369"/>
            <a:ext cx="5455919" cy="887361"/>
            <a:chOff x="6339097" y="1573726"/>
            <a:chExt cx="3744416" cy="887823"/>
          </a:xfrm>
        </p:grpSpPr>
        <p:sp>
          <p:nvSpPr>
            <p:cNvPr id="9" name="圆角矩形 8"/>
            <p:cNvSpPr/>
            <p:nvPr/>
          </p:nvSpPr>
          <p:spPr>
            <a:xfrm>
              <a:off x="6339097" y="1573726"/>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99543" y="1599350"/>
              <a:ext cx="3683970" cy="862199"/>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test_size</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设置测试集所占的比例</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537655940"/>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713326"/>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2</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k</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折交叉验证</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划分样本的方法</a:t>
            </a:r>
          </a:p>
        </p:txBody>
      </p:sp>
      <p:sp>
        <p:nvSpPr>
          <p:cNvPr id="7" name="矩形 6"/>
          <p:cNvSpPr/>
          <p:nvPr/>
        </p:nvSpPr>
        <p:spPr>
          <a:xfrm>
            <a:off x="542566" y="6184588"/>
            <a:ext cx="8297242" cy="861750"/>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train_test_split()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函数返回</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个值（实际是一个元组）</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组合 7"/>
          <p:cNvGrpSpPr/>
          <p:nvPr/>
        </p:nvGrpSpPr>
        <p:grpSpPr>
          <a:xfrm>
            <a:off x="372821" y="5449520"/>
            <a:ext cx="8181584" cy="1256694"/>
            <a:chOff x="6339097" y="1573725"/>
            <a:chExt cx="3744416" cy="1257349"/>
          </a:xfrm>
        </p:grpSpPr>
        <p:sp>
          <p:nvSpPr>
            <p:cNvPr id="9" name="圆角矩形 8"/>
            <p:cNvSpPr/>
            <p:nvPr/>
          </p:nvSpPr>
          <p:spPr>
            <a:xfrm>
              <a:off x="6339097" y="1573725"/>
              <a:ext cx="3744416" cy="96702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99543" y="1599350"/>
              <a:ext cx="3683970" cy="1231724"/>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适用于小样本集的情况，将样本划分为 </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个子集，每个子集均做一次测试集，其余的作为训练集。</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 name="Rectangle 6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 name="Group 1"/>
          <p:cNvGrpSpPr>
            <a:grpSpLocks noChangeAspect="1"/>
          </p:cNvGrpSpPr>
          <p:nvPr/>
        </p:nvGrpSpPr>
        <p:grpSpPr bwMode="auto">
          <a:xfrm>
            <a:off x="542566" y="1340406"/>
            <a:ext cx="7639685" cy="3925640"/>
            <a:chOff x="2808" y="5963"/>
            <a:chExt cx="6860" cy="3526"/>
          </a:xfrm>
        </p:grpSpPr>
        <p:sp>
          <p:nvSpPr>
            <p:cNvPr id="4" name="AutoShape 66"/>
            <p:cNvSpPr>
              <a:spLocks noChangeAspect="1" noChangeArrowheads="1" noTextEdit="1"/>
            </p:cNvSpPr>
            <p:nvPr/>
          </p:nvSpPr>
          <p:spPr bwMode="auto">
            <a:xfrm>
              <a:off x="2808" y="5963"/>
              <a:ext cx="6860" cy="35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1" name="Rectangle 65"/>
            <p:cNvSpPr>
              <a:spLocks noChangeArrowheads="1"/>
            </p:cNvSpPr>
            <p:nvPr/>
          </p:nvSpPr>
          <p:spPr bwMode="auto">
            <a:xfrm>
              <a:off x="3860" y="5963"/>
              <a:ext cx="3403" cy="348"/>
            </a:xfrm>
            <a:prstGeom prst="rect">
              <a:avLst/>
            </a:prstGeom>
            <a:solidFill>
              <a:srgbClr val="FFFFFF"/>
            </a:solidFill>
            <a:ln w="9525">
              <a:solidFill>
                <a:srgbClr val="000000"/>
              </a:solidFill>
              <a:miter lim="800000"/>
              <a:headEnd/>
              <a:tailEnd/>
            </a:ln>
          </p:spPr>
          <p:txBody>
            <a:bodyPr vert="horz" wrap="square" lIns="91440" tIns="10800" rIns="91440" bIns="1080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Times New Roman" pitchFamily="18" charset="0"/>
                  <a:ea typeface="宋体" pitchFamily="2" charset="-122"/>
                  <a:cs typeface="Calibri" pitchFamily="34" charset="0"/>
                </a:rPr>
                <a:t>样本集</a:t>
              </a:r>
              <a:endParaRPr kumimoji="0" lang="zh-CN" altLang="zh-CN" sz="24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12" name="Rectangle 64"/>
            <p:cNvSpPr>
              <a:spLocks noChangeArrowheads="1"/>
            </p:cNvSpPr>
            <p:nvPr/>
          </p:nvSpPr>
          <p:spPr bwMode="auto">
            <a:xfrm>
              <a:off x="3860" y="6889"/>
              <a:ext cx="3403" cy="347"/>
            </a:xfrm>
            <a:prstGeom prst="rect">
              <a:avLst/>
            </a:prstGeom>
            <a:solidFill>
              <a:srgbClr val="FFFFFF"/>
            </a:solidFill>
            <a:ln w="9525">
              <a:solidFill>
                <a:srgbClr val="000000"/>
              </a:solidFill>
              <a:miter lim="800000"/>
              <a:headEnd/>
              <a:tailEnd/>
            </a:ln>
          </p:spPr>
          <p:txBody>
            <a:bodyPr vert="horz" wrap="square" lIns="91440" tIns="10800" rIns="9144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Rectangle 63"/>
            <p:cNvSpPr>
              <a:spLocks noChangeArrowheads="1"/>
            </p:cNvSpPr>
            <p:nvPr/>
          </p:nvSpPr>
          <p:spPr bwMode="auto">
            <a:xfrm>
              <a:off x="3860"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4" name="Rectangle 62"/>
            <p:cNvSpPr>
              <a:spLocks noChangeArrowheads="1"/>
            </p:cNvSpPr>
            <p:nvPr/>
          </p:nvSpPr>
          <p:spPr bwMode="auto">
            <a:xfrm>
              <a:off x="4200"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5" name="Rectangle 61"/>
            <p:cNvSpPr>
              <a:spLocks noChangeArrowheads="1"/>
            </p:cNvSpPr>
            <p:nvPr/>
          </p:nvSpPr>
          <p:spPr bwMode="auto">
            <a:xfrm>
              <a:off x="4540"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6" name="Rectangle 60"/>
            <p:cNvSpPr>
              <a:spLocks noChangeArrowheads="1"/>
            </p:cNvSpPr>
            <p:nvPr/>
          </p:nvSpPr>
          <p:spPr bwMode="auto">
            <a:xfrm>
              <a:off x="4880"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7" name="Rectangle 59"/>
            <p:cNvSpPr>
              <a:spLocks noChangeArrowheads="1"/>
            </p:cNvSpPr>
            <p:nvPr/>
          </p:nvSpPr>
          <p:spPr bwMode="auto">
            <a:xfrm>
              <a:off x="5220"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8" name="Rectangle 58"/>
            <p:cNvSpPr>
              <a:spLocks noChangeArrowheads="1"/>
            </p:cNvSpPr>
            <p:nvPr/>
          </p:nvSpPr>
          <p:spPr bwMode="auto">
            <a:xfrm>
              <a:off x="5560" y="6889"/>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9" name="Rectangle 57"/>
            <p:cNvSpPr>
              <a:spLocks noChangeArrowheads="1"/>
            </p:cNvSpPr>
            <p:nvPr/>
          </p:nvSpPr>
          <p:spPr bwMode="auto">
            <a:xfrm>
              <a:off x="5901"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1" name="Rectangle 56"/>
            <p:cNvSpPr>
              <a:spLocks noChangeArrowheads="1"/>
            </p:cNvSpPr>
            <p:nvPr/>
          </p:nvSpPr>
          <p:spPr bwMode="auto">
            <a:xfrm>
              <a:off x="6241" y="6889"/>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2" name="Rectangle 55"/>
            <p:cNvSpPr>
              <a:spLocks noChangeArrowheads="1"/>
            </p:cNvSpPr>
            <p:nvPr/>
          </p:nvSpPr>
          <p:spPr bwMode="auto">
            <a:xfrm>
              <a:off x="6582" y="688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3" name="Rectangle 54"/>
            <p:cNvSpPr>
              <a:spLocks noChangeArrowheads="1"/>
            </p:cNvSpPr>
            <p:nvPr/>
          </p:nvSpPr>
          <p:spPr bwMode="auto">
            <a:xfrm>
              <a:off x="6922" y="6889"/>
              <a:ext cx="341" cy="347"/>
            </a:xfrm>
            <a:prstGeom prst="rect">
              <a:avLst/>
            </a:prstGeom>
            <a:solidFill>
              <a:srgbClr val="BFBFB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4" name="Rectangle 53"/>
            <p:cNvSpPr>
              <a:spLocks noChangeArrowheads="1"/>
            </p:cNvSpPr>
            <p:nvPr/>
          </p:nvSpPr>
          <p:spPr bwMode="auto">
            <a:xfrm>
              <a:off x="3860" y="7573"/>
              <a:ext cx="3403" cy="347"/>
            </a:xfrm>
            <a:prstGeom prst="rect">
              <a:avLst/>
            </a:prstGeom>
            <a:solidFill>
              <a:srgbClr val="FFFFFF"/>
            </a:solidFill>
            <a:ln w="9525">
              <a:solidFill>
                <a:srgbClr val="000000"/>
              </a:solidFill>
              <a:miter lim="800000"/>
              <a:headEnd/>
              <a:tailEnd/>
            </a:ln>
          </p:spPr>
          <p:txBody>
            <a:bodyPr vert="horz" wrap="square" lIns="91440" tIns="10800" rIns="9144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5" name="Rectangle 52"/>
            <p:cNvSpPr>
              <a:spLocks noChangeArrowheads="1"/>
            </p:cNvSpPr>
            <p:nvPr/>
          </p:nvSpPr>
          <p:spPr bwMode="auto">
            <a:xfrm>
              <a:off x="3860"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6" name="Rectangle 51"/>
            <p:cNvSpPr>
              <a:spLocks noChangeArrowheads="1"/>
            </p:cNvSpPr>
            <p:nvPr/>
          </p:nvSpPr>
          <p:spPr bwMode="auto">
            <a:xfrm>
              <a:off x="4200"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7" name="Rectangle 50"/>
            <p:cNvSpPr>
              <a:spLocks noChangeArrowheads="1"/>
            </p:cNvSpPr>
            <p:nvPr/>
          </p:nvSpPr>
          <p:spPr bwMode="auto">
            <a:xfrm>
              <a:off x="4540"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8" name="Rectangle 49"/>
            <p:cNvSpPr>
              <a:spLocks noChangeArrowheads="1"/>
            </p:cNvSpPr>
            <p:nvPr/>
          </p:nvSpPr>
          <p:spPr bwMode="auto">
            <a:xfrm>
              <a:off x="4880"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9" name="Rectangle 48"/>
            <p:cNvSpPr>
              <a:spLocks noChangeArrowheads="1"/>
            </p:cNvSpPr>
            <p:nvPr/>
          </p:nvSpPr>
          <p:spPr bwMode="auto">
            <a:xfrm>
              <a:off x="5220"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0" name="Rectangle 47"/>
            <p:cNvSpPr>
              <a:spLocks noChangeArrowheads="1"/>
            </p:cNvSpPr>
            <p:nvPr/>
          </p:nvSpPr>
          <p:spPr bwMode="auto">
            <a:xfrm>
              <a:off x="5560" y="7573"/>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1" name="Rectangle 46"/>
            <p:cNvSpPr>
              <a:spLocks noChangeArrowheads="1"/>
            </p:cNvSpPr>
            <p:nvPr/>
          </p:nvSpPr>
          <p:spPr bwMode="auto">
            <a:xfrm>
              <a:off x="5901" y="7573"/>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2" name="Rectangle 45"/>
            <p:cNvSpPr>
              <a:spLocks noChangeArrowheads="1"/>
            </p:cNvSpPr>
            <p:nvPr/>
          </p:nvSpPr>
          <p:spPr bwMode="auto">
            <a:xfrm>
              <a:off x="6241" y="7573"/>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3" name="Rectangle 44"/>
            <p:cNvSpPr>
              <a:spLocks noChangeArrowheads="1"/>
            </p:cNvSpPr>
            <p:nvPr/>
          </p:nvSpPr>
          <p:spPr bwMode="auto">
            <a:xfrm>
              <a:off x="6582" y="7573"/>
              <a:ext cx="340" cy="347"/>
            </a:xfrm>
            <a:prstGeom prst="rect">
              <a:avLst/>
            </a:prstGeom>
            <a:solidFill>
              <a:srgbClr val="BFBFB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4" name="Rectangle 43"/>
            <p:cNvSpPr>
              <a:spLocks noChangeArrowheads="1"/>
            </p:cNvSpPr>
            <p:nvPr/>
          </p:nvSpPr>
          <p:spPr bwMode="auto">
            <a:xfrm>
              <a:off x="6922" y="7573"/>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5" name="Rectangle 42"/>
            <p:cNvSpPr>
              <a:spLocks noChangeArrowheads="1"/>
            </p:cNvSpPr>
            <p:nvPr/>
          </p:nvSpPr>
          <p:spPr bwMode="auto">
            <a:xfrm>
              <a:off x="3860" y="8257"/>
              <a:ext cx="3403" cy="347"/>
            </a:xfrm>
            <a:prstGeom prst="rect">
              <a:avLst/>
            </a:prstGeom>
            <a:solidFill>
              <a:srgbClr val="FFFFFF"/>
            </a:solidFill>
            <a:ln w="9525">
              <a:solidFill>
                <a:srgbClr val="000000"/>
              </a:solidFill>
              <a:miter lim="800000"/>
              <a:headEnd/>
              <a:tailEnd/>
            </a:ln>
          </p:spPr>
          <p:txBody>
            <a:bodyPr vert="horz" wrap="square" lIns="91440" tIns="10800" rIns="9144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6" name="Rectangle 41"/>
            <p:cNvSpPr>
              <a:spLocks noChangeArrowheads="1"/>
            </p:cNvSpPr>
            <p:nvPr/>
          </p:nvSpPr>
          <p:spPr bwMode="auto">
            <a:xfrm>
              <a:off x="3860"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7" name="Rectangle 40"/>
            <p:cNvSpPr>
              <a:spLocks noChangeArrowheads="1"/>
            </p:cNvSpPr>
            <p:nvPr/>
          </p:nvSpPr>
          <p:spPr bwMode="auto">
            <a:xfrm>
              <a:off x="4200"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8" name="Rectangle 39"/>
            <p:cNvSpPr>
              <a:spLocks noChangeArrowheads="1"/>
            </p:cNvSpPr>
            <p:nvPr/>
          </p:nvSpPr>
          <p:spPr bwMode="auto">
            <a:xfrm>
              <a:off x="4540"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9" name="Rectangle 38"/>
            <p:cNvSpPr>
              <a:spLocks noChangeArrowheads="1"/>
            </p:cNvSpPr>
            <p:nvPr/>
          </p:nvSpPr>
          <p:spPr bwMode="auto">
            <a:xfrm>
              <a:off x="4880"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0" name="Rectangle 37"/>
            <p:cNvSpPr>
              <a:spLocks noChangeArrowheads="1"/>
            </p:cNvSpPr>
            <p:nvPr/>
          </p:nvSpPr>
          <p:spPr bwMode="auto">
            <a:xfrm>
              <a:off x="5220"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2" name="Rectangle 36"/>
            <p:cNvSpPr>
              <a:spLocks noChangeArrowheads="1"/>
            </p:cNvSpPr>
            <p:nvPr/>
          </p:nvSpPr>
          <p:spPr bwMode="auto">
            <a:xfrm>
              <a:off x="5560" y="8257"/>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3" name="Rectangle 35"/>
            <p:cNvSpPr>
              <a:spLocks noChangeArrowheads="1"/>
            </p:cNvSpPr>
            <p:nvPr/>
          </p:nvSpPr>
          <p:spPr bwMode="auto">
            <a:xfrm>
              <a:off x="5901"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4" name="Rectangle 34"/>
            <p:cNvSpPr>
              <a:spLocks noChangeArrowheads="1"/>
            </p:cNvSpPr>
            <p:nvPr/>
          </p:nvSpPr>
          <p:spPr bwMode="auto">
            <a:xfrm>
              <a:off x="6241" y="8257"/>
              <a:ext cx="341" cy="347"/>
            </a:xfrm>
            <a:prstGeom prst="rect">
              <a:avLst/>
            </a:prstGeom>
            <a:solidFill>
              <a:srgbClr val="BFBFB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5" name="Rectangle 33"/>
            <p:cNvSpPr>
              <a:spLocks noChangeArrowheads="1"/>
            </p:cNvSpPr>
            <p:nvPr/>
          </p:nvSpPr>
          <p:spPr bwMode="auto">
            <a:xfrm>
              <a:off x="6582" y="8257"/>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6" name="Rectangle 32"/>
            <p:cNvSpPr>
              <a:spLocks noChangeArrowheads="1"/>
            </p:cNvSpPr>
            <p:nvPr/>
          </p:nvSpPr>
          <p:spPr bwMode="auto">
            <a:xfrm>
              <a:off x="6922" y="8257"/>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7" name="Rectangle 31"/>
            <p:cNvSpPr>
              <a:spLocks noChangeArrowheads="1"/>
            </p:cNvSpPr>
            <p:nvPr/>
          </p:nvSpPr>
          <p:spPr bwMode="auto">
            <a:xfrm>
              <a:off x="3860" y="9049"/>
              <a:ext cx="3403" cy="347"/>
            </a:xfrm>
            <a:prstGeom prst="rect">
              <a:avLst/>
            </a:prstGeom>
            <a:solidFill>
              <a:srgbClr val="FFFFFF"/>
            </a:solidFill>
            <a:ln w="9525">
              <a:solidFill>
                <a:srgbClr val="000000"/>
              </a:solidFill>
              <a:miter lim="800000"/>
              <a:headEnd/>
              <a:tailEnd/>
            </a:ln>
          </p:spPr>
          <p:txBody>
            <a:bodyPr vert="horz" wrap="square" lIns="91440" tIns="10800" rIns="91440" bIns="1080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48" name="Rectangle 30"/>
            <p:cNvSpPr>
              <a:spLocks noChangeArrowheads="1"/>
            </p:cNvSpPr>
            <p:nvPr/>
          </p:nvSpPr>
          <p:spPr bwMode="auto">
            <a:xfrm>
              <a:off x="3860" y="9049"/>
              <a:ext cx="340" cy="347"/>
            </a:xfrm>
            <a:prstGeom prst="rect">
              <a:avLst/>
            </a:prstGeom>
            <a:solidFill>
              <a:srgbClr val="BFBFB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49" name="Rectangle 29"/>
            <p:cNvSpPr>
              <a:spLocks noChangeArrowheads="1"/>
            </p:cNvSpPr>
            <p:nvPr/>
          </p:nvSpPr>
          <p:spPr bwMode="auto">
            <a:xfrm>
              <a:off x="4200"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0" name="Rectangle 28"/>
            <p:cNvSpPr>
              <a:spLocks noChangeArrowheads="1"/>
            </p:cNvSpPr>
            <p:nvPr/>
          </p:nvSpPr>
          <p:spPr bwMode="auto">
            <a:xfrm>
              <a:off x="4540"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1" name="Rectangle 27"/>
            <p:cNvSpPr>
              <a:spLocks noChangeArrowheads="1"/>
            </p:cNvSpPr>
            <p:nvPr/>
          </p:nvSpPr>
          <p:spPr bwMode="auto">
            <a:xfrm>
              <a:off x="4880"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2" name="Rectangle 26"/>
            <p:cNvSpPr>
              <a:spLocks noChangeArrowheads="1"/>
            </p:cNvSpPr>
            <p:nvPr/>
          </p:nvSpPr>
          <p:spPr bwMode="auto">
            <a:xfrm>
              <a:off x="5220"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3" name="Rectangle 25"/>
            <p:cNvSpPr>
              <a:spLocks noChangeArrowheads="1"/>
            </p:cNvSpPr>
            <p:nvPr/>
          </p:nvSpPr>
          <p:spPr bwMode="auto">
            <a:xfrm>
              <a:off x="5560" y="9049"/>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4" name="Rectangle 24"/>
            <p:cNvSpPr>
              <a:spLocks noChangeArrowheads="1"/>
            </p:cNvSpPr>
            <p:nvPr/>
          </p:nvSpPr>
          <p:spPr bwMode="auto">
            <a:xfrm>
              <a:off x="5901"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5" name="Rectangle 23"/>
            <p:cNvSpPr>
              <a:spLocks noChangeArrowheads="1"/>
            </p:cNvSpPr>
            <p:nvPr/>
          </p:nvSpPr>
          <p:spPr bwMode="auto">
            <a:xfrm>
              <a:off x="6241" y="9049"/>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6" name="Rectangle 22"/>
            <p:cNvSpPr>
              <a:spLocks noChangeArrowheads="1"/>
            </p:cNvSpPr>
            <p:nvPr/>
          </p:nvSpPr>
          <p:spPr bwMode="auto">
            <a:xfrm>
              <a:off x="6582" y="9049"/>
              <a:ext cx="340"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7" name="Rectangle 21"/>
            <p:cNvSpPr>
              <a:spLocks noChangeArrowheads="1"/>
            </p:cNvSpPr>
            <p:nvPr/>
          </p:nvSpPr>
          <p:spPr bwMode="auto">
            <a:xfrm>
              <a:off x="6922" y="9049"/>
              <a:ext cx="341" cy="347"/>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58" name="AutoShape 20"/>
            <p:cNvSpPr>
              <a:spLocks/>
            </p:cNvSpPr>
            <p:nvPr/>
          </p:nvSpPr>
          <p:spPr bwMode="auto">
            <a:xfrm rot="5400000">
              <a:off x="5288" y="5255"/>
              <a:ext cx="206" cy="3062"/>
            </a:xfrm>
            <a:prstGeom prst="leftBrace">
              <a:avLst>
                <a:gd name="adj1" fmla="val 123867"/>
                <a:gd name="adj2" fmla="val 49278"/>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59" name="Text Box 19"/>
            <p:cNvSpPr txBox="1">
              <a:spLocks noChangeArrowheads="1"/>
            </p:cNvSpPr>
            <p:nvPr/>
          </p:nvSpPr>
          <p:spPr bwMode="auto">
            <a:xfrm>
              <a:off x="4682" y="6407"/>
              <a:ext cx="1617"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Training folds</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0" name="Text Box 18"/>
            <p:cNvSpPr txBox="1">
              <a:spLocks noChangeArrowheads="1"/>
            </p:cNvSpPr>
            <p:nvPr/>
          </p:nvSpPr>
          <p:spPr bwMode="auto">
            <a:xfrm>
              <a:off x="6769" y="6311"/>
              <a:ext cx="131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Test folds</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61" name="AutoShape 17"/>
            <p:cNvSpPr>
              <a:spLocks noChangeShapeType="1"/>
            </p:cNvSpPr>
            <p:nvPr/>
          </p:nvSpPr>
          <p:spPr bwMode="auto">
            <a:xfrm flipH="1">
              <a:off x="7093" y="6587"/>
              <a:ext cx="187" cy="30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62" name="Text Box 16"/>
            <p:cNvSpPr txBox="1">
              <a:spLocks noChangeArrowheads="1"/>
            </p:cNvSpPr>
            <p:nvPr/>
          </p:nvSpPr>
          <p:spPr bwMode="auto">
            <a:xfrm>
              <a:off x="4981" y="8712"/>
              <a:ext cx="51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zh-CN" sz="2000" b="0" i="0" u="none" strike="noStrike" cap="none" normalizeH="0" baseline="0">
                  <a:ln>
                    <a:noFill/>
                  </a:ln>
                  <a:solidFill>
                    <a:schemeClr val="tx1"/>
                  </a:solidFill>
                  <a:effectLst/>
                  <a:latin typeface="Times New Roman" pitchFamily="18" charset="0"/>
                  <a:ea typeface="宋体" pitchFamily="2" charset="-122"/>
                  <a:cs typeface="Calibri" pitchFamily="34" charset="0"/>
                </a:rPr>
                <a:t>…</a:t>
              </a:r>
              <a:endParaRPr kumimoji="0" lang="zh-CN"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3" name="AutoShape 15"/>
            <p:cNvSpPr>
              <a:spLocks noChangeArrowheads="1"/>
            </p:cNvSpPr>
            <p:nvPr/>
          </p:nvSpPr>
          <p:spPr bwMode="auto">
            <a:xfrm>
              <a:off x="7280" y="7020"/>
              <a:ext cx="316" cy="143"/>
            </a:xfrm>
            <a:prstGeom prst="rightArrow">
              <a:avLst>
                <a:gd name="adj1" fmla="val 50000"/>
                <a:gd name="adj2" fmla="val 55245"/>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64" name="Text Box 14"/>
            <p:cNvSpPr txBox="1">
              <a:spLocks noChangeArrowheads="1"/>
            </p:cNvSpPr>
            <p:nvPr/>
          </p:nvSpPr>
          <p:spPr bwMode="auto">
            <a:xfrm>
              <a:off x="7500" y="6924"/>
              <a:ext cx="57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5" name="AutoShape 13"/>
            <p:cNvSpPr>
              <a:spLocks noChangeArrowheads="1"/>
            </p:cNvSpPr>
            <p:nvPr/>
          </p:nvSpPr>
          <p:spPr bwMode="auto">
            <a:xfrm>
              <a:off x="7280" y="7680"/>
              <a:ext cx="316" cy="143"/>
            </a:xfrm>
            <a:prstGeom prst="rightArrow">
              <a:avLst>
                <a:gd name="adj1" fmla="val 50000"/>
                <a:gd name="adj2" fmla="val 55245"/>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66" name="Text Box 12"/>
            <p:cNvSpPr txBox="1">
              <a:spLocks noChangeArrowheads="1"/>
            </p:cNvSpPr>
            <p:nvPr/>
          </p:nvSpPr>
          <p:spPr bwMode="auto">
            <a:xfrm>
              <a:off x="7500" y="7584"/>
              <a:ext cx="57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7" name="AutoShape 11"/>
            <p:cNvSpPr>
              <a:spLocks noChangeArrowheads="1"/>
            </p:cNvSpPr>
            <p:nvPr/>
          </p:nvSpPr>
          <p:spPr bwMode="auto">
            <a:xfrm>
              <a:off x="7287" y="8353"/>
              <a:ext cx="316" cy="143"/>
            </a:xfrm>
            <a:prstGeom prst="rightArrow">
              <a:avLst>
                <a:gd name="adj1" fmla="val 50000"/>
                <a:gd name="adj2" fmla="val 55245"/>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68" name="Text Box 10"/>
            <p:cNvSpPr txBox="1">
              <a:spLocks noChangeArrowheads="1"/>
            </p:cNvSpPr>
            <p:nvPr/>
          </p:nvSpPr>
          <p:spPr bwMode="auto">
            <a:xfrm>
              <a:off x="7507" y="8257"/>
              <a:ext cx="57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3</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69" name="AutoShape 9"/>
            <p:cNvSpPr>
              <a:spLocks noChangeArrowheads="1"/>
            </p:cNvSpPr>
            <p:nvPr/>
          </p:nvSpPr>
          <p:spPr bwMode="auto">
            <a:xfrm>
              <a:off x="7292" y="9156"/>
              <a:ext cx="316" cy="143"/>
            </a:xfrm>
            <a:prstGeom prst="rightArrow">
              <a:avLst>
                <a:gd name="adj1" fmla="val 50000"/>
                <a:gd name="adj2" fmla="val 55245"/>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70" name="Text Box 8"/>
            <p:cNvSpPr txBox="1">
              <a:spLocks noChangeArrowheads="1"/>
            </p:cNvSpPr>
            <p:nvPr/>
          </p:nvSpPr>
          <p:spPr bwMode="auto">
            <a:xfrm>
              <a:off x="7512" y="9060"/>
              <a:ext cx="57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E</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10</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1" name="Text Box 7"/>
            <p:cNvSpPr txBox="1">
              <a:spLocks noChangeArrowheads="1"/>
            </p:cNvSpPr>
            <p:nvPr/>
          </p:nvSpPr>
          <p:spPr bwMode="auto">
            <a:xfrm>
              <a:off x="2868" y="6960"/>
              <a:ext cx="99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Calibri" pitchFamily="34" charset="0"/>
                </a:rPr>
                <a:t>次迭代</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2" name="Text Box 6"/>
            <p:cNvSpPr txBox="1">
              <a:spLocks noChangeArrowheads="1"/>
            </p:cNvSpPr>
            <p:nvPr/>
          </p:nvSpPr>
          <p:spPr bwMode="auto">
            <a:xfrm>
              <a:off x="2868" y="7584"/>
              <a:ext cx="99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Calibri" pitchFamily="34" charset="0"/>
                </a:rPr>
                <a:t>次迭代</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3" name="Text Box 5"/>
            <p:cNvSpPr txBox="1">
              <a:spLocks noChangeArrowheads="1"/>
            </p:cNvSpPr>
            <p:nvPr/>
          </p:nvSpPr>
          <p:spPr bwMode="auto">
            <a:xfrm>
              <a:off x="2868" y="8328"/>
              <a:ext cx="99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r>
                <a:rPr kumimoji="0" lang="zh-CN" altLang="en-US" sz="2000" b="0" i="0" u="none" strike="noStrike" cap="none" normalizeH="0" baseline="0">
                  <a:ln>
                    <a:noFill/>
                  </a:ln>
                  <a:solidFill>
                    <a:schemeClr val="tx1"/>
                  </a:solidFill>
                  <a:effectLst/>
                  <a:latin typeface="Times New Roman" pitchFamily="18" charset="0"/>
                  <a:ea typeface="宋体" pitchFamily="2" charset="-122"/>
                  <a:cs typeface="Calibri" pitchFamily="34" charset="0"/>
                </a:rPr>
                <a:t>次迭代</a:t>
              </a:r>
              <a:endParaRPr kumimoji="0" lang="zh-CN" altLang="en-US"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4" name="Text Box 4"/>
            <p:cNvSpPr txBox="1">
              <a:spLocks noChangeArrowheads="1"/>
            </p:cNvSpPr>
            <p:nvPr/>
          </p:nvSpPr>
          <p:spPr bwMode="auto">
            <a:xfrm>
              <a:off x="2808" y="9120"/>
              <a:ext cx="122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0" rIns="9144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itchFamily="18" charset="0"/>
                  <a:ea typeface="宋体" pitchFamily="2" charset="-122"/>
                  <a:cs typeface="Times New Roman" pitchFamily="18" charset="0"/>
                </a:rPr>
                <a:t>10</a:t>
              </a:r>
              <a:r>
                <a:rPr kumimoji="0" lang="zh-CN" altLang="en-US" sz="2000" b="0" i="0" u="none" strike="noStrike" cap="none" normalizeH="0" baseline="0" dirty="0">
                  <a:ln>
                    <a:noFill/>
                  </a:ln>
                  <a:solidFill>
                    <a:schemeClr val="tx1"/>
                  </a:solidFill>
                  <a:effectLst/>
                  <a:latin typeface="Times New Roman" pitchFamily="18" charset="0"/>
                  <a:ea typeface="宋体" pitchFamily="2" charset="-122"/>
                  <a:cs typeface="Calibri" pitchFamily="34" charset="0"/>
                </a:rPr>
                <a:t>次迭代</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75" name="AutoShape 3"/>
            <p:cNvSpPr>
              <a:spLocks/>
            </p:cNvSpPr>
            <p:nvPr/>
          </p:nvSpPr>
          <p:spPr bwMode="auto">
            <a:xfrm>
              <a:off x="7991" y="6683"/>
              <a:ext cx="397" cy="2713"/>
            </a:xfrm>
            <a:prstGeom prst="rightBrace">
              <a:avLst>
                <a:gd name="adj1" fmla="val 56948"/>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graphicFrame>
          <p:nvGraphicFramePr>
            <p:cNvPr id="76" name="对象 75"/>
            <p:cNvGraphicFramePr>
              <a:graphicFrameLocks noChangeAspect="1"/>
            </p:cNvGraphicFramePr>
            <p:nvPr/>
          </p:nvGraphicFramePr>
          <p:xfrm>
            <a:off x="8388" y="7708"/>
            <a:ext cx="1280" cy="680"/>
          </p:xfrm>
          <a:graphic>
            <a:graphicData uri="http://schemas.openxmlformats.org/presentationml/2006/ole">
              <mc:AlternateContent xmlns:mc="http://schemas.openxmlformats.org/markup-compatibility/2006">
                <mc:Choice xmlns:v="urn:schemas-microsoft-com:vml" Requires="v">
                  <p:oleObj spid="_x0000_s2166" name="Equation" r:id="rId4" imgW="812447" imgH="431613" progId="Equation.DSMT4">
                    <p:embed/>
                  </p:oleObj>
                </mc:Choice>
                <mc:Fallback>
                  <p:oleObj name="Equation" r:id="rId4" imgW="812447" imgH="431613"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8" y="7708"/>
                          <a:ext cx="1280" cy="6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234428490"/>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713326"/>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defTabSz="913765">
              <a:lnSpc>
                <a:spcPct val="150000"/>
              </a:lnSpc>
              <a:buNone/>
            </a:pP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2</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k</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折交叉验证</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r>
              <a:rPr lang="zh-CN" altLang="en-US"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续</a:t>
            </a:r>
            <a:r>
              <a:rPr lang="en-US" altLang="zh-CN" sz="2600" b="1" dirty="0">
                <a:solidFill>
                  <a:srgbClr val="0070C0"/>
                </a:solidFill>
                <a:latin typeface="Arial" panose="020B0604020202020204" pitchFamily="34" charset="0"/>
                <a:ea typeface="微软雅黑" panose="020B0503020204020204" pitchFamily="34" charset="-122"/>
                <a:cs typeface="Arial" panose="020B0604020202020204" pitchFamily="34" charset="0"/>
              </a:rPr>
              <a:t>)</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划分样本的方法</a:t>
            </a:r>
          </a:p>
        </p:txBody>
      </p:sp>
      <p:sp>
        <p:nvSpPr>
          <p:cNvPr id="7" name="矩形 6"/>
          <p:cNvSpPr/>
          <p:nvPr/>
        </p:nvSpPr>
        <p:spPr>
          <a:xfrm>
            <a:off x="542566" y="6184588"/>
            <a:ext cx="8297242" cy="861750"/>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train_test_split()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函数返回</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个值（实际是一个元组）</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Rectangle 67"/>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372821" y="2003196"/>
            <a:ext cx="8533907" cy="1292662"/>
          </a:xfrm>
          <a:prstGeom prst="rect">
            <a:avLst/>
          </a:prstGeom>
        </p:spPr>
        <p:txBody>
          <a:bodyPr wrap="square">
            <a:spAutoFit/>
          </a:bodyPr>
          <a:lstStyle/>
          <a:p>
            <a:r>
              <a:rPr lang="en-US" altLang="zh-CN" sz="2600" dirty="0">
                <a:latin typeface="Times New Roman" panose="02020603050405020304" pitchFamily="18" charset="0"/>
                <a:cs typeface="Times New Roman" panose="02020603050405020304" pitchFamily="18" charset="0"/>
              </a:rPr>
              <a:t>from sklearn.model_selection import cross_val_predict</a:t>
            </a:r>
            <a:endParaRPr lang="zh-CN" altLang="zh-CN" sz="2600" dirty="0">
              <a:latin typeface="Times New Roman" panose="02020603050405020304" pitchFamily="18" charset="0"/>
              <a:cs typeface="Times New Roman" panose="02020603050405020304" pitchFamily="18" charset="0"/>
            </a:endParaRPr>
          </a:p>
          <a:p>
            <a:r>
              <a:rPr lang="en-US" altLang="zh-CN" sz="2600" dirty="0">
                <a:latin typeface="Times New Roman" panose="02020603050405020304" pitchFamily="18" charset="0"/>
                <a:cs typeface="Times New Roman" panose="02020603050405020304" pitchFamily="18" charset="0"/>
              </a:rPr>
              <a:t> predicted = </a:t>
            </a:r>
            <a:r>
              <a:rPr lang="en-US" altLang="zh-CN" sz="2600" dirty="0">
                <a:solidFill>
                  <a:schemeClr val="accent1"/>
                </a:solidFill>
                <a:latin typeface="Times New Roman" panose="02020603050405020304" pitchFamily="18" charset="0"/>
                <a:cs typeface="Times New Roman" panose="02020603050405020304" pitchFamily="18" charset="0"/>
              </a:rPr>
              <a:t>cross_val_predict</a:t>
            </a:r>
            <a:r>
              <a:rPr lang="en-US" altLang="zh-CN" sz="2600" dirty="0">
                <a:latin typeface="Times New Roman" panose="02020603050405020304" pitchFamily="18" charset="0"/>
                <a:cs typeface="Times New Roman" panose="02020603050405020304" pitchFamily="18" charset="0"/>
              </a:rPr>
              <a:t>(clf, iris.data, iris.target, cv=10)</a:t>
            </a:r>
            <a:endParaRPr lang="zh-CN" altLang="zh-CN" sz="2600" dirty="0">
              <a:latin typeface="Times New Roman" panose="02020603050405020304" pitchFamily="18" charset="0"/>
              <a:cs typeface="Times New Roman" panose="02020603050405020304" pitchFamily="18" charset="0"/>
            </a:endParaRPr>
          </a:p>
          <a:p>
            <a:r>
              <a:rPr lang="en-US" altLang="zh-CN" sz="2600" dirty="0">
                <a:latin typeface="Times New Roman" panose="02020603050405020304" pitchFamily="18" charset="0"/>
                <a:cs typeface="Times New Roman" panose="02020603050405020304" pitchFamily="18" charset="0"/>
              </a:rPr>
              <a:t> metrics.accuracy_score(iris.target, predicted)</a:t>
            </a:r>
            <a:endParaRPr lang="zh-CN" altLang="zh-CN" sz="2600" dirty="0">
              <a:latin typeface="Times New Roman" panose="02020603050405020304" pitchFamily="18" charset="0"/>
              <a:cs typeface="Times New Roman" panose="02020603050405020304" pitchFamily="18" charset="0"/>
            </a:endParaRPr>
          </a:p>
        </p:txBody>
      </p:sp>
      <p:sp>
        <p:nvSpPr>
          <p:cNvPr id="6" name="矩形 5"/>
          <p:cNvSpPr/>
          <p:nvPr/>
        </p:nvSpPr>
        <p:spPr>
          <a:xfrm>
            <a:off x="656673" y="1506974"/>
            <a:ext cx="4704493" cy="461665"/>
          </a:xfrm>
          <a:prstGeom prst="rect">
            <a:avLst/>
          </a:prstGeom>
          <a:solidFill>
            <a:schemeClr val="bg2"/>
          </a:solidFill>
        </p:spPr>
        <p:txBody>
          <a:bodyPr wrap="none">
            <a:spAutoFit/>
          </a:bodyPr>
          <a:lstStyle/>
          <a:p>
            <a:r>
              <a:rPr lang="zh-CN" altLang="zh-CN" sz="2400" dirty="0"/>
              <a:t>交叉验证函数：</a:t>
            </a:r>
            <a:r>
              <a:rPr lang="en-US" altLang="zh-CN" sz="2400" dirty="0"/>
              <a:t>cross_val_predict()</a:t>
            </a:r>
            <a:endParaRPr lang="zh-CN" altLang="en-US" sz="2400" dirty="0"/>
          </a:p>
        </p:txBody>
      </p:sp>
      <p:sp>
        <p:nvSpPr>
          <p:cNvPr id="77" name="矩形 76"/>
          <p:cNvSpPr/>
          <p:nvPr/>
        </p:nvSpPr>
        <p:spPr>
          <a:xfrm>
            <a:off x="372820" y="3746694"/>
            <a:ext cx="8368845" cy="2308324"/>
          </a:xfrm>
          <a:prstGeom prst="rect">
            <a:avLst/>
          </a:prstGeom>
          <a:solidFill>
            <a:schemeClr val="bg2"/>
          </a:solidFill>
        </p:spPr>
        <p:txBody>
          <a:bodyPr wrap="square">
            <a:spAutoFit/>
          </a:bodyPr>
          <a:lstStyle/>
          <a:p>
            <a:r>
              <a:rPr lang="zh-CN" altLang="en-US" sz="2400" dirty="0"/>
              <a:t>交叉验证的好处：</a:t>
            </a:r>
            <a:endParaRPr lang="en-US" altLang="zh-CN" sz="2400" dirty="0"/>
          </a:p>
          <a:p>
            <a:r>
              <a:rPr lang="en-US" altLang="zh-CN" sz="2400" dirty="0"/>
              <a:t>1</a:t>
            </a:r>
            <a:r>
              <a:rPr lang="zh-CN" altLang="zh-CN" sz="2400" dirty="0"/>
              <a:t>）验证结果更加稳定</a:t>
            </a:r>
            <a:r>
              <a:rPr lang="zh-CN" altLang="en-US" sz="2400" dirty="0"/>
              <a:t>，尤其是</a:t>
            </a:r>
            <a:r>
              <a:rPr lang="zh-CN" altLang="zh-CN" sz="2400" dirty="0"/>
              <a:t>在小数据集中。</a:t>
            </a:r>
          </a:p>
          <a:p>
            <a:r>
              <a:rPr lang="en-US" altLang="zh-CN" sz="2400" dirty="0"/>
              <a:t>2</a:t>
            </a:r>
            <a:r>
              <a:rPr lang="zh-CN" altLang="zh-CN" sz="2400" dirty="0"/>
              <a:t>）能够查看数据分布对于模型效果的影响，通过查看每份的验证结果，可以得到该数据集分布对模型的影响。</a:t>
            </a:r>
          </a:p>
          <a:p>
            <a:r>
              <a:rPr lang="en-US" altLang="zh-CN" sz="2400" dirty="0"/>
              <a:t>3</a:t>
            </a:r>
            <a:r>
              <a:rPr lang="zh-CN" altLang="zh-CN" sz="2400" dirty="0"/>
              <a:t>）更好地利用训练数据，如果是</a:t>
            </a:r>
            <a:r>
              <a:rPr lang="en-US" altLang="zh-CN" sz="2400" dirty="0"/>
              <a:t>5</a:t>
            </a:r>
            <a:r>
              <a:rPr lang="zh-CN" altLang="zh-CN" sz="2400" dirty="0"/>
              <a:t>折交叉验证，那么训练量占了</a:t>
            </a:r>
            <a:r>
              <a:rPr lang="en-US" altLang="zh-CN" sz="2400" dirty="0"/>
              <a:t>80%</a:t>
            </a:r>
            <a:endParaRPr lang="zh-CN" altLang="en-US" sz="2400" dirty="0"/>
          </a:p>
        </p:txBody>
      </p:sp>
    </p:spTree>
    <p:extLst>
      <p:ext uri="{BB962C8B-B14F-4D97-AF65-F5344CB8AC3E}">
        <p14:creationId xmlns:p14="http://schemas.microsoft.com/office/powerpoint/2010/main" val="810518390"/>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p:cNvSpPr>
            <a:spLocks noGrp="1" noChangeArrowheads="1"/>
          </p:cNvSpPr>
          <p:nvPr>
            <p:ph type="body" idx="4294967295"/>
          </p:nvPr>
        </p:nvSpPr>
        <p:spPr>
          <a:xfrm>
            <a:off x="323852" y="1079502"/>
            <a:ext cx="8361363" cy="5192713"/>
          </a:xfrm>
          <a:prstGeom prst="rect">
            <a:avLst/>
          </a:prstGeom>
        </p:spPr>
        <p:txBody>
          <a:bodyPr/>
          <a:lstStyle/>
          <a:p>
            <a:r>
              <a:rPr lang="zh-CN" altLang="en-US" sz="2800" b="1" dirty="0"/>
              <a:t>统计学中：样本是用来估计总体的参数</a:t>
            </a:r>
          </a:p>
          <a:p>
            <a:r>
              <a:rPr lang="zh-CN" altLang="en-US" sz="2800" b="1" dirty="0"/>
              <a:t>机器学习中：样本是用来训练模型和估计模型参数的。</a:t>
            </a:r>
          </a:p>
          <a:p>
            <a:r>
              <a:rPr lang="zh-CN" altLang="en-US" sz="2800" b="1" dirty="0"/>
              <a:t>对于</a:t>
            </a:r>
            <a:r>
              <a:rPr lang="zh-CN" altLang="en-US" sz="3200" b="1" dirty="0">
                <a:solidFill>
                  <a:srgbClr val="FF5050"/>
                </a:solidFill>
              </a:rPr>
              <a:t>参数估计</a:t>
            </a:r>
            <a:r>
              <a:rPr lang="zh-CN" altLang="en-US" sz="2800" b="1" dirty="0"/>
              <a:t>来说</a:t>
            </a:r>
            <a:r>
              <a:rPr lang="zh-CN" altLang="en-US" b="1" dirty="0"/>
              <a:t>：</a:t>
            </a:r>
          </a:p>
        </p:txBody>
      </p:sp>
      <p:sp>
        <p:nvSpPr>
          <p:cNvPr id="78852" name="Text Box 4"/>
          <p:cNvSpPr txBox="1">
            <a:spLocks noChangeArrowheads="1"/>
          </p:cNvSpPr>
          <p:nvPr/>
        </p:nvSpPr>
        <p:spPr bwMode="auto">
          <a:xfrm>
            <a:off x="930275" y="4678364"/>
            <a:ext cx="20177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Tx/>
              <a:buNone/>
            </a:pPr>
            <a:r>
              <a:rPr lang="zh-CN" altLang="en-US" sz="3200" b="1"/>
              <a:t>参数</a:t>
            </a:r>
          </a:p>
        </p:txBody>
      </p:sp>
      <p:sp>
        <p:nvSpPr>
          <p:cNvPr id="78853" name="Line 5"/>
          <p:cNvSpPr>
            <a:spLocks noChangeShapeType="1"/>
          </p:cNvSpPr>
          <p:nvPr/>
        </p:nvSpPr>
        <p:spPr bwMode="auto">
          <a:xfrm flipV="1">
            <a:off x="2947988" y="3886201"/>
            <a:ext cx="1655762"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4" name="Line 6"/>
          <p:cNvSpPr>
            <a:spLocks noChangeShapeType="1"/>
          </p:cNvSpPr>
          <p:nvPr/>
        </p:nvSpPr>
        <p:spPr bwMode="auto">
          <a:xfrm>
            <a:off x="2947988" y="5181602"/>
            <a:ext cx="172720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5" name="Text Box 7"/>
          <p:cNvSpPr txBox="1">
            <a:spLocks noChangeArrowheads="1"/>
          </p:cNvSpPr>
          <p:nvPr/>
        </p:nvSpPr>
        <p:spPr bwMode="auto">
          <a:xfrm>
            <a:off x="4748215" y="3525839"/>
            <a:ext cx="35274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Tx/>
              <a:buNone/>
            </a:pPr>
            <a:r>
              <a:rPr lang="zh-CN" altLang="en-US" sz="3200" b="1"/>
              <a:t>总体的均值、方差</a:t>
            </a:r>
          </a:p>
        </p:txBody>
      </p:sp>
      <p:sp>
        <p:nvSpPr>
          <p:cNvPr id="78856" name="Text Box 8"/>
          <p:cNvSpPr txBox="1">
            <a:spLocks noChangeArrowheads="1"/>
          </p:cNvSpPr>
          <p:nvPr/>
        </p:nvSpPr>
        <p:spPr bwMode="auto">
          <a:xfrm>
            <a:off x="4748215" y="5470525"/>
            <a:ext cx="35274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FontTx/>
              <a:buNone/>
            </a:pPr>
            <a:r>
              <a:rPr lang="zh-CN" altLang="en-US" sz="3200" b="1"/>
              <a:t>模型的参数，如</a:t>
            </a:r>
            <a:r>
              <a:rPr lang="en-US" altLang="zh-CN" sz="3200" b="1"/>
              <a:t>ANN</a:t>
            </a:r>
            <a:r>
              <a:rPr lang="zh-CN" altLang="en-US" sz="3200" b="1"/>
              <a:t>中节点的权重</a:t>
            </a:r>
          </a:p>
        </p:txBody>
      </p:sp>
      <p:sp>
        <p:nvSpPr>
          <p:cNvPr id="9" name="文本框 2"/>
          <p:cNvSpPr txBox="1"/>
          <p:nvPr/>
        </p:nvSpPr>
        <p:spPr>
          <a:xfrm>
            <a:off x="0" y="174726"/>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2.5.2</a:t>
            </a:r>
            <a:r>
              <a:rPr lang="zh-CN" altLang="en-US" sz="2800" b="1" dirty="0">
                <a:solidFill>
                  <a:srgbClr val="0070C0"/>
                </a:solidFill>
                <a:latin typeface="微软雅黑" panose="020B0503020204020204" pitchFamily="34" charset="-122"/>
                <a:ea typeface="微软雅黑" panose="020B0503020204020204" pitchFamily="34" charset="-122"/>
              </a:rPr>
              <a:t>样本和参数估计</a:t>
            </a:r>
          </a:p>
        </p:txBody>
      </p:sp>
      <p:sp>
        <p:nvSpPr>
          <p:cNvPr id="2" name="TextBox 1"/>
          <p:cNvSpPr txBox="1"/>
          <p:nvPr/>
        </p:nvSpPr>
        <p:spPr>
          <a:xfrm rot="20020318">
            <a:off x="2992898" y="3879781"/>
            <a:ext cx="1107996" cy="461665"/>
          </a:xfrm>
          <a:prstGeom prst="rect">
            <a:avLst/>
          </a:prstGeom>
          <a:noFill/>
        </p:spPr>
        <p:txBody>
          <a:bodyPr wrap="none" rtlCol="0">
            <a:spAutoFit/>
          </a:bodyPr>
          <a:lstStyle/>
          <a:p>
            <a:r>
              <a:rPr lang="zh-CN" altLang="en-US" sz="2400" dirty="0"/>
              <a:t>统计学</a:t>
            </a:r>
          </a:p>
        </p:txBody>
      </p:sp>
      <p:sp>
        <p:nvSpPr>
          <p:cNvPr id="10" name="TextBox 9"/>
          <p:cNvSpPr txBox="1"/>
          <p:nvPr/>
        </p:nvSpPr>
        <p:spPr>
          <a:xfrm rot="1098513">
            <a:off x="2839010" y="5527032"/>
            <a:ext cx="1415772" cy="461665"/>
          </a:xfrm>
          <a:prstGeom prst="rect">
            <a:avLst/>
          </a:prstGeom>
          <a:noFill/>
        </p:spPr>
        <p:txBody>
          <a:bodyPr wrap="none" rtlCol="0">
            <a:spAutoFit/>
          </a:bodyPr>
          <a:lstStyle/>
          <a:p>
            <a:r>
              <a:rPr lang="zh-CN" altLang="en-US" sz="2400" dirty="0"/>
              <a:t>机器学习</a:t>
            </a:r>
          </a:p>
        </p:txBody>
      </p:sp>
    </p:spTree>
    <p:extLst>
      <p:ext uri="{BB962C8B-B14F-4D97-AF65-F5344CB8AC3E}">
        <p14:creationId xmlns:p14="http://schemas.microsoft.com/office/powerpoint/2010/main" val="18238845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2" y="681693"/>
            <a:ext cx="3208646" cy="577397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欠拟合、过拟合示例</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模型在训练样本上产生的误差叫训练误差（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training error</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。在测试样本上产生的误差叫测试误差（</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test error</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endPar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欠拟合、过拟合与泛化能力</a:t>
            </a:r>
          </a:p>
        </p:txBody>
      </p:sp>
      <p:sp>
        <p:nvSpPr>
          <p:cNvPr id="4" name="灯片编号占位符 1"/>
          <p:cNvSpPr txBox="1">
            <a:spLocks/>
          </p:cNvSpPr>
          <p:nvPr/>
        </p:nvSpPr>
        <p:spPr>
          <a:xfrm>
            <a:off x="6791621" y="6464141"/>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1BEBC7A-FD02-486B-81B5-A845787C689C}" type="slidenum">
              <a:rPr lang="zh-CN" altLang="en-US" sz="1600" smtClean="0"/>
              <a:pPr algn="r"/>
              <a:t>68</a:t>
            </a:fld>
            <a:endParaRPr lang="zh-CN" altLang="en-US" sz="16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3619345" y="830317"/>
            <a:ext cx="2555539" cy="1830346"/>
          </a:xfrm>
          <a:prstGeom prst="rect">
            <a:avLst/>
          </a:prstGeom>
        </p:spPr>
      </p:pic>
      <p:pic>
        <p:nvPicPr>
          <p:cNvPr id="12" name="图片 11"/>
          <p:cNvPicPr/>
          <p:nvPr/>
        </p:nvPicPr>
        <p:blipFill>
          <a:blip r:embed="rId4">
            <a:extLst>
              <a:ext uri="{28A0092B-C50C-407E-A947-70E740481C1C}">
                <a14:useLocalDpi xmlns:a14="http://schemas.microsoft.com/office/drawing/2010/main" val="0"/>
              </a:ext>
            </a:extLst>
          </a:blip>
          <a:stretch>
            <a:fillRect/>
          </a:stretch>
        </p:blipFill>
        <p:spPr>
          <a:xfrm>
            <a:off x="3620127" y="3032555"/>
            <a:ext cx="2559523" cy="1834452"/>
          </a:xfrm>
          <a:prstGeom prst="rect">
            <a:avLst/>
          </a:prstGeom>
        </p:spPr>
      </p:pic>
      <p:pic>
        <p:nvPicPr>
          <p:cNvPr id="13" name="图片 12"/>
          <p:cNvPicPr/>
          <p:nvPr/>
        </p:nvPicPr>
        <p:blipFill>
          <a:blip r:embed="rId5">
            <a:extLst>
              <a:ext uri="{28A0092B-C50C-407E-A947-70E740481C1C}">
                <a14:useLocalDpi xmlns:a14="http://schemas.microsoft.com/office/drawing/2010/main" val="0"/>
              </a:ext>
            </a:extLst>
          </a:blip>
          <a:stretch>
            <a:fillRect/>
          </a:stretch>
        </p:blipFill>
        <p:spPr>
          <a:xfrm>
            <a:off x="6542437" y="3032555"/>
            <a:ext cx="2559523" cy="1834452"/>
          </a:xfrm>
          <a:prstGeom prst="rect">
            <a:avLst/>
          </a:prstGeom>
        </p:spPr>
      </p:pic>
      <p:graphicFrame>
        <p:nvGraphicFramePr>
          <p:cNvPr id="5" name="表格 4"/>
          <p:cNvGraphicFramePr>
            <a:graphicFrameLocks noGrp="1"/>
          </p:cNvGraphicFramePr>
          <p:nvPr>
            <p:extLst>
              <p:ext uri="{D42A27DB-BD31-4B8C-83A1-F6EECF244321}">
                <p14:modId xmlns:p14="http://schemas.microsoft.com/office/powerpoint/2010/main" val="2566230645"/>
              </p:ext>
            </p:extLst>
          </p:nvPr>
        </p:nvGraphicFramePr>
        <p:xfrm>
          <a:off x="87399" y="5285530"/>
          <a:ext cx="8993541" cy="1097280"/>
        </p:xfrm>
        <a:graphic>
          <a:graphicData uri="http://schemas.openxmlformats.org/drawingml/2006/table">
            <a:tbl>
              <a:tblPr firstRow="1" firstCol="1" bandRow="1">
                <a:tableStyleId>{0E3FDE45-AF77-4B5C-9715-49D594BDF05E}</a:tableStyleId>
              </a:tblPr>
              <a:tblGrid>
                <a:gridCol w="1141115">
                  <a:extLst>
                    <a:ext uri="{9D8B030D-6E8A-4147-A177-3AD203B41FA5}">
                      <a16:colId xmlns:a16="http://schemas.microsoft.com/office/drawing/2014/main" val="20000"/>
                    </a:ext>
                  </a:extLst>
                </a:gridCol>
                <a:gridCol w="2133549">
                  <a:extLst>
                    <a:ext uri="{9D8B030D-6E8A-4147-A177-3AD203B41FA5}">
                      <a16:colId xmlns:a16="http://schemas.microsoft.com/office/drawing/2014/main" val="20001"/>
                    </a:ext>
                  </a:extLst>
                </a:gridCol>
                <a:gridCol w="1949807">
                  <a:extLst>
                    <a:ext uri="{9D8B030D-6E8A-4147-A177-3AD203B41FA5}">
                      <a16:colId xmlns:a16="http://schemas.microsoft.com/office/drawing/2014/main" val="20002"/>
                    </a:ext>
                  </a:extLst>
                </a:gridCol>
                <a:gridCol w="1884535">
                  <a:extLst>
                    <a:ext uri="{9D8B030D-6E8A-4147-A177-3AD203B41FA5}">
                      <a16:colId xmlns:a16="http://schemas.microsoft.com/office/drawing/2014/main" val="20003"/>
                    </a:ext>
                  </a:extLst>
                </a:gridCol>
                <a:gridCol w="1884535">
                  <a:extLst>
                    <a:ext uri="{9D8B030D-6E8A-4147-A177-3AD203B41FA5}">
                      <a16:colId xmlns:a16="http://schemas.microsoft.com/office/drawing/2014/main" val="20004"/>
                    </a:ext>
                  </a:extLst>
                </a:gridCol>
              </a:tblGrid>
              <a:tr h="0">
                <a:tc>
                  <a:txBody>
                    <a:bodyPr/>
                    <a:lstStyle/>
                    <a:p>
                      <a:pPr algn="ctr">
                        <a:spcAft>
                          <a:spcPts val="0"/>
                        </a:spcAft>
                      </a:pPr>
                      <a:r>
                        <a:rPr lang="en-US" sz="1800" kern="100" dirty="0">
                          <a:effectLst/>
                        </a:rPr>
                        <a:t> </a:t>
                      </a:r>
                      <a:endParaRPr lang="zh-CN" sz="2400" kern="100" dirty="0">
                        <a:effectLst/>
                        <a:latin typeface="Times New Roman"/>
                        <a:ea typeface="宋体"/>
                      </a:endParaRPr>
                    </a:p>
                  </a:txBody>
                  <a:tcPr marL="68580" marR="68580" marT="0" marB="0"/>
                </a:tc>
                <a:tc>
                  <a:txBody>
                    <a:bodyPr/>
                    <a:lstStyle/>
                    <a:p>
                      <a:pPr algn="ctr">
                        <a:spcAft>
                          <a:spcPts val="0"/>
                        </a:spcAft>
                      </a:pPr>
                      <a:r>
                        <a:rPr lang="zh-CN" sz="1800" kern="100">
                          <a:effectLst/>
                        </a:rPr>
                        <a:t>线性回归模型</a:t>
                      </a:r>
                      <a:endParaRPr lang="zh-CN" sz="2400" kern="100">
                        <a:effectLst/>
                        <a:latin typeface="Times New Roman"/>
                        <a:ea typeface="宋体"/>
                      </a:endParaRPr>
                    </a:p>
                  </a:txBody>
                  <a:tcPr marL="68580" marR="68580" marT="0" marB="0"/>
                </a:tc>
                <a:tc>
                  <a:txBody>
                    <a:bodyPr/>
                    <a:lstStyle/>
                    <a:p>
                      <a:pPr algn="ctr">
                        <a:spcAft>
                          <a:spcPts val="0"/>
                        </a:spcAft>
                      </a:pPr>
                      <a:r>
                        <a:rPr lang="zh-CN" sz="1800" kern="100">
                          <a:effectLst/>
                        </a:rPr>
                        <a:t>三次多项式模型</a:t>
                      </a:r>
                      <a:endParaRPr lang="zh-CN" sz="2400" kern="100">
                        <a:effectLst/>
                        <a:latin typeface="Times New Roman"/>
                        <a:ea typeface="宋体"/>
                      </a:endParaRPr>
                    </a:p>
                  </a:txBody>
                  <a:tcPr marL="68580" marR="68580" marT="0" marB="0"/>
                </a:tc>
                <a:tc>
                  <a:txBody>
                    <a:bodyPr/>
                    <a:lstStyle/>
                    <a:p>
                      <a:pPr algn="ctr">
                        <a:spcAft>
                          <a:spcPts val="0"/>
                        </a:spcAft>
                      </a:pPr>
                      <a:r>
                        <a:rPr lang="zh-CN" sz="1800" kern="100">
                          <a:effectLst/>
                        </a:rPr>
                        <a:t>五次多项式模型</a:t>
                      </a:r>
                      <a:endParaRPr lang="zh-CN" sz="2400" kern="100">
                        <a:effectLst/>
                        <a:latin typeface="Times New Roman"/>
                        <a:ea typeface="宋体"/>
                      </a:endParaRPr>
                    </a:p>
                  </a:txBody>
                  <a:tcPr marL="68580" marR="68580" marT="0" marB="0"/>
                </a:tc>
                <a:tc>
                  <a:txBody>
                    <a:bodyPr/>
                    <a:lstStyle/>
                    <a:p>
                      <a:pPr algn="ctr">
                        <a:spcAft>
                          <a:spcPts val="0"/>
                        </a:spcAft>
                      </a:pPr>
                      <a:r>
                        <a:rPr lang="zh-CN" sz="1800" kern="100">
                          <a:effectLst/>
                        </a:rPr>
                        <a:t>九次多项式模型</a:t>
                      </a:r>
                      <a:endParaRPr lang="zh-CN" sz="2400" kern="100">
                        <a:effectLst/>
                        <a:latin typeface="Times New Roman"/>
                        <a:ea typeface="宋体"/>
                      </a:endParaRPr>
                    </a:p>
                  </a:txBody>
                  <a:tcPr marL="68580" marR="68580" marT="0" marB="0"/>
                </a:tc>
                <a:extLst>
                  <a:ext uri="{0D108BD9-81ED-4DB2-BD59-A6C34878D82A}">
                    <a16:rowId xmlns:a16="http://schemas.microsoft.com/office/drawing/2014/main" val="10000"/>
                  </a:ext>
                </a:extLst>
              </a:tr>
              <a:tr h="0">
                <a:tc>
                  <a:txBody>
                    <a:bodyPr/>
                    <a:lstStyle/>
                    <a:p>
                      <a:pPr algn="ctr">
                        <a:spcAft>
                          <a:spcPts val="0"/>
                        </a:spcAft>
                      </a:pPr>
                      <a:r>
                        <a:rPr lang="zh-CN" sz="1800" kern="100">
                          <a:effectLst/>
                        </a:rPr>
                        <a:t>训练误差</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2019</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534</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209</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4</a:t>
                      </a:r>
                      <a:endParaRPr lang="zh-CN" sz="2400" kern="100">
                        <a:effectLst/>
                        <a:latin typeface="Times New Roman"/>
                        <a:ea typeface="宋体"/>
                      </a:endParaRPr>
                    </a:p>
                  </a:txBody>
                  <a:tcPr marL="68580" marR="68580" marT="0" marB="0"/>
                </a:tc>
                <a:extLst>
                  <a:ext uri="{0D108BD9-81ED-4DB2-BD59-A6C34878D82A}">
                    <a16:rowId xmlns:a16="http://schemas.microsoft.com/office/drawing/2014/main" val="10001"/>
                  </a:ext>
                </a:extLst>
              </a:tr>
              <a:tr h="0">
                <a:tc>
                  <a:txBody>
                    <a:bodyPr/>
                    <a:lstStyle/>
                    <a:p>
                      <a:pPr algn="ctr">
                        <a:spcAft>
                          <a:spcPts val="0"/>
                        </a:spcAft>
                      </a:pPr>
                      <a:r>
                        <a:rPr lang="zh-CN" sz="1800" kern="100">
                          <a:effectLst/>
                        </a:rPr>
                        <a:t>测试误差</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578</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247</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1232</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38492</a:t>
                      </a:r>
                      <a:endParaRPr lang="zh-CN" sz="2400" kern="100">
                        <a:effectLst/>
                        <a:latin typeface="Times New Roman"/>
                        <a:ea typeface="宋体"/>
                      </a:endParaRPr>
                    </a:p>
                  </a:txBody>
                  <a:tcPr marL="68580" marR="68580" marT="0" marB="0"/>
                </a:tc>
                <a:extLst>
                  <a:ext uri="{0D108BD9-81ED-4DB2-BD59-A6C34878D82A}">
                    <a16:rowId xmlns:a16="http://schemas.microsoft.com/office/drawing/2014/main" val="10002"/>
                  </a:ext>
                </a:extLst>
              </a:tr>
              <a:tr h="0">
                <a:tc>
                  <a:txBody>
                    <a:bodyPr/>
                    <a:lstStyle/>
                    <a:p>
                      <a:pPr algn="ctr">
                        <a:spcAft>
                          <a:spcPts val="0"/>
                        </a:spcAft>
                      </a:pPr>
                      <a:r>
                        <a:rPr lang="zh-CN" sz="1800" kern="100">
                          <a:effectLst/>
                        </a:rPr>
                        <a:t>和</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a:effectLst/>
                        </a:rPr>
                        <a:t>2597</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dirty="0">
                          <a:effectLst/>
                        </a:rPr>
                        <a:t>781</a:t>
                      </a:r>
                      <a:endParaRPr lang="zh-CN" sz="2400" kern="100" dirty="0">
                        <a:effectLst/>
                        <a:latin typeface="Times New Roman"/>
                        <a:ea typeface="宋体"/>
                      </a:endParaRPr>
                    </a:p>
                  </a:txBody>
                  <a:tcPr marL="68580" marR="68580" marT="0" marB="0"/>
                </a:tc>
                <a:tc>
                  <a:txBody>
                    <a:bodyPr/>
                    <a:lstStyle/>
                    <a:p>
                      <a:pPr algn="ctr">
                        <a:spcAft>
                          <a:spcPts val="0"/>
                        </a:spcAft>
                      </a:pPr>
                      <a:r>
                        <a:rPr lang="en-US" sz="1800" kern="100">
                          <a:effectLst/>
                        </a:rPr>
                        <a:t>1441</a:t>
                      </a:r>
                      <a:endParaRPr lang="zh-CN" sz="2400" kern="100">
                        <a:effectLst/>
                        <a:latin typeface="Times New Roman"/>
                        <a:ea typeface="宋体"/>
                      </a:endParaRPr>
                    </a:p>
                  </a:txBody>
                  <a:tcPr marL="68580" marR="68580" marT="0" marB="0"/>
                </a:tc>
                <a:tc>
                  <a:txBody>
                    <a:bodyPr/>
                    <a:lstStyle/>
                    <a:p>
                      <a:pPr algn="ctr">
                        <a:spcAft>
                          <a:spcPts val="0"/>
                        </a:spcAft>
                      </a:pPr>
                      <a:r>
                        <a:rPr lang="en-US" sz="1800" kern="100" dirty="0">
                          <a:effectLst/>
                        </a:rPr>
                        <a:t>38496</a:t>
                      </a:r>
                      <a:endParaRPr lang="zh-CN" sz="2400" kern="100" dirty="0">
                        <a:effectLst/>
                        <a:latin typeface="Times New Roman"/>
                        <a:ea typeface="宋体"/>
                      </a:endParaRPr>
                    </a:p>
                  </a:txBody>
                  <a:tcPr marL="68580" marR="68580" marT="0" marB="0"/>
                </a:tc>
                <a:extLst>
                  <a:ext uri="{0D108BD9-81ED-4DB2-BD59-A6C34878D82A}">
                    <a16:rowId xmlns:a16="http://schemas.microsoft.com/office/drawing/2014/main" val="10003"/>
                  </a:ext>
                </a:extLst>
              </a:tr>
            </a:tbl>
          </a:graphicData>
        </a:graphic>
      </p:graphicFrame>
      <p:pic>
        <p:nvPicPr>
          <p:cNvPr id="130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2852" y="830317"/>
            <a:ext cx="2631869" cy="1830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3335740"/>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4818065" cy="577397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泛化能力与模型复杂度</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衡量模型好坏的是测试误差，它标志了模型对未知新实例的预测能力，因此一般追求的是</a:t>
            </a:r>
            <a:r>
              <a:rPr lang="zh-CN" altLang="en-US" sz="2200" dirty="0">
                <a:solidFill>
                  <a:srgbClr val="FF0000"/>
                </a:solidFill>
                <a:latin typeface="Arial" panose="020B0604020202020204" pitchFamily="34" charset="0"/>
                <a:ea typeface="微软雅黑" panose="020B0503020204020204" pitchFamily="34" charset="-122"/>
                <a:cs typeface="Arial" panose="020B0604020202020204" pitchFamily="34" charset="0"/>
              </a:rPr>
              <a:t>测试误差最小</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的那个模型。</a:t>
            </a:r>
            <a:r>
              <a:rPr lang="zh-CN" altLang="en-US" sz="2200" dirty="0">
                <a:solidFill>
                  <a:srgbClr val="FF0000"/>
                </a:solidFill>
                <a:latin typeface="Arial" panose="020B0604020202020204" pitchFamily="34" charset="0"/>
                <a:ea typeface="微软雅黑" panose="020B0503020204020204" pitchFamily="34" charset="-122"/>
                <a:cs typeface="Arial" panose="020B0604020202020204" pitchFamily="34" charset="0"/>
              </a:rPr>
              <a:t>模型对新实例的预测能力称为泛化能力</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，模型在新实例上的误差称为泛化误差。</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能够求解问题的模型往往不只一个。一般来说，只有合适复杂程度的模型才能最好地反映出训练集中蕴含的规律，取得最好的泛化能力。</a:t>
            </a: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欠拟合、过拟合与泛化能力</a:t>
            </a:r>
          </a:p>
        </p:txBody>
      </p:sp>
      <p:sp>
        <p:nvSpPr>
          <p:cNvPr id="4" name="灯片编号占位符 1"/>
          <p:cNvSpPr txBox="1">
            <a:spLocks/>
          </p:cNvSpPr>
          <p:nvPr/>
        </p:nvSpPr>
        <p:spPr>
          <a:xfrm>
            <a:off x="6791621" y="6464141"/>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1BEBC7A-FD02-486B-81B5-A845787C689C}" type="slidenum">
              <a:rPr lang="zh-CN" altLang="en-US" sz="1600" smtClean="0"/>
              <a:pPr algn="r"/>
              <a:t>69</a:t>
            </a:fld>
            <a:endParaRPr lang="zh-CN" altLang="en-US" sz="16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3930"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2821" y="1862137"/>
            <a:ext cx="3962400" cy="313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443072"/>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4684501" cy="577397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训练集、验证集、测试集</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有监督机器学习是从已有的样本中学习规律，并用来预测未知样本。它是基于这样一个假设：已有样本和未知样本中蕴含了的相同规律。同样的，将已有的样本划分为训练集和验证集，也是基于这样的假设，即训练集蕴含的规律与验证集中蕴含的规律也是一致的，因此，可以用训练集来训练模型，用验证集来验证模型，达到希望的效果后，再用来预测测试集。</a:t>
            </a:r>
            <a:endPar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泛化能力评估方法</a:t>
            </a:r>
          </a:p>
        </p:txBody>
      </p:sp>
      <p:sp>
        <p:nvSpPr>
          <p:cNvPr id="4" name="灯片编号占位符 1"/>
          <p:cNvSpPr txBox="1">
            <a:spLocks/>
          </p:cNvSpPr>
          <p:nvPr/>
        </p:nvSpPr>
        <p:spPr>
          <a:xfrm>
            <a:off x="6791621" y="6464141"/>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1BEBC7A-FD02-486B-81B5-A845787C689C}" type="slidenum">
              <a:rPr lang="zh-CN" altLang="en-US" sz="1600" smtClean="0"/>
              <a:pPr algn="r"/>
              <a:t>70</a:t>
            </a:fld>
            <a:endParaRPr lang="zh-CN" altLang="en-US" sz="16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4952"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982" y="1281941"/>
            <a:ext cx="4029075"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8194791"/>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2" y="681693"/>
            <a:ext cx="8311278" cy="577397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训练集、验证集的要求</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首先，训练集的数据要尽可能充分且分布平衡，并符合一定的清洁度要求（即噪声不能过多）。不充分或者分布不平衡的样本集，可能不会训练出一个完整的模型。其次，验证集的样本也需要符合一定的平衡分布和清洁度要求，否则将无法验证出一个真实的模型。此外，训练模型和验证模型的样本不能相同。</a:t>
            </a:r>
            <a:endPar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泛化能力评估方法</a:t>
            </a:r>
          </a:p>
        </p:txBody>
      </p:sp>
      <p:sp>
        <p:nvSpPr>
          <p:cNvPr id="4" name="灯片编号占位符 1"/>
          <p:cNvSpPr txBox="1">
            <a:spLocks/>
          </p:cNvSpPr>
          <p:nvPr/>
        </p:nvSpPr>
        <p:spPr>
          <a:xfrm>
            <a:off x="6791621" y="6464141"/>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1BEBC7A-FD02-486B-81B5-A845787C689C}" type="slidenum">
              <a:rPr lang="zh-CN" altLang="en-US" sz="1600" smtClean="0"/>
              <a:pPr algn="r"/>
              <a:t>71</a:t>
            </a:fld>
            <a:endParaRPr lang="zh-CN" altLang="en-US" sz="16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5998" name="Picture 4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782" y="4486275"/>
            <a:ext cx="41148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000" name="Picture 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071" y="4486275"/>
            <a:ext cx="42291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8284667"/>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2" y="681693"/>
            <a:ext cx="8311278" cy="5773971"/>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Bef>
                <a:spcPts val="0"/>
              </a:spcBef>
              <a:buNone/>
            </a:pP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保持法、</a:t>
            </a:r>
            <a:r>
              <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K-</a:t>
            </a:r>
            <a:r>
              <a:rPr lang="zh-CN" altLang="en-US" sz="2400" b="1" dirty="0">
                <a:solidFill>
                  <a:srgbClr val="0070C0"/>
                </a:solidFill>
                <a:latin typeface="Arial" panose="020B0604020202020204" pitchFamily="34" charset="0"/>
                <a:ea typeface="微软雅黑" panose="020B0503020204020204" pitchFamily="34" charset="-122"/>
                <a:cs typeface="Arial" panose="020B0604020202020204" pitchFamily="34" charset="0"/>
              </a:rPr>
              <a:t>折交叉验证</a:t>
            </a:r>
            <a:endParaRPr lang="en-US" altLang="zh-CN" sz="2400" b="1" dirty="0">
              <a:solidFill>
                <a:srgbClr val="0070C0"/>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将训练数据划分为训练集和验证集的方法称为保持法（</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holdout method</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），一般保留已知样本的</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20%</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到</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30%</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作为验证集。</a:t>
            </a:r>
            <a:endPar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0" indent="457200">
              <a:lnSpc>
                <a:spcPct val="150000"/>
              </a:lnSpc>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K-</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折交叉验证是将总样本集随机地划分为</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K</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个互不相交的子集。对于每个子集，将所有其它样本集作为训练集训练出模型，将该子集作为验证集，并记录验证集每一个样本的预测结果。每个子集都这样处理完后，所有样本都有一个预测值。然后与真实值进行比对，从而评估模型的效果。这个方法将每一个样本都用来进行了验证，其评估的准确性一般要高于保持法。</a:t>
            </a:r>
            <a:endParaRPr lang="zh-CN"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泛化能力评估方法</a:t>
            </a:r>
          </a:p>
        </p:txBody>
      </p:sp>
      <p:sp>
        <p:nvSpPr>
          <p:cNvPr id="4" name="灯片编号占位符 1"/>
          <p:cNvSpPr txBox="1">
            <a:spLocks/>
          </p:cNvSpPr>
          <p:nvPr/>
        </p:nvSpPr>
        <p:spPr>
          <a:xfrm>
            <a:off x="6791621" y="6464141"/>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1BEBC7A-FD02-486B-81B5-A845787C689C}" type="slidenum">
              <a:rPr lang="zh-CN" altLang="en-US" sz="1600" smtClean="0"/>
              <a:pPr algn="r"/>
              <a:t>72</a:t>
            </a:fld>
            <a:endParaRPr lang="zh-CN" altLang="en-US" sz="160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27443870"/>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在</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Sklearn</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中，要获得或创建样本数据，有</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3</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种方法：</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导入</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Sklearn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自带的样本数据集</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lvl="1" defTabSz="913765">
              <a:lnSpc>
                <a:spcPct val="150000"/>
              </a:lnSpc>
            </a:pP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利用</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Sklearn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生成随机的数据集</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lvl="1" defTabSz="913765">
              <a:lnSpc>
                <a:spcPct val="150000"/>
              </a:lnSpc>
            </a:pP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读入自己创建的数据集</a:t>
            </a:r>
            <a:endPar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2.5.3 </a:t>
            </a:r>
            <a:r>
              <a:rPr lang="zh-CN" altLang="en-US" sz="2800" b="1" dirty="0">
                <a:solidFill>
                  <a:srgbClr val="0070C0"/>
                </a:solidFill>
                <a:latin typeface="微软雅黑" panose="020B0503020204020204" pitchFamily="34" charset="-122"/>
                <a:ea typeface="微软雅黑" panose="020B0503020204020204" pitchFamily="34" charset="-122"/>
              </a:rPr>
              <a:t>导入或创建数据集</a:t>
            </a:r>
          </a:p>
        </p:txBody>
      </p:sp>
    </p:spTree>
    <p:extLst>
      <p:ext uri="{BB962C8B-B14F-4D97-AF65-F5344CB8AC3E}">
        <p14:creationId xmlns:p14="http://schemas.microsoft.com/office/powerpoint/2010/main" val="3852089338"/>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Sklearn</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的</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datasets</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模型中提供的样本数据集：</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 </a:t>
            </a:r>
            <a:r>
              <a:rPr lang="zh-CN" altLang="en-US" sz="2800" b="1" dirty="0">
                <a:solidFill>
                  <a:srgbClr val="0070C0"/>
                </a:solidFill>
                <a:latin typeface="微软雅黑" panose="020B0503020204020204" pitchFamily="34" charset="-122"/>
                <a:ea typeface="微软雅黑" panose="020B0503020204020204" pitchFamily="34" charset="-122"/>
              </a:rPr>
              <a:t>导入</a:t>
            </a:r>
            <a:r>
              <a:rPr lang="en-US" altLang="zh-CN" sz="2800" b="1" dirty="0">
                <a:solidFill>
                  <a:srgbClr val="0070C0"/>
                </a:solidFill>
                <a:latin typeface="微软雅黑" panose="020B0503020204020204" pitchFamily="34" charset="-122"/>
                <a:ea typeface="微软雅黑" panose="020B0503020204020204" pitchFamily="34" charset="-122"/>
              </a:rPr>
              <a:t>Sklearn</a:t>
            </a:r>
            <a:r>
              <a:rPr lang="zh-CN" altLang="en-US" sz="2800" b="1" dirty="0">
                <a:solidFill>
                  <a:srgbClr val="0070C0"/>
                </a:solidFill>
                <a:latin typeface="微软雅黑" panose="020B0503020204020204" pitchFamily="34" charset="-122"/>
                <a:ea typeface="微软雅黑" panose="020B0503020204020204" pitchFamily="34" charset="-122"/>
              </a:rPr>
              <a:t>自带的样本数据集</a:t>
            </a:r>
          </a:p>
        </p:txBody>
      </p:sp>
      <p:graphicFrame>
        <p:nvGraphicFramePr>
          <p:cNvPr id="2" name="表格 1"/>
          <p:cNvGraphicFramePr>
            <a:graphicFrameLocks noGrp="1"/>
          </p:cNvGraphicFramePr>
          <p:nvPr>
            <p:extLst>
              <p:ext uri="{D42A27DB-BD31-4B8C-83A1-F6EECF244321}">
                <p14:modId xmlns:p14="http://schemas.microsoft.com/office/powerpoint/2010/main" val="2942876046"/>
              </p:ext>
            </p:extLst>
          </p:nvPr>
        </p:nvGraphicFramePr>
        <p:xfrm>
          <a:off x="480505" y="1338072"/>
          <a:ext cx="8192135" cy="5120640"/>
        </p:xfrm>
        <a:graphic>
          <a:graphicData uri="http://schemas.openxmlformats.org/drawingml/2006/table">
            <a:tbl>
              <a:tblPr firstRow="1" firstCol="1" bandRow="1">
                <a:tableStyleId>{5C22544A-7EE6-4342-B048-85BDC9FD1C3A}</a:tableStyleId>
              </a:tblPr>
              <a:tblGrid>
                <a:gridCol w="259797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792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504000">
                  <a:extLst>
                    <a:ext uri="{9D8B030D-6E8A-4147-A177-3AD203B41FA5}">
                      <a16:colId xmlns:a16="http://schemas.microsoft.com/office/drawing/2014/main" val="20004"/>
                    </a:ext>
                  </a:extLst>
                </a:gridCol>
              </a:tblGrid>
              <a:tr h="0">
                <a:tc>
                  <a:txBody>
                    <a:bodyPr/>
                    <a:lstStyle/>
                    <a:p>
                      <a:pPr algn="just">
                        <a:spcAft>
                          <a:spcPts val="0"/>
                        </a:spcAft>
                      </a:pPr>
                      <a:r>
                        <a:rPr lang="zh-CN" sz="2400" kern="100" dirty="0">
                          <a:effectLst/>
                        </a:rPr>
                        <a:t>数据集名称</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zh-CN" sz="2400" kern="100">
                          <a:effectLst/>
                        </a:rPr>
                        <a:t>调用函数</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dirty="0">
                          <a:effectLst/>
                        </a:rPr>
                        <a:t>适用</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zh-CN" sz="2400" kern="100">
                          <a:effectLst/>
                        </a:rPr>
                        <a:t>数据规模</a:t>
                      </a:r>
                      <a:endParaRPr lang="zh-CN" sz="2400" kern="100">
                        <a:effectLst/>
                        <a:latin typeface="Calibri"/>
                        <a:ea typeface="宋体"/>
                        <a:cs typeface="Times New Roman"/>
                      </a:endParaRPr>
                    </a:p>
                  </a:txBody>
                  <a:tcPr marL="68580" marR="68580" marT="0" marB="0"/>
                </a:tc>
                <a:tc>
                  <a:txBody>
                    <a:bodyPr/>
                    <a:lstStyle/>
                    <a:p>
                      <a:pPr algn="just">
                        <a:spcAft>
                          <a:spcPts val="0"/>
                        </a:spcAft>
                      </a:pP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0">
                <a:tc>
                  <a:txBody>
                    <a:bodyPr/>
                    <a:lstStyle/>
                    <a:p>
                      <a:pPr algn="just">
                        <a:spcAft>
                          <a:spcPts val="0"/>
                        </a:spcAft>
                      </a:pPr>
                      <a:r>
                        <a:rPr lang="zh-CN" sz="2400" kern="100">
                          <a:effectLst/>
                        </a:rPr>
                        <a:t>波士顿房价数据集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load_boston()</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dirty="0">
                          <a:effectLst/>
                        </a:rPr>
                        <a:t>回归</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en-US" sz="2400" kern="100" dirty="0">
                          <a:effectLst/>
                        </a:rPr>
                        <a:t>506</a:t>
                      </a:r>
                      <a:r>
                        <a:rPr lang="zh-CN" sz="2400" kern="100" dirty="0">
                          <a:effectLst/>
                        </a:rPr>
                        <a:t>行</a:t>
                      </a:r>
                      <a:r>
                        <a:rPr lang="en-US" sz="2400" kern="100" dirty="0">
                          <a:effectLst/>
                        </a:rPr>
                        <a:t>*13</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小</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0">
                <a:tc>
                  <a:txBody>
                    <a:bodyPr/>
                    <a:lstStyle/>
                    <a:p>
                      <a:pPr algn="just">
                        <a:spcAft>
                          <a:spcPts val="0"/>
                        </a:spcAft>
                      </a:pPr>
                      <a:r>
                        <a:rPr lang="zh-CN" sz="2400" kern="100">
                          <a:effectLst/>
                        </a:rPr>
                        <a:t>鸢尾花数据集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load_iris()</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分类</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dirty="0">
                          <a:effectLst/>
                        </a:rPr>
                        <a:t>150*4</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小</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0">
                <a:tc>
                  <a:txBody>
                    <a:bodyPr/>
                    <a:lstStyle/>
                    <a:p>
                      <a:pPr algn="just">
                        <a:spcAft>
                          <a:spcPts val="0"/>
                        </a:spcAft>
                      </a:pPr>
                      <a:r>
                        <a:rPr lang="zh-CN" sz="2400" kern="100">
                          <a:effectLst/>
                        </a:rPr>
                        <a:t>糖尿病数据集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load_diabetes()</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回归</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442*10</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小</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0">
                <a:tc>
                  <a:txBody>
                    <a:bodyPr/>
                    <a:lstStyle/>
                    <a:p>
                      <a:pPr algn="just">
                        <a:spcAft>
                          <a:spcPts val="0"/>
                        </a:spcAft>
                      </a:pPr>
                      <a:r>
                        <a:rPr lang="zh-CN" sz="2400" kern="100">
                          <a:effectLst/>
                        </a:rPr>
                        <a:t>体能训练数据集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load_linnerud()</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 </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 </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 </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0">
                <a:tc>
                  <a:txBody>
                    <a:bodyPr/>
                    <a:lstStyle/>
                    <a:p>
                      <a:pPr algn="just">
                        <a:spcAft>
                          <a:spcPts val="0"/>
                        </a:spcAft>
                      </a:pPr>
                      <a:r>
                        <a:rPr lang="zh-CN" sz="2400" kern="100">
                          <a:effectLst/>
                        </a:rPr>
                        <a:t>手写数字图像数据集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load_digits()</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分类</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5620*64</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小</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0">
                <a:tc>
                  <a:txBody>
                    <a:bodyPr/>
                    <a:lstStyle/>
                    <a:p>
                      <a:pPr algn="just">
                        <a:spcAft>
                          <a:spcPts val="0"/>
                        </a:spcAft>
                      </a:pPr>
                      <a:r>
                        <a:rPr lang="zh-CN" sz="2400" kern="100" dirty="0">
                          <a:effectLst/>
                        </a:rPr>
                        <a:t>脸部图像数据集</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en-US" sz="2400" kern="100">
                          <a:effectLst/>
                        </a:rPr>
                        <a:t>fetch_olivetti_faces()</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降维</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400*64*64</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大</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r h="0">
                <a:tc>
                  <a:txBody>
                    <a:bodyPr/>
                    <a:lstStyle/>
                    <a:p>
                      <a:pPr algn="just">
                        <a:spcAft>
                          <a:spcPts val="0"/>
                        </a:spcAft>
                      </a:pPr>
                      <a:r>
                        <a:rPr lang="zh-CN" sz="2400" kern="100">
                          <a:effectLst/>
                        </a:rPr>
                        <a:t>新闻分类数据集</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fetch_20newsgroups()</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分类</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 </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大</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7"/>
                  </a:ext>
                </a:extLst>
              </a:tr>
              <a:tr h="0">
                <a:tc>
                  <a:txBody>
                    <a:bodyPr/>
                    <a:lstStyle/>
                    <a:p>
                      <a:pPr algn="just">
                        <a:spcAft>
                          <a:spcPts val="0"/>
                        </a:spcAft>
                      </a:pPr>
                      <a:r>
                        <a:rPr lang="zh-CN" sz="2400" kern="100" dirty="0">
                          <a:effectLst/>
                        </a:rPr>
                        <a:t>带标签人脸数据集</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en-US" sz="2400" kern="100">
                          <a:effectLst/>
                        </a:rPr>
                        <a:t>fetch_lfw_people()</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分类、降维</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 </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大</a:t>
                      </a:r>
                      <a:endParaRPr lang="zh-CN" sz="2400" kern="100">
                        <a:effectLst/>
                        <a:latin typeface="Calibri"/>
                        <a:ea typeface="宋体"/>
                        <a:cs typeface="Times New Roman"/>
                      </a:endParaRPr>
                    </a:p>
                  </a:txBody>
                  <a:tcPr marL="68580" marR="68580" marT="0" marB="0"/>
                </a:tc>
                <a:extLst>
                  <a:ext uri="{0D108BD9-81ED-4DB2-BD59-A6C34878D82A}">
                    <a16:rowId xmlns:a16="http://schemas.microsoft.com/office/drawing/2014/main" val="10008"/>
                  </a:ext>
                </a:extLst>
              </a:tr>
              <a:tr h="0">
                <a:tc>
                  <a:txBody>
                    <a:bodyPr/>
                    <a:lstStyle/>
                    <a:p>
                      <a:pPr algn="just">
                        <a:spcAft>
                          <a:spcPts val="0"/>
                        </a:spcAft>
                      </a:pPr>
                      <a:r>
                        <a:rPr lang="zh-CN" sz="2400" kern="100" dirty="0">
                          <a:effectLst/>
                        </a:rPr>
                        <a:t>路透社新闻语料数据集</a:t>
                      </a:r>
                      <a:endParaRPr lang="zh-CN" sz="2400" kern="100" dirty="0">
                        <a:effectLst/>
                        <a:latin typeface="Calibri"/>
                        <a:ea typeface="宋体"/>
                        <a:cs typeface="Times New Roman"/>
                      </a:endParaRPr>
                    </a:p>
                  </a:txBody>
                  <a:tcPr marL="68580" marR="68580" marT="0" marB="0"/>
                </a:tc>
                <a:tc>
                  <a:txBody>
                    <a:bodyPr/>
                    <a:lstStyle/>
                    <a:p>
                      <a:pPr algn="just">
                        <a:spcAft>
                          <a:spcPts val="0"/>
                        </a:spcAft>
                      </a:pPr>
                      <a:r>
                        <a:rPr lang="en-US" sz="2400" kern="100">
                          <a:effectLst/>
                        </a:rPr>
                        <a:t>fetch_rcv1()</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a:effectLst/>
                        </a:rPr>
                        <a:t>分类</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en-US" sz="2400" kern="100">
                          <a:effectLst/>
                        </a:rPr>
                        <a:t>804414*47236</a:t>
                      </a:r>
                      <a:endParaRPr lang="zh-CN" sz="2400" kern="100">
                        <a:effectLst/>
                        <a:latin typeface="Calibri"/>
                        <a:ea typeface="宋体"/>
                        <a:cs typeface="Times New Roman"/>
                      </a:endParaRPr>
                    </a:p>
                  </a:txBody>
                  <a:tcPr marL="68580" marR="68580" marT="0" marB="0"/>
                </a:tc>
                <a:tc>
                  <a:txBody>
                    <a:bodyPr/>
                    <a:lstStyle/>
                    <a:p>
                      <a:pPr algn="just">
                        <a:spcAft>
                          <a:spcPts val="0"/>
                        </a:spcAft>
                      </a:pPr>
                      <a:r>
                        <a:rPr lang="zh-CN" sz="2400" kern="100" dirty="0">
                          <a:effectLst/>
                        </a:rPr>
                        <a:t>大</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90517388"/>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导入</a:t>
            </a:r>
            <a:r>
              <a:rPr lang="en-US" altLang="zh-CN" sz="2800" b="1" dirty="0">
                <a:solidFill>
                  <a:srgbClr val="0070C0"/>
                </a:solidFill>
                <a:latin typeface="微软雅黑" panose="020B0503020204020204" pitchFamily="34" charset="-122"/>
                <a:ea typeface="微软雅黑" panose="020B0503020204020204" pitchFamily="34" charset="-122"/>
              </a:rPr>
              <a:t>Sklearn</a:t>
            </a:r>
            <a:r>
              <a:rPr lang="zh-CN" altLang="en-US" sz="2800" b="1" dirty="0">
                <a:solidFill>
                  <a:srgbClr val="0070C0"/>
                </a:solidFill>
                <a:latin typeface="微软雅黑" panose="020B0503020204020204" pitchFamily="34" charset="-122"/>
                <a:ea typeface="微软雅黑" panose="020B0503020204020204" pitchFamily="34" charset="-122"/>
              </a:rPr>
              <a:t>数据集举例</a:t>
            </a:r>
          </a:p>
        </p:txBody>
      </p:sp>
      <p:sp>
        <p:nvSpPr>
          <p:cNvPr id="3" name="Text Box 2"/>
          <p:cNvSpPr txBox="1">
            <a:spLocks noChangeArrowheads="1"/>
          </p:cNvSpPr>
          <p:nvPr/>
        </p:nvSpPr>
        <p:spPr bwMode="auto">
          <a:xfrm>
            <a:off x="5758865" y="1424044"/>
            <a:ext cx="3190175" cy="3046988"/>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zh-CN" altLang="en-US" sz="2400" dirty="0"/>
              <a:t>特征属性</a:t>
            </a:r>
          </a:p>
          <a:p>
            <a:r>
              <a:rPr lang="zh-CN" altLang="en-US" sz="2400" dirty="0"/>
              <a:t> </a:t>
            </a:r>
            <a:r>
              <a:rPr lang="en-US" altLang="zh-CN" sz="2400" dirty="0"/>
              <a:t>['sepal length (cm)', 'sepal width (cm)', 'petal length (cm)', 'petal width (cm)'] </a:t>
            </a:r>
          </a:p>
          <a:p>
            <a:r>
              <a:rPr lang="zh-CN" altLang="en-US" sz="2400" dirty="0"/>
              <a:t>类别属性</a:t>
            </a:r>
          </a:p>
          <a:p>
            <a:r>
              <a:rPr lang="zh-CN" altLang="en-US" sz="2400" dirty="0"/>
              <a:t> </a:t>
            </a:r>
            <a:r>
              <a:rPr lang="en-US" altLang="zh-CN" sz="2400" dirty="0"/>
              <a:t>['setosa' 'versicolor' 'virginica']</a:t>
            </a:r>
            <a:endParaRPr lang="zh-CN" altLang="zh-CN" sz="2400" dirty="0"/>
          </a:p>
        </p:txBody>
      </p:sp>
      <p:sp>
        <p:nvSpPr>
          <p:cNvPr id="4" name="Rectangle 4"/>
          <p:cNvSpPr>
            <a:spLocks noChangeArrowheads="1"/>
          </p:cNvSpPr>
          <p:nvPr/>
        </p:nvSpPr>
        <p:spPr bwMode="auto">
          <a:xfrm>
            <a:off x="205563" y="1435114"/>
            <a:ext cx="533910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sklearn.datasets import load_iris</a:t>
            </a:r>
          </a:p>
          <a:p>
            <a:r>
              <a:rPr lang="en-US" altLang="zh-CN" sz="2400" dirty="0">
                <a:latin typeface="Times New Roman" panose="02020603050405020304" pitchFamily="18" charset="0"/>
                <a:cs typeface="Times New Roman" panose="02020603050405020304" pitchFamily="18" charset="0"/>
              </a:rPr>
              <a:t>dataSet = load_iris() #</a:t>
            </a:r>
            <a:r>
              <a:rPr lang="zh-CN" altLang="en-US" sz="2400" dirty="0">
                <a:latin typeface="Times New Roman" panose="02020603050405020304" pitchFamily="18" charset="0"/>
                <a:cs typeface="Times New Roman" panose="02020603050405020304" pitchFamily="18" charset="0"/>
              </a:rPr>
              <a:t>导入</a:t>
            </a:r>
            <a:r>
              <a:rPr lang="en-US" altLang="zh-CN" sz="2400" dirty="0">
                <a:latin typeface="Times New Roman" panose="02020603050405020304" pitchFamily="18" charset="0"/>
                <a:cs typeface="Times New Roman" panose="02020603050405020304" pitchFamily="18" charset="0"/>
              </a:rPr>
              <a:t>iris</a:t>
            </a:r>
            <a:r>
              <a:rPr lang="zh-CN" altLang="en-US" sz="2400" dirty="0">
                <a:latin typeface="Times New Roman" panose="02020603050405020304" pitchFamily="18" charset="0"/>
                <a:cs typeface="Times New Roman" panose="02020603050405020304" pitchFamily="18" charset="0"/>
              </a:rPr>
              <a:t>数据集</a:t>
            </a:r>
          </a:p>
          <a:p>
            <a:r>
              <a:rPr lang="en-US" altLang="zh-CN" sz="2400" dirty="0">
                <a:latin typeface="Times New Roman" panose="02020603050405020304" pitchFamily="18" charset="0"/>
                <a:cs typeface="Times New Roman" panose="02020603050405020304" pitchFamily="18" charset="0"/>
              </a:rPr>
              <a:t>data = dataSet['data']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label = dataSet['target']# label</a:t>
            </a:r>
            <a:r>
              <a:rPr lang="zh-CN" altLang="en-US" sz="2400" dirty="0">
                <a:latin typeface="Times New Roman" panose="02020603050405020304" pitchFamily="18" charset="0"/>
                <a:cs typeface="Times New Roman" panose="02020603050405020304" pitchFamily="18" charset="0"/>
              </a:rPr>
              <a:t>标签</a:t>
            </a:r>
          </a:p>
          <a:p>
            <a:r>
              <a:rPr lang="en-US" altLang="zh-CN" sz="2400" dirty="0">
                <a:latin typeface="Times New Roman" panose="02020603050405020304" pitchFamily="18" charset="0"/>
                <a:cs typeface="Times New Roman" panose="02020603050405020304" pitchFamily="18" charset="0"/>
              </a:rPr>
              <a:t>feature = dataSet['feature_names']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target = dataSet['target_names']</a:t>
            </a:r>
          </a:p>
          <a:p>
            <a:r>
              <a:rPr lang="en-US" altLang="zh-CN" sz="2400" dirty="0">
                <a:latin typeface="Times New Roman" panose="02020603050405020304" pitchFamily="18" charset="0"/>
                <a:cs typeface="Times New Roman" panose="02020603050405020304" pitchFamily="18" charset="0"/>
              </a:rPr>
              <a:t>print('</a:t>
            </a:r>
            <a:r>
              <a:rPr lang="zh-CN" altLang="en-US" sz="2400" dirty="0">
                <a:latin typeface="Times New Roman" panose="02020603050405020304" pitchFamily="18" charset="0"/>
                <a:cs typeface="Times New Roman" panose="02020603050405020304" pitchFamily="18" charset="0"/>
              </a:rPr>
              <a:t>特征属性</a:t>
            </a:r>
            <a:r>
              <a:rPr lang="en-US" altLang="zh-CN" sz="2400" dirty="0">
                <a:latin typeface="Times New Roman" panose="02020603050405020304" pitchFamily="18" charset="0"/>
                <a:cs typeface="Times New Roman" panose="02020603050405020304" pitchFamily="18" charset="0"/>
              </a:rPr>
              <a:t>\n',feature ,'\n</a:t>
            </a:r>
            <a:r>
              <a:rPr lang="zh-CN" altLang="en-US" sz="2400" dirty="0">
                <a:latin typeface="Times New Roman" panose="02020603050405020304" pitchFamily="18" charset="0"/>
                <a:cs typeface="Times New Roman" panose="02020603050405020304" pitchFamily="18" charset="0"/>
              </a:rPr>
              <a:t>类别属性</a:t>
            </a:r>
            <a:r>
              <a:rPr lang="en-US" altLang="zh-CN" sz="2400" dirty="0">
                <a:latin typeface="Times New Roman" panose="02020603050405020304" pitchFamily="18" charset="0"/>
                <a:cs typeface="Times New Roman" panose="02020603050405020304" pitchFamily="18" charset="0"/>
              </a:rPr>
              <a:t>\n',target)</a:t>
            </a:r>
          </a:p>
        </p:txBody>
      </p:sp>
      <p:sp>
        <p:nvSpPr>
          <p:cNvPr id="7" name="矩形 6"/>
          <p:cNvSpPr/>
          <p:nvPr/>
        </p:nvSpPr>
        <p:spPr>
          <a:xfrm>
            <a:off x="384259" y="849242"/>
            <a:ext cx="4448269"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2-26] </a:t>
            </a:r>
            <a:r>
              <a:rPr lang="zh-CN" altLang="en-US" sz="2800" b="1" dirty="0">
                <a:solidFill>
                  <a:srgbClr val="0070C0"/>
                </a:solidFill>
                <a:latin typeface="微软雅黑" panose="020B0503020204020204" pitchFamily="34" charset="-122"/>
                <a:ea typeface="微软雅黑" panose="020B0503020204020204" pitchFamily="34" charset="-122"/>
              </a:rPr>
              <a:t>导入</a:t>
            </a:r>
            <a:r>
              <a:rPr lang="en-US" altLang="zh-CN" sz="2800" b="1" dirty="0">
                <a:solidFill>
                  <a:srgbClr val="0070C0"/>
                </a:solidFill>
                <a:latin typeface="微软雅黑" panose="020B0503020204020204" pitchFamily="34" charset="-122"/>
                <a:ea typeface="微软雅黑" panose="020B0503020204020204" pitchFamily="34" charset="-122"/>
              </a:rPr>
              <a:t>iris</a:t>
            </a:r>
            <a:r>
              <a:rPr lang="zh-CN" altLang="en-US" sz="2800" b="1" dirty="0">
                <a:solidFill>
                  <a:srgbClr val="0070C0"/>
                </a:solidFill>
                <a:latin typeface="微软雅黑" panose="020B0503020204020204" pitchFamily="34" charset="-122"/>
                <a:ea typeface="微软雅黑" panose="020B0503020204020204" pitchFamily="34" charset="-122"/>
              </a:rPr>
              <a:t>数据集</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10" name="组合 9"/>
          <p:cNvGrpSpPr/>
          <p:nvPr/>
        </p:nvGrpSpPr>
        <p:grpSpPr>
          <a:xfrm>
            <a:off x="384259" y="5035786"/>
            <a:ext cx="8378741" cy="1075454"/>
            <a:chOff x="6339097" y="1573726"/>
            <a:chExt cx="3744416" cy="887823"/>
          </a:xfrm>
        </p:grpSpPr>
        <p:sp>
          <p:nvSpPr>
            <p:cNvPr id="11" name="圆角矩形 10"/>
            <p:cNvSpPr/>
            <p:nvPr/>
          </p:nvSpPr>
          <p:spPr>
            <a:xfrm>
              <a:off x="6339097" y="1573726"/>
              <a:ext cx="3744416" cy="4567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2" name="矩形 11"/>
            <p:cNvSpPr/>
            <p:nvPr/>
          </p:nvSpPr>
          <p:spPr>
            <a:xfrm>
              <a:off x="6399543" y="1599350"/>
              <a:ext cx="3683970" cy="8621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可见</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iris</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数据集是一个有</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个特征属性的三分类问题的数据集</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801997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20000"/>
              </a:lnSpc>
              <a:buNone/>
            </a:pP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make_&lt;name&gt;</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函数：用来生成具有各种形状分布的数据集，这些函数可无中生有的生成随机数据：</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make_circles()</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：生成环形数据；</a:t>
            </a: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make_moons()</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：生成月亮形（半环形）数据；</a:t>
            </a: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make_blobs()</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：生成球型数据，多类单标签数据集。</a:t>
            </a: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make_classification()</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：多类单标签数据集，为每个类分配一个或多个正态分布的点集，</a:t>
            </a: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make_gaussian_quantiles()</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：将一个单高斯分布的点集划分为两个数量均等的点集，作为两类。</a:t>
            </a:r>
          </a:p>
          <a:p>
            <a:pPr marL="0" lvl="1" indent="247650" defTabSz="913765">
              <a:lnSpc>
                <a:spcPct val="12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make_hastie-10-2()</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：产生一个相似的二元分类数据集，有</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10</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个维度。</a:t>
            </a: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a:t>
            </a:r>
            <a:r>
              <a:rPr lang="zh-CN" altLang="en-US" sz="2800" b="1" dirty="0">
                <a:solidFill>
                  <a:srgbClr val="0070C0"/>
                </a:solidFill>
                <a:latin typeface="微软雅黑" panose="020B0503020204020204" pitchFamily="34" charset="-122"/>
                <a:ea typeface="微软雅黑" panose="020B0503020204020204" pitchFamily="34" charset="-122"/>
              </a:rPr>
              <a:t>利用</a:t>
            </a:r>
            <a:r>
              <a:rPr lang="en-US" altLang="zh-CN" sz="2800" b="1" dirty="0">
                <a:solidFill>
                  <a:srgbClr val="0070C0"/>
                </a:solidFill>
                <a:latin typeface="微软雅黑" panose="020B0503020204020204" pitchFamily="34" charset="-122"/>
                <a:ea typeface="微软雅黑" panose="020B0503020204020204" pitchFamily="34" charset="-122"/>
              </a:rPr>
              <a:t>Sklearn</a:t>
            </a:r>
            <a:r>
              <a:rPr lang="zh-CN" altLang="en-US" sz="2800" b="1" dirty="0">
                <a:solidFill>
                  <a:srgbClr val="0070C0"/>
                </a:solidFill>
                <a:latin typeface="微软雅黑" panose="020B0503020204020204" pitchFamily="34" charset="-122"/>
                <a:ea typeface="微软雅黑" panose="020B0503020204020204" pitchFamily="34" charset="-122"/>
              </a:rPr>
              <a:t>生成随机的数据集</a:t>
            </a:r>
          </a:p>
        </p:txBody>
      </p:sp>
    </p:spTree>
    <p:extLst>
      <p:ext uri="{BB962C8B-B14F-4D97-AF65-F5344CB8AC3E}">
        <p14:creationId xmlns:p14="http://schemas.microsoft.com/office/powerpoint/2010/main" val="2523293938"/>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0"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生成随机数据集举例</a:t>
            </a:r>
          </a:p>
        </p:txBody>
      </p:sp>
      <p:sp>
        <p:nvSpPr>
          <p:cNvPr id="4" name="Rectangle 4"/>
          <p:cNvSpPr>
            <a:spLocks noChangeArrowheads="1"/>
          </p:cNvSpPr>
          <p:nvPr/>
        </p:nvSpPr>
        <p:spPr bwMode="auto">
          <a:xfrm>
            <a:off x="205561" y="1251909"/>
            <a:ext cx="6582509"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000" dirty="0"/>
              <a:t>from sklearn.datasets import make_circles  </a:t>
            </a:r>
            <a:endParaRPr lang="zh-CN" altLang="zh-CN" sz="2000" dirty="0"/>
          </a:p>
          <a:p>
            <a:r>
              <a:rPr lang="en-US" altLang="zh-CN" sz="2000" dirty="0"/>
              <a:t>from sklearn.datasets import make_moons  </a:t>
            </a:r>
            <a:endParaRPr lang="zh-CN" altLang="zh-CN" sz="2000" dirty="0"/>
          </a:p>
          <a:p>
            <a:r>
              <a:rPr lang="en-US" altLang="zh-CN" sz="2000" dirty="0"/>
              <a:t>from sklearn.datasets import make_blobs</a:t>
            </a:r>
            <a:endParaRPr lang="zh-CN" altLang="zh-CN" sz="2000" dirty="0"/>
          </a:p>
          <a:p>
            <a:r>
              <a:rPr lang="en-US" altLang="zh-CN" sz="2000" dirty="0"/>
              <a:t>import matplotlib.pyplot as plt  </a:t>
            </a:r>
            <a:endParaRPr lang="zh-CN" altLang="zh-CN" sz="2000" dirty="0"/>
          </a:p>
          <a:p>
            <a:r>
              <a:rPr lang="en-US" altLang="zh-CN" sz="2000" dirty="0"/>
              <a:t>fig=plt.figure(figsize=(12, 4))  </a:t>
            </a:r>
            <a:endParaRPr lang="zh-CN" altLang="zh-CN" sz="2000" dirty="0"/>
          </a:p>
          <a:p>
            <a:r>
              <a:rPr lang="en-US" altLang="zh-CN" sz="2000" dirty="0"/>
              <a:t>plt.subplot(131)  </a:t>
            </a:r>
            <a:endParaRPr lang="zh-CN" altLang="zh-CN" sz="2000" dirty="0"/>
          </a:p>
          <a:p>
            <a:r>
              <a:rPr lang="en-US" altLang="zh-CN" sz="2000" dirty="0"/>
              <a:t>x1,y1=make_circles(n_samples=1000,factor=0.5,noise=0.1)</a:t>
            </a:r>
            <a:endParaRPr lang="zh-CN" altLang="zh-CN" sz="2000" dirty="0"/>
          </a:p>
          <a:p>
            <a:r>
              <a:rPr lang="en-US" altLang="zh-CN" sz="2000" dirty="0"/>
              <a:t>plt.scatter(x1[:,0],x1[:,1],marker='o',c=y1)  </a:t>
            </a:r>
            <a:endParaRPr lang="zh-CN" altLang="zh-CN" sz="2000" dirty="0"/>
          </a:p>
          <a:p>
            <a:r>
              <a:rPr lang="en-US" altLang="zh-CN" sz="2000" dirty="0"/>
              <a:t>plt.subplot(132)  </a:t>
            </a:r>
            <a:endParaRPr lang="zh-CN" altLang="zh-CN" sz="2000" dirty="0"/>
          </a:p>
          <a:p>
            <a:r>
              <a:rPr lang="en-US" altLang="zh-CN" sz="2000" dirty="0"/>
              <a:t>x1,y1=make_moons(n_samples=1000,noise=0.1)  </a:t>
            </a:r>
            <a:endParaRPr lang="zh-CN" altLang="zh-CN" sz="2000" dirty="0"/>
          </a:p>
          <a:p>
            <a:r>
              <a:rPr lang="en-US" altLang="zh-CN" sz="2000" dirty="0"/>
              <a:t>plt.scatter(x1[:,0],x1[:,1],marker='o',c=y1)  </a:t>
            </a:r>
            <a:endParaRPr lang="zh-CN" altLang="zh-CN" sz="2000" dirty="0"/>
          </a:p>
          <a:p>
            <a:r>
              <a:rPr lang="en-US" altLang="zh-CN" sz="2000" dirty="0"/>
              <a:t>plt.subplot(133)  </a:t>
            </a:r>
            <a:endParaRPr lang="zh-CN" altLang="zh-CN" sz="2000" dirty="0"/>
          </a:p>
          <a:p>
            <a:r>
              <a:rPr lang="en-US" altLang="zh-CN" sz="2000" dirty="0"/>
              <a:t>x1,y1=make_blobs(n_samples=100,n_features=2,centers=3)</a:t>
            </a:r>
            <a:endParaRPr lang="zh-CN" altLang="zh-CN" sz="2000" dirty="0"/>
          </a:p>
          <a:p>
            <a:r>
              <a:rPr lang="en-US" altLang="zh-CN" sz="2000" dirty="0"/>
              <a:t>plt.scatter(x1[:,0],x1[:,1],c=y1);</a:t>
            </a:r>
            <a:endParaRPr lang="zh-CN" altLang="zh-CN" sz="2000" dirty="0"/>
          </a:p>
          <a:p>
            <a:r>
              <a:rPr lang="en-US" altLang="zh-CN" sz="2000" dirty="0"/>
              <a:t>plt.show()</a:t>
            </a:r>
            <a:endParaRPr lang="en-US" altLang="zh-CN" sz="2000" dirty="0">
              <a:latin typeface="Times New Roman" panose="02020603050405020304" pitchFamily="18" charset="0"/>
              <a:cs typeface="Times New Roman" panose="02020603050405020304" pitchFamily="18" charset="0"/>
            </a:endParaRPr>
          </a:p>
        </p:txBody>
      </p:sp>
      <p:sp>
        <p:nvSpPr>
          <p:cNvPr id="7" name="矩形 6"/>
          <p:cNvSpPr/>
          <p:nvPr/>
        </p:nvSpPr>
        <p:spPr>
          <a:xfrm>
            <a:off x="384259" y="849242"/>
            <a:ext cx="4623382"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2-27] </a:t>
            </a:r>
            <a:r>
              <a:rPr lang="zh-CN" altLang="en-US" sz="2800" b="1" dirty="0">
                <a:solidFill>
                  <a:srgbClr val="0070C0"/>
                </a:solidFill>
                <a:latin typeface="微软雅黑" panose="020B0503020204020204" pitchFamily="34" charset="-122"/>
                <a:ea typeface="微软雅黑" panose="020B0503020204020204" pitchFamily="34" charset="-122"/>
              </a:rPr>
              <a:t>生成随机数据集</a:t>
            </a:r>
          </a:p>
        </p:txBody>
      </p:sp>
      <p:sp>
        <p:nvSpPr>
          <p:cNvPr id="8" name="矩形 7"/>
          <p:cNvSpPr/>
          <p:nvPr/>
        </p:nvSpPr>
        <p:spPr>
          <a:xfrm>
            <a:off x="6543475" y="869006"/>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pic>
        <p:nvPicPr>
          <p:cNvPr id="5122" name="Picture 2" descr="头疼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840208" y="3340089"/>
            <a:ext cx="5272087"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679019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方法</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1</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：将数据保存到数组中</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data=[[123,45],[150,55],[87,23],[102,34]]</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target=[[250],[320],[160],[220]]</a:t>
            </a:r>
          </a:p>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方法</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2</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：将数据保存到文本文件中</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def loadDataSet():</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dataMat = []</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labelMat = []</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fr = open('C:\\lr2.txt')		# </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打开文本文件</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lr2.txt</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for line in fr.readlines():	# </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依次读取文本文件中的一行</a:t>
            </a:r>
          </a:p>
          <a:p>
            <a:pPr marL="57150" indent="0" defTabSz="913765">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lineArr = line.strip().split()	# </a:t>
            </a: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根据空格分割</a:t>
            </a:r>
          </a:p>
          <a:p>
            <a:pPr marL="57150" indent="0" defTabSz="913765">
              <a:buNone/>
            </a:pPr>
            <a:r>
              <a:rPr lang="zh-CN" altLang="en-US"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a:t>
            </a: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dataMat.append([float(lineArr[0]),float(lineArr[1])])</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labelMat.append(int(lineArr[2]))</a:t>
            </a:r>
          </a:p>
          <a:p>
            <a:pPr marL="57150" indent="0" defTabSz="913765">
              <a:buNone/>
            </a:pPr>
            <a:r>
              <a:rPr lang="en-US" altLang="zh-CN" sz="22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    return dataMat,labelMat</a:t>
            </a: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3. </a:t>
            </a:r>
            <a:r>
              <a:rPr lang="zh-CN" altLang="en-US" sz="2800" b="1" dirty="0">
                <a:solidFill>
                  <a:srgbClr val="0070C0"/>
                </a:solidFill>
                <a:latin typeface="微软雅黑" panose="020B0503020204020204" pitchFamily="34" charset="-122"/>
                <a:ea typeface="微软雅黑" panose="020B0503020204020204" pitchFamily="34" charset="-122"/>
              </a:rPr>
              <a:t>读入自己创建的数据集</a:t>
            </a:r>
          </a:p>
        </p:txBody>
      </p:sp>
    </p:spTree>
    <p:extLst>
      <p:ext uri="{BB962C8B-B14F-4D97-AF65-F5344CB8AC3E}">
        <p14:creationId xmlns:p14="http://schemas.microsoft.com/office/powerpoint/2010/main" val="502656263"/>
      </p:ext>
    </p:extLst>
  </p:cSld>
  <p:clrMapOvr>
    <a:masterClrMapping/>
  </p:clrMapOvr>
  <p:transition spd="slow">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3400" y="942008"/>
            <a:ext cx="8290560" cy="2954655"/>
          </a:xfrm>
          <a:prstGeom prst="rect">
            <a:avLst/>
          </a:prstGeom>
        </p:spPr>
        <p:txBody>
          <a:bodyPr wrap="square">
            <a:spAutoFit/>
          </a:bodyPr>
          <a:lstStyle/>
          <a:p>
            <a:pPr defTabSz="913765">
              <a:lnSpc>
                <a:spcPct val="150000"/>
              </a:lnSpc>
            </a:pPr>
            <a:r>
              <a:rPr lang="zh-CN" altLang="en-US"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方法</a:t>
            </a:r>
            <a:r>
              <a:rPr lang="en-US" altLang="zh-CN"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3</a:t>
            </a:r>
            <a:r>
              <a:rPr lang="zh-CN" altLang="en-US"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：用</a:t>
            </a:r>
            <a:r>
              <a:rPr lang="en-US" altLang="zh-CN"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pandas</a:t>
            </a:r>
            <a:r>
              <a:rPr lang="zh-CN" altLang="en-US"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读取</a:t>
            </a:r>
            <a:r>
              <a:rPr lang="en-US" altLang="zh-CN"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excel</a:t>
            </a:r>
            <a:r>
              <a:rPr lang="zh-CN" altLang="en-US"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等其他数据文件</a:t>
            </a:r>
            <a:endParaRPr lang="en-US" altLang="zh-CN" sz="28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5715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import pandas as pd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导入</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pandas</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库</a:t>
            </a:r>
          </a:p>
          <a:p>
            <a:pPr marL="5715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data=pd.read_excel('D:\\18ds.xlsx') 	#</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读取</a:t>
            </a: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excel</a:t>
            </a:r>
            <a:r>
              <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文件</a:t>
            </a:r>
          </a:p>
          <a:p>
            <a:pPr marL="5715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data2=pd.read_csv('C:\\lr2.csv') 	</a:t>
            </a:r>
            <a:endParaRPr lang="zh-CN" altLang="en-US"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endParaRPr>
          </a:p>
          <a:p>
            <a:pPr marL="57150" indent="0" defTabSz="913765">
              <a:lnSpc>
                <a:spcPct val="150000"/>
              </a:lnSpc>
              <a:buNone/>
            </a:pPr>
            <a:r>
              <a:rPr lang="en-US" altLang="zh-CN" sz="2400" dirty="0">
                <a:solidFill>
                  <a:prstClr val="black">
                    <a:lumMod val="85000"/>
                    <a:lumOff val="15000"/>
                  </a:prstClr>
                </a:solidFill>
                <a:latin typeface="Arial" panose="020B0604020202020204" pitchFamily="34" charset="0"/>
                <a:ea typeface="微软雅黑" panose="020B0503020204020204" pitchFamily="34" charset="-122"/>
                <a:cs typeface="Arial" panose="020B0604020202020204" pitchFamily="34" charset="0"/>
              </a:rPr>
              <a:t>print(data)</a:t>
            </a:r>
          </a:p>
        </p:txBody>
      </p:sp>
      <p:sp>
        <p:nvSpPr>
          <p:cNvPr id="3" name="文本框 2"/>
          <p:cNvSpPr txBox="1"/>
          <p:nvPr/>
        </p:nvSpPr>
        <p:spPr>
          <a:xfrm>
            <a:off x="4573"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读入自己创建的数据集（续）</a:t>
            </a:r>
          </a:p>
        </p:txBody>
      </p:sp>
      <p:sp>
        <p:nvSpPr>
          <p:cNvPr id="4" name="矩形 3"/>
          <p:cNvSpPr/>
          <p:nvPr/>
        </p:nvSpPr>
        <p:spPr>
          <a:xfrm>
            <a:off x="533400" y="4121557"/>
            <a:ext cx="8168640" cy="1569660"/>
          </a:xfrm>
          <a:prstGeom prst="rect">
            <a:avLst/>
          </a:prstGeom>
          <a:solidFill>
            <a:schemeClr val="bg2"/>
          </a:solidFill>
        </p:spPr>
        <p:txBody>
          <a:bodyPr wrap="square">
            <a:spAutoFit/>
          </a:bodyPr>
          <a:lstStyle/>
          <a:p>
            <a:r>
              <a:rPr lang="en-US" altLang="zh-CN" sz="2400" dirty="0"/>
              <a:t>Pandas</a:t>
            </a:r>
            <a:r>
              <a:rPr lang="zh-CN" altLang="zh-CN" sz="2400" dirty="0"/>
              <a:t>是一个数据分析包，提供了读写文件的功能。使用</a:t>
            </a:r>
            <a:r>
              <a:rPr lang="en-US" altLang="zh-CN" sz="2400" dirty="0"/>
              <a:t>pandas</a:t>
            </a:r>
            <a:r>
              <a:rPr lang="zh-CN" altLang="zh-CN" sz="2400" dirty="0"/>
              <a:t>可以读取表格型数据，包括</a:t>
            </a:r>
            <a:r>
              <a:rPr lang="en-US" altLang="zh-CN" sz="2400" dirty="0"/>
              <a:t>Excel</a:t>
            </a:r>
            <a:r>
              <a:rPr lang="zh-CN" altLang="zh-CN" sz="2400" dirty="0"/>
              <a:t>文件、</a:t>
            </a:r>
            <a:r>
              <a:rPr lang="en-US" altLang="zh-CN" sz="2400" dirty="0"/>
              <a:t>csv</a:t>
            </a:r>
            <a:r>
              <a:rPr lang="zh-CN" altLang="zh-CN" sz="2400" dirty="0"/>
              <a:t>文件或</a:t>
            </a:r>
            <a:r>
              <a:rPr lang="en-US" altLang="zh-CN" sz="2400" dirty="0"/>
              <a:t>txt</a:t>
            </a:r>
            <a:r>
              <a:rPr lang="zh-CN" altLang="zh-CN" sz="2400" dirty="0"/>
              <a:t>文件等，并转成</a:t>
            </a:r>
            <a:r>
              <a:rPr lang="en-US" altLang="zh-CN" sz="2400" dirty="0"/>
              <a:t>DataFrame</a:t>
            </a:r>
            <a:r>
              <a:rPr lang="zh-CN" altLang="zh-CN" sz="2400" dirty="0"/>
              <a:t>类型的数据结构，然后就可以通过操作</a:t>
            </a:r>
            <a:r>
              <a:rPr lang="en-US" altLang="zh-CN" sz="2400" dirty="0"/>
              <a:t>DataFrame</a:t>
            </a:r>
            <a:r>
              <a:rPr lang="zh-CN" altLang="zh-CN" sz="2400" dirty="0"/>
              <a:t>进行数据分析，以及行和列等操作。</a:t>
            </a:r>
            <a:endParaRPr lang="zh-CN" altLang="en-US" sz="2400" dirty="0"/>
          </a:p>
        </p:txBody>
      </p:sp>
    </p:spTree>
    <p:extLst>
      <p:ext uri="{BB962C8B-B14F-4D97-AF65-F5344CB8AC3E}">
        <p14:creationId xmlns:p14="http://schemas.microsoft.com/office/powerpoint/2010/main" val="24605281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为什么要进行数据预处理：</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zh-CN" altLang="zh-CN" sz="2400" dirty="0">
                <a:solidFill>
                  <a:schemeClr val="tx1"/>
                </a:solidFill>
              </a:rPr>
              <a:t>获取到的原始样本数据往往会存在有缺失值、重复值等问题，在使用之前必须进行数据预处理。</a:t>
            </a:r>
            <a:endParaRPr lang="en-US" altLang="zh-CN" sz="2400" dirty="0">
              <a:solidFill>
                <a:schemeClr val="tx1"/>
              </a:solidFill>
            </a:endParaRPr>
          </a:p>
          <a:p>
            <a:pPr lvl="1" defTabSz="913765">
              <a:lnSpc>
                <a:spcPct val="150000"/>
              </a:lnSpc>
            </a:pPr>
            <a:r>
              <a:rPr lang="zh-CN" altLang="zh-CN" sz="2400" dirty="0">
                <a:solidFill>
                  <a:schemeClr val="tx1"/>
                </a:solidFill>
              </a:rPr>
              <a:t>数据预处理没有标准的流程，但一般包括以下几个步骤：去除唯一属性、处理缺失值、属性编码、数据标准化、特征选择、主成分分析。</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2.5.4 </a:t>
            </a:r>
            <a:r>
              <a:rPr lang="zh-CN" altLang="en-US" sz="2800" b="1" dirty="0">
                <a:solidFill>
                  <a:srgbClr val="0070C0"/>
                </a:solidFill>
                <a:latin typeface="微软雅黑" panose="020B0503020204020204" pitchFamily="34" charset="-122"/>
                <a:ea typeface="微软雅黑" panose="020B0503020204020204" pitchFamily="34" charset="-122"/>
              </a:rPr>
              <a:t>数据预处理</a:t>
            </a:r>
          </a:p>
        </p:txBody>
      </p:sp>
    </p:spTree>
    <p:extLst>
      <p:ext uri="{BB962C8B-B14F-4D97-AF65-F5344CB8AC3E}">
        <p14:creationId xmlns:p14="http://schemas.microsoft.com/office/powerpoint/2010/main" val="1149024593"/>
      </p:ext>
    </p:extLst>
  </p:cSld>
  <p:clrMapOvr>
    <a:masterClrMapping/>
  </p:clrMapOvr>
  <p:transition spd="slow">
    <p:wip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对于样本数据来说，首先需要消除特征属性之间不同量级的影响：</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数量级的差异将导致数量级较大的属性占主导地位</a:t>
            </a:r>
            <a:r>
              <a:rPr lang="zh-CN" altLang="zh-CN" sz="2400" dirty="0">
                <a:solidFill>
                  <a:schemeClr val="tx1"/>
                </a:solidFill>
                <a:latin typeface="微软雅黑" panose="020B0503020204020204" pitchFamily="34" charset="-122"/>
                <a:ea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endParaRPr>
          </a:p>
          <a:p>
            <a:pPr lvl="1" defTabSz="913765">
              <a:lnSpc>
                <a:spcPct val="150000"/>
              </a:lnSpc>
            </a:pPr>
            <a:r>
              <a:rPr lang="zh-CN" altLang="en-US" sz="2400" dirty="0">
                <a:solidFill>
                  <a:schemeClr val="tx1"/>
                </a:solidFill>
                <a:latin typeface="微软雅黑" panose="020B0503020204020204" pitchFamily="34" charset="-122"/>
                <a:ea typeface="微软雅黑" panose="020B0503020204020204" pitchFamily="34" charset="-122"/>
              </a:rPr>
              <a:t>数量级的差异将导致迭代收敛速度减慢</a:t>
            </a:r>
            <a:r>
              <a:rPr lang="zh-CN" altLang="zh-CN" sz="2400" dirty="0">
                <a:solidFill>
                  <a:schemeClr val="tx1"/>
                </a:solidFill>
                <a:latin typeface="微软雅黑" panose="020B0503020204020204" pitchFamily="34" charset="-122"/>
                <a:ea typeface="微软雅黑" panose="020B0503020204020204" pitchFamily="34" charset="-122"/>
              </a:rPr>
              <a:t>。</a:t>
            </a:r>
            <a:endParaRPr lang="en-US" altLang="zh-CN" sz="2400" dirty="0">
              <a:solidFill>
                <a:schemeClr val="tx1"/>
              </a:solidFill>
              <a:latin typeface="微软雅黑" panose="020B0503020204020204" pitchFamily="34" charset="-122"/>
              <a:ea typeface="微软雅黑" panose="020B0503020204020204" pitchFamily="34" charset="-122"/>
            </a:endParaRPr>
          </a:p>
          <a:p>
            <a:pPr lvl="1" defTabSz="913765">
              <a:lnSpc>
                <a:spcPct val="150000"/>
              </a:lnSpc>
            </a:pP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依赖于样本距离的算法对于数量级非常敏感。</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 </a:t>
            </a:r>
            <a:r>
              <a:rPr lang="zh-CN" altLang="en-US" sz="2800" b="1" dirty="0">
                <a:solidFill>
                  <a:srgbClr val="0070C0"/>
                </a:solidFill>
                <a:latin typeface="微软雅黑" panose="020B0503020204020204" pitchFamily="34" charset="-122"/>
                <a:ea typeface="微软雅黑" panose="020B0503020204020204" pitchFamily="34" charset="-122"/>
              </a:rPr>
              <a:t>数据标准化</a:t>
            </a:r>
          </a:p>
        </p:txBody>
      </p:sp>
    </p:spTree>
    <p:extLst>
      <p:ext uri="{BB962C8B-B14F-4D97-AF65-F5344CB8AC3E}">
        <p14:creationId xmlns:p14="http://schemas.microsoft.com/office/powerpoint/2010/main" val="3041426692"/>
      </p:ext>
    </p:extLst>
  </p:cSld>
  <p:clrMapOvr>
    <a:masterClrMapping/>
  </p:clrMapOvr>
  <p:transition spd="slow">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常用的数据标准化方法：</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en-US" altLang="zh-CN" sz="2400" dirty="0">
                <a:solidFill>
                  <a:schemeClr val="accent1"/>
                </a:solidFill>
                <a:latin typeface="微软雅黑" panose="020B0503020204020204" pitchFamily="34" charset="-122"/>
                <a:ea typeface="微软雅黑" panose="020B0503020204020204" pitchFamily="34" charset="-122"/>
              </a:rPr>
              <a:t>min-max</a:t>
            </a:r>
            <a:r>
              <a:rPr lang="zh-CN" altLang="en-US" sz="2400" dirty="0">
                <a:solidFill>
                  <a:schemeClr val="accent1"/>
                </a:solidFill>
                <a:latin typeface="微软雅黑" panose="020B0503020204020204" pitchFamily="34" charset="-122"/>
                <a:ea typeface="微软雅黑" panose="020B0503020204020204" pitchFamily="34" charset="-122"/>
              </a:rPr>
              <a:t>标准化</a:t>
            </a:r>
            <a:r>
              <a:rPr lang="zh-CN" altLang="en-US" sz="2400" dirty="0">
                <a:solidFill>
                  <a:schemeClr val="tx1"/>
                </a:solidFill>
                <a:latin typeface="微软雅黑" panose="020B0503020204020204" pitchFamily="34" charset="-122"/>
                <a:ea typeface="微软雅黑" panose="020B0503020204020204" pitchFamily="34" charset="-122"/>
              </a:rPr>
              <a:t>（归一化）：</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lvl="1" indent="0" defTabSz="913765">
              <a:lnSpc>
                <a:spcPct val="150000"/>
              </a:lnSpc>
              <a:buNone/>
            </a:pP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新数据</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（原数据</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最小值）</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（最大值</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最小值）</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lvl="1" defTabSz="913765">
              <a:lnSpc>
                <a:spcPct val="150000"/>
              </a:lnSpc>
            </a:pPr>
            <a:endPar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endParaRPr>
          </a:p>
          <a:p>
            <a:pPr lvl="1" defTabSz="913765">
              <a:lnSpc>
                <a:spcPct val="150000"/>
              </a:lnSpc>
            </a:pPr>
            <a:r>
              <a:rPr lang="en-US" altLang="zh-CN"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z-score</a:t>
            </a:r>
            <a:r>
              <a:rPr lang="zh-CN" altLang="en-US" sz="2400" dirty="0">
                <a:solidFill>
                  <a:schemeClr val="accent1"/>
                </a:solidFill>
                <a:latin typeface="Arial" panose="020B0604020202020204" pitchFamily="34" charset="0"/>
                <a:ea typeface="微软雅黑" panose="020B0503020204020204" pitchFamily="34" charset="-122"/>
                <a:cs typeface="Arial" panose="020B0604020202020204" pitchFamily="34" charset="0"/>
              </a:rPr>
              <a:t>标准化</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（规范化）：</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a:p>
            <a:pPr marL="457200" lvl="1" indent="0" defTabSz="913765">
              <a:lnSpc>
                <a:spcPct val="150000"/>
              </a:lnSpc>
              <a:buNone/>
            </a:pP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新数据</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（原数据</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均值）</a:t>
            </a:r>
            <a:r>
              <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rPr>
              <a:t>/ </a:t>
            </a:r>
            <a:r>
              <a:rPr lang="zh-CN" altLang="en-US" sz="2400" dirty="0">
                <a:solidFill>
                  <a:schemeClr val="tx1"/>
                </a:solidFill>
                <a:latin typeface="Arial" panose="020B0604020202020204" pitchFamily="34" charset="0"/>
                <a:ea typeface="微软雅黑" panose="020B0503020204020204" pitchFamily="34" charset="-122"/>
                <a:cs typeface="Arial" panose="020B0604020202020204" pitchFamily="34" charset="0"/>
              </a:rPr>
              <a:t>标准差</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 </a:t>
            </a:r>
            <a:r>
              <a:rPr lang="zh-CN" altLang="en-US" sz="2800" b="1" dirty="0">
                <a:solidFill>
                  <a:srgbClr val="0070C0"/>
                </a:solidFill>
                <a:latin typeface="微软雅黑" panose="020B0503020204020204" pitchFamily="34" charset="-122"/>
                <a:ea typeface="微软雅黑" panose="020B0503020204020204" pitchFamily="34" charset="-122"/>
              </a:rPr>
              <a:t>数据标准化</a:t>
            </a:r>
          </a:p>
        </p:txBody>
      </p:sp>
    </p:spTree>
    <p:extLst>
      <p:ext uri="{BB962C8B-B14F-4D97-AF65-F5344CB8AC3E}">
        <p14:creationId xmlns:p14="http://schemas.microsoft.com/office/powerpoint/2010/main" val="1957726437"/>
      </p:ext>
    </p:extLst>
  </p:cSld>
  <p:clrMapOvr>
    <a:masterClrMapping/>
  </p:clrMapOvr>
  <p:transition spd="slow">
    <p:wip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二值化函数</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binarizer()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Sklearn</a:t>
            </a:r>
            <a:r>
              <a:rPr lang="zh-CN" altLang="en-US" sz="2800" b="1" dirty="0">
                <a:solidFill>
                  <a:srgbClr val="0070C0"/>
                </a:solidFill>
                <a:latin typeface="微软雅黑" panose="020B0503020204020204" pitchFamily="34" charset="-122"/>
                <a:ea typeface="微软雅黑" panose="020B0503020204020204" pitchFamily="34" charset="-122"/>
              </a:rPr>
              <a:t>中数据标准化函数</a:t>
            </a:r>
          </a:p>
        </p:txBody>
      </p:sp>
      <p:sp>
        <p:nvSpPr>
          <p:cNvPr id="4" name="Text Box 2"/>
          <p:cNvSpPr txBox="1">
            <a:spLocks noChangeArrowheads="1"/>
          </p:cNvSpPr>
          <p:nvPr/>
        </p:nvSpPr>
        <p:spPr bwMode="auto">
          <a:xfrm>
            <a:off x="6324527" y="2116226"/>
            <a:ext cx="2058852" cy="1200329"/>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[[1. 0. 1.]	</a:t>
            </a:r>
          </a:p>
          <a:p>
            <a:r>
              <a:rPr lang="en-US" altLang="zh-CN" sz="2400" dirty="0"/>
              <a:t> [1. 0. 0.]	</a:t>
            </a:r>
          </a:p>
          <a:p>
            <a:r>
              <a:rPr lang="en-US" altLang="zh-CN" sz="2400" dirty="0"/>
              <a:t> [0. 1. 0.]]</a:t>
            </a:r>
            <a:endParaRPr lang="zh-CN" altLang="zh-CN" sz="2400" dirty="0"/>
          </a:p>
        </p:txBody>
      </p:sp>
      <p:sp>
        <p:nvSpPr>
          <p:cNvPr id="5" name="Rectangle 4"/>
          <p:cNvSpPr>
            <a:spLocks noChangeArrowheads="1"/>
          </p:cNvSpPr>
          <p:nvPr/>
        </p:nvSpPr>
        <p:spPr bwMode="auto">
          <a:xfrm>
            <a:off x="205562" y="1977728"/>
            <a:ext cx="6012357"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sklearn.preprocessing import Binarizer</a:t>
            </a:r>
          </a:p>
          <a:p>
            <a:r>
              <a:rPr lang="en-US" altLang="zh-CN" sz="2400" dirty="0">
                <a:latin typeface="Times New Roman" panose="02020603050405020304" pitchFamily="18" charset="0"/>
                <a:cs typeface="Times New Roman" panose="02020603050405020304" pitchFamily="18" charset="0"/>
              </a:rPr>
              <a:t>X = [[ 1., -1.,2.],[ 2.,0.,0.],[ 0.,1.,-1.]]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binary = Binarizer() </a:t>
            </a:r>
          </a:p>
          <a:p>
            <a:r>
              <a:rPr lang="en-US" altLang="zh-CN" sz="2400" dirty="0">
                <a:latin typeface="Times New Roman" panose="02020603050405020304" pitchFamily="18" charset="0"/>
                <a:cs typeface="Times New Roman" panose="02020603050405020304" pitchFamily="18" charset="0"/>
              </a:rPr>
              <a:t>transformer =binary.fit(X) 	</a:t>
            </a:r>
          </a:p>
          <a:p>
            <a:r>
              <a:rPr lang="en-US" altLang="zh-CN" sz="2400" dirty="0">
                <a:latin typeface="Times New Roman" panose="02020603050405020304" pitchFamily="18" charset="0"/>
                <a:cs typeface="Times New Roman" panose="02020603050405020304" pitchFamily="18" charset="0"/>
              </a:rPr>
              <a:t>transformer.transform(X)</a:t>
            </a:r>
          </a:p>
          <a:p>
            <a:r>
              <a:rPr lang="en-US" altLang="zh-CN" sz="2400" dirty="0">
                <a:latin typeface="Times New Roman" panose="02020603050405020304" pitchFamily="18" charset="0"/>
                <a:cs typeface="Times New Roman" panose="02020603050405020304" pitchFamily="18" charset="0"/>
              </a:rPr>
              <a:t>Binarizer(copy=True, threshold=0.0)</a:t>
            </a:r>
          </a:p>
          <a:p>
            <a:r>
              <a:rPr lang="en-US" altLang="zh-CN" sz="2400" dirty="0">
                <a:latin typeface="Times New Roman" panose="02020603050405020304" pitchFamily="18" charset="0"/>
                <a:cs typeface="Times New Roman" panose="02020603050405020304" pitchFamily="18" charset="0"/>
              </a:rPr>
              <a:t>print(transformer.transform(X))</a:t>
            </a:r>
          </a:p>
        </p:txBody>
      </p:sp>
      <p:sp>
        <p:nvSpPr>
          <p:cNvPr id="6" name="矩形 5"/>
          <p:cNvSpPr/>
          <p:nvPr/>
        </p:nvSpPr>
        <p:spPr>
          <a:xfrm>
            <a:off x="384259" y="1402926"/>
            <a:ext cx="498245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2-28] </a:t>
            </a:r>
            <a:r>
              <a:rPr lang="zh-CN" altLang="en-US" sz="2800" b="1" dirty="0">
                <a:solidFill>
                  <a:srgbClr val="0070C0"/>
                </a:solidFill>
                <a:latin typeface="微软雅黑" panose="020B0503020204020204" pitchFamily="34" charset="-122"/>
                <a:ea typeface="微软雅黑" panose="020B0503020204020204" pitchFamily="34" charset="-122"/>
              </a:rPr>
              <a:t>矩阵的二值化举例</a:t>
            </a:r>
          </a:p>
        </p:txBody>
      </p:sp>
      <p:sp>
        <p:nvSpPr>
          <p:cNvPr id="7" name="矩形 6"/>
          <p:cNvSpPr/>
          <p:nvPr/>
        </p:nvSpPr>
        <p:spPr>
          <a:xfrm>
            <a:off x="6543475" y="142269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8" name="组合 7"/>
          <p:cNvGrpSpPr/>
          <p:nvPr/>
        </p:nvGrpSpPr>
        <p:grpSpPr>
          <a:xfrm>
            <a:off x="362924" y="4973302"/>
            <a:ext cx="8378741" cy="892790"/>
            <a:chOff x="6339097" y="1573725"/>
            <a:chExt cx="3744416" cy="737028"/>
          </a:xfrm>
        </p:grpSpPr>
        <p:sp>
          <p:nvSpPr>
            <p:cNvPr id="9" name="圆角矩形 8"/>
            <p:cNvSpPr/>
            <p:nvPr/>
          </p:nvSpPr>
          <p:spPr>
            <a:xfrm>
              <a:off x="6339097" y="1573725"/>
              <a:ext cx="3744416" cy="73702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99543" y="1599350"/>
              <a:ext cx="3683970" cy="711403"/>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transformer =binary.fit(X)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使用这个二值化对象的</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fit()</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方法去拟合</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，返回一个二值化类的实例化对象</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713763144"/>
      </p:ext>
    </p:extLst>
  </p:cSld>
  <p:clrMapOvr>
    <a:masterClrMapping/>
  </p:clrMapOvr>
  <p:transition spd="slow">
    <p:wip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归一化函数</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MinMaxScaler()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Sklearn</a:t>
            </a:r>
            <a:r>
              <a:rPr lang="zh-CN" altLang="en-US" sz="2800" b="1" dirty="0">
                <a:solidFill>
                  <a:srgbClr val="0070C0"/>
                </a:solidFill>
                <a:latin typeface="微软雅黑" panose="020B0503020204020204" pitchFamily="34" charset="-122"/>
                <a:ea typeface="微软雅黑" panose="020B0503020204020204" pitchFamily="34" charset="-122"/>
              </a:rPr>
              <a:t>中数据标准化函数</a:t>
            </a:r>
          </a:p>
        </p:txBody>
      </p:sp>
      <p:sp>
        <p:nvSpPr>
          <p:cNvPr id="4" name="Text Box 2"/>
          <p:cNvSpPr txBox="1">
            <a:spLocks noChangeArrowheads="1"/>
          </p:cNvSpPr>
          <p:nvPr/>
        </p:nvSpPr>
        <p:spPr bwMode="auto">
          <a:xfrm>
            <a:off x="6543475" y="1984180"/>
            <a:ext cx="2222469" cy="3046988"/>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range</a:t>
            </a:r>
            <a:r>
              <a:rPr lang="zh-CN" altLang="zh-CN" sz="2400" dirty="0"/>
              <a:t>最大值为： </a:t>
            </a:r>
            <a:r>
              <a:rPr lang="en-US" altLang="zh-CN" sz="2400" dirty="0"/>
              <a:t>[ 1. 18.]</a:t>
            </a:r>
            <a:endParaRPr lang="zh-CN" altLang="zh-CN" sz="2400" dirty="0"/>
          </a:p>
          <a:p>
            <a:r>
              <a:rPr lang="en-US" altLang="zh-CN" sz="2400" dirty="0"/>
              <a:t>range</a:t>
            </a:r>
            <a:r>
              <a:rPr lang="zh-CN" altLang="zh-CN" sz="2400" dirty="0"/>
              <a:t>最小值为： </a:t>
            </a:r>
            <a:r>
              <a:rPr lang="en-US" altLang="zh-CN" sz="2400" dirty="0"/>
              <a:t>[-1.  2.]</a:t>
            </a:r>
            <a:endParaRPr lang="zh-CN" altLang="zh-CN" sz="2400" dirty="0"/>
          </a:p>
          <a:p>
            <a:r>
              <a:rPr lang="en-US" altLang="zh-CN" sz="2400" dirty="0"/>
              <a:t>[[0.   0.25]	 [0.25 0.  ]	 [0.5  0.5 ]	</a:t>
            </a:r>
          </a:p>
          <a:p>
            <a:r>
              <a:rPr lang="en-US" altLang="zh-CN" sz="2400" dirty="0"/>
              <a:t>[1.   1.  ]]</a:t>
            </a:r>
            <a:endParaRPr lang="zh-CN" altLang="zh-CN" sz="2400" dirty="0"/>
          </a:p>
        </p:txBody>
      </p:sp>
      <p:sp>
        <p:nvSpPr>
          <p:cNvPr id="5" name="Rectangle 4"/>
          <p:cNvSpPr>
            <a:spLocks noChangeArrowheads="1"/>
          </p:cNvSpPr>
          <p:nvPr/>
        </p:nvSpPr>
        <p:spPr bwMode="auto">
          <a:xfrm>
            <a:off x="45419" y="1945910"/>
            <a:ext cx="694199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sklearn.preprocessing import MinMaxScaler</a:t>
            </a:r>
          </a:p>
          <a:p>
            <a:r>
              <a:rPr lang="en-US" altLang="zh-CN" sz="2400" dirty="0">
                <a:latin typeface="Times New Roman" panose="02020603050405020304" pitchFamily="18" charset="0"/>
                <a:cs typeface="Times New Roman" panose="02020603050405020304" pitchFamily="18" charset="0"/>
              </a:rPr>
              <a:t>data = [[-1, 6], [-0.5, 2], [0, 10], [1, 18]]</a:t>
            </a:r>
          </a:p>
          <a:p>
            <a:r>
              <a:rPr lang="en-US" altLang="zh-CN" sz="2400" dirty="0">
                <a:latin typeface="Times New Roman" panose="02020603050405020304" pitchFamily="18" charset="0"/>
                <a:cs typeface="Times New Roman" panose="02020603050405020304" pitchFamily="18" charset="0"/>
              </a:rPr>
              <a:t>scaler = MinMaxScaler()</a:t>
            </a:r>
          </a:p>
          <a:p>
            <a:r>
              <a:rPr lang="en-US" altLang="zh-CN" sz="2400" dirty="0">
                <a:latin typeface="Times New Roman" panose="02020603050405020304" pitchFamily="18" charset="0"/>
                <a:cs typeface="Times New Roman" panose="02020603050405020304" pitchFamily="18" charset="0"/>
              </a:rPr>
              <a:t>scaler.fit(data)</a:t>
            </a:r>
          </a:p>
          <a:p>
            <a:r>
              <a:rPr lang="en-US" altLang="zh-CN" sz="2400" dirty="0">
                <a:latin typeface="Times New Roman" panose="02020603050405020304" pitchFamily="18" charset="0"/>
                <a:cs typeface="Times New Roman" panose="02020603050405020304" pitchFamily="18" charset="0"/>
              </a:rPr>
              <a:t>MinMaxScaler(copy=True, feature_range=(0, 1))</a:t>
            </a:r>
          </a:p>
          <a:p>
            <a:r>
              <a:rPr lang="en-US" altLang="zh-CN" sz="2400" dirty="0">
                <a:latin typeface="Times New Roman" panose="02020603050405020304" pitchFamily="18" charset="0"/>
                <a:cs typeface="Times New Roman" panose="02020603050405020304" pitchFamily="18" charset="0"/>
              </a:rPr>
              <a:t>print('range</a:t>
            </a:r>
            <a:r>
              <a:rPr lang="zh-CN" altLang="en-US" sz="2400" dirty="0">
                <a:latin typeface="Times New Roman" panose="02020603050405020304" pitchFamily="18" charset="0"/>
                <a:cs typeface="Times New Roman" panose="02020603050405020304" pitchFamily="18" charset="0"/>
              </a:rPr>
              <a:t>最大值为：</a:t>
            </a:r>
            <a:r>
              <a:rPr lang="en-US" altLang="zh-CN" sz="2400" dirty="0">
                <a:latin typeface="Times New Roman" panose="02020603050405020304" pitchFamily="18" charset="0"/>
                <a:cs typeface="Times New Roman" panose="02020603050405020304" pitchFamily="18" charset="0"/>
              </a:rPr>
              <a:t>',scaler.data_max_)</a:t>
            </a:r>
          </a:p>
          <a:p>
            <a:r>
              <a:rPr lang="en-US" altLang="zh-CN" sz="2400" dirty="0">
                <a:latin typeface="Times New Roman" panose="02020603050405020304" pitchFamily="18" charset="0"/>
                <a:cs typeface="Times New Roman" panose="02020603050405020304" pitchFamily="18" charset="0"/>
              </a:rPr>
              <a:t>print('range</a:t>
            </a:r>
            <a:r>
              <a:rPr lang="zh-CN" altLang="en-US" sz="2400" dirty="0">
                <a:latin typeface="Times New Roman" panose="02020603050405020304" pitchFamily="18" charset="0"/>
                <a:cs typeface="Times New Roman" panose="02020603050405020304" pitchFamily="18" charset="0"/>
              </a:rPr>
              <a:t>最小值为：</a:t>
            </a:r>
            <a:r>
              <a:rPr lang="en-US" altLang="zh-CN" sz="2400" dirty="0">
                <a:latin typeface="Times New Roman" panose="02020603050405020304" pitchFamily="18" charset="0"/>
                <a:cs typeface="Times New Roman" panose="02020603050405020304" pitchFamily="18" charset="0"/>
              </a:rPr>
              <a:t>',scaler.data_min_)</a:t>
            </a:r>
          </a:p>
          <a:p>
            <a:r>
              <a:rPr lang="en-US" altLang="zh-CN" sz="2400" dirty="0">
                <a:latin typeface="Times New Roman" panose="02020603050405020304" pitchFamily="18" charset="0"/>
                <a:cs typeface="Times New Roman" panose="02020603050405020304" pitchFamily="18" charset="0"/>
              </a:rPr>
              <a:t>print(scaler.transform(data))</a:t>
            </a:r>
          </a:p>
        </p:txBody>
      </p:sp>
      <p:sp>
        <p:nvSpPr>
          <p:cNvPr id="6" name="矩形 5"/>
          <p:cNvSpPr/>
          <p:nvPr/>
        </p:nvSpPr>
        <p:spPr>
          <a:xfrm>
            <a:off x="384259" y="1402926"/>
            <a:ext cx="498245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2-29] </a:t>
            </a:r>
            <a:r>
              <a:rPr lang="zh-CN" altLang="en-US" sz="2800" b="1" dirty="0">
                <a:solidFill>
                  <a:srgbClr val="0070C0"/>
                </a:solidFill>
                <a:latin typeface="微软雅黑" panose="020B0503020204020204" pitchFamily="34" charset="-122"/>
                <a:ea typeface="微软雅黑" panose="020B0503020204020204" pitchFamily="34" charset="-122"/>
              </a:rPr>
              <a:t>矩阵的归一化举例</a:t>
            </a:r>
          </a:p>
        </p:txBody>
      </p:sp>
      <p:sp>
        <p:nvSpPr>
          <p:cNvPr id="7" name="矩形 6"/>
          <p:cNvSpPr/>
          <p:nvPr/>
        </p:nvSpPr>
        <p:spPr>
          <a:xfrm>
            <a:off x="6543475" y="142269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8" name="组合 7"/>
          <p:cNvGrpSpPr/>
          <p:nvPr/>
        </p:nvGrpSpPr>
        <p:grpSpPr>
          <a:xfrm>
            <a:off x="377805" y="5438065"/>
            <a:ext cx="7914390" cy="892789"/>
            <a:chOff x="6339097" y="1573726"/>
            <a:chExt cx="3744416" cy="737027"/>
          </a:xfrm>
        </p:grpSpPr>
        <p:sp>
          <p:nvSpPr>
            <p:cNvPr id="9" name="圆角矩形 8"/>
            <p:cNvSpPr/>
            <p:nvPr/>
          </p:nvSpPr>
          <p:spPr>
            <a:xfrm>
              <a:off x="6339097" y="1573726"/>
              <a:ext cx="3744416" cy="73702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99543" y="1599350"/>
              <a:ext cx="3683970" cy="711403"/>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scaler.fit(data)</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计算</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data</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的最小值和最大值，返回一个对象</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2294375248"/>
      </p:ext>
    </p:extLst>
  </p:cSld>
  <p:clrMapOvr>
    <a:masterClrMapping/>
  </p:clrMapOvr>
  <p:transition spd="slow">
    <p:wip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z-score</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标准化函数</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StandardScaler()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Sklearn</a:t>
            </a:r>
            <a:r>
              <a:rPr lang="zh-CN" altLang="en-US" sz="2800" b="1" dirty="0">
                <a:solidFill>
                  <a:srgbClr val="0070C0"/>
                </a:solidFill>
                <a:latin typeface="微软雅黑" panose="020B0503020204020204" pitchFamily="34" charset="-122"/>
                <a:ea typeface="微软雅黑" panose="020B0503020204020204" pitchFamily="34" charset="-122"/>
              </a:rPr>
              <a:t>中数据标准化函数</a:t>
            </a:r>
          </a:p>
        </p:txBody>
      </p:sp>
      <p:sp>
        <p:nvSpPr>
          <p:cNvPr id="4" name="Text Box 2"/>
          <p:cNvSpPr txBox="1">
            <a:spLocks noChangeArrowheads="1"/>
          </p:cNvSpPr>
          <p:nvPr/>
        </p:nvSpPr>
        <p:spPr bwMode="auto">
          <a:xfrm>
            <a:off x="6543475" y="1984180"/>
            <a:ext cx="2222469" cy="2677656"/>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[0.5 0.5]</a:t>
            </a:r>
          </a:p>
          <a:p>
            <a:r>
              <a:rPr lang="en-US" altLang="zh-CN" sz="2400" dirty="0"/>
              <a:t>[0.25 0.25]</a:t>
            </a:r>
          </a:p>
          <a:p>
            <a:r>
              <a:rPr lang="en-US" altLang="zh-CN" sz="2400" dirty="0"/>
              <a:t>[[-1. -1.]</a:t>
            </a:r>
          </a:p>
          <a:p>
            <a:r>
              <a:rPr lang="en-US" altLang="zh-CN" sz="2400" dirty="0"/>
              <a:t> [-1. -1.]</a:t>
            </a:r>
          </a:p>
          <a:p>
            <a:r>
              <a:rPr lang="en-US" altLang="zh-CN" sz="2400" dirty="0"/>
              <a:t> [ 1.  1.]</a:t>
            </a:r>
          </a:p>
          <a:p>
            <a:r>
              <a:rPr lang="en-US" altLang="zh-CN" sz="2400" dirty="0"/>
              <a:t> [ 1.  1.]]</a:t>
            </a:r>
          </a:p>
          <a:p>
            <a:r>
              <a:rPr lang="en-US" altLang="zh-CN" sz="2400" dirty="0"/>
              <a:t>[[3. 3.]]</a:t>
            </a:r>
            <a:endParaRPr lang="zh-CN" altLang="zh-CN" sz="2400" dirty="0"/>
          </a:p>
        </p:txBody>
      </p:sp>
      <p:sp>
        <p:nvSpPr>
          <p:cNvPr id="5" name="Rectangle 4"/>
          <p:cNvSpPr>
            <a:spLocks noChangeArrowheads="1"/>
          </p:cNvSpPr>
          <p:nvPr/>
        </p:nvSpPr>
        <p:spPr bwMode="auto">
          <a:xfrm>
            <a:off x="45419" y="1917764"/>
            <a:ext cx="662970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sklearn.preprocessing import StandardScaler</a:t>
            </a:r>
          </a:p>
          <a:p>
            <a:r>
              <a:rPr lang="en-US" altLang="zh-CN" sz="2400" dirty="0">
                <a:latin typeface="Times New Roman" panose="02020603050405020304" pitchFamily="18" charset="0"/>
                <a:cs typeface="Times New Roman" panose="02020603050405020304" pitchFamily="18" charset="0"/>
              </a:rPr>
              <a:t>data = [[0, 0], [0, 0], [1, 1], [1, 1]]</a:t>
            </a:r>
          </a:p>
          <a:p>
            <a:r>
              <a:rPr lang="en-US" altLang="zh-CN" sz="2400" dirty="0">
                <a:latin typeface="Times New Roman" panose="02020603050405020304" pitchFamily="18" charset="0"/>
                <a:cs typeface="Times New Roman" panose="02020603050405020304" pitchFamily="18" charset="0"/>
              </a:rPr>
              <a:t>scaler = StandardScaler()</a:t>
            </a:r>
          </a:p>
          <a:p>
            <a:r>
              <a:rPr lang="en-US" altLang="zh-CN" sz="2400" dirty="0">
                <a:latin typeface="Times New Roman" panose="02020603050405020304" pitchFamily="18" charset="0"/>
                <a:cs typeface="Times New Roman" panose="02020603050405020304" pitchFamily="18" charset="0"/>
              </a:rPr>
              <a:t>scaler.fit(data)</a:t>
            </a:r>
          </a:p>
          <a:p>
            <a:r>
              <a:rPr lang="en-US" altLang="zh-CN" sz="2400" dirty="0">
                <a:latin typeface="Times New Roman" panose="02020603050405020304" pitchFamily="18" charset="0"/>
                <a:cs typeface="Times New Roman" panose="02020603050405020304" pitchFamily="18" charset="0"/>
              </a:rPr>
              <a:t>StandardScaler(copy=True, with_mean=True, with_std=True)</a:t>
            </a:r>
          </a:p>
          <a:p>
            <a:r>
              <a:rPr lang="en-US" altLang="zh-CN" sz="2400" dirty="0">
                <a:latin typeface="Times New Roman" panose="02020603050405020304" pitchFamily="18" charset="0"/>
                <a:cs typeface="Times New Roman" panose="02020603050405020304" pitchFamily="18" charset="0"/>
              </a:rPr>
              <a:t>print(scaler.mean_)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print(scaler.var_) </a:t>
            </a:r>
          </a:p>
          <a:p>
            <a:r>
              <a:rPr lang="en-US" altLang="zh-CN" sz="2400" dirty="0">
                <a:latin typeface="Times New Roman" panose="02020603050405020304" pitchFamily="18" charset="0"/>
                <a:cs typeface="Times New Roman" panose="02020603050405020304" pitchFamily="18" charset="0"/>
              </a:rPr>
              <a:t>print(scaler.transform(data)) </a:t>
            </a:r>
          </a:p>
          <a:p>
            <a:r>
              <a:rPr lang="en-US" altLang="zh-CN" sz="2400" dirty="0">
                <a:latin typeface="Times New Roman" panose="02020603050405020304" pitchFamily="18" charset="0"/>
                <a:cs typeface="Times New Roman" panose="02020603050405020304" pitchFamily="18" charset="0"/>
              </a:rPr>
              <a:t>print(scaler.transform([[2, 2]])) </a:t>
            </a:r>
          </a:p>
        </p:txBody>
      </p:sp>
      <p:sp>
        <p:nvSpPr>
          <p:cNvPr id="6" name="矩形 5"/>
          <p:cNvSpPr/>
          <p:nvPr/>
        </p:nvSpPr>
        <p:spPr>
          <a:xfrm>
            <a:off x="384259" y="1402926"/>
            <a:ext cx="5564216"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2-30] </a:t>
            </a:r>
            <a:r>
              <a:rPr lang="zh-CN" altLang="en-US" sz="2800" b="1" dirty="0">
                <a:solidFill>
                  <a:srgbClr val="0070C0"/>
                </a:solidFill>
                <a:latin typeface="微软雅黑" panose="020B0503020204020204" pitchFamily="34" charset="-122"/>
                <a:ea typeface="微软雅黑" panose="020B0503020204020204" pitchFamily="34" charset="-122"/>
              </a:rPr>
              <a:t>矩阵的</a:t>
            </a:r>
            <a:r>
              <a:rPr lang="en-US" altLang="zh-CN" sz="2800" b="1" dirty="0">
                <a:solidFill>
                  <a:srgbClr val="0070C0"/>
                </a:solidFill>
                <a:latin typeface="微软雅黑" panose="020B0503020204020204" pitchFamily="34" charset="-122"/>
                <a:ea typeface="微软雅黑" panose="020B0503020204020204" pitchFamily="34" charset="-122"/>
              </a:rPr>
              <a:t>z-score</a:t>
            </a:r>
            <a:r>
              <a:rPr lang="zh-CN" altLang="en-US" sz="2800" b="1" dirty="0">
                <a:solidFill>
                  <a:srgbClr val="0070C0"/>
                </a:solidFill>
                <a:latin typeface="微软雅黑" panose="020B0503020204020204" pitchFamily="34" charset="-122"/>
                <a:ea typeface="微软雅黑" panose="020B0503020204020204" pitchFamily="34" charset="-122"/>
              </a:rPr>
              <a:t>标准化</a:t>
            </a:r>
          </a:p>
        </p:txBody>
      </p:sp>
      <p:sp>
        <p:nvSpPr>
          <p:cNvPr id="7" name="矩形 6"/>
          <p:cNvSpPr/>
          <p:nvPr/>
        </p:nvSpPr>
        <p:spPr>
          <a:xfrm>
            <a:off x="6543475" y="142269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spTree>
    <p:extLst>
      <p:ext uri="{BB962C8B-B14F-4D97-AF65-F5344CB8AC3E}">
        <p14:creationId xmlns:p14="http://schemas.microsoft.com/office/powerpoint/2010/main" val="1946611433"/>
      </p:ext>
    </p:extLst>
  </p:cSld>
  <p:clrMapOvr>
    <a:masterClrMapping/>
  </p:clrMapOvr>
  <p:transition spd="slow">
    <p:wip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标准化：样本数据的分布要求服从正态分布</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457200" lvl="1" indent="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归一化的缺点：</a:t>
            </a:r>
            <a:r>
              <a:rPr lang="zh-CN" altLang="en-US" sz="2400" dirty="0">
                <a:solidFill>
                  <a:schemeClr val="tx1"/>
                </a:solidFill>
                <a:latin typeface="微软雅黑" panose="020B0503020204020204" pitchFamily="34" charset="-122"/>
                <a:ea typeface="微软雅黑" panose="020B0503020204020204" pitchFamily="34" charset="-122"/>
              </a:rPr>
              <a:t>对离群值（</a:t>
            </a:r>
            <a:r>
              <a:rPr lang="en-US" altLang="zh-CN" sz="2400" dirty="0">
                <a:solidFill>
                  <a:schemeClr val="tx1"/>
                </a:solidFill>
                <a:latin typeface="微软雅黑" panose="020B0503020204020204" pitchFamily="34" charset="-122"/>
                <a:ea typeface="微软雅黑" panose="020B0503020204020204" pitchFamily="34" charset="-122"/>
              </a:rPr>
              <a:t>outlier</a:t>
            </a:r>
            <a:r>
              <a:rPr lang="zh-CN" altLang="en-US" sz="2400" dirty="0">
                <a:solidFill>
                  <a:schemeClr val="tx1"/>
                </a:solidFill>
                <a:latin typeface="微软雅黑" panose="020B0503020204020204" pitchFamily="34" charset="-122"/>
                <a:ea typeface="微软雅黑" panose="020B0503020204020204" pitchFamily="34" charset="-122"/>
              </a:rPr>
              <a:t>）很敏感，因为离群点会影响</a:t>
            </a:r>
            <a:r>
              <a:rPr lang="en-US" altLang="zh-CN" sz="2400" dirty="0">
                <a:solidFill>
                  <a:schemeClr val="tx1"/>
                </a:solidFill>
                <a:latin typeface="微软雅黑" panose="020B0503020204020204" pitchFamily="34" charset="-122"/>
                <a:ea typeface="微软雅黑" panose="020B0503020204020204" pitchFamily="34" charset="-122"/>
              </a:rPr>
              <a:t>max</a:t>
            </a:r>
            <a:r>
              <a:rPr lang="zh-CN" altLang="en-US" sz="2400" dirty="0">
                <a:solidFill>
                  <a:schemeClr val="tx1"/>
                </a:solidFill>
                <a:latin typeface="微软雅黑" panose="020B0503020204020204" pitchFamily="34" charset="-122"/>
                <a:ea typeface="微软雅黑" panose="020B0503020204020204" pitchFamily="34" charset="-122"/>
              </a:rPr>
              <a:t>或</a:t>
            </a:r>
            <a:r>
              <a:rPr lang="en-US" altLang="zh-CN" sz="2400" dirty="0">
                <a:solidFill>
                  <a:schemeClr val="tx1"/>
                </a:solidFill>
                <a:latin typeface="微软雅黑" panose="020B0503020204020204" pitchFamily="34" charset="-122"/>
                <a:ea typeface="微软雅黑" panose="020B0503020204020204" pitchFamily="34" charset="-122"/>
              </a:rPr>
              <a:t>min</a:t>
            </a:r>
            <a:r>
              <a:rPr lang="zh-CN" altLang="en-US" sz="2400" dirty="0">
                <a:solidFill>
                  <a:schemeClr val="tx1"/>
                </a:solidFill>
                <a:latin typeface="微软雅黑" panose="020B0503020204020204" pitchFamily="34" charset="-122"/>
                <a:ea typeface="微软雅黑" panose="020B0503020204020204" pitchFamily="34" charset="-122"/>
              </a:rPr>
              <a:t>值；其次，当有新数据加入时，可能导致</a:t>
            </a:r>
            <a:r>
              <a:rPr lang="en-US" altLang="zh-CN" sz="2400" dirty="0">
                <a:solidFill>
                  <a:schemeClr val="tx1"/>
                </a:solidFill>
                <a:latin typeface="微软雅黑" panose="020B0503020204020204" pitchFamily="34" charset="-122"/>
                <a:ea typeface="微软雅黑" panose="020B0503020204020204" pitchFamily="34" charset="-122"/>
              </a:rPr>
              <a:t>max</a:t>
            </a:r>
            <a:r>
              <a:rPr lang="zh-CN" altLang="en-US" sz="2400" dirty="0">
                <a:solidFill>
                  <a:schemeClr val="tx1"/>
                </a:solidFill>
                <a:latin typeface="微软雅黑" panose="020B0503020204020204" pitchFamily="34" charset="-122"/>
                <a:ea typeface="微软雅黑" panose="020B0503020204020204" pitchFamily="34" charset="-122"/>
              </a:rPr>
              <a:t>和</a:t>
            </a:r>
            <a:r>
              <a:rPr lang="en-US" altLang="zh-CN" sz="2400" dirty="0">
                <a:solidFill>
                  <a:schemeClr val="tx1"/>
                </a:solidFill>
                <a:latin typeface="微软雅黑" panose="020B0503020204020204" pitchFamily="34" charset="-122"/>
                <a:ea typeface="微软雅黑" panose="020B0503020204020204" pitchFamily="34" charset="-122"/>
              </a:rPr>
              <a:t>min</a:t>
            </a:r>
            <a:r>
              <a:rPr lang="zh-CN" altLang="en-US" sz="2400" dirty="0">
                <a:solidFill>
                  <a:schemeClr val="tx1"/>
                </a:solidFill>
                <a:latin typeface="微软雅黑" panose="020B0503020204020204" pitchFamily="34" charset="-122"/>
                <a:ea typeface="微软雅黑" panose="020B0503020204020204" pitchFamily="34" charset="-122"/>
              </a:rPr>
              <a:t>值发生较大变化。</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lvl="1" indent="0" defTabSz="913765">
              <a:lnSpc>
                <a:spcPct val="150000"/>
              </a:lnSpc>
              <a:buNone/>
            </a:pPr>
            <a:r>
              <a:rPr lang="zh-CN" altLang="en-US" sz="2400" dirty="0">
                <a:solidFill>
                  <a:schemeClr val="tx1"/>
                </a:solidFill>
                <a:latin typeface="微软雅黑" panose="020B0503020204020204" pitchFamily="34" charset="-122"/>
                <a:ea typeface="微软雅黑" panose="020B0503020204020204" pitchFamily="34" charset="-122"/>
              </a:rPr>
              <a:t>而在标准化方法中，新数据加入对标准差和均值的影响并不大。</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lvl="1" indent="0" defTabSz="913765">
              <a:lnSpc>
                <a:spcPct val="150000"/>
              </a:lnSpc>
              <a:buNone/>
            </a:pPr>
            <a:r>
              <a:rPr lang="zh-CN" altLang="en-US" sz="2400" dirty="0">
                <a:solidFill>
                  <a:schemeClr val="tx1"/>
                </a:solidFill>
                <a:latin typeface="微软雅黑" panose="020B0503020204020204" pitchFamily="34" charset="-122"/>
                <a:ea typeface="微软雅黑" panose="020B0503020204020204" pitchFamily="34" charset="-122"/>
              </a:rPr>
              <a:t>归一化会改变数据的原始距离、分布，使得归一化后的数据分布呈现类圆形。优点是数据归一化后，最优解的寻找过程会变得更平缓，更容易正确地收敛到最优解。</a:t>
            </a:r>
            <a:endParaRPr lang="en-US" altLang="zh-CN" sz="2400" dirty="0">
              <a:solidFill>
                <a:schemeClr val="tx1"/>
              </a:solidFill>
              <a:latin typeface="Arial" panose="020B0604020202020204" pitchFamily="34" charset="0"/>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标准化和归一化的选择</a:t>
            </a:r>
          </a:p>
        </p:txBody>
      </p:sp>
    </p:spTree>
    <p:extLst>
      <p:ext uri="{BB962C8B-B14F-4D97-AF65-F5344CB8AC3E}">
        <p14:creationId xmlns:p14="http://schemas.microsoft.com/office/powerpoint/2010/main" val="2713763144"/>
      </p:ext>
    </p:extLst>
  </p:cSld>
  <p:clrMapOvr>
    <a:masterClrMapping/>
  </p:clrMapOvr>
  <p:transition spd="slow">
    <p:wip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681693"/>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正则化函数</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Normalizer()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Sklearn</a:t>
            </a:r>
            <a:r>
              <a:rPr lang="zh-CN" altLang="en-US" sz="2800" b="1" dirty="0">
                <a:solidFill>
                  <a:srgbClr val="0070C0"/>
                </a:solidFill>
                <a:latin typeface="微软雅黑" panose="020B0503020204020204" pitchFamily="34" charset="-122"/>
                <a:ea typeface="微软雅黑" panose="020B0503020204020204" pitchFamily="34" charset="-122"/>
              </a:rPr>
              <a:t>中数据标准化函数</a:t>
            </a:r>
          </a:p>
        </p:txBody>
      </p:sp>
      <p:sp>
        <p:nvSpPr>
          <p:cNvPr id="4" name="Text Box 2"/>
          <p:cNvSpPr txBox="1">
            <a:spLocks noChangeArrowheads="1"/>
          </p:cNvSpPr>
          <p:nvPr/>
        </p:nvSpPr>
        <p:spPr bwMode="auto">
          <a:xfrm>
            <a:off x="6543475" y="1984180"/>
            <a:ext cx="2222469" cy="1938992"/>
          </a:xfrm>
          <a:prstGeom prst="rect">
            <a:avLst/>
          </a:prstGeom>
          <a:solidFill>
            <a:schemeClr val="bg2"/>
          </a:solidFill>
          <a:ln>
            <a:noFill/>
          </a:ln>
        </p:spPr>
        <p:txBody>
          <a:bodyPr vert="horz" wrap="square" lIns="91440" tIns="45720" rIns="91440" bIns="45720" numCol="1" anchor="t" anchorCtr="0" compatLnSpc="1">
            <a:prstTxWarp prst="textNoShape">
              <a:avLst/>
            </a:prstTxWarp>
            <a:spAutoFit/>
          </a:bodyPr>
          <a:lstStyle/>
          <a:p>
            <a:r>
              <a:rPr lang="en-US" altLang="zh-CN" sz="2400" dirty="0"/>
              <a:t>[[0.8 0.2 0.4 0.4]		 [0.1 0.3 0.9 0.3]		 [0.5 0.7 0.5 0.1]]</a:t>
            </a:r>
            <a:endParaRPr lang="zh-CN" altLang="zh-CN" sz="2400" dirty="0"/>
          </a:p>
        </p:txBody>
      </p:sp>
      <p:sp>
        <p:nvSpPr>
          <p:cNvPr id="5" name="Rectangle 4"/>
          <p:cNvSpPr>
            <a:spLocks noChangeArrowheads="1"/>
          </p:cNvSpPr>
          <p:nvPr/>
        </p:nvSpPr>
        <p:spPr bwMode="auto">
          <a:xfrm>
            <a:off x="45419" y="2001754"/>
            <a:ext cx="632490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from sklearn.preprocessing import Normalizer</a:t>
            </a:r>
          </a:p>
          <a:p>
            <a:r>
              <a:rPr lang="en-US" altLang="zh-CN" sz="2400" dirty="0">
                <a:latin typeface="Times New Roman" panose="02020603050405020304" pitchFamily="18" charset="0"/>
                <a:cs typeface="Times New Roman" panose="02020603050405020304" pitchFamily="18" charset="0"/>
              </a:rPr>
              <a:t>X = [[4, 1, 2, 2], [1, 3, 9, 3], [5, 7, 5, 1]]</a:t>
            </a:r>
          </a:p>
          <a:p>
            <a:r>
              <a:rPr lang="en-US" altLang="zh-CN" sz="2400" dirty="0">
                <a:latin typeface="Times New Roman" panose="02020603050405020304" pitchFamily="18" charset="0"/>
                <a:cs typeface="Times New Roman" panose="02020603050405020304" pitchFamily="18" charset="0"/>
              </a:rPr>
              <a:t>transformer = Normalizer().fit(X) </a:t>
            </a:r>
          </a:p>
          <a:p>
            <a:r>
              <a:rPr lang="en-US" altLang="zh-CN" sz="2400" dirty="0">
                <a:latin typeface="Times New Roman" panose="02020603050405020304" pitchFamily="18" charset="0"/>
                <a:cs typeface="Times New Roman" panose="02020603050405020304" pitchFamily="18" charset="0"/>
              </a:rPr>
              <a:t>print(transformer.transform(X))</a:t>
            </a:r>
          </a:p>
        </p:txBody>
      </p:sp>
      <p:sp>
        <p:nvSpPr>
          <p:cNvPr id="6" name="矩形 5"/>
          <p:cNvSpPr/>
          <p:nvPr/>
        </p:nvSpPr>
        <p:spPr>
          <a:xfrm>
            <a:off x="384259" y="1402926"/>
            <a:ext cx="4982454"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2-31] </a:t>
            </a:r>
            <a:r>
              <a:rPr lang="zh-CN" altLang="en-US" sz="2800" b="1" dirty="0">
                <a:solidFill>
                  <a:srgbClr val="0070C0"/>
                </a:solidFill>
                <a:latin typeface="微软雅黑" panose="020B0503020204020204" pitchFamily="34" charset="-122"/>
                <a:ea typeface="微软雅黑" panose="020B0503020204020204" pitchFamily="34" charset="-122"/>
              </a:rPr>
              <a:t>矩阵的正则化举例</a:t>
            </a:r>
          </a:p>
        </p:txBody>
      </p:sp>
      <p:sp>
        <p:nvSpPr>
          <p:cNvPr id="7" name="矩形 6"/>
          <p:cNvSpPr/>
          <p:nvPr/>
        </p:nvSpPr>
        <p:spPr>
          <a:xfrm>
            <a:off x="6543475" y="142269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8" name="组合 7"/>
          <p:cNvGrpSpPr/>
          <p:nvPr/>
        </p:nvGrpSpPr>
        <p:grpSpPr>
          <a:xfrm>
            <a:off x="377805" y="4462705"/>
            <a:ext cx="8363860" cy="1262121"/>
            <a:chOff x="6339097" y="1573726"/>
            <a:chExt cx="3744416" cy="1041923"/>
          </a:xfrm>
        </p:grpSpPr>
        <p:sp>
          <p:nvSpPr>
            <p:cNvPr id="9" name="圆角矩形 8"/>
            <p:cNvSpPr/>
            <p:nvPr/>
          </p:nvSpPr>
          <p:spPr>
            <a:xfrm>
              <a:off x="6339097" y="1573726"/>
              <a:ext cx="3744416" cy="1041923"/>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99543" y="1599350"/>
              <a:ext cx="3683970" cy="1016299"/>
            </a:xfrm>
            <a:prstGeom prst="rect">
              <a:avLst/>
            </a:prstGeom>
          </p:spPr>
          <p:txBody>
            <a:bodyPr wrap="square" lIns="121897" tIns="60948" rIns="121897" bIns="60948">
              <a:spAutoFit/>
            </a:bodyPr>
            <a:lstStyle/>
            <a:p>
              <a:pPr defTabSz="1218565">
                <a:defRPr/>
              </a:pP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正则化是将每个样本缩放到单位范数（每个样本的范数为</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），如果后面要使用如二次型（点积）或者其它核方法计算两个样本之间的相似性时这个方法会很有用</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3284277080"/>
      </p:ext>
    </p:extLst>
  </p:cSld>
  <p:clrMapOvr>
    <a:masterClrMapping/>
  </p:clrMapOvr>
  <p:transition spd="slow">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“维度”就是指样本集中特征属性的个数，“降维”指的是降低特征矩阵中特征的数量。</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2.5.5 </a:t>
            </a:r>
            <a:r>
              <a:rPr lang="zh-CN" altLang="en-US" sz="2800" b="1" dirty="0">
                <a:solidFill>
                  <a:srgbClr val="0070C0"/>
                </a:solidFill>
                <a:latin typeface="微软雅黑" panose="020B0503020204020204" pitchFamily="34" charset="-122"/>
                <a:ea typeface="微软雅黑" panose="020B0503020204020204" pitchFamily="34" charset="-122"/>
              </a:rPr>
              <a:t>数据的降维</a:t>
            </a:r>
          </a:p>
        </p:txBody>
      </p:sp>
      <p:sp>
        <p:nvSpPr>
          <p:cNvPr id="2" name="Rectangle 3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 name="Group 1"/>
          <p:cNvGrpSpPr>
            <a:grpSpLocks noChangeAspect="1"/>
          </p:cNvGrpSpPr>
          <p:nvPr/>
        </p:nvGrpSpPr>
        <p:grpSpPr bwMode="auto">
          <a:xfrm>
            <a:off x="308609" y="2420648"/>
            <a:ext cx="8651495" cy="3922473"/>
            <a:chOff x="1861" y="2063"/>
            <a:chExt cx="8238" cy="3736"/>
          </a:xfrm>
        </p:grpSpPr>
        <p:sp>
          <p:nvSpPr>
            <p:cNvPr id="4" name="AutoShape 30"/>
            <p:cNvSpPr>
              <a:spLocks noChangeAspect="1" noChangeArrowheads="1" noTextEdit="1"/>
            </p:cNvSpPr>
            <p:nvPr/>
          </p:nvSpPr>
          <p:spPr bwMode="auto">
            <a:xfrm>
              <a:off x="1861" y="2063"/>
              <a:ext cx="8030" cy="37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5" name="AutoShape 29"/>
            <p:cNvSpPr>
              <a:spLocks noChangeShapeType="1"/>
            </p:cNvSpPr>
            <p:nvPr/>
          </p:nvSpPr>
          <p:spPr bwMode="auto">
            <a:xfrm>
              <a:off x="2108" y="4330"/>
              <a:ext cx="2971"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6" name="AutoShape 28"/>
            <p:cNvSpPr>
              <a:spLocks noChangeShapeType="1"/>
            </p:cNvSpPr>
            <p:nvPr/>
          </p:nvSpPr>
          <p:spPr bwMode="auto">
            <a:xfrm flipH="1" flipV="1">
              <a:off x="2295" y="2064"/>
              <a:ext cx="9" cy="24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7" name="Oval 27"/>
            <p:cNvSpPr>
              <a:spLocks noChangeArrowheads="1"/>
            </p:cNvSpPr>
            <p:nvPr/>
          </p:nvSpPr>
          <p:spPr bwMode="auto">
            <a:xfrm>
              <a:off x="2566" y="395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8" name="Oval 26"/>
            <p:cNvSpPr>
              <a:spLocks noChangeArrowheads="1"/>
            </p:cNvSpPr>
            <p:nvPr/>
          </p:nvSpPr>
          <p:spPr bwMode="auto">
            <a:xfrm>
              <a:off x="3157" y="348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9" name="Oval 25"/>
            <p:cNvSpPr>
              <a:spLocks noChangeArrowheads="1"/>
            </p:cNvSpPr>
            <p:nvPr/>
          </p:nvSpPr>
          <p:spPr bwMode="auto">
            <a:xfrm>
              <a:off x="4236" y="2670"/>
              <a:ext cx="86"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0" name="Oval 24"/>
            <p:cNvSpPr>
              <a:spLocks noChangeArrowheads="1"/>
            </p:cNvSpPr>
            <p:nvPr/>
          </p:nvSpPr>
          <p:spPr bwMode="auto">
            <a:xfrm>
              <a:off x="3770" y="3069"/>
              <a:ext cx="85"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1" name="Text Box 23"/>
            <p:cNvSpPr txBox="1">
              <a:spLocks noChangeArrowheads="1"/>
            </p:cNvSpPr>
            <p:nvPr/>
          </p:nvSpPr>
          <p:spPr bwMode="auto">
            <a:xfrm>
              <a:off x="4539" y="4236"/>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2" name="Text Box 22"/>
            <p:cNvSpPr txBox="1">
              <a:spLocks noChangeArrowheads="1"/>
            </p:cNvSpPr>
            <p:nvPr/>
          </p:nvSpPr>
          <p:spPr bwMode="auto">
            <a:xfrm>
              <a:off x="1861" y="2216"/>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13" name="AutoShape 21"/>
            <p:cNvSpPr>
              <a:spLocks noChangeShapeType="1"/>
            </p:cNvSpPr>
            <p:nvPr/>
          </p:nvSpPr>
          <p:spPr bwMode="auto">
            <a:xfrm>
              <a:off x="6920" y="4329"/>
              <a:ext cx="2971"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4" name="AutoShape 20"/>
            <p:cNvSpPr>
              <a:spLocks noChangeShapeType="1"/>
            </p:cNvSpPr>
            <p:nvPr/>
          </p:nvSpPr>
          <p:spPr bwMode="auto">
            <a:xfrm flipH="1" flipV="1">
              <a:off x="7107" y="2063"/>
              <a:ext cx="9" cy="24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15" name="Oval 19"/>
            <p:cNvSpPr>
              <a:spLocks noChangeArrowheads="1"/>
            </p:cNvSpPr>
            <p:nvPr/>
          </p:nvSpPr>
          <p:spPr bwMode="auto">
            <a:xfrm>
              <a:off x="7378" y="3950"/>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6" name="Oval 18"/>
            <p:cNvSpPr>
              <a:spLocks noChangeArrowheads="1"/>
            </p:cNvSpPr>
            <p:nvPr/>
          </p:nvSpPr>
          <p:spPr bwMode="auto">
            <a:xfrm>
              <a:off x="7969" y="3479"/>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7" name="Oval 17"/>
            <p:cNvSpPr>
              <a:spLocks noChangeArrowheads="1"/>
            </p:cNvSpPr>
            <p:nvPr/>
          </p:nvSpPr>
          <p:spPr bwMode="auto">
            <a:xfrm>
              <a:off x="9048" y="2669"/>
              <a:ext cx="86"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8" name="Oval 16"/>
            <p:cNvSpPr>
              <a:spLocks noChangeArrowheads="1"/>
            </p:cNvSpPr>
            <p:nvPr/>
          </p:nvSpPr>
          <p:spPr bwMode="auto">
            <a:xfrm>
              <a:off x="8582" y="3068"/>
              <a:ext cx="85" cy="84"/>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19" name="Text Box 15"/>
            <p:cNvSpPr txBox="1">
              <a:spLocks noChangeArrowheads="1"/>
            </p:cNvSpPr>
            <p:nvPr/>
          </p:nvSpPr>
          <p:spPr bwMode="auto">
            <a:xfrm>
              <a:off x="9559" y="4340"/>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1" name="AutoShape 14"/>
            <p:cNvSpPr>
              <a:spLocks noChangeShapeType="1"/>
            </p:cNvSpPr>
            <p:nvPr/>
          </p:nvSpPr>
          <p:spPr bwMode="auto">
            <a:xfrm flipV="1">
              <a:off x="7107" y="2498"/>
              <a:ext cx="2244" cy="1833"/>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2" name="AutoShape 13"/>
            <p:cNvSpPr>
              <a:spLocks noChangeShapeType="1"/>
            </p:cNvSpPr>
            <p:nvPr/>
          </p:nvSpPr>
          <p:spPr bwMode="auto">
            <a:xfrm flipH="1" flipV="1">
              <a:off x="6013" y="3152"/>
              <a:ext cx="1103" cy="1179"/>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3" name="Text Box 12"/>
            <p:cNvSpPr txBox="1">
              <a:spLocks noChangeArrowheads="1"/>
            </p:cNvSpPr>
            <p:nvPr/>
          </p:nvSpPr>
          <p:spPr bwMode="auto">
            <a:xfrm>
              <a:off x="9289" y="2402"/>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4" name="Text Box 11"/>
            <p:cNvSpPr txBox="1">
              <a:spLocks noChangeArrowheads="1"/>
            </p:cNvSpPr>
            <p:nvPr/>
          </p:nvSpPr>
          <p:spPr bwMode="auto">
            <a:xfrm>
              <a:off x="6013" y="2856"/>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25" name="Oval 10"/>
            <p:cNvSpPr>
              <a:spLocks noChangeArrowheads="1"/>
            </p:cNvSpPr>
            <p:nvPr/>
          </p:nvSpPr>
          <p:spPr bwMode="auto">
            <a:xfrm>
              <a:off x="5736" y="5467"/>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6" name="Oval 9"/>
            <p:cNvSpPr>
              <a:spLocks noChangeArrowheads="1"/>
            </p:cNvSpPr>
            <p:nvPr/>
          </p:nvSpPr>
          <p:spPr bwMode="auto">
            <a:xfrm>
              <a:off x="6253" y="5468"/>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7" name="AutoShape 8"/>
            <p:cNvSpPr>
              <a:spLocks noChangeShapeType="1"/>
            </p:cNvSpPr>
            <p:nvPr/>
          </p:nvSpPr>
          <p:spPr bwMode="auto">
            <a:xfrm>
              <a:off x="5234" y="5551"/>
              <a:ext cx="2975" cy="1"/>
            </a:xfrm>
            <a:prstGeom prst="straightConnector1">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2000"/>
            </a:p>
          </p:txBody>
        </p:sp>
        <p:sp>
          <p:nvSpPr>
            <p:cNvPr id="28" name="Oval 7"/>
            <p:cNvSpPr>
              <a:spLocks noChangeArrowheads="1"/>
            </p:cNvSpPr>
            <p:nvPr/>
          </p:nvSpPr>
          <p:spPr bwMode="auto">
            <a:xfrm>
              <a:off x="6889" y="5551"/>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29" name="Oval 6"/>
            <p:cNvSpPr>
              <a:spLocks noChangeArrowheads="1"/>
            </p:cNvSpPr>
            <p:nvPr/>
          </p:nvSpPr>
          <p:spPr bwMode="auto">
            <a:xfrm>
              <a:off x="7618" y="5466"/>
              <a:ext cx="85" cy="85"/>
            </a:xfrm>
            <a:prstGeom prst="ellipse">
              <a:avLst/>
            </a:prstGeom>
            <a:solidFill>
              <a:srgbClr val="000000"/>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0" name="Text Box 5"/>
            <p:cNvSpPr txBox="1">
              <a:spLocks noChangeArrowheads="1"/>
            </p:cNvSpPr>
            <p:nvPr/>
          </p:nvSpPr>
          <p:spPr bwMode="auto">
            <a:xfrm>
              <a:off x="6734" y="2215"/>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2</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1" name="Text Box 4"/>
            <p:cNvSpPr txBox="1">
              <a:spLocks noChangeArrowheads="1"/>
            </p:cNvSpPr>
            <p:nvPr/>
          </p:nvSpPr>
          <p:spPr bwMode="auto">
            <a:xfrm>
              <a:off x="8294" y="5345"/>
              <a:ext cx="540"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1</a:t>
              </a:r>
              <a:r>
                <a:rPr kumimoji="0" lang="en-US" altLang="zh-CN" sz="2000" b="0" i="0" u="none" strike="noStrike" cap="none" normalizeH="0" baseline="30000">
                  <a:ln>
                    <a:noFill/>
                  </a:ln>
                  <a:solidFill>
                    <a:schemeClr val="tx1"/>
                  </a:solidFill>
                  <a:effectLst/>
                  <a:latin typeface="Times New Roman" pitchFamily="18" charset="0"/>
                  <a:ea typeface="宋体" pitchFamily="2" charset="-122"/>
                  <a:cs typeface="Times New Roman" pitchFamily="18" charset="0"/>
                </a:rPr>
                <a:t>*</a:t>
              </a:r>
              <a:endParaRPr kumimoji="0" lang="en-US" altLang="zh-CN" sz="20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32" name="AutoShape 3"/>
            <p:cNvSpPr>
              <a:spLocks noChangeArrowheads="1"/>
            </p:cNvSpPr>
            <p:nvPr/>
          </p:nvSpPr>
          <p:spPr bwMode="auto">
            <a:xfrm>
              <a:off x="4909" y="2402"/>
              <a:ext cx="1104" cy="352"/>
            </a:xfrm>
            <a:prstGeom prst="rightArrow">
              <a:avLst>
                <a:gd name="adj1" fmla="val 50000"/>
                <a:gd name="adj2" fmla="val 78409"/>
              </a:avLst>
            </a:prstGeom>
            <a:solidFill>
              <a:srgbClr val="F2F2F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sp>
          <p:nvSpPr>
            <p:cNvPr id="33" name="AutoShape 2"/>
            <p:cNvSpPr>
              <a:spLocks noChangeArrowheads="1"/>
            </p:cNvSpPr>
            <p:nvPr/>
          </p:nvSpPr>
          <p:spPr bwMode="auto">
            <a:xfrm rot="5400000">
              <a:off x="7072" y="4630"/>
              <a:ext cx="859" cy="352"/>
            </a:xfrm>
            <a:prstGeom prst="rightArrow">
              <a:avLst>
                <a:gd name="adj1" fmla="val 50000"/>
                <a:gd name="adj2" fmla="val 61009"/>
              </a:avLst>
            </a:prstGeom>
            <a:solidFill>
              <a:srgbClr val="F2F2F2"/>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sz="2000"/>
            </a:p>
          </p:txBody>
        </p:sp>
      </p:grpSp>
    </p:spTree>
    <p:extLst>
      <p:ext uri="{BB962C8B-B14F-4D97-AF65-F5344CB8AC3E}">
        <p14:creationId xmlns:p14="http://schemas.microsoft.com/office/powerpoint/2010/main" val="1631720263"/>
      </p:ext>
    </p:extLst>
  </p:cSld>
  <p:clrMapOvr>
    <a:masterClrMapping/>
  </p:clrMapOvr>
  <p:transition spd="slow">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主成分分析（</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Principal Component Analysis</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PCA</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）是最常用的一种降维方法。</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矩阵的主成分就是其协方差矩阵对应的特征向量，按照对应的特征值大小进行排序，最大的特征值就是第一主成分，其次是第二主成分，以此类推。</a:t>
            </a:r>
          </a:p>
          <a:p>
            <a:pPr marL="0" indent="457200" defTabSz="913765">
              <a:lnSpc>
                <a:spcPct val="150000"/>
              </a:lnSpc>
              <a:buNone/>
            </a:pP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Sklearn</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的</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decomposition</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模块中提供了</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PCA</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类，用来实现主成分分析。</a:t>
            </a:r>
          </a:p>
          <a:p>
            <a:pPr marL="0" indent="457200" defTabSz="913765">
              <a:lnSpc>
                <a:spcPct val="150000"/>
              </a:lnSpc>
              <a:buNone/>
            </a:pP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2.5.5 </a:t>
            </a:r>
            <a:r>
              <a:rPr lang="zh-CN" altLang="en-US" sz="2800" b="1" dirty="0">
                <a:solidFill>
                  <a:srgbClr val="0070C0"/>
                </a:solidFill>
                <a:latin typeface="微软雅黑" panose="020B0503020204020204" pitchFamily="34" charset="-122"/>
                <a:ea typeface="微软雅黑" panose="020B0503020204020204" pitchFamily="34" charset="-122"/>
              </a:rPr>
              <a:t>数据的降维</a:t>
            </a:r>
          </a:p>
        </p:txBody>
      </p:sp>
      <p:sp>
        <p:nvSpPr>
          <p:cNvPr id="2" name="Rectangle 31"/>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45902197"/>
      </p:ext>
    </p:extLst>
  </p:cSld>
  <p:clrMapOvr>
    <a:masterClrMapping/>
  </p:clrMapOvr>
  <p:transition spd="slow">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zh-CN" altLang="en-US" sz="2800" b="1" dirty="0">
                <a:solidFill>
                  <a:srgbClr val="0070C0"/>
                </a:solidFill>
                <a:latin typeface="微软雅黑" panose="020B0503020204020204" pitchFamily="34" charset="-122"/>
                <a:ea typeface="微软雅黑" panose="020B0503020204020204" pitchFamily="34" charset="-122"/>
              </a:rPr>
              <a:t>使用主成分分析</a:t>
            </a:r>
            <a:r>
              <a:rPr lang="en-US" altLang="zh-CN" sz="2800" b="1" dirty="0">
                <a:solidFill>
                  <a:srgbClr val="0070C0"/>
                </a:solidFill>
                <a:latin typeface="微软雅黑" panose="020B0503020204020204" pitchFamily="34" charset="-122"/>
                <a:ea typeface="微软雅黑" panose="020B0503020204020204" pitchFamily="34" charset="-122"/>
              </a:rPr>
              <a:t>(PCA)</a:t>
            </a:r>
            <a:r>
              <a:rPr lang="zh-CN" altLang="en-US" sz="2800" b="1" dirty="0">
                <a:solidFill>
                  <a:srgbClr val="0070C0"/>
                </a:solidFill>
                <a:latin typeface="微软雅黑" panose="020B0503020204020204" pitchFamily="34" charset="-122"/>
                <a:ea typeface="微软雅黑" panose="020B0503020204020204" pitchFamily="34" charset="-122"/>
              </a:rPr>
              <a:t>降维举例</a:t>
            </a:r>
          </a:p>
        </p:txBody>
      </p:sp>
      <p:sp>
        <p:nvSpPr>
          <p:cNvPr id="5" name="Rectangle 4"/>
          <p:cNvSpPr>
            <a:spLocks noChangeArrowheads="1"/>
          </p:cNvSpPr>
          <p:nvPr/>
        </p:nvSpPr>
        <p:spPr bwMode="auto">
          <a:xfrm>
            <a:off x="76904" y="1375664"/>
            <a:ext cx="694199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fontAlgn="base">
              <a:spcBef>
                <a:spcPct val="0"/>
              </a:spcBef>
              <a:spcAft>
                <a:spcPct val="0"/>
              </a:spcAft>
              <a:defRPr>
                <a:solidFill>
                  <a:schemeClr val="tx1"/>
                </a:solidFill>
                <a:latin typeface="Arial" pitchFamily="34" charset="0"/>
                <a:ea typeface="宋体" pitchFamily="2" charset="-122"/>
                <a:cs typeface="宋体" pitchFamily="2" charset="-122"/>
              </a:defRPr>
            </a:lvl1pPr>
            <a:lvl2pPr fontAlgn="base">
              <a:spcBef>
                <a:spcPct val="0"/>
              </a:spcBef>
              <a:spcAft>
                <a:spcPct val="0"/>
              </a:spcAft>
              <a:defRPr>
                <a:solidFill>
                  <a:schemeClr val="tx1"/>
                </a:solidFill>
                <a:latin typeface="Arial" pitchFamily="34" charset="0"/>
                <a:ea typeface="宋体" pitchFamily="2" charset="-122"/>
                <a:cs typeface="宋体" pitchFamily="2" charset="-122"/>
              </a:defRPr>
            </a:lvl2pPr>
            <a:lvl3pPr fontAlgn="base">
              <a:spcBef>
                <a:spcPct val="0"/>
              </a:spcBef>
              <a:spcAft>
                <a:spcPct val="0"/>
              </a:spcAft>
              <a:defRPr>
                <a:solidFill>
                  <a:schemeClr val="tx1"/>
                </a:solidFill>
                <a:latin typeface="Arial" pitchFamily="34" charset="0"/>
                <a:ea typeface="宋体" pitchFamily="2" charset="-122"/>
                <a:cs typeface="宋体" pitchFamily="2" charset="-122"/>
              </a:defRPr>
            </a:lvl3pPr>
            <a:lvl4pPr fontAlgn="base">
              <a:spcBef>
                <a:spcPct val="0"/>
              </a:spcBef>
              <a:spcAft>
                <a:spcPct val="0"/>
              </a:spcAft>
              <a:defRPr>
                <a:solidFill>
                  <a:schemeClr val="tx1"/>
                </a:solidFill>
                <a:latin typeface="Arial" pitchFamily="34" charset="0"/>
                <a:ea typeface="宋体" pitchFamily="2" charset="-122"/>
                <a:cs typeface="宋体" pitchFamily="2" charset="-122"/>
              </a:defRPr>
            </a:lvl4pPr>
            <a:lvl5pPr fontAlgn="base">
              <a:spcBef>
                <a:spcPct val="0"/>
              </a:spcBef>
              <a:spcAft>
                <a:spcPct val="0"/>
              </a:spcAft>
              <a:defRPr>
                <a:solidFill>
                  <a:schemeClr val="tx1"/>
                </a:solidFill>
                <a:latin typeface="Arial" pitchFamily="34" charset="0"/>
                <a:ea typeface="宋体" pitchFamily="2" charset="-122"/>
                <a:cs typeface="宋体" pitchFamily="2" charset="-122"/>
              </a:defRPr>
            </a:lvl5pPr>
            <a:lvl6pPr fontAlgn="base">
              <a:spcBef>
                <a:spcPct val="0"/>
              </a:spcBef>
              <a:spcAft>
                <a:spcPct val="0"/>
              </a:spcAft>
              <a:defRPr>
                <a:solidFill>
                  <a:schemeClr val="tx1"/>
                </a:solidFill>
                <a:latin typeface="Arial" pitchFamily="34" charset="0"/>
                <a:ea typeface="宋体" pitchFamily="2" charset="-122"/>
                <a:cs typeface="宋体" pitchFamily="2" charset="-122"/>
              </a:defRPr>
            </a:lvl6pPr>
            <a:lvl7pPr fontAlgn="base">
              <a:spcBef>
                <a:spcPct val="0"/>
              </a:spcBef>
              <a:spcAft>
                <a:spcPct val="0"/>
              </a:spcAft>
              <a:defRPr>
                <a:solidFill>
                  <a:schemeClr val="tx1"/>
                </a:solidFill>
                <a:latin typeface="Arial" pitchFamily="34" charset="0"/>
                <a:ea typeface="宋体" pitchFamily="2" charset="-122"/>
                <a:cs typeface="宋体" pitchFamily="2" charset="-122"/>
              </a:defRPr>
            </a:lvl7pPr>
            <a:lvl8pPr fontAlgn="base">
              <a:spcBef>
                <a:spcPct val="0"/>
              </a:spcBef>
              <a:spcAft>
                <a:spcPct val="0"/>
              </a:spcAft>
              <a:defRPr>
                <a:solidFill>
                  <a:schemeClr val="tx1"/>
                </a:solidFill>
                <a:latin typeface="Arial" pitchFamily="34" charset="0"/>
                <a:ea typeface="宋体" pitchFamily="2" charset="-122"/>
                <a:cs typeface="宋体" pitchFamily="2" charset="-122"/>
              </a:defRPr>
            </a:lvl8pPr>
            <a:lvl9pPr fontAlgn="base">
              <a:spcBef>
                <a:spcPct val="0"/>
              </a:spcBef>
              <a:spcAft>
                <a:spcPct val="0"/>
              </a:spcAft>
              <a:defRPr>
                <a:solidFill>
                  <a:schemeClr val="tx1"/>
                </a:solidFill>
                <a:latin typeface="Arial" pitchFamily="34" charset="0"/>
                <a:ea typeface="宋体" pitchFamily="2" charset="-122"/>
                <a:cs typeface="宋体" pitchFamily="2" charset="-122"/>
              </a:defRPr>
            </a:lvl9pPr>
          </a:lstStyle>
          <a:p>
            <a:r>
              <a:rPr lang="en-US" altLang="zh-CN" sz="2400" dirty="0">
                <a:latin typeface="Times New Roman" panose="02020603050405020304" pitchFamily="18" charset="0"/>
                <a:cs typeface="Times New Roman" panose="02020603050405020304" pitchFamily="18" charset="0"/>
              </a:rPr>
              <a:t>import matplotlib.pyplot as plt   </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from sklearn.decomposition import</a:t>
            </a:r>
            <a:endParaRPr lang="zh-CN" altLang="en-US"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from sklearn.datasets import load_iris </a:t>
            </a:r>
          </a:p>
          <a:p>
            <a:r>
              <a:rPr lang="en-US" altLang="zh-CN" sz="2400" dirty="0">
                <a:latin typeface="Times New Roman" panose="02020603050405020304" pitchFamily="18" charset="0"/>
                <a:cs typeface="Times New Roman" panose="02020603050405020304" pitchFamily="18" charset="0"/>
              </a:rPr>
              <a:t>data=load_iris()  #</a:t>
            </a:r>
            <a:r>
              <a:rPr lang="zh-CN" altLang="en-US" sz="2400" dirty="0">
                <a:latin typeface="Times New Roman" panose="02020603050405020304" pitchFamily="18" charset="0"/>
                <a:cs typeface="Times New Roman" panose="02020603050405020304" pitchFamily="18" charset="0"/>
              </a:rPr>
              <a:t>载入</a:t>
            </a:r>
            <a:r>
              <a:rPr lang="en-US" altLang="zh-CN" sz="2400" dirty="0">
                <a:latin typeface="Times New Roman" panose="02020603050405020304" pitchFamily="18" charset="0"/>
                <a:cs typeface="Times New Roman" panose="02020603050405020304" pitchFamily="18" charset="0"/>
              </a:rPr>
              <a:t>iris</a:t>
            </a:r>
            <a:r>
              <a:rPr lang="zh-CN" altLang="en-US" sz="2400" dirty="0">
                <a:latin typeface="Times New Roman" panose="02020603050405020304" pitchFamily="18" charset="0"/>
                <a:cs typeface="Times New Roman" panose="02020603050405020304" pitchFamily="18" charset="0"/>
              </a:rPr>
              <a:t>数据集</a:t>
            </a:r>
          </a:p>
          <a:p>
            <a:r>
              <a:rPr lang="en-US" altLang="zh-CN" sz="2400" dirty="0">
                <a:latin typeface="Times New Roman" panose="02020603050405020304" pitchFamily="18" charset="0"/>
                <a:cs typeface="Times New Roman" panose="02020603050405020304" pitchFamily="18" charset="0"/>
              </a:rPr>
              <a:t>y=data.target</a:t>
            </a:r>
          </a:p>
          <a:p>
            <a:r>
              <a:rPr lang="en-US" altLang="zh-CN" sz="2400" dirty="0">
                <a:latin typeface="Times New Roman" panose="02020603050405020304" pitchFamily="18" charset="0"/>
                <a:cs typeface="Times New Roman" panose="02020603050405020304" pitchFamily="18" charset="0"/>
              </a:rPr>
              <a:t>x=data.data</a:t>
            </a:r>
          </a:p>
          <a:p>
            <a:r>
              <a:rPr lang="en-US" altLang="zh-CN" sz="2400" dirty="0">
                <a:latin typeface="Times New Roman" panose="02020603050405020304" pitchFamily="18" charset="0"/>
                <a:cs typeface="Times New Roman" panose="02020603050405020304" pitchFamily="18" charset="0"/>
              </a:rPr>
              <a:t>pca=PCA(n_components=2)  </a:t>
            </a:r>
          </a:p>
          <a:p>
            <a:r>
              <a:rPr lang="en-US" altLang="zh-CN" sz="2400" dirty="0">
                <a:latin typeface="Times New Roman" panose="02020603050405020304" pitchFamily="18" charset="0"/>
                <a:cs typeface="Times New Roman" panose="02020603050405020304" pitchFamily="18" charset="0"/>
              </a:rPr>
              <a:t>reduced_x=pca.fit_transform(x)	</a:t>
            </a:r>
            <a:r>
              <a:rPr lang="zh-CN" altLang="en-US" sz="2400" dirty="0">
                <a:latin typeface="Times New Roman" panose="02020603050405020304" pitchFamily="18" charset="0"/>
                <a:cs typeface="Times New Roman" panose="02020603050405020304" pitchFamily="18" charset="0"/>
              </a:rPr>
              <a:t> </a:t>
            </a:r>
          </a:p>
          <a:p>
            <a:r>
              <a:rPr lang="en-US" altLang="zh-CN" sz="2400" dirty="0">
                <a:latin typeface="Times New Roman" panose="02020603050405020304" pitchFamily="18" charset="0"/>
                <a:cs typeface="Times New Roman" panose="02020603050405020304" pitchFamily="18" charset="0"/>
              </a:rPr>
              <a:t>red_x,red_y=[],[]      ……</a:t>
            </a:r>
          </a:p>
          <a:p>
            <a:r>
              <a:rPr lang="en-US" altLang="zh-CN" sz="2400" dirty="0">
                <a:latin typeface="Times New Roman" panose="02020603050405020304" pitchFamily="18" charset="0"/>
                <a:cs typeface="Times New Roman" panose="02020603050405020304" pitchFamily="18" charset="0"/>
              </a:rPr>
              <a:t>plt.scatter(red_x,red_y,c='r',marker='x') ……</a:t>
            </a:r>
          </a:p>
          <a:p>
            <a:r>
              <a:rPr lang="en-US" altLang="zh-CN" sz="2400" dirty="0">
                <a:latin typeface="Times New Roman" panose="02020603050405020304" pitchFamily="18" charset="0"/>
                <a:cs typeface="Times New Roman" panose="02020603050405020304" pitchFamily="18" charset="0"/>
              </a:rPr>
              <a:t>plt.show()</a:t>
            </a:r>
          </a:p>
          <a:p>
            <a:r>
              <a:rPr lang="en-US" altLang="zh-CN" sz="2400" dirty="0">
                <a:latin typeface="Times New Roman" panose="02020603050405020304" pitchFamily="18" charset="0"/>
                <a:cs typeface="Times New Roman" panose="02020603050405020304" pitchFamily="18" charset="0"/>
              </a:rPr>
              <a:t>			</a:t>
            </a:r>
          </a:p>
        </p:txBody>
      </p:sp>
      <p:sp>
        <p:nvSpPr>
          <p:cNvPr id="6" name="矩形 5"/>
          <p:cNvSpPr/>
          <p:nvPr/>
        </p:nvSpPr>
        <p:spPr>
          <a:xfrm>
            <a:off x="377805" y="879706"/>
            <a:ext cx="6340197" cy="523220"/>
          </a:xfrm>
          <a:prstGeom prst="rect">
            <a:avLst/>
          </a:prstGeom>
        </p:spPr>
        <p:txBody>
          <a:bodyPr wrap="none">
            <a:spAutoFit/>
          </a:bodyPr>
          <a:lstStyle/>
          <a:p>
            <a:r>
              <a:rPr lang="en-US" altLang="zh-CN" sz="2800" b="1" dirty="0">
                <a:solidFill>
                  <a:srgbClr val="0070C0"/>
                </a:solidFill>
                <a:latin typeface="微软雅黑" panose="020B0503020204020204" pitchFamily="34" charset="-122"/>
                <a:ea typeface="微软雅黑" panose="020B0503020204020204" pitchFamily="34" charset="-122"/>
              </a:rPr>
              <a:t>[</a:t>
            </a:r>
            <a:r>
              <a:rPr lang="zh-CN" altLang="en-US" sz="2800" b="1" dirty="0">
                <a:solidFill>
                  <a:srgbClr val="0070C0"/>
                </a:solidFill>
                <a:latin typeface="微软雅黑" panose="020B0503020204020204" pitchFamily="34" charset="-122"/>
                <a:ea typeface="微软雅黑" panose="020B0503020204020204" pitchFamily="34" charset="-122"/>
              </a:rPr>
              <a:t>程序</a:t>
            </a:r>
            <a:r>
              <a:rPr lang="en-US" altLang="zh-CN" sz="2800" b="1" dirty="0">
                <a:solidFill>
                  <a:srgbClr val="0070C0"/>
                </a:solidFill>
                <a:latin typeface="微软雅黑" panose="020B0503020204020204" pitchFamily="34" charset="-122"/>
                <a:ea typeface="微软雅黑" panose="020B0503020204020204" pitchFamily="34" charset="-122"/>
              </a:rPr>
              <a:t>2-32]</a:t>
            </a:r>
            <a:r>
              <a:rPr lang="zh-CN" altLang="en-US" sz="2800" b="1" dirty="0">
                <a:solidFill>
                  <a:srgbClr val="0070C0"/>
                </a:solidFill>
                <a:latin typeface="微软雅黑" panose="020B0503020204020204" pitchFamily="34" charset="-122"/>
                <a:ea typeface="微软雅黑" panose="020B0503020204020204" pitchFamily="34" charset="-122"/>
              </a:rPr>
              <a:t>对鸢尾花数据进行</a:t>
            </a:r>
            <a:r>
              <a:rPr lang="en-US" altLang="zh-CN" sz="2800" b="1" dirty="0">
                <a:solidFill>
                  <a:srgbClr val="0070C0"/>
                </a:solidFill>
                <a:latin typeface="微软雅黑" panose="020B0503020204020204" pitchFamily="34" charset="-122"/>
                <a:ea typeface="微软雅黑" panose="020B0503020204020204" pitchFamily="34" charset="-122"/>
              </a:rPr>
              <a:t>PCA</a:t>
            </a:r>
            <a:r>
              <a:rPr lang="zh-CN" altLang="en-US" sz="2800" b="1" dirty="0">
                <a:solidFill>
                  <a:srgbClr val="0070C0"/>
                </a:solidFill>
                <a:latin typeface="微软雅黑" panose="020B0503020204020204" pitchFamily="34" charset="-122"/>
                <a:ea typeface="微软雅黑" panose="020B0503020204020204" pitchFamily="34" charset="-122"/>
              </a:rPr>
              <a:t>降维</a:t>
            </a:r>
          </a:p>
        </p:txBody>
      </p:sp>
      <p:sp>
        <p:nvSpPr>
          <p:cNvPr id="7" name="矩形 6"/>
          <p:cNvSpPr/>
          <p:nvPr/>
        </p:nvSpPr>
        <p:spPr>
          <a:xfrm>
            <a:off x="6449197" y="1945910"/>
            <a:ext cx="1620957" cy="523220"/>
          </a:xfrm>
          <a:prstGeom prst="rect">
            <a:avLst/>
          </a:prstGeom>
        </p:spPr>
        <p:txBody>
          <a:bodyPr wrap="none">
            <a:spAutoFit/>
          </a:bodyPr>
          <a:lstStyle/>
          <a:p>
            <a:r>
              <a:rPr lang="zh-CN" altLang="en-US" sz="2800" b="1" dirty="0">
                <a:solidFill>
                  <a:srgbClr val="0070C0"/>
                </a:solidFill>
                <a:latin typeface="微软雅黑" panose="020B0503020204020204" pitchFamily="34" charset="-122"/>
                <a:ea typeface="微软雅黑" panose="020B0503020204020204" pitchFamily="34" charset="-122"/>
              </a:rPr>
              <a:t>运行结果</a:t>
            </a:r>
          </a:p>
        </p:txBody>
      </p:sp>
      <p:grpSp>
        <p:nvGrpSpPr>
          <p:cNvPr id="8" name="组合 7"/>
          <p:cNvGrpSpPr/>
          <p:nvPr/>
        </p:nvGrpSpPr>
        <p:grpSpPr>
          <a:xfrm>
            <a:off x="377805" y="5708113"/>
            <a:ext cx="7914390" cy="916456"/>
            <a:chOff x="6339097" y="1909890"/>
            <a:chExt cx="3744416" cy="756565"/>
          </a:xfrm>
        </p:grpSpPr>
        <p:sp>
          <p:nvSpPr>
            <p:cNvPr id="9" name="圆角矩形 8"/>
            <p:cNvSpPr/>
            <p:nvPr/>
          </p:nvSpPr>
          <p:spPr>
            <a:xfrm>
              <a:off x="6339097" y="1909890"/>
              <a:ext cx="3744416" cy="737027"/>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7" tIns="60948" rIns="121897" bIns="60948" anchor="ctr"/>
            <a:lstStyle/>
            <a:p>
              <a:pPr algn="ctr" defTabSz="1218565">
                <a:defRPr/>
              </a:pPr>
              <a:endParaRPr lang="zh-CN" altLang="en-US" sz="3600" dirty="0">
                <a:solidFill>
                  <a:prstClr val="white"/>
                </a:solidFill>
                <a:latin typeface="Calibri" panose="020F0502020204030204"/>
                <a:ea typeface="Arial Unicode MS" panose="020B0604020202020204" pitchFamily="34" charset="-122"/>
                <a:cs typeface="Arial Unicode MS" panose="020B0604020202020204" pitchFamily="34" charset="-122"/>
              </a:endParaRPr>
            </a:p>
          </p:txBody>
        </p:sp>
        <p:sp>
          <p:nvSpPr>
            <p:cNvPr id="10" name="矩形 9"/>
            <p:cNvSpPr/>
            <p:nvPr/>
          </p:nvSpPr>
          <p:spPr>
            <a:xfrm>
              <a:off x="6369320" y="1955052"/>
              <a:ext cx="3683970" cy="711403"/>
            </a:xfrm>
            <a:prstGeom prst="rect">
              <a:avLst/>
            </a:prstGeom>
          </p:spPr>
          <p:txBody>
            <a:bodyPr wrap="square" lIns="121897" tIns="60948" rIns="121897" bIns="60948">
              <a:spAutoFit/>
            </a:bodyPr>
            <a:lstStyle/>
            <a:p>
              <a:pPr defTabSz="1218565">
                <a:defRPr/>
              </a:pP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pca.fit_transform(x)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计算出数据变换的方式，并返回对输入数据</a:t>
              </a:r>
              <a:r>
                <a:rPr lang="en-US"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rPr>
                <a:t>变换后的结果</a:t>
              </a:r>
              <a:endParaRPr lang="zh-CN" altLang="zh-CN" sz="2400" b="1" kern="100" dirty="0">
                <a:solidFill>
                  <a:prstClr val="white"/>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3074" name="Picture 2" descr="PCA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6197" y="2498724"/>
            <a:ext cx="3840163" cy="25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0391987"/>
      </p:ext>
    </p:extLst>
  </p:cSld>
  <p:clrMapOvr>
    <a:masterClrMapping/>
  </p:clrMapOvr>
  <p:transition spd="slow">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Sklearn</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机器学习库中的模型种类：</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zh-CN" altLang="en-US" sz="2400" dirty="0">
                <a:solidFill>
                  <a:schemeClr val="tx1"/>
                </a:solidFill>
              </a:rPr>
              <a:t>回归：梯度下降回归（</a:t>
            </a:r>
            <a:r>
              <a:rPr lang="en-US" altLang="zh-CN" sz="2400" dirty="0">
                <a:solidFill>
                  <a:schemeClr val="tx1"/>
                </a:solidFill>
              </a:rPr>
              <a:t>SGD</a:t>
            </a:r>
            <a:r>
              <a:rPr lang="zh-CN" altLang="en-US" sz="2400" dirty="0">
                <a:solidFill>
                  <a:schemeClr val="tx1"/>
                </a:solidFill>
              </a:rPr>
              <a:t>）、</a:t>
            </a:r>
            <a:r>
              <a:rPr lang="en-US" altLang="zh-CN" sz="2400" dirty="0">
                <a:solidFill>
                  <a:schemeClr val="tx1"/>
                </a:solidFill>
              </a:rPr>
              <a:t>Lasso</a:t>
            </a:r>
            <a:r>
              <a:rPr lang="zh-CN" altLang="en-US" sz="2400" dirty="0">
                <a:solidFill>
                  <a:schemeClr val="tx1"/>
                </a:solidFill>
              </a:rPr>
              <a:t>回归、岭回归等。</a:t>
            </a:r>
          </a:p>
          <a:p>
            <a:pPr lvl="1" defTabSz="913765">
              <a:lnSpc>
                <a:spcPct val="150000"/>
              </a:lnSpc>
            </a:pPr>
            <a:r>
              <a:rPr lang="zh-CN" altLang="en-US" sz="2400" dirty="0">
                <a:solidFill>
                  <a:schemeClr val="tx1"/>
                </a:solidFill>
              </a:rPr>
              <a:t>分类：朴素贝叶斯、</a:t>
            </a:r>
            <a:r>
              <a:rPr lang="en-US" altLang="zh-CN" sz="2400" dirty="0">
                <a:solidFill>
                  <a:schemeClr val="tx1"/>
                </a:solidFill>
              </a:rPr>
              <a:t>K</a:t>
            </a:r>
            <a:r>
              <a:rPr lang="zh-CN" altLang="en-US" sz="2400" dirty="0">
                <a:solidFill>
                  <a:schemeClr val="tx1"/>
                </a:solidFill>
              </a:rPr>
              <a:t>近邻算法（</a:t>
            </a:r>
            <a:r>
              <a:rPr lang="en-US" altLang="zh-CN" sz="2400" dirty="0">
                <a:solidFill>
                  <a:schemeClr val="tx1"/>
                </a:solidFill>
              </a:rPr>
              <a:t>KNN</a:t>
            </a:r>
            <a:r>
              <a:rPr lang="zh-CN" altLang="en-US" sz="2400" dirty="0">
                <a:solidFill>
                  <a:schemeClr val="tx1"/>
                </a:solidFill>
              </a:rPr>
              <a:t>）、向量机（</a:t>
            </a:r>
            <a:r>
              <a:rPr lang="en-US" altLang="zh-CN" sz="2400" dirty="0">
                <a:solidFill>
                  <a:schemeClr val="tx1"/>
                </a:solidFill>
              </a:rPr>
              <a:t>SVM</a:t>
            </a:r>
            <a:r>
              <a:rPr lang="zh-CN" altLang="en-US" sz="2400" dirty="0">
                <a:solidFill>
                  <a:schemeClr val="tx1"/>
                </a:solidFill>
              </a:rPr>
              <a:t>）、决策树和随机森林、逻辑回归等。</a:t>
            </a:r>
          </a:p>
          <a:p>
            <a:pPr lvl="1" defTabSz="913765">
              <a:lnSpc>
                <a:spcPct val="150000"/>
              </a:lnSpc>
            </a:pPr>
            <a:r>
              <a:rPr lang="zh-CN" altLang="en-US" sz="2400" dirty="0">
                <a:solidFill>
                  <a:schemeClr val="tx1"/>
                </a:solidFill>
              </a:rPr>
              <a:t>聚类：</a:t>
            </a:r>
            <a:r>
              <a:rPr lang="en-US" altLang="zh-CN" sz="2400" dirty="0">
                <a:solidFill>
                  <a:schemeClr val="tx1"/>
                </a:solidFill>
              </a:rPr>
              <a:t>k</a:t>
            </a:r>
            <a:r>
              <a:rPr lang="zh-CN" altLang="en-US" sz="2400" dirty="0">
                <a:solidFill>
                  <a:schemeClr val="tx1"/>
                </a:solidFill>
              </a:rPr>
              <a:t>均值（</a:t>
            </a:r>
            <a:r>
              <a:rPr lang="en-US" altLang="zh-CN" sz="2400" dirty="0">
                <a:solidFill>
                  <a:schemeClr val="tx1"/>
                </a:solidFill>
              </a:rPr>
              <a:t>K-means</a:t>
            </a:r>
            <a:r>
              <a:rPr lang="zh-CN" altLang="en-US" sz="2400" dirty="0">
                <a:solidFill>
                  <a:schemeClr val="tx1"/>
                </a:solidFill>
              </a:rPr>
              <a:t>）、层次聚类（</a:t>
            </a:r>
            <a:r>
              <a:rPr lang="en-US" altLang="zh-CN" sz="2400" dirty="0">
                <a:solidFill>
                  <a:schemeClr val="tx1"/>
                </a:solidFill>
              </a:rPr>
              <a:t>Hierarchical clustering</a:t>
            </a:r>
            <a:r>
              <a:rPr lang="zh-CN" altLang="en-US" sz="2400" dirty="0">
                <a:solidFill>
                  <a:schemeClr val="tx1"/>
                </a:solidFill>
              </a:rPr>
              <a:t>）、</a:t>
            </a:r>
            <a:r>
              <a:rPr lang="en-US" altLang="zh-CN" sz="2400" dirty="0">
                <a:solidFill>
                  <a:schemeClr val="tx1"/>
                </a:solidFill>
              </a:rPr>
              <a:t>DBSCAN</a:t>
            </a:r>
            <a:r>
              <a:rPr lang="zh-CN" altLang="en-US" sz="2400" dirty="0">
                <a:solidFill>
                  <a:schemeClr val="tx1"/>
                </a:solidFill>
              </a:rPr>
              <a:t>。</a:t>
            </a:r>
          </a:p>
          <a:p>
            <a:pPr lvl="1" defTabSz="913765">
              <a:lnSpc>
                <a:spcPct val="150000"/>
              </a:lnSpc>
            </a:pPr>
            <a:r>
              <a:rPr lang="zh-CN" altLang="en-US" sz="2400" dirty="0">
                <a:solidFill>
                  <a:schemeClr val="tx1"/>
                </a:solidFill>
              </a:rPr>
              <a:t>降维：主成分分析（</a:t>
            </a:r>
            <a:r>
              <a:rPr lang="en-US" altLang="zh-CN" sz="2400" dirty="0">
                <a:solidFill>
                  <a:schemeClr val="tx1"/>
                </a:solidFill>
              </a:rPr>
              <a:t>PCA</a:t>
            </a:r>
            <a:r>
              <a:rPr lang="zh-CN" altLang="en-US" sz="2400" dirty="0">
                <a:solidFill>
                  <a:schemeClr val="tx1"/>
                </a:solidFill>
              </a:rPr>
              <a:t>）、线性判别分析（</a:t>
            </a:r>
            <a:r>
              <a:rPr lang="en-US" altLang="zh-CN" sz="2400" dirty="0">
                <a:solidFill>
                  <a:schemeClr val="tx1"/>
                </a:solidFill>
              </a:rPr>
              <a:t>LDA</a:t>
            </a:r>
            <a:r>
              <a:rPr lang="zh-CN" altLang="en-US" sz="2400" dirty="0">
                <a:solidFill>
                  <a:schemeClr val="tx1"/>
                </a:solidFill>
              </a:rPr>
              <a:t>）。</a:t>
            </a: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2.5.6 </a:t>
            </a:r>
            <a:r>
              <a:rPr lang="zh-CN" altLang="en-US" sz="2800" b="1" dirty="0">
                <a:solidFill>
                  <a:srgbClr val="0070C0"/>
                </a:solidFill>
                <a:latin typeface="微软雅黑" panose="020B0503020204020204" pitchFamily="34" charset="-122"/>
                <a:ea typeface="微软雅黑" panose="020B0503020204020204" pitchFamily="34" charset="-122"/>
              </a:rPr>
              <a:t>调用机器学习模型</a:t>
            </a:r>
          </a:p>
        </p:txBody>
      </p:sp>
    </p:spTree>
    <p:extLst>
      <p:ext uri="{BB962C8B-B14F-4D97-AF65-F5344CB8AC3E}">
        <p14:creationId xmlns:p14="http://schemas.microsoft.com/office/powerpoint/2010/main" val="877244647"/>
      </p:ext>
    </p:extLst>
  </p:cSld>
  <p:clrMapOvr>
    <a:masterClrMapping/>
  </p:clrMapOvr>
  <p:transition spd="slow">
    <p:wip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估计器</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(Estimator)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其实就是模型，它用于对数据的预测或回归。估计器一般具有以下几个方法：</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en-US" altLang="zh-CN" sz="2400" dirty="0">
                <a:solidFill>
                  <a:schemeClr val="tx1"/>
                </a:solidFill>
              </a:rPr>
              <a:t>1</a:t>
            </a:r>
            <a:r>
              <a:rPr lang="zh-CN" altLang="en-US" sz="2400" dirty="0">
                <a:solidFill>
                  <a:schemeClr val="tx1"/>
                </a:solidFill>
              </a:rPr>
              <a:t>）</a:t>
            </a:r>
            <a:r>
              <a:rPr lang="en-US" altLang="zh-CN" sz="2400" dirty="0">
                <a:solidFill>
                  <a:schemeClr val="tx1"/>
                </a:solidFill>
              </a:rPr>
              <a:t>fit(X,y) </a:t>
            </a:r>
            <a:r>
              <a:rPr lang="zh-CN" altLang="en-US" sz="2400" dirty="0">
                <a:solidFill>
                  <a:schemeClr val="tx1"/>
                </a:solidFill>
              </a:rPr>
              <a:t>：传入数据（</a:t>
            </a:r>
            <a:r>
              <a:rPr lang="en-US" altLang="zh-CN" sz="2400" dirty="0">
                <a:solidFill>
                  <a:schemeClr val="tx1"/>
                </a:solidFill>
              </a:rPr>
              <a:t>X</a:t>
            </a:r>
            <a:r>
              <a:rPr lang="zh-CN" altLang="en-US" sz="2400" dirty="0">
                <a:solidFill>
                  <a:schemeClr val="tx1"/>
                </a:solidFill>
              </a:rPr>
              <a:t>）以及标签（</a:t>
            </a:r>
            <a:r>
              <a:rPr lang="en-US" altLang="zh-CN" sz="2400" dirty="0">
                <a:solidFill>
                  <a:schemeClr val="tx1"/>
                </a:solidFill>
              </a:rPr>
              <a:t>y</a:t>
            </a:r>
            <a:r>
              <a:rPr lang="zh-CN" altLang="en-US" sz="2400" dirty="0">
                <a:solidFill>
                  <a:schemeClr val="tx1"/>
                </a:solidFill>
              </a:rPr>
              <a:t>）即可训练模型，对于无监督学习，调用方法是</a:t>
            </a:r>
            <a:r>
              <a:rPr lang="en-US" altLang="zh-CN" sz="2400" dirty="0">
                <a:solidFill>
                  <a:schemeClr val="tx1"/>
                </a:solidFill>
              </a:rPr>
              <a:t>fit(X) </a:t>
            </a:r>
            <a:r>
              <a:rPr lang="zh-CN" altLang="en-US" sz="2400" dirty="0">
                <a:solidFill>
                  <a:schemeClr val="tx1"/>
                </a:solidFill>
              </a:rPr>
              <a:t>。</a:t>
            </a:r>
          </a:p>
          <a:p>
            <a:pPr lvl="1" defTabSz="913765">
              <a:lnSpc>
                <a:spcPct val="150000"/>
              </a:lnSpc>
            </a:pPr>
            <a:r>
              <a:rPr lang="en-US" altLang="zh-CN" sz="2400" dirty="0">
                <a:solidFill>
                  <a:schemeClr val="tx1"/>
                </a:solidFill>
              </a:rPr>
              <a:t>2</a:t>
            </a:r>
            <a:r>
              <a:rPr lang="zh-CN" altLang="en-US" sz="2400" dirty="0">
                <a:solidFill>
                  <a:schemeClr val="tx1"/>
                </a:solidFill>
              </a:rPr>
              <a:t>）</a:t>
            </a:r>
            <a:r>
              <a:rPr lang="en-US" altLang="zh-CN" sz="2400" dirty="0">
                <a:solidFill>
                  <a:schemeClr val="tx1"/>
                </a:solidFill>
              </a:rPr>
              <a:t>score(x,y)</a:t>
            </a:r>
            <a:r>
              <a:rPr lang="zh-CN" altLang="en-US" sz="2400" dirty="0">
                <a:solidFill>
                  <a:schemeClr val="tx1"/>
                </a:solidFill>
              </a:rPr>
              <a:t>：用于对模型的正确率进行评分（分数范围是</a:t>
            </a:r>
            <a:r>
              <a:rPr lang="en-US" altLang="zh-CN" sz="2400" dirty="0">
                <a:solidFill>
                  <a:schemeClr val="tx1"/>
                </a:solidFill>
              </a:rPr>
              <a:t>0-1</a:t>
            </a:r>
            <a:r>
              <a:rPr lang="zh-CN" altLang="en-US" sz="2400" dirty="0">
                <a:solidFill>
                  <a:schemeClr val="tx1"/>
                </a:solidFill>
              </a:rPr>
              <a:t>）。</a:t>
            </a:r>
          </a:p>
          <a:p>
            <a:pPr lvl="1" defTabSz="913765">
              <a:lnSpc>
                <a:spcPct val="150000"/>
              </a:lnSpc>
            </a:pPr>
            <a:r>
              <a:rPr lang="en-US" altLang="zh-CN" sz="2400" dirty="0">
                <a:solidFill>
                  <a:schemeClr val="tx1"/>
                </a:solidFill>
              </a:rPr>
              <a:t>3</a:t>
            </a:r>
            <a:r>
              <a:rPr lang="zh-CN" altLang="en-US" sz="2400" dirty="0">
                <a:solidFill>
                  <a:schemeClr val="tx1"/>
                </a:solidFill>
              </a:rPr>
              <a:t>）</a:t>
            </a:r>
            <a:r>
              <a:rPr lang="en-US" altLang="zh-CN" sz="2400" dirty="0">
                <a:solidFill>
                  <a:schemeClr val="tx1"/>
                </a:solidFill>
              </a:rPr>
              <a:t>predict(x)</a:t>
            </a:r>
            <a:r>
              <a:rPr lang="zh-CN" altLang="en-US" sz="2400" dirty="0">
                <a:solidFill>
                  <a:schemeClr val="tx1"/>
                </a:solidFill>
              </a:rPr>
              <a:t>：用于对数据的预测，它接受输入，并输出预测标签，输出结果的格式为</a:t>
            </a:r>
            <a:r>
              <a:rPr lang="en-US" altLang="zh-CN" sz="2400" dirty="0">
                <a:solidFill>
                  <a:schemeClr val="tx1"/>
                </a:solidFill>
              </a:rPr>
              <a:t>numpy</a:t>
            </a:r>
            <a:r>
              <a:rPr lang="zh-CN" altLang="en-US" sz="2400" dirty="0">
                <a:solidFill>
                  <a:schemeClr val="tx1"/>
                </a:solidFill>
              </a:rPr>
              <a:t>数组。</a:t>
            </a: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1. </a:t>
            </a:r>
            <a:r>
              <a:rPr lang="zh-CN" altLang="en-US" sz="2800" b="1" dirty="0">
                <a:solidFill>
                  <a:srgbClr val="0070C0"/>
                </a:solidFill>
                <a:latin typeface="微软雅黑" panose="020B0503020204020204" pitchFamily="34" charset="-122"/>
                <a:ea typeface="微软雅黑" panose="020B0503020204020204" pitchFamily="34" charset="-122"/>
              </a:rPr>
              <a:t>估计器（</a:t>
            </a:r>
            <a:r>
              <a:rPr lang="en-US" altLang="zh-CN" sz="2800" b="1" dirty="0">
                <a:solidFill>
                  <a:srgbClr val="0070C0"/>
                </a:solidFill>
                <a:latin typeface="微软雅黑" panose="020B0503020204020204" pitchFamily="34" charset="-122"/>
                <a:ea typeface="微软雅黑" panose="020B0503020204020204" pitchFamily="34" charset="-122"/>
              </a:rPr>
              <a:t>Estimator</a:t>
            </a:r>
            <a:r>
              <a:rPr lang="zh-CN" altLang="en-US" sz="2800" b="1"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518445784"/>
      </p:ext>
    </p:extLst>
  </p:cSld>
  <p:clrMapOvr>
    <a:masterClrMapping/>
  </p:clrMapOvr>
  <p:transition spd="slow">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转化器</a:t>
            </a:r>
            <a:r>
              <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(Transformer)</a:t>
            </a: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用于对数据的处理，例如标准化、降维以及特征选择等。转化器具有以下方法：</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lvl="1" defTabSz="913765">
              <a:lnSpc>
                <a:spcPct val="150000"/>
              </a:lnSpc>
            </a:pPr>
            <a:r>
              <a:rPr lang="en-US" altLang="zh-CN" sz="2400" dirty="0">
                <a:solidFill>
                  <a:schemeClr val="tx1"/>
                </a:solidFill>
              </a:rPr>
              <a:t>1</a:t>
            </a:r>
            <a:r>
              <a:rPr lang="zh-CN" altLang="en-US" sz="2400" dirty="0">
                <a:solidFill>
                  <a:schemeClr val="tx1"/>
                </a:solidFill>
              </a:rPr>
              <a:t>）</a:t>
            </a:r>
            <a:r>
              <a:rPr lang="en-US" altLang="zh-CN" sz="2400" dirty="0">
                <a:solidFill>
                  <a:schemeClr val="tx1"/>
                </a:solidFill>
              </a:rPr>
              <a:t>fit(x,y)</a:t>
            </a:r>
            <a:r>
              <a:rPr lang="zh-CN" altLang="en-US" sz="2400" dirty="0">
                <a:solidFill>
                  <a:schemeClr val="tx1"/>
                </a:solidFill>
              </a:rPr>
              <a:t>：该方法接受输入和标签，计算出数据变换的方式。</a:t>
            </a:r>
          </a:p>
          <a:p>
            <a:pPr lvl="1" defTabSz="913765">
              <a:lnSpc>
                <a:spcPct val="150000"/>
              </a:lnSpc>
            </a:pPr>
            <a:r>
              <a:rPr lang="en-US" altLang="zh-CN" sz="2400" dirty="0">
                <a:solidFill>
                  <a:schemeClr val="tx1"/>
                </a:solidFill>
              </a:rPr>
              <a:t>2</a:t>
            </a:r>
            <a:r>
              <a:rPr lang="zh-CN" altLang="en-US" sz="2400" dirty="0">
                <a:solidFill>
                  <a:schemeClr val="tx1"/>
                </a:solidFill>
              </a:rPr>
              <a:t>）</a:t>
            </a:r>
            <a:r>
              <a:rPr lang="en-US" altLang="zh-CN" sz="2400" dirty="0">
                <a:solidFill>
                  <a:schemeClr val="tx1"/>
                </a:solidFill>
              </a:rPr>
              <a:t>transform(x)</a:t>
            </a:r>
            <a:r>
              <a:rPr lang="zh-CN" altLang="en-US" sz="2400" dirty="0">
                <a:solidFill>
                  <a:schemeClr val="tx1"/>
                </a:solidFill>
              </a:rPr>
              <a:t>：根据已经计算出的变换方式，返回对输入数据</a:t>
            </a:r>
            <a:r>
              <a:rPr lang="en-US" altLang="zh-CN" sz="2400" dirty="0">
                <a:solidFill>
                  <a:schemeClr val="tx1"/>
                </a:solidFill>
              </a:rPr>
              <a:t>x</a:t>
            </a:r>
            <a:r>
              <a:rPr lang="zh-CN" altLang="en-US" sz="2400" dirty="0">
                <a:solidFill>
                  <a:schemeClr val="tx1"/>
                </a:solidFill>
              </a:rPr>
              <a:t>变换后的结果（不改变</a:t>
            </a:r>
            <a:r>
              <a:rPr lang="en-US" altLang="zh-CN" sz="2400" dirty="0">
                <a:solidFill>
                  <a:schemeClr val="tx1"/>
                </a:solidFill>
              </a:rPr>
              <a:t>x</a:t>
            </a:r>
            <a:r>
              <a:rPr lang="zh-CN" altLang="en-US" sz="2400" dirty="0">
                <a:solidFill>
                  <a:schemeClr val="tx1"/>
                </a:solidFill>
              </a:rPr>
              <a:t>）</a:t>
            </a:r>
          </a:p>
          <a:p>
            <a:pPr lvl="1" defTabSz="913765">
              <a:lnSpc>
                <a:spcPct val="150000"/>
              </a:lnSpc>
            </a:pPr>
            <a:r>
              <a:rPr lang="en-US" altLang="zh-CN" sz="2400" dirty="0">
                <a:solidFill>
                  <a:schemeClr val="tx1"/>
                </a:solidFill>
              </a:rPr>
              <a:t>3</a:t>
            </a:r>
            <a:r>
              <a:rPr lang="zh-CN" altLang="en-US" sz="2400" dirty="0">
                <a:solidFill>
                  <a:schemeClr val="tx1"/>
                </a:solidFill>
              </a:rPr>
              <a:t>）</a:t>
            </a:r>
            <a:r>
              <a:rPr lang="en-US" altLang="zh-CN" sz="2400" dirty="0">
                <a:solidFill>
                  <a:schemeClr val="tx1"/>
                </a:solidFill>
              </a:rPr>
              <a:t>fit_transform(x,y) :</a:t>
            </a:r>
            <a:r>
              <a:rPr lang="zh-CN" altLang="en-US" sz="2400" dirty="0">
                <a:solidFill>
                  <a:schemeClr val="tx1"/>
                </a:solidFill>
              </a:rPr>
              <a:t>该方法在计算出数据变换方式之后对输入</a:t>
            </a:r>
            <a:r>
              <a:rPr lang="en-US" altLang="zh-CN" sz="2400" dirty="0">
                <a:solidFill>
                  <a:schemeClr val="tx1"/>
                </a:solidFill>
              </a:rPr>
              <a:t>x</a:t>
            </a:r>
            <a:r>
              <a:rPr lang="zh-CN" altLang="en-US" sz="2400" dirty="0">
                <a:solidFill>
                  <a:schemeClr val="tx1"/>
                </a:solidFill>
              </a:rPr>
              <a:t>就地转换。</a:t>
            </a: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 </a:t>
            </a:r>
            <a:r>
              <a:rPr lang="zh-CN" altLang="en-US" sz="2800" b="1" dirty="0">
                <a:solidFill>
                  <a:srgbClr val="0070C0"/>
                </a:solidFill>
                <a:latin typeface="微软雅黑" panose="020B0503020204020204" pitchFamily="34" charset="-122"/>
                <a:ea typeface="微软雅黑" panose="020B0503020204020204" pitchFamily="34" charset="-122"/>
              </a:rPr>
              <a:t>转化器</a:t>
            </a:r>
            <a:r>
              <a:rPr lang="en-US" altLang="zh-CN" sz="2800" b="1" dirty="0">
                <a:solidFill>
                  <a:srgbClr val="0070C0"/>
                </a:solidFill>
                <a:latin typeface="微软雅黑" panose="020B0503020204020204" pitchFamily="34" charset="-122"/>
                <a:ea typeface="微软雅黑" panose="020B0503020204020204" pitchFamily="34" charset="-122"/>
              </a:rPr>
              <a:t>(Transformer</a:t>
            </a:r>
            <a:r>
              <a:rPr lang="zh-CN" altLang="en-US" sz="2800" b="1" dirty="0">
                <a:solidFill>
                  <a:srgbClr val="0070C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266495384"/>
      </p:ext>
    </p:extLst>
  </p:cSld>
  <p:clrMapOvr>
    <a:masterClrMapping/>
  </p:clrMapOvr>
  <p:transition spd="slow">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数据和特征决定了机器学习的上限，而模型和算法只是逼近这个上限而已。因此，数据比模型更重要。</a:t>
            </a:r>
            <a:endParaRPr lang="en-US" altLang="zh-CN" sz="26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文本框 2"/>
          <p:cNvSpPr txBox="1"/>
          <p:nvPr/>
        </p:nvSpPr>
        <p:spPr>
          <a:xfrm>
            <a:off x="4573" y="158473"/>
            <a:ext cx="9144000" cy="523220"/>
          </a:xfrm>
          <a:prstGeom prst="rect">
            <a:avLst/>
          </a:prstGeom>
          <a:noFill/>
        </p:spPr>
        <p:txBody>
          <a:bodyPr wrap="square" rtlCol="0">
            <a:spAutoFit/>
          </a:bodyPr>
          <a:lstStyle/>
          <a:p>
            <a:pPr algn="ctr" defTabSz="1218565"/>
            <a:r>
              <a:rPr lang="en-US" altLang="zh-CN" sz="2800" b="1" dirty="0">
                <a:solidFill>
                  <a:srgbClr val="0070C0"/>
                </a:solidFill>
                <a:latin typeface="微软雅黑" panose="020B0503020204020204" pitchFamily="34" charset="-122"/>
                <a:ea typeface="微软雅黑" panose="020B0503020204020204" pitchFamily="34" charset="-122"/>
              </a:rPr>
              <a:t>2.5.5 </a:t>
            </a:r>
            <a:r>
              <a:rPr lang="zh-CN" altLang="en-US" sz="2800" b="1" dirty="0">
                <a:solidFill>
                  <a:srgbClr val="0070C0"/>
                </a:solidFill>
                <a:latin typeface="微软雅黑" panose="020B0503020204020204" pitchFamily="34" charset="-122"/>
                <a:ea typeface="微软雅黑" panose="020B0503020204020204" pitchFamily="34" charset="-122"/>
              </a:rPr>
              <a:t>调用机器学习模型</a:t>
            </a:r>
          </a:p>
        </p:txBody>
      </p:sp>
    </p:spTree>
    <p:extLst>
      <p:ext uri="{BB962C8B-B14F-4D97-AF65-F5344CB8AC3E}">
        <p14:creationId xmlns:p14="http://schemas.microsoft.com/office/powerpoint/2010/main" val="1518445784"/>
      </p:ext>
    </p:extLst>
  </p:cSld>
  <p:clrMapOvr>
    <a:masterClrMapping/>
  </p:clrMapOvr>
  <p:transition spd="slow">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r>
              <a:rPr lang="zh-CN" altLang="en-US" sz="2800" b="1" dirty="0">
                <a:solidFill>
                  <a:srgbClr val="0070C0"/>
                </a:solidFill>
                <a:latin typeface="微软雅黑" panose="020B0503020204020204" pitchFamily="34" charset="-122"/>
                <a:ea typeface="微软雅黑" panose="020B0503020204020204" pitchFamily="34" charset="-122"/>
              </a:rPr>
              <a:t>作业：基于</a:t>
            </a:r>
            <a:r>
              <a:rPr lang="en-US" altLang="zh-CN" sz="2800" b="1" dirty="0">
                <a:solidFill>
                  <a:srgbClr val="0070C0"/>
                </a:solidFill>
                <a:latin typeface="微软雅黑" panose="020B0503020204020204" pitchFamily="34" charset="-122"/>
                <a:ea typeface="微软雅黑" panose="020B0503020204020204" pitchFamily="34" charset="-122"/>
              </a:rPr>
              <a:t>OpenCV</a:t>
            </a:r>
            <a:r>
              <a:rPr lang="zh-CN" altLang="en-US" sz="2800" b="1" dirty="0">
                <a:solidFill>
                  <a:srgbClr val="0070C0"/>
                </a:solidFill>
                <a:latin typeface="微软雅黑" panose="020B0503020204020204" pitchFamily="34" charset="-122"/>
                <a:ea typeface="微软雅黑" panose="020B0503020204020204" pitchFamily="34" charset="-122"/>
              </a:rPr>
              <a:t>实现图像直方图均衡化</a:t>
            </a:r>
            <a:endParaRPr lang="en-US" altLang="zh-CN" sz="2800" b="1" dirty="0">
              <a:solidFill>
                <a:srgbClr val="0070C0"/>
              </a:solidFill>
              <a:latin typeface="微软雅黑" panose="020B0503020204020204" pitchFamily="34" charset="-122"/>
              <a:ea typeface="微软雅黑" panose="020B0503020204020204" pitchFamily="34" charset="-122"/>
            </a:endParaRPr>
          </a:p>
        </p:txBody>
      </p:sp>
      <p:sp>
        <p:nvSpPr>
          <p:cNvPr id="4" name="内容占位符 2">
            <a:extLst>
              <a:ext uri="{FF2B5EF4-FFF2-40B4-BE49-F238E27FC236}">
                <a16:creationId xmlns:a16="http://schemas.microsoft.com/office/drawing/2014/main" id="{56429148-E071-439A-B028-0DF2C35A5B97}"/>
              </a:ext>
            </a:extLst>
          </p:cNvPr>
          <p:cNvSpPr txBox="1">
            <a:spLocks/>
          </p:cNvSpPr>
          <p:nvPr/>
        </p:nvSpPr>
        <p:spPr>
          <a:xfrm>
            <a:off x="402335" y="1657922"/>
            <a:ext cx="8062912" cy="4467225"/>
          </a:xfrm>
          <a:prstGeom prst="rect">
            <a:avLst/>
          </a:prstGeom>
        </p:spPr>
        <p:txBody>
          <a:bodyPr/>
          <a:lst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Tx/>
              <a:buNone/>
            </a:pPr>
            <a:r>
              <a:rPr lang="en-US" altLang="zh-CN" sz="2000" b="1" dirty="0"/>
              <a:t>1</a:t>
            </a:r>
            <a:r>
              <a:rPr lang="zh-CN" altLang="zh-CN" sz="2000" b="1" dirty="0"/>
              <a:t>．安装</a:t>
            </a:r>
            <a:r>
              <a:rPr lang="en-US" altLang="zh-CN" sz="2000" b="1" dirty="0"/>
              <a:t>OpenCV</a:t>
            </a:r>
            <a:endParaRPr lang="zh-CN" altLang="zh-CN" sz="2000" b="1" dirty="0"/>
          </a:p>
          <a:p>
            <a:pPr marL="0" indent="0">
              <a:buFontTx/>
              <a:buNone/>
            </a:pPr>
            <a:r>
              <a:rPr lang="zh-CN" altLang="zh-CN" sz="2000" dirty="0"/>
              <a:t>直接使用</a:t>
            </a:r>
            <a:r>
              <a:rPr lang="en-US" altLang="zh-CN" sz="2000" dirty="0"/>
              <a:t>pip</a:t>
            </a:r>
            <a:r>
              <a:rPr lang="zh-CN" altLang="zh-CN" sz="2000" dirty="0"/>
              <a:t>安装。由于</a:t>
            </a:r>
            <a:r>
              <a:rPr lang="en-US" altLang="zh-CN" sz="2000" dirty="0"/>
              <a:t>OpenCV</a:t>
            </a:r>
            <a:r>
              <a:rPr lang="zh-CN" altLang="zh-CN" sz="2000" dirty="0"/>
              <a:t>依赖</a:t>
            </a:r>
            <a:r>
              <a:rPr lang="en-US" altLang="zh-CN" sz="2000" dirty="0" err="1"/>
              <a:t>numpy</a:t>
            </a:r>
            <a:r>
              <a:rPr lang="zh-CN" altLang="zh-CN" sz="2000" dirty="0"/>
              <a:t>，所以需要先安装</a:t>
            </a:r>
            <a:r>
              <a:rPr lang="en-US" altLang="zh-CN" sz="2000" dirty="0" err="1"/>
              <a:t>numpy</a:t>
            </a:r>
            <a:r>
              <a:rPr lang="zh-CN" altLang="zh-CN" sz="2000" dirty="0"/>
              <a:t>模块。</a:t>
            </a:r>
          </a:p>
          <a:p>
            <a:pPr marL="0" indent="0">
              <a:buFontTx/>
              <a:buNone/>
            </a:pPr>
            <a:r>
              <a:rPr lang="pt-BR" altLang="zh-CN" sz="2000" dirty="0"/>
              <a:t>pip install numpy    </a:t>
            </a:r>
            <a:endParaRPr lang="zh-CN" altLang="zh-CN" sz="2000" dirty="0"/>
          </a:p>
          <a:p>
            <a:pPr marL="0" indent="0">
              <a:buFontTx/>
              <a:buNone/>
            </a:pPr>
            <a:r>
              <a:rPr lang="pt-BR" altLang="zh-CN" sz="2000" dirty="0"/>
              <a:t>pip install matplotlib              #</a:t>
            </a:r>
            <a:r>
              <a:rPr lang="zh-CN" altLang="zh-CN" sz="2000" dirty="0"/>
              <a:t>显示图像时需要</a:t>
            </a:r>
          </a:p>
          <a:p>
            <a:pPr marL="0" indent="0">
              <a:buFontTx/>
              <a:buNone/>
            </a:pPr>
            <a:r>
              <a:rPr lang="zh-CN" altLang="zh-CN" sz="2000" dirty="0"/>
              <a:t>然后就可以利用下面的代码安装</a:t>
            </a:r>
            <a:r>
              <a:rPr lang="pt-BR" altLang="zh-CN" sz="2000" dirty="0"/>
              <a:t>OpenCV</a:t>
            </a:r>
            <a:r>
              <a:rPr lang="zh-CN" altLang="zh-CN" sz="2000" dirty="0"/>
              <a:t>。</a:t>
            </a:r>
          </a:p>
          <a:p>
            <a:pPr marL="0" indent="0">
              <a:buFontTx/>
              <a:buNone/>
            </a:pPr>
            <a:r>
              <a:rPr lang="pt-BR" altLang="zh-CN" sz="2000" dirty="0"/>
              <a:t>pip install opencv-python</a:t>
            </a:r>
          </a:p>
          <a:p>
            <a:pPr marL="0" indent="0">
              <a:buFontTx/>
              <a:buNone/>
            </a:pPr>
            <a:r>
              <a:rPr lang="pt-BR" altLang="zh-CN" sz="2000" dirty="0"/>
              <a:t>pip install opencv-contrib-python     #</a:t>
            </a:r>
            <a:r>
              <a:rPr lang="zh-CN" altLang="zh-CN" sz="2000" dirty="0"/>
              <a:t>安装最新的</a:t>
            </a:r>
            <a:r>
              <a:rPr lang="pt-BR" altLang="zh-CN" sz="2000" dirty="0"/>
              <a:t>OpenCV</a:t>
            </a:r>
            <a:r>
              <a:rPr lang="zh-CN" altLang="zh-CN" sz="2000" dirty="0"/>
              <a:t>扩展</a:t>
            </a:r>
          </a:p>
          <a:p>
            <a:pPr marL="0" indent="0">
              <a:buFontTx/>
              <a:buNone/>
            </a:pPr>
            <a:r>
              <a:rPr lang="zh-CN" altLang="zh-CN" sz="2000" dirty="0"/>
              <a:t>安装完成之后，在</a:t>
            </a:r>
            <a:r>
              <a:rPr lang="en-US" altLang="zh-CN" sz="2000" dirty="0"/>
              <a:t>Python</a:t>
            </a:r>
            <a:r>
              <a:rPr lang="zh-CN" altLang="zh-CN" sz="2000" dirty="0"/>
              <a:t>命令行解释器输入：</a:t>
            </a:r>
          </a:p>
          <a:p>
            <a:pPr marL="0" indent="0">
              <a:buFontTx/>
              <a:buNone/>
            </a:pPr>
            <a:r>
              <a:rPr lang="pt-BR" altLang="zh-CN" sz="2000" dirty="0"/>
              <a:t>&gt;&gt;&gt; import cv2</a:t>
            </a:r>
            <a:endParaRPr lang="zh-CN" altLang="zh-CN" sz="2000" dirty="0"/>
          </a:p>
          <a:p>
            <a:pPr marL="0" indent="0">
              <a:buFontTx/>
              <a:buNone/>
            </a:pPr>
            <a:endParaRPr lang="zh-CN" altLang="zh-CN" sz="2000" dirty="0"/>
          </a:p>
        </p:txBody>
      </p:sp>
    </p:spTree>
    <p:extLst>
      <p:ext uri="{BB962C8B-B14F-4D97-AF65-F5344CB8AC3E}">
        <p14:creationId xmlns:p14="http://schemas.microsoft.com/office/powerpoint/2010/main" val="3407910524"/>
      </p:ext>
    </p:extLst>
  </p:cSld>
  <p:clrMapOvr>
    <a:masterClrMapping/>
  </p:clrMapOvr>
  <p:transition spd="slow">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47AF1656-01BC-4E79-A9D2-13A1424F7DCC}"/>
              </a:ext>
            </a:extLst>
          </p:cNvPr>
          <p:cNvSpPr txBox="1">
            <a:spLocks/>
          </p:cNvSpPr>
          <p:nvPr/>
        </p:nvSpPr>
        <p:spPr>
          <a:xfrm>
            <a:off x="540544" y="1392746"/>
            <a:ext cx="8062912" cy="4467225"/>
          </a:xfrm>
          <a:prstGeom prst="rect">
            <a:avLst/>
          </a:prstGeom>
        </p:spPr>
        <p:txBody>
          <a:bodyPr/>
          <a:lst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Tx/>
              <a:buNone/>
            </a:pPr>
            <a:r>
              <a:rPr lang="zh-CN" altLang="zh-CN" sz="2000"/>
              <a:t>下面是简单测试代码。</a:t>
            </a:r>
          </a:p>
          <a:p>
            <a:pPr marL="0" indent="0">
              <a:buFontTx/>
              <a:buNone/>
            </a:pPr>
            <a:r>
              <a:rPr lang="pt-BR" altLang="zh-CN" sz="2000"/>
              <a:t>import cv2				#</a:t>
            </a:r>
            <a:r>
              <a:rPr lang="zh-CN" altLang="zh-CN" sz="2000"/>
              <a:t>导入模块，</a:t>
            </a:r>
            <a:r>
              <a:rPr lang="pt-BR" altLang="zh-CN" sz="2000"/>
              <a:t>opencv</a:t>
            </a:r>
            <a:r>
              <a:rPr lang="zh-CN" altLang="zh-CN" sz="2000"/>
              <a:t>的</a:t>
            </a:r>
            <a:r>
              <a:rPr lang="pt-BR" altLang="zh-CN" sz="2000"/>
              <a:t>python</a:t>
            </a:r>
            <a:r>
              <a:rPr lang="zh-CN" altLang="zh-CN" sz="2000"/>
              <a:t>模块叫</a:t>
            </a:r>
            <a:r>
              <a:rPr lang="pt-BR" altLang="zh-CN" sz="2000"/>
              <a:t>cv2</a:t>
            </a:r>
            <a:endParaRPr lang="zh-CN" altLang="zh-CN" sz="2000"/>
          </a:p>
          <a:p>
            <a:pPr marL="0" indent="0">
              <a:buFontTx/>
              <a:buNone/>
            </a:pPr>
            <a:r>
              <a:rPr lang="pt-BR" altLang="zh-CN" sz="2000"/>
              <a:t>imgobj = cv2.imread('pho.jpg') 		#</a:t>
            </a:r>
            <a:r>
              <a:rPr lang="zh-CN" altLang="zh-CN" sz="2000"/>
              <a:t>读取</a:t>
            </a:r>
            <a:r>
              <a:rPr lang="pt-BR" altLang="zh-CN" sz="2000"/>
              <a:t>pho.jpg</a:t>
            </a:r>
            <a:r>
              <a:rPr lang="zh-CN" altLang="zh-CN" sz="2000"/>
              <a:t>图像</a:t>
            </a:r>
          </a:p>
          <a:p>
            <a:pPr marL="0" indent="0">
              <a:buFontTx/>
              <a:buNone/>
            </a:pPr>
            <a:r>
              <a:rPr lang="pt-BR" altLang="zh-CN" sz="2000"/>
              <a:t>cv2.namedWindow("input image",cv2.WINDOW_AUTOSIZE) #</a:t>
            </a:r>
            <a:r>
              <a:rPr lang="zh-CN" altLang="zh-CN" sz="2000"/>
              <a:t>创建窗口</a:t>
            </a:r>
          </a:p>
          <a:p>
            <a:pPr marL="0" indent="0">
              <a:buFontTx/>
              <a:buNone/>
            </a:pPr>
            <a:r>
              <a:rPr lang="pt-BR" altLang="zh-CN" sz="2000"/>
              <a:t>cv2.imshow("input image",imgobj)	#</a:t>
            </a:r>
            <a:r>
              <a:rPr lang="zh-CN" altLang="zh-CN" sz="2000"/>
              <a:t>显示图片</a:t>
            </a:r>
          </a:p>
          <a:p>
            <a:pPr marL="0" indent="0">
              <a:buFontTx/>
              <a:buNone/>
            </a:pPr>
            <a:r>
              <a:rPr lang="pt-BR" altLang="zh-CN" sz="2000"/>
              <a:t>cv2.waitKey(0)		#</a:t>
            </a:r>
            <a:r>
              <a:rPr lang="zh-CN" altLang="zh-CN" sz="2000"/>
              <a:t>等待按键事件触发，参数</a:t>
            </a:r>
            <a:r>
              <a:rPr lang="pt-BR" altLang="zh-CN" sz="2000"/>
              <a:t>0</a:t>
            </a:r>
            <a:r>
              <a:rPr lang="zh-CN" altLang="zh-CN" sz="2000"/>
              <a:t>表示永久等待</a:t>
            </a:r>
          </a:p>
          <a:p>
            <a:pPr marL="0" indent="0">
              <a:buFontTx/>
              <a:buNone/>
            </a:pPr>
            <a:r>
              <a:rPr lang="pt-BR" altLang="zh-CN" sz="2000"/>
              <a:t>cv2.destroyAllWindows()	#</a:t>
            </a:r>
            <a:r>
              <a:rPr lang="zh-CN" altLang="zh-CN" sz="2000"/>
              <a:t>释放窗口</a:t>
            </a:r>
          </a:p>
          <a:p>
            <a:pPr marL="0" indent="0">
              <a:buFontTx/>
              <a:buNone/>
            </a:pPr>
            <a:endParaRPr lang="zh-CN" altLang="zh-CN" sz="2000" dirty="0"/>
          </a:p>
        </p:txBody>
      </p:sp>
    </p:spTree>
    <p:extLst>
      <p:ext uri="{BB962C8B-B14F-4D97-AF65-F5344CB8AC3E}">
        <p14:creationId xmlns:p14="http://schemas.microsoft.com/office/powerpoint/2010/main" val="41652281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2"/>
          <p:cNvSpPr txBox="1"/>
          <p:nvPr/>
        </p:nvSpPr>
        <p:spPr>
          <a:xfrm>
            <a:off x="411481" y="914400"/>
            <a:ext cx="8330184" cy="5541264"/>
          </a:xfrm>
          <a:prstGeom prst="rect">
            <a:avLst/>
          </a:prstGeom>
        </p:spPr>
        <p:txBody>
          <a:bodyPr vert="horz" lIns="91392" tIns="45696" rIns="91392" bIns="45696"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457200" defTabSz="913765">
              <a:lnSpc>
                <a:spcPct val="150000"/>
              </a:lnSpc>
              <a:buNone/>
            </a:pPr>
            <a:endParaRPr lang="en-US" altLang="zh-CN" sz="2800" b="1" dirty="0">
              <a:solidFill>
                <a:srgbClr val="0070C0"/>
              </a:solidFill>
              <a:latin typeface="微软雅黑" panose="020B0503020204020204" pitchFamily="34" charset="-122"/>
              <a:ea typeface="微软雅黑" panose="020B0503020204020204" pitchFamily="34" charset="-122"/>
            </a:endParaRPr>
          </a:p>
        </p:txBody>
      </p:sp>
      <p:sp>
        <p:nvSpPr>
          <p:cNvPr id="4" name="内容占位符 2">
            <a:extLst>
              <a:ext uri="{FF2B5EF4-FFF2-40B4-BE49-F238E27FC236}">
                <a16:creationId xmlns:a16="http://schemas.microsoft.com/office/drawing/2014/main" id="{56429148-E071-439A-B028-0DF2C35A5B97}"/>
              </a:ext>
            </a:extLst>
          </p:cNvPr>
          <p:cNvSpPr txBox="1">
            <a:spLocks/>
          </p:cNvSpPr>
          <p:nvPr/>
        </p:nvSpPr>
        <p:spPr>
          <a:xfrm>
            <a:off x="402335" y="1657922"/>
            <a:ext cx="8062912" cy="4467225"/>
          </a:xfrm>
          <a:prstGeom prst="rect">
            <a:avLst/>
          </a:prstGeom>
        </p:spPr>
        <p:txBody>
          <a:bodyPr/>
          <a:lstStyle>
            <a:lvl1pPr marL="457200" indent="-457200" algn="l" defTabSz="121856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856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856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25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1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17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13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0965" indent="-304800" algn="l" defTabSz="121856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Tx/>
              <a:buNone/>
            </a:pPr>
            <a:r>
              <a:rPr lang="en-US" altLang="zh-CN" sz="2000" b="1" dirty="0"/>
              <a:t>2</a:t>
            </a:r>
            <a:r>
              <a:rPr lang="zh-CN" altLang="zh-CN" sz="2000" b="1" dirty="0"/>
              <a:t>．</a:t>
            </a:r>
            <a:r>
              <a:rPr lang="zh-CN" altLang="en-US" sz="2000" b="1" dirty="0"/>
              <a:t>实现图像直方图均衡化（不能直接函数调用）</a:t>
            </a:r>
            <a:endParaRPr lang="en-US" altLang="zh-CN" sz="2000" b="1" dirty="0"/>
          </a:p>
          <a:p>
            <a:pPr eaLnBrk="0"/>
            <a:r>
              <a:rPr lang="en-US" altLang="zh-CN" sz="2000" dirty="0" err="1"/>
              <a:t>图像直方图（Image</a:t>
            </a:r>
            <a:r>
              <a:rPr lang="en-US" altLang="zh-CN" sz="2000" dirty="0"/>
              <a:t> </a:t>
            </a:r>
            <a:r>
              <a:rPr lang="en-US" altLang="zh-CN" sz="2000" dirty="0" err="1"/>
              <a:t>Histogram）是用于表示图像中亮度分布的图形，描述了</a:t>
            </a:r>
            <a:r>
              <a:rPr lang="en-US" altLang="zh-CN" sz="2000" dirty="0"/>
              <a:t> </a:t>
            </a:r>
            <a:r>
              <a:rPr lang="en-US" altLang="zh-CN" sz="2000" dirty="0" err="1"/>
              <a:t>图像中每个亮度值的像素数。在直方图中，横坐标的左侧为较暗的区域，横坐标</a:t>
            </a:r>
            <a:r>
              <a:rPr lang="en-US" altLang="zh-CN" sz="2000" dirty="0"/>
              <a:t> </a:t>
            </a:r>
            <a:r>
              <a:rPr lang="en-US" altLang="zh-CN" sz="2000" dirty="0" err="1"/>
              <a:t>的右侧为较亮的区域。因此，如果是一张较暗的图像，它的直方图的数据多集中</a:t>
            </a:r>
            <a:r>
              <a:rPr lang="en-US" altLang="zh-CN" sz="2000" dirty="0"/>
              <a:t> </a:t>
            </a:r>
            <a:r>
              <a:rPr lang="en-US" altLang="zh-CN" sz="2000" dirty="0" err="1"/>
              <a:t>在左侧和中间的部分；而整体明亮、只有少量阴影的图像则相反，多集中在中间</a:t>
            </a:r>
            <a:r>
              <a:rPr lang="zh-CN" altLang="zh-CN" sz="2000" dirty="0"/>
              <a:t>和右侧的部分。</a:t>
            </a:r>
          </a:p>
          <a:p>
            <a:pPr eaLnBrk="0"/>
            <a:r>
              <a:rPr lang="zh-CN" altLang="zh-CN" sz="2000" dirty="0"/>
              <a:t>直方图均衡化就是把原始图像的灰度直方图从比较集中的某个灰度区间变 成在全部灰度范围内的均衡分布，它对图像进行非线性拉升，重新分布图像像素 值，使一定灰度范围内的像素数量大致相同，也就是把给定图像的直方图分布改变成</a:t>
            </a:r>
            <a:r>
              <a:rPr lang="en-US" altLang="zh-CN" sz="2000" dirty="0"/>
              <a:t>“</a:t>
            </a:r>
            <a:r>
              <a:rPr lang="zh-CN" altLang="zh-CN" sz="2000" dirty="0"/>
              <a:t>均匀 </a:t>
            </a:r>
            <a:r>
              <a:rPr lang="en-US" altLang="zh-CN" sz="2000" dirty="0"/>
              <a:t>”</a:t>
            </a:r>
            <a:r>
              <a:rPr lang="zh-CN" altLang="zh-CN" sz="2000" dirty="0"/>
              <a:t>分布直方图分布。</a:t>
            </a:r>
          </a:p>
          <a:p>
            <a:pPr marL="0" indent="0">
              <a:buFontTx/>
              <a:buNone/>
            </a:pPr>
            <a:endParaRPr lang="zh-CN" altLang="zh-CN" sz="2000" b="1" dirty="0"/>
          </a:p>
          <a:p>
            <a:pPr marL="0" indent="0">
              <a:buFontTx/>
              <a:buNone/>
            </a:pPr>
            <a:endParaRPr lang="zh-CN" altLang="zh-CN" sz="2000" dirty="0"/>
          </a:p>
        </p:txBody>
      </p:sp>
    </p:spTree>
    <p:extLst>
      <p:ext uri="{BB962C8B-B14F-4D97-AF65-F5344CB8AC3E}">
        <p14:creationId xmlns:p14="http://schemas.microsoft.com/office/powerpoint/2010/main" val="4104429283"/>
      </p:ext>
    </p:extLst>
  </p:cSld>
  <p:clrMapOvr>
    <a:masterClrMapping/>
  </p:clrMapOvr>
  <p:transition spd="slow">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EC3E5C4-4C02-4F40-BA16-5D62887F65C1}"/>
              </a:ext>
            </a:extLst>
          </p:cNvPr>
          <p:cNvPicPr>
            <a:picLocks noChangeAspect="1"/>
          </p:cNvPicPr>
          <p:nvPr/>
        </p:nvPicPr>
        <p:blipFill>
          <a:blip r:embed="rId2"/>
          <a:stretch>
            <a:fillRect/>
          </a:stretch>
        </p:blipFill>
        <p:spPr>
          <a:xfrm>
            <a:off x="843224" y="1207820"/>
            <a:ext cx="7238095" cy="3857143"/>
          </a:xfrm>
          <a:prstGeom prst="rect">
            <a:avLst/>
          </a:prstGeom>
        </p:spPr>
      </p:pic>
    </p:spTree>
    <p:extLst>
      <p:ext uri="{BB962C8B-B14F-4D97-AF65-F5344CB8AC3E}">
        <p14:creationId xmlns:p14="http://schemas.microsoft.com/office/powerpoint/2010/main" val="25476168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08824FE-F583-4B78-80E7-FEA6E9C729BB}"/>
              </a:ext>
            </a:extLst>
          </p:cNvPr>
          <p:cNvPicPr>
            <a:picLocks noChangeAspect="1"/>
          </p:cNvPicPr>
          <p:nvPr/>
        </p:nvPicPr>
        <p:blipFill>
          <a:blip r:embed="rId2"/>
          <a:stretch>
            <a:fillRect/>
          </a:stretch>
        </p:blipFill>
        <p:spPr>
          <a:xfrm>
            <a:off x="2391778" y="1630258"/>
            <a:ext cx="3866667" cy="2390476"/>
          </a:xfrm>
          <a:prstGeom prst="rect">
            <a:avLst/>
          </a:prstGeom>
        </p:spPr>
      </p:pic>
    </p:spTree>
    <p:extLst>
      <p:ext uri="{BB962C8B-B14F-4D97-AF65-F5344CB8AC3E}">
        <p14:creationId xmlns:p14="http://schemas.microsoft.com/office/powerpoint/2010/main" val="15328219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66F1A2B-8B7F-406D-A1BB-28FFF2A64128}"/>
              </a:ext>
            </a:extLst>
          </p:cNvPr>
          <p:cNvPicPr>
            <a:picLocks noChangeAspect="1"/>
          </p:cNvPicPr>
          <p:nvPr/>
        </p:nvPicPr>
        <p:blipFill>
          <a:blip r:embed="rId2"/>
          <a:stretch>
            <a:fillRect/>
          </a:stretch>
        </p:blipFill>
        <p:spPr>
          <a:xfrm>
            <a:off x="1960344" y="811296"/>
            <a:ext cx="4638095" cy="5400000"/>
          </a:xfrm>
          <a:prstGeom prst="rect">
            <a:avLst/>
          </a:prstGeom>
        </p:spPr>
      </p:pic>
    </p:spTree>
    <p:extLst>
      <p:ext uri="{BB962C8B-B14F-4D97-AF65-F5344CB8AC3E}">
        <p14:creationId xmlns:p14="http://schemas.microsoft.com/office/powerpoint/2010/main" val="1115341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约年度工作总结述职报告商务动态PPT模板35"/>
</p:tagLst>
</file>

<file path=ppt/tags/tag2.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6"/>
  <p:tag name="KSO_WM_TEMPLATE_SCENE_ID" val="1"/>
  <p:tag name="KSO_WM_TEMPLATE_JOB_ID" val="6"/>
  <p:tag name="KSO_WM_TEMPLATE_TOPIC_DEFAULT" val="0"/>
</p:tagLst>
</file>

<file path=ppt/theme/theme1.xml><?xml version="1.0" encoding="utf-8"?>
<a:theme xmlns:a="http://schemas.openxmlformats.org/drawingml/2006/main" name="1_Office 主题​​">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4902</TotalTime>
  <Words>10237</Words>
  <Application>Microsoft Office PowerPoint</Application>
  <PresentationFormat>全屏显示(4:3)</PresentationFormat>
  <Paragraphs>1235</Paragraphs>
  <Slides>100</Slides>
  <Notes>56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100</vt:i4>
      </vt:variant>
    </vt:vector>
  </HeadingPairs>
  <TitlesOfParts>
    <vt:vector size="109" baseType="lpstr">
      <vt:lpstr>Arial Unicode MS</vt:lpstr>
      <vt:lpstr>等线</vt:lpstr>
      <vt:lpstr>宋体</vt:lpstr>
      <vt:lpstr>微软雅黑</vt:lpstr>
      <vt:lpstr>Arial</vt:lpstr>
      <vt:lpstr>Calibri</vt:lpstr>
      <vt:lpstr>Times New Roman</vt:lpstr>
      <vt:lpstr>1_Office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蓝色简约年度工作总结述职报告商务动态PPT模板35</dc:title>
  <dc:creator>WangHJ</dc:creator>
  <cp:lastModifiedBy>Administrator</cp:lastModifiedBy>
  <cp:revision>169</cp:revision>
  <dcterms:created xsi:type="dcterms:W3CDTF">2017-02-15T16:34:00Z</dcterms:created>
  <dcterms:modified xsi:type="dcterms:W3CDTF">2025-04-09T05:08:47Z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2052-11.3.0.8775</vt:lpwstr>
  </property>
</Properties>
</file>