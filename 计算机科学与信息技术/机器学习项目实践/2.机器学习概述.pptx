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14" r:id="rId3"/>
    <p:sldId id="415" r:id="rId5"/>
    <p:sldId id="416" r:id="rId6"/>
    <p:sldId id="420" r:id="rId7"/>
    <p:sldId id="421" r:id="rId8"/>
    <p:sldId id="408" r:id="rId9"/>
    <p:sldId id="417" r:id="rId10"/>
    <p:sldId id="418" r:id="rId11"/>
    <p:sldId id="419" r:id="rId12"/>
    <p:sldId id="412" r:id="rId13"/>
    <p:sldId id="424" r:id="rId14"/>
    <p:sldId id="425" r:id="rId15"/>
    <p:sldId id="426" r:id="rId16"/>
    <p:sldId id="427" r:id="rId17"/>
    <p:sldId id="446" r:id="rId18"/>
    <p:sldId id="447" r:id="rId19"/>
    <p:sldId id="448" r:id="rId20"/>
    <p:sldId id="428" r:id="rId21"/>
    <p:sldId id="429" r:id="rId22"/>
    <p:sldId id="449" r:id="rId23"/>
    <p:sldId id="450" r:id="rId24"/>
    <p:sldId id="423" r:id="rId25"/>
    <p:sldId id="445" r:id="rId26"/>
    <p:sldId id="438" r:id="rId27"/>
    <p:sldId id="442" r:id="rId28"/>
    <p:sldId id="452" r:id="rId29"/>
    <p:sldId id="443" r:id="rId30"/>
    <p:sldId id="444" r:id="rId31"/>
    <p:sldId id="441" r:id="rId32"/>
    <p:sldId id="453" r:id="rId33"/>
    <p:sldId id="454" r:id="rId34"/>
    <p:sldId id="440" r:id="rId35"/>
    <p:sldId id="431" r:id="rId36"/>
    <p:sldId id="436" r:id="rId37"/>
    <p:sldId id="437" r:id="rId38"/>
    <p:sldId id="432" r:id="rId39"/>
    <p:sldId id="433" r:id="rId40"/>
    <p:sldId id="434" r:id="rId41"/>
    <p:sldId id="435" r:id="rId42"/>
    <p:sldId id="430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72" r:id="rId53"/>
    <p:sldId id="388" r:id="rId54"/>
    <p:sldId id="389" r:id="rId55"/>
    <p:sldId id="387" r:id="rId56"/>
    <p:sldId id="386" r:id="rId57"/>
    <p:sldId id="390" r:id="rId58"/>
    <p:sldId id="392" r:id="rId59"/>
    <p:sldId id="413" r:id="rId60"/>
    <p:sldId id="394" r:id="rId61"/>
    <p:sldId id="395" r:id="rId62"/>
    <p:sldId id="397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 autoAdjust="0"/>
  </p:normalViewPr>
  <p:slideViewPr>
    <p:cSldViewPr snapToGrid="0" showGuides="1">
      <p:cViewPr varScale="1">
        <p:scale>
          <a:sx n="96" d="100"/>
          <a:sy n="9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B0B0A-7FB2-412B-859F-EC3A8F9B9D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3F2CE-909D-4581-8BA8-8DCD318820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E0E0E2-7263-44C4-AAA9-733DBA7BD2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21FD59-C920-460C-B1C9-0346C59420B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11095" y="693329"/>
            <a:ext cx="8930355" cy="0"/>
          </a:xfrm>
          <a:prstGeom prst="line">
            <a:avLst/>
          </a:prstGeom>
          <a:ln w="25400">
            <a:solidFill>
              <a:srgbClr val="F5A6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4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800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965" indent="0">
              <a:buNone/>
              <a:defRPr sz="2700"/>
            </a:lvl7pPr>
            <a:lvl8pPr marL="4266565" indent="0">
              <a:buNone/>
              <a:defRPr sz="2700"/>
            </a:lvl8pPr>
            <a:lvl9pPr marL="487616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7765" indent="0">
              <a:buNone/>
              <a:defRPr sz="1200"/>
            </a:lvl5pPr>
            <a:lvl6pPr marL="3047365" indent="0">
              <a:buNone/>
              <a:defRPr sz="1200"/>
            </a:lvl6pPr>
            <a:lvl7pPr marL="3656965" indent="0">
              <a:buNone/>
              <a:defRPr sz="1200"/>
            </a:lvl7pPr>
            <a:lvl8pPr marL="4266565" indent="0">
              <a:buNone/>
              <a:defRPr sz="1200"/>
            </a:lvl8pPr>
            <a:lvl9pPr marL="487616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1600203"/>
            <a:ext cx="8229600" cy="4525963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1" y="206376"/>
            <a:ext cx="2057400" cy="438785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6"/>
            <a:ext cx="6019800" cy="438785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F:\桌面文件\ppt底图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79" y="3177"/>
            <a:ext cx="9228378" cy="6854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-14521" y="0"/>
            <a:ext cx="922861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30000">
                <a:schemeClr val="bg1">
                  <a:alpha val="0"/>
                </a:schemeClr>
              </a:gs>
              <a:gs pos="98000">
                <a:schemeClr val="tx1">
                  <a:alpha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3" rIns="91388" bIns="45693" anchor="ctr"/>
          <a:lstStyle/>
          <a:p>
            <a:pPr algn="ctr" eaLnBrk="0" hangingPunct="0">
              <a:defRPr/>
            </a:pPr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/>
      </p:par>
    </p:tnLst>
  </p:timing>
  <p:txStyles>
    <p:titleStyle>
      <a:lvl1pPr algn="ctr" defTabSz="1218565" rtl="0" eaLnBrk="1" latinLnBrk="0" hangingPunct="1">
        <a:spcBef>
          <a:spcPct val="0"/>
        </a:spcBef>
        <a:buNone/>
        <a:defRPr sz="58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473890" y="4793695"/>
            <a:ext cx="8259053" cy="0"/>
          </a:xfrm>
          <a:prstGeom prst="line">
            <a:avLst/>
          </a:prstGeom>
          <a:ln w="38100">
            <a:solidFill>
              <a:srgbClr val="F5A6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3"/>
          <p:cNvSpPr txBox="1"/>
          <p:nvPr/>
        </p:nvSpPr>
        <p:spPr>
          <a:xfrm>
            <a:off x="1225042" y="693010"/>
            <a:ext cx="6770189" cy="861706"/>
          </a:xfrm>
          <a:prstGeom prst="rect">
            <a:avLst/>
          </a:prstGeom>
          <a:noFill/>
        </p:spPr>
        <p:txBody>
          <a:bodyPr wrap="square" lIns="121854" tIns="60926" rIns="121854" bIns="60926" rtlCol="0">
            <a:spAutoFit/>
          </a:bodyPr>
          <a:lstStyle/>
          <a:p>
            <a:pPr algn="ctr" defTabSz="1218565"/>
            <a:r>
              <a:rPr lang="zh-CN" altLang="en-US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机器学习概述</a:t>
            </a:r>
            <a:endParaRPr lang="zh-CN" altLang="en-US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23"/>
          <p:cNvSpPr txBox="1"/>
          <p:nvPr/>
        </p:nvSpPr>
        <p:spPr>
          <a:xfrm>
            <a:off x="1659890" y="5321935"/>
            <a:ext cx="5824220" cy="612775"/>
          </a:xfrm>
          <a:prstGeom prst="rect">
            <a:avLst/>
          </a:prstGeom>
          <a:noFill/>
        </p:spPr>
        <p:txBody>
          <a:bodyPr wrap="square" lIns="121854" tIns="60926" rIns="121854" bIns="60926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1218565"/>
            <a:r>
              <a:rPr lang="zh-CN" altLang="en-US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周维达 方</a:t>
            </a:r>
            <a:r>
              <a:rPr lang="zh-CN" alt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贤  主讲</a:t>
            </a:r>
            <a:endParaRPr lang="zh-CN" altLang="en-US" sz="32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Picture 2" descr="C:\Users\Shinelon\Desktop\29462079-1_w_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1723220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49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3893405" y="146721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700499" y="1467217"/>
            <a:ext cx="3459941" cy="511238"/>
            <a:chOff x="6339097" y="1573726"/>
            <a:chExt cx="3744416" cy="511504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49" y="1614014"/>
              <a:ext cx="319682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机器学习的概念和步骤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3893405" y="2303235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682598" y="2303235"/>
            <a:ext cx="3806082" cy="511238"/>
            <a:chOff x="6315199" y="2410178"/>
            <a:chExt cx="4097814" cy="511504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16745" y="2450466"/>
              <a:ext cx="3696268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机器学习的预处理环节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3893405" y="3188627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00500" y="3188625"/>
            <a:ext cx="3459941" cy="511238"/>
            <a:chOff x="6339097" y="3296031"/>
            <a:chExt cx="3744417" cy="511504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7" y="3336319"/>
              <a:ext cx="336016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机器学习的类型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3893405" y="407303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00499" y="4073036"/>
            <a:ext cx="3459941" cy="511237"/>
            <a:chOff x="6339097" y="4180903"/>
            <a:chExt cx="3744416" cy="511504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机器学习的历史和应用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04800" y="2219405"/>
            <a:ext cx="3426106" cy="1600329"/>
          </a:xfrm>
          <a:prstGeom prst="rect">
            <a:avLst/>
          </a:prstGeom>
          <a:noFill/>
        </p:spPr>
        <p:txBody>
          <a:bodyPr wrap="square" lIns="121817" tIns="60906" rIns="121817" bIns="60906">
            <a:spAutoFit/>
          </a:bodyPr>
          <a:lstStyle/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要</a:t>
            </a:r>
            <a:endParaRPr lang="en-US" altLang="zh-CN" sz="4800" b="1" spc="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 容</a:t>
            </a:r>
            <a:endParaRPr lang="zh-CN" altLang="en-US" sz="3200" b="1" spc="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3031835" y="1391207"/>
            <a:ext cx="575764" cy="695523"/>
          </a:xfrm>
          <a:prstGeom prst="downArrow">
            <a:avLst/>
          </a:prstGeom>
          <a:solidFill>
            <a:srgbClr val="F5A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94878" y="500267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 smtClean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701972" y="5002676"/>
            <a:ext cx="3459941" cy="511237"/>
            <a:chOff x="6339097" y="4180903"/>
            <a:chExt cx="3744416" cy="511504"/>
          </a:xfrm>
        </p:grpSpPr>
        <p:sp>
          <p:nvSpPr>
            <p:cNvPr id="27" name="圆角矩形 26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000" b="1" kern="100" dirty="0" err="1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Scikit</a:t>
              </a:r>
              <a:r>
                <a:rPr lang="en-US" altLang="zh-CN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-learn</a:t>
              </a: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机器学习库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机器学习的思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想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机器学习：从经验（实践）中学习</a:t>
            </a:r>
            <a:endParaRPr lang="zh-CN" altLang="en-US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大量事例中学习</a:t>
            </a:r>
            <a:r>
              <a:rPr lang="en-US" altLang="zh-CN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吃十堑，</a:t>
            </a: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长一智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</a:t>
            </a:r>
            <a:r>
              <a:rPr lang="zh-CN" altLang="en-US" sz="26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器学习的定义</a:t>
            </a:r>
            <a:r>
              <a:rPr lang="zh-CN" altLang="en-US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：如果一个程序可以在任务</a:t>
            </a:r>
            <a:r>
              <a:rPr lang="en-US" altLang="zh-CN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zh-CN" altLang="en-US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上，随着经验</a:t>
            </a:r>
            <a:r>
              <a:rPr lang="en-US" altLang="zh-CN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的增加，效果</a:t>
            </a:r>
            <a:r>
              <a:rPr lang="en-US" altLang="zh-CN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6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也随之增加，则称这个程序可以从经验中</a:t>
            </a:r>
            <a:r>
              <a:rPr lang="zh-CN" altLang="en-US" sz="2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学习</a:t>
            </a:r>
            <a:endParaRPr lang="zh-CN" altLang="en-US" sz="26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机器学习的概念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和步骤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生活中的人工智能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 descr="C:\Users\Shinelon\Desktop\语音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07" y="925510"/>
            <a:ext cx="4016375" cy="28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Shinelon\Desktop\人脸xl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177" y="1247773"/>
            <a:ext cx="3352800" cy="21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Shinelon\Desktop\自动驾驶.12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6" y="3909181"/>
            <a:ext cx="4885281" cy="260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Shinelon\Desktop\src=http___img.mp.itc.cn_upload_20161217_f6b54c5218994eea8d032714906ec697_th.jpg&amp;refer=http___img.mp.itc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0" y="4296287"/>
            <a:ext cx="2975610" cy="2213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6176" y="986163"/>
            <a:ext cx="162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2"/>
                </a:solidFill>
              </a:rPr>
              <a:t>语音识别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02680" y="724553"/>
            <a:ext cx="162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2"/>
                </a:solidFill>
              </a:rPr>
              <a:t>人脸识别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4884" y="3695357"/>
            <a:ext cx="162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2"/>
                </a:solidFill>
              </a:rPr>
              <a:t>指纹识别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68816" y="3385961"/>
            <a:ext cx="162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2"/>
                </a:solidFill>
              </a:rPr>
              <a:t>自动驾驶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人工智能与机器学习、深度学习的关系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机器学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习：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是目前实现人工智能的主流方法和技术</a:t>
            </a:r>
            <a:endParaRPr lang="en-US" altLang="zh-CN" sz="28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</a:t>
            </a: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器学习</a:t>
            </a:r>
            <a:r>
              <a:rPr lang="en-US" altLang="zh-CN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数据驱动的人工智能</a:t>
            </a:r>
            <a:endParaRPr lang="en-US" altLang="zh-CN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098" name="Picture 2" descr="C:\Users\Shinelon\Desktop\v2-cdbef7f0385b59656eaa9df2a75d890e_720w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289" y="3060697"/>
            <a:ext cx="6826567" cy="360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从事例中学习</a:t>
            </a: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“事例”即“样本”</a:t>
            </a:r>
            <a:endParaRPr lang="en-US" altLang="zh-CN" sz="24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统计学</a:t>
            </a:r>
            <a:r>
              <a:rPr lang="zh-CN" altLang="en-US" sz="2400" b="1" dirty="0">
                <a:solidFill>
                  <a:schemeClr val="accent1"/>
                </a:solidFill>
              </a:rPr>
              <a:t>：由样本的统计量估计总体的参</a:t>
            </a:r>
            <a:r>
              <a:rPr lang="zh-CN" altLang="en-US" sz="2400" b="1" dirty="0" smtClean="0">
                <a:solidFill>
                  <a:schemeClr val="accent1"/>
                </a:solidFill>
              </a:rPr>
              <a:t>数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机器学习</a:t>
            </a:r>
            <a:r>
              <a:rPr lang="zh-CN" altLang="en-US" sz="2400" b="1" dirty="0">
                <a:solidFill>
                  <a:schemeClr val="accent1"/>
                </a:solidFill>
              </a:rPr>
              <a:t>：利用训练集进行建模和参数估计，利用测试集进行模型测</a:t>
            </a:r>
            <a:r>
              <a:rPr lang="zh-CN" altLang="en-US" sz="2400" b="1" dirty="0" smtClean="0">
                <a:solidFill>
                  <a:schemeClr val="accent1"/>
                </a:solidFill>
              </a:rPr>
              <a:t>试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的一般过程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65417" y="3175000"/>
            <a:ext cx="4504689" cy="3517207"/>
            <a:chOff x="844551" y="1539240"/>
            <a:chExt cx="4504689" cy="3517207"/>
          </a:xfrm>
        </p:grpSpPr>
        <p:sp>
          <p:nvSpPr>
            <p:cNvPr id="4" name="Oval 4"/>
            <p:cNvSpPr>
              <a:spLocks noChangeArrowheads="1"/>
            </p:cNvSpPr>
            <p:nvPr/>
          </p:nvSpPr>
          <p:spPr bwMode="auto">
            <a:xfrm>
              <a:off x="844551" y="1539240"/>
              <a:ext cx="4504689" cy="2282667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3200" b="1" dirty="0"/>
            </a:p>
            <a:p>
              <a:pPr algn="ctr"/>
              <a:r>
                <a:rPr lang="zh-CN" altLang="en-US" sz="3200" b="1" dirty="0"/>
                <a:t>总</a:t>
              </a:r>
              <a:r>
                <a:rPr lang="zh-CN" altLang="en-US" sz="3200" b="1" dirty="0" smtClean="0"/>
                <a:t>体</a:t>
              </a:r>
              <a:endParaRPr lang="en-US" altLang="zh-CN" sz="3200" b="1" dirty="0" smtClean="0"/>
            </a:p>
            <a:p>
              <a:pPr algn="ctr"/>
              <a:endParaRPr lang="zh-CN" altLang="en-US" sz="3200" b="1" dirty="0"/>
            </a:p>
            <a:p>
              <a:pPr algn="ctr"/>
              <a:endParaRPr lang="zh-CN" altLang="en-US" sz="3200" b="1" dirty="0"/>
            </a:p>
            <a:p>
              <a:pPr algn="ctr"/>
              <a:endParaRPr lang="zh-CN" altLang="en-US" sz="3200" b="1" dirty="0"/>
            </a:p>
            <a:p>
              <a:pPr algn="ctr"/>
              <a:endParaRPr lang="zh-CN" altLang="en-US" sz="3200" b="1" dirty="0"/>
            </a:p>
          </p:txBody>
        </p:sp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1849439" y="2349208"/>
              <a:ext cx="2708275" cy="114233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3200" b="1"/>
                <a:t>样本</a:t>
              </a:r>
              <a:endParaRPr lang="zh-CN" altLang="en-US" sz="3200" b="1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H="1">
              <a:off x="1965959" y="3175000"/>
              <a:ext cx="928689" cy="974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513139" y="3197537"/>
              <a:ext cx="815021" cy="9749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3722984" y="4172527"/>
              <a:ext cx="1626256" cy="6759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2800" b="1"/>
                <a:t>测试集</a:t>
              </a:r>
              <a:endParaRPr lang="zh-CN" altLang="en-US" sz="2800" b="1"/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1206182" y="4123574"/>
              <a:ext cx="2244548" cy="93287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2800" b="1" dirty="0" smtClean="0"/>
                <a:t>训练集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的一般过程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步骤示例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23852" y="1079502"/>
            <a:ext cx="8361363" cy="5192713"/>
          </a:xfrm>
          <a:prstGeom prst="rect">
            <a:avLst/>
          </a:prstGeom>
        </p:spPr>
        <p:txBody>
          <a:bodyPr/>
          <a:lstStyle>
            <a:lvl1pPr marL="457200" indent="-4572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 smtClean="0"/>
              <a:t>问题：让机器自动识别一个物品是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筷子</a:t>
            </a:r>
            <a:r>
              <a:rPr lang="en-US" altLang="zh-CN" sz="2800" b="1" dirty="0" smtClean="0"/>
              <a:t>or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牙签</a:t>
            </a:r>
            <a:r>
              <a:rPr lang="zh-CN" altLang="en-US" sz="2800" b="1" dirty="0" smtClean="0"/>
              <a:t>。</a:t>
            </a:r>
            <a:r>
              <a:rPr lang="en-US" altLang="zh-CN" sz="2800" b="1" dirty="0" smtClean="0"/>
              <a:t>(</a:t>
            </a:r>
            <a:r>
              <a:rPr lang="zh-CN" altLang="en-US" sz="2800" b="1" dirty="0" smtClean="0"/>
              <a:t>注</a:t>
            </a:r>
            <a:r>
              <a:rPr lang="en-US" altLang="zh-CN" sz="2800" b="1" dirty="0" smtClean="0"/>
              <a:t>: </a:t>
            </a:r>
            <a:r>
              <a:rPr lang="zh-CN" altLang="en-US" sz="2800" b="1" dirty="0" smtClean="0"/>
              <a:t>机器开始并没有筷子和牙签的任何知识</a:t>
            </a:r>
            <a:r>
              <a:rPr lang="en-US" altLang="zh-CN" sz="2800" b="1" dirty="0" smtClean="0"/>
              <a:t>)</a:t>
            </a:r>
            <a:endParaRPr lang="zh-CN" altLang="en-US" sz="2800" b="1" dirty="0" smtClean="0"/>
          </a:p>
          <a:p>
            <a:r>
              <a:rPr lang="zh-CN" altLang="en-US" sz="2800" b="1" dirty="0" smtClean="0"/>
              <a:t>第一步：收集一些筷子和牙签的样本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第二步：特征选择，选择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有区分度</a:t>
            </a:r>
            <a:r>
              <a:rPr lang="zh-CN" altLang="en-US" sz="2800" b="1" dirty="0" smtClean="0"/>
              <a:t>的特征</a:t>
            </a:r>
            <a:endParaRPr lang="zh-CN" altLang="en-US" b="1" dirty="0" smtClean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002349" y="2596139"/>
          <a:ext cx="5471795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995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长度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质量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材质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solidFill>
                            <a:schemeClr val="accent1"/>
                          </a:solidFill>
                        </a:rPr>
                        <a:t>类别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竹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筷子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竹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筷子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木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筷子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竹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牙签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0.08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竹</a:t>
                      </a:r>
                      <a:endParaRPr lang="zh-CN" alt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牙签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的一般过程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步骤示例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3852" y="1079502"/>
            <a:ext cx="3943347" cy="5580378"/>
          </a:xfrm>
          <a:prstGeom prst="rect">
            <a:avLst/>
          </a:prstGeom>
        </p:spPr>
        <p:txBody>
          <a:bodyPr/>
          <a:lstStyle>
            <a:lvl1pPr marL="457200" indent="-4572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第三步：训练模型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）：从数据中学得模型的过程称为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）或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），这个过程通过执行某个学习算法来完成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训练过程中使用的数据称为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训练数据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），其中每个样本称为一个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训练样本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sample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），训练样本组成的集合称为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训练集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4968240" y="4297680"/>
            <a:ext cx="3886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4968240" y="1173480"/>
            <a:ext cx="0" cy="3124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5242560" y="3749040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806440" y="3977640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501640" y="3855720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56860" y="4084320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650480" y="2011680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985760" y="1752600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7879080" y="2225040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092440" y="2468880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5135880" y="1554480"/>
            <a:ext cx="2956560" cy="263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9"/>
          <p:cNvSpPr txBox="1"/>
          <p:nvPr/>
        </p:nvSpPr>
        <p:spPr>
          <a:xfrm>
            <a:off x="7985760" y="4372094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质量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4297680" y="1352788"/>
            <a:ext cx="99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10"/>
          <p:cNvSpPr txBox="1"/>
          <p:nvPr/>
        </p:nvSpPr>
        <p:spPr>
          <a:xfrm rot="2460639">
            <a:off x="6263640" y="2872740"/>
            <a:ext cx="1935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ax+by+c=0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的一般过程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步骤示例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323852" y="1079502"/>
            <a:ext cx="3943347" cy="5580378"/>
          </a:xfrm>
          <a:prstGeom prst="rect">
            <a:avLst/>
          </a:prstGeom>
        </p:spPr>
        <p:txBody>
          <a:bodyPr/>
          <a:lstStyle>
            <a:lvl1pPr marL="457200" indent="-4572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第四步：预测新实例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学得模型后，使用其进行预测的过程称为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测试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），被预测的样本称为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测试集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sample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泛化能力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）：学得模型适用于新样本的能力</a:t>
            </a:r>
            <a:endParaRPr lang="zh-CN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775200" y="5063252"/>
            <a:ext cx="3886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4775200" y="1939052"/>
            <a:ext cx="0" cy="3124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5049520" y="4514612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613400" y="4743212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308600" y="4621292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163820" y="4849892"/>
            <a:ext cx="106680" cy="106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7457440" y="2777252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7792720" y="2518172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7686040" y="2990612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7899400" y="3234452"/>
            <a:ext cx="106680" cy="1066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4942840" y="2320052"/>
            <a:ext cx="2956560" cy="2636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9"/>
          <p:cNvSpPr txBox="1"/>
          <p:nvPr/>
        </p:nvSpPr>
        <p:spPr>
          <a:xfrm>
            <a:off x="7792720" y="513766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质量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TextBox 23"/>
          <p:cNvSpPr txBox="1"/>
          <p:nvPr/>
        </p:nvSpPr>
        <p:spPr>
          <a:xfrm>
            <a:off x="4104640" y="2118360"/>
            <a:ext cx="99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6725442" y="2655332"/>
            <a:ext cx="179071" cy="2057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 flipV="1">
            <a:off x="6740682" y="2678192"/>
            <a:ext cx="162880" cy="1524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1"/>
          <p:cNvSpPr txBox="1"/>
          <p:nvPr/>
        </p:nvSpPr>
        <p:spPr>
          <a:xfrm>
            <a:off x="4638040" y="1127760"/>
            <a:ext cx="38862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模</a:t>
            </a:r>
            <a:r>
              <a:rPr lang="zh-CN" altLang="en-US" sz="3600" dirty="0" smtClean="0"/>
              <a:t>型：</a:t>
            </a:r>
            <a:r>
              <a:rPr lang="en-US" altLang="zh-CN" sz="3600" dirty="0" smtClean="0"/>
              <a:t>2x+3y-5=0</a:t>
            </a:r>
            <a:endParaRPr lang="zh-CN" altLang="en-US" sz="36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06908" y="103632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机器学习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的步骤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收集相关样本</a:t>
            </a:r>
            <a:endParaRPr lang="zh-CN" altLang="en-US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提取特征</a:t>
            </a:r>
            <a:endParaRPr lang="en-US" altLang="zh-CN" sz="28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训练模型</a:t>
            </a:r>
            <a:endParaRPr lang="en-US" altLang="zh-CN" sz="28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</a:t>
            </a:r>
            <a:r>
              <a:rPr lang="zh-CN" altLang="en-US" sz="2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用模型预测新样本</a:t>
            </a:r>
            <a:endParaRPr lang="zh-CN" altLang="en-US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机器学习的一般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步骤总结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346150" y="103632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endParaRPr lang="zh-CN" altLang="en-US" sz="28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机器学习的过程举例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传统程序的区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画布 175"/>
          <p:cNvGrpSpPr/>
          <p:nvPr/>
        </p:nvGrpSpPr>
        <p:grpSpPr bwMode="auto">
          <a:xfrm>
            <a:off x="306056" y="1840179"/>
            <a:ext cx="8636083" cy="2136735"/>
            <a:chOff x="0" y="0"/>
            <a:chExt cx="49212" cy="12172"/>
          </a:xfrm>
        </p:grpSpPr>
        <p:sp>
          <p:nvSpPr>
            <p:cNvPr id="4" name="AutoShape 18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49212" cy="1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5400"/>
            </a:p>
          </p:txBody>
        </p:sp>
        <p:sp>
          <p:nvSpPr>
            <p:cNvPr id="5" name="Rectangle 35"/>
            <p:cNvSpPr>
              <a:spLocks noChangeArrowheads="1"/>
            </p:cNvSpPr>
            <p:nvPr/>
          </p:nvSpPr>
          <p:spPr bwMode="auto">
            <a:xfrm>
              <a:off x="1162" y="1041"/>
              <a:ext cx="7340" cy="30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研究问题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Rectangle 36"/>
            <p:cNvSpPr>
              <a:spLocks noChangeArrowheads="1"/>
            </p:cNvSpPr>
            <p:nvPr/>
          </p:nvSpPr>
          <p:spPr bwMode="auto">
            <a:xfrm>
              <a:off x="12287" y="1041"/>
              <a:ext cx="7340" cy="30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撰写规则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Rectangle 37"/>
            <p:cNvSpPr>
              <a:spLocks noChangeArrowheads="1"/>
            </p:cNvSpPr>
            <p:nvPr/>
          </p:nvSpPr>
          <p:spPr bwMode="auto">
            <a:xfrm>
              <a:off x="12287" y="9150"/>
              <a:ext cx="7340" cy="30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分析错误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AutoShape 38"/>
            <p:cNvSpPr>
              <a:spLocks noChangeArrowheads="1"/>
            </p:cNvSpPr>
            <p:nvPr/>
          </p:nvSpPr>
          <p:spPr bwMode="auto">
            <a:xfrm>
              <a:off x="27400" y="0"/>
              <a:ext cx="8445" cy="5092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评估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AutoShape 39"/>
            <p:cNvSpPr>
              <a:spLocks noChangeShapeType="1"/>
            </p:cNvSpPr>
            <p:nvPr/>
          </p:nvSpPr>
          <p:spPr bwMode="auto">
            <a:xfrm>
              <a:off x="8502" y="2552"/>
              <a:ext cx="378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0" name="AutoShape 40"/>
            <p:cNvSpPr>
              <a:spLocks noChangeShapeType="1"/>
            </p:cNvSpPr>
            <p:nvPr/>
          </p:nvSpPr>
          <p:spPr bwMode="auto">
            <a:xfrm flipV="1">
              <a:off x="19627" y="2546"/>
              <a:ext cx="7773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1" name="Rectangle 41"/>
            <p:cNvSpPr>
              <a:spLocks noChangeArrowheads="1"/>
            </p:cNvSpPr>
            <p:nvPr/>
          </p:nvSpPr>
          <p:spPr bwMode="auto">
            <a:xfrm>
              <a:off x="41871" y="1041"/>
              <a:ext cx="7341" cy="30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发布程序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AutoShape 42"/>
            <p:cNvSpPr>
              <a:spLocks noChangeShapeType="1"/>
            </p:cNvSpPr>
            <p:nvPr/>
          </p:nvSpPr>
          <p:spPr bwMode="auto">
            <a:xfrm>
              <a:off x="35845" y="2546"/>
              <a:ext cx="6026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3" name="AutoShape 43"/>
            <p:cNvSpPr>
              <a:spLocks noChangeShapeType="1"/>
            </p:cNvSpPr>
            <p:nvPr/>
          </p:nvSpPr>
          <p:spPr bwMode="auto">
            <a:xfrm rot="5400000">
              <a:off x="22840" y="1879"/>
              <a:ext cx="5569" cy="11996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4" name="AutoShape 44"/>
            <p:cNvSpPr>
              <a:spLocks noChangeShapeType="1"/>
            </p:cNvSpPr>
            <p:nvPr/>
          </p:nvSpPr>
          <p:spPr bwMode="auto">
            <a:xfrm rot="10800000">
              <a:off x="4832" y="4064"/>
              <a:ext cx="7455" cy="6597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5" name="Text Box 45"/>
            <p:cNvSpPr txBox="1">
              <a:spLocks noChangeArrowheads="1"/>
            </p:cNvSpPr>
            <p:nvPr/>
          </p:nvSpPr>
          <p:spPr bwMode="auto">
            <a:xfrm>
              <a:off x="36201" y="260"/>
              <a:ext cx="6026" cy="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满意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Text Box 46"/>
            <p:cNvSpPr txBox="1">
              <a:spLocks noChangeArrowheads="1"/>
            </p:cNvSpPr>
            <p:nvPr/>
          </p:nvSpPr>
          <p:spPr bwMode="auto">
            <a:xfrm>
              <a:off x="31623" y="7816"/>
              <a:ext cx="6026" cy="2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不满意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47"/>
            <p:cNvSpPr txBox="1">
              <a:spLocks noChangeArrowheads="1"/>
            </p:cNvSpPr>
            <p:nvPr/>
          </p:nvSpPr>
          <p:spPr bwMode="auto">
            <a:xfrm>
              <a:off x="20491" y="5613"/>
              <a:ext cx="7480" cy="2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输入样本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AutoShape 48"/>
            <p:cNvSpPr>
              <a:spLocks noChangeShapeType="1"/>
            </p:cNvSpPr>
            <p:nvPr/>
          </p:nvSpPr>
          <p:spPr bwMode="auto">
            <a:xfrm flipV="1">
              <a:off x="24231" y="2546"/>
              <a:ext cx="6" cy="30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9" name="Text Box 46"/>
            <p:cNvSpPr txBox="1">
              <a:spLocks noChangeArrowheads="1"/>
            </p:cNvSpPr>
            <p:nvPr/>
          </p:nvSpPr>
          <p:spPr bwMode="auto">
            <a:xfrm>
              <a:off x="37649" y="4972"/>
              <a:ext cx="6026" cy="2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验证集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AutoShape 48"/>
            <p:cNvSpPr>
              <a:spLocks noChangeShapeType="1"/>
            </p:cNvSpPr>
            <p:nvPr/>
          </p:nvSpPr>
          <p:spPr bwMode="auto">
            <a:xfrm flipH="1" flipV="1">
              <a:off x="33331" y="3962"/>
              <a:ext cx="4318" cy="24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</p:grpSp>
      <p:sp>
        <p:nvSpPr>
          <p:cNvPr id="22" name="Rectangle 29"/>
          <p:cNvSpPr>
            <a:spLocks noChangeArrowheads="1"/>
          </p:cNvSpPr>
          <p:nvPr/>
        </p:nvSpPr>
        <p:spPr bwMode="auto">
          <a:xfrm>
            <a:off x="674733" y="954760"/>
            <a:ext cx="4493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不使用机器学习的传统程序</a:t>
            </a:r>
            <a:endParaRPr kumimoji="0" lang="zh-CN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画布 160"/>
          <p:cNvGrpSpPr/>
          <p:nvPr/>
        </p:nvGrpSpPr>
        <p:grpSpPr bwMode="auto">
          <a:xfrm>
            <a:off x="298450" y="1651785"/>
            <a:ext cx="8638736" cy="3065358"/>
            <a:chOff x="1800" y="1464"/>
            <a:chExt cx="7750" cy="2751"/>
          </a:xfrm>
        </p:grpSpPr>
        <p:sp>
          <p:nvSpPr>
            <p:cNvPr id="4" name="AutoShape 20"/>
            <p:cNvSpPr>
              <a:spLocks noChangeAspect="1" noChangeArrowheads="1"/>
            </p:cNvSpPr>
            <p:nvPr/>
          </p:nvSpPr>
          <p:spPr bwMode="auto">
            <a:xfrm>
              <a:off x="1800" y="1464"/>
              <a:ext cx="7750" cy="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" name="Rectangle 19"/>
            <p:cNvSpPr>
              <a:spLocks noChangeArrowheads="1"/>
            </p:cNvSpPr>
            <p:nvPr/>
          </p:nvSpPr>
          <p:spPr bwMode="auto">
            <a:xfrm>
              <a:off x="1983" y="2462"/>
              <a:ext cx="1156" cy="4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研究问题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Rectangle 20"/>
            <p:cNvSpPr>
              <a:spLocks noChangeArrowheads="1"/>
            </p:cNvSpPr>
            <p:nvPr/>
          </p:nvSpPr>
          <p:spPr bwMode="auto">
            <a:xfrm>
              <a:off x="3735" y="2462"/>
              <a:ext cx="1725" cy="4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0" tIns="45720" rIns="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训练机器学习模型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Rectangle 21"/>
            <p:cNvSpPr>
              <a:spLocks noChangeArrowheads="1"/>
            </p:cNvSpPr>
            <p:nvPr/>
          </p:nvSpPr>
          <p:spPr bwMode="auto">
            <a:xfrm>
              <a:off x="3735" y="3739"/>
              <a:ext cx="1156" cy="4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分析错误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AutoShape 22"/>
            <p:cNvSpPr>
              <a:spLocks noChangeArrowheads="1"/>
            </p:cNvSpPr>
            <p:nvPr/>
          </p:nvSpPr>
          <p:spPr bwMode="auto">
            <a:xfrm>
              <a:off x="6115" y="2298"/>
              <a:ext cx="1330" cy="802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评估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AutoShape 23"/>
            <p:cNvSpPr>
              <a:spLocks noChangeShapeType="1"/>
            </p:cNvSpPr>
            <p:nvPr/>
          </p:nvSpPr>
          <p:spPr bwMode="auto">
            <a:xfrm>
              <a:off x="3139" y="2700"/>
              <a:ext cx="59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0" name="AutoShape 24"/>
            <p:cNvSpPr>
              <a:spLocks noChangeShapeType="1"/>
            </p:cNvSpPr>
            <p:nvPr/>
          </p:nvSpPr>
          <p:spPr bwMode="auto">
            <a:xfrm flipV="1">
              <a:off x="5460" y="2699"/>
              <a:ext cx="65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1" name="Rectangle 25"/>
            <p:cNvSpPr>
              <a:spLocks noChangeArrowheads="1"/>
            </p:cNvSpPr>
            <p:nvPr/>
          </p:nvSpPr>
          <p:spPr bwMode="auto">
            <a:xfrm>
              <a:off x="8394" y="2329"/>
              <a:ext cx="1156" cy="7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发布程序</a:t>
              </a:r>
              <a:br>
                <a:rPr kumimoji="0" lang="zh-CN" alt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kumimoji="0" lang="zh-CN" altLang="en-US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测试性能</a:t>
              </a:r>
              <a:endParaRPr kumimoji="0" lang="zh-CN" altLang="en-US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AutoShape 26"/>
            <p:cNvSpPr>
              <a:spLocks noChangeShapeType="1"/>
            </p:cNvSpPr>
            <p:nvPr/>
          </p:nvSpPr>
          <p:spPr bwMode="auto">
            <a:xfrm>
              <a:off x="7445" y="2699"/>
              <a:ext cx="949" cy="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3" name="AutoShape 27"/>
            <p:cNvSpPr>
              <a:spLocks noChangeShapeType="1"/>
            </p:cNvSpPr>
            <p:nvPr/>
          </p:nvSpPr>
          <p:spPr bwMode="auto">
            <a:xfrm rot="5400000">
              <a:off x="5397" y="2594"/>
              <a:ext cx="877" cy="1889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4" name="AutoShape 28"/>
            <p:cNvSpPr>
              <a:spLocks noChangeShapeType="1"/>
            </p:cNvSpPr>
            <p:nvPr/>
          </p:nvSpPr>
          <p:spPr bwMode="auto">
            <a:xfrm rot="10800000">
              <a:off x="2561" y="2938"/>
              <a:ext cx="1174" cy="1039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7501" y="2264"/>
              <a:ext cx="949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满意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6751" y="3182"/>
              <a:ext cx="949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不满意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4120" y="1464"/>
              <a:ext cx="949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训练集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AutoShape 32"/>
            <p:cNvSpPr>
              <a:spLocks noChangeShapeType="1"/>
            </p:cNvSpPr>
            <p:nvPr/>
          </p:nvSpPr>
          <p:spPr bwMode="auto">
            <a:xfrm>
              <a:off x="4597" y="1842"/>
              <a:ext cx="1" cy="6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9" name="Text Box 31"/>
            <p:cNvSpPr txBox="1">
              <a:spLocks noChangeArrowheads="1"/>
            </p:cNvSpPr>
            <p:nvPr/>
          </p:nvSpPr>
          <p:spPr bwMode="auto">
            <a:xfrm>
              <a:off x="6311" y="1464"/>
              <a:ext cx="949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验证集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AutoShape 32"/>
            <p:cNvSpPr>
              <a:spLocks noChangeShapeType="1"/>
            </p:cNvSpPr>
            <p:nvPr/>
          </p:nvSpPr>
          <p:spPr bwMode="auto">
            <a:xfrm flipH="1">
              <a:off x="6781" y="1912"/>
              <a:ext cx="5" cy="4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1" name="Text Box 31"/>
            <p:cNvSpPr txBox="1">
              <a:spLocks noChangeArrowheads="1"/>
            </p:cNvSpPr>
            <p:nvPr/>
          </p:nvSpPr>
          <p:spPr bwMode="auto">
            <a:xfrm>
              <a:off x="8496" y="3529"/>
              <a:ext cx="949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测试集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2" name="AutoShape 32"/>
            <p:cNvSpPr>
              <a:spLocks noChangeShapeType="1"/>
            </p:cNvSpPr>
            <p:nvPr/>
          </p:nvSpPr>
          <p:spPr bwMode="auto">
            <a:xfrm flipV="1">
              <a:off x="8971" y="3075"/>
              <a:ext cx="1" cy="4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</p:grp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589991" y="753998"/>
            <a:ext cx="34163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基于机器学习的方法</a:t>
            </a:r>
            <a:endParaRPr kumimoji="0" lang="zh-CN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机器学习的过程举例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和传统程序的区别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画布 18"/>
          <p:cNvGrpSpPr/>
          <p:nvPr/>
        </p:nvGrpSpPr>
        <p:grpSpPr bwMode="auto">
          <a:xfrm>
            <a:off x="456182" y="2316943"/>
            <a:ext cx="8231636" cy="2823029"/>
            <a:chOff x="0" y="0"/>
            <a:chExt cx="39624" cy="13589"/>
          </a:xfrm>
        </p:grpSpPr>
        <p:sp>
          <p:nvSpPr>
            <p:cNvPr id="4" name="AutoShape 1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39624" cy="13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 dirty="0"/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2287" y="0"/>
              <a:ext cx="10954" cy="30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0" tIns="45720" rIns="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更新数据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8644" y="8210"/>
              <a:ext cx="9906" cy="5379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评估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AutoShape 6"/>
            <p:cNvSpPr>
              <a:spLocks noChangeShapeType="1"/>
            </p:cNvSpPr>
            <p:nvPr/>
          </p:nvSpPr>
          <p:spPr bwMode="auto">
            <a:xfrm flipH="1">
              <a:off x="23241" y="1511"/>
              <a:ext cx="6724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8" name="AutoShape 7"/>
            <p:cNvSpPr>
              <a:spLocks noChangeShapeType="1"/>
            </p:cNvSpPr>
            <p:nvPr/>
          </p:nvSpPr>
          <p:spPr bwMode="auto">
            <a:xfrm>
              <a:off x="17767" y="3022"/>
              <a:ext cx="6" cy="63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9965" y="0"/>
              <a:ext cx="7341" cy="30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使用程序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AutoShape 9"/>
            <p:cNvSpPr>
              <a:spLocks noChangeShapeType="1"/>
            </p:cNvSpPr>
            <p:nvPr/>
          </p:nvSpPr>
          <p:spPr bwMode="auto">
            <a:xfrm flipV="1">
              <a:off x="33597" y="3022"/>
              <a:ext cx="38" cy="51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33597" y="4673"/>
              <a:ext cx="6027" cy="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满意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2287" y="9359"/>
              <a:ext cx="10954" cy="302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0" tIns="45720" rIns="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训练机器学习算法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2025" y="3549"/>
              <a:ext cx="5004" cy="5544"/>
            </a:xfrm>
            <a:prstGeom prst="flowChartMagneticDisk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AutoShape 13"/>
            <p:cNvSpPr>
              <a:spLocks noChangeShapeType="1"/>
            </p:cNvSpPr>
            <p:nvPr/>
          </p:nvSpPr>
          <p:spPr bwMode="auto">
            <a:xfrm flipH="1">
              <a:off x="7029" y="1511"/>
              <a:ext cx="5258" cy="48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5" name="AutoShape 14"/>
            <p:cNvSpPr>
              <a:spLocks noChangeShapeType="1"/>
            </p:cNvSpPr>
            <p:nvPr/>
          </p:nvSpPr>
          <p:spPr bwMode="auto">
            <a:xfrm>
              <a:off x="7029" y="6324"/>
              <a:ext cx="5258" cy="454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6" name="AutoShape 15"/>
            <p:cNvSpPr>
              <a:spLocks noChangeShapeType="1"/>
            </p:cNvSpPr>
            <p:nvPr/>
          </p:nvSpPr>
          <p:spPr bwMode="auto">
            <a:xfrm>
              <a:off x="23241" y="10871"/>
              <a:ext cx="5403" cy="3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1520" y="4673"/>
              <a:ext cx="10611" cy="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能够自动进行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699839" y="1065969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机器学习方法能自动适应改变</a:t>
            </a:r>
            <a:endParaRPr kumimoji="0" lang="zh-CN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机器学习的过程举例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和传统程序的区别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过程举例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训练集、验证集和测试集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训练集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、验证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集，测试集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样本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</a:t>
            </a: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为训练数据和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测试数据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测试数据即</a:t>
            </a: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为测试集，是需要应用模型进行预测的那部分数据，是机器学习所有工作的最终服务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对象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为了</a:t>
            </a: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防止训练出来的模型只对训练数据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有效，</a:t>
            </a: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一般将训练数据又分为训练集和验证集，训练集用来训练模型，而验证集一般只用来验证模型的有效性，不参与模型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102" y="1455370"/>
            <a:ext cx="4945223" cy="241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4684501" cy="577397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训练集、验证集、测试集</a:t>
            </a:r>
            <a:endParaRPr lang="en-US" altLang="zh-CN" sz="24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有监督机器学习是从已有的样本中学习规律，并用来预测未知样本。它是基于这样一个假设：已有样本和未知样本中蕴含了的相同规律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。同样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，将已有的样本划分为训练集和验证集，也是基于这样的假设，即训练集蕴含的规律与验证集中蕴含的规律也是一致的，因此，可以用训练集来训练模型，用验证集来验证模型，达到希望的效果后，再用来预测测试集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1"/>
          <p:cNvSpPr txBox="1"/>
          <p:nvPr/>
        </p:nvSpPr>
        <p:spPr>
          <a:xfrm>
            <a:off x="6791621" y="6464141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1BEBC7A-FD02-486B-81B5-A845787C689C}" type="slidenum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4952" name="Picture 2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982" y="1281941"/>
            <a:ext cx="4029075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过程举例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训练集、验证集和测试集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2" y="681693"/>
            <a:ext cx="8311278" cy="577397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训练集、验证集的要求</a:t>
            </a:r>
            <a:endParaRPr lang="en-US" altLang="zh-CN" sz="24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首先，训练集的数据要尽可能充分且分布平衡，并符合一定的清洁度要求（即噪声不能过多）。不充分或者分布不平衡的样本集，可能不会训练出一个完整的模型。其次，验证集的样本也需要符合一定的平衡分布和清洁度要求，否则将无法验证出一个真实的模型。此外，训练模型和验证模型的样本不能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相同。</a:t>
            </a:r>
            <a:endParaRPr lang="zh-CN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1"/>
          <p:cNvSpPr txBox="1"/>
          <p:nvPr/>
        </p:nvSpPr>
        <p:spPr>
          <a:xfrm>
            <a:off x="6791621" y="6464141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1BEBC7A-FD02-486B-81B5-A845787C689C}" type="slidenum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5998" name="Picture 4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2" y="4486275"/>
            <a:ext cx="41148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6000" name="Picture 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071" y="4486275"/>
            <a:ext cx="42291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过程举例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训练集、验证集和测试集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2" y="681693"/>
            <a:ext cx="8311278" cy="577397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保持法、</a:t>
            </a:r>
            <a:r>
              <a:rPr lang="en-US" altLang="zh-CN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K-</a:t>
            </a: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折交叉验证</a:t>
            </a:r>
            <a:endParaRPr lang="en-US" altLang="zh-CN" sz="24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将训练数据划分为训练集和验证集的方法称为保持法（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holdout method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），一般保留已知样本的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20%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30%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作为验证集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K-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折交叉验证是将总样本集随机地划分为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互不相交的子集。对于每个子集，将所有其它样本集作为训练集训练出模型，将该子集作为验证集，并记录验证集每一个样本的预测结果。每个子集都这样处理完后，所有样本都有一个预测值。然后与真实值进行比对，从而评估模型的效果。这个方法将每一个样本都用来进行了验证，其评估的准确性一般要高于保持法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1"/>
          <p:cNvSpPr txBox="1"/>
          <p:nvPr/>
        </p:nvSpPr>
        <p:spPr>
          <a:xfrm>
            <a:off x="6791621" y="6464141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1BEBC7A-FD02-486B-81B5-A845787C689C}" type="slidenum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b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过程举例</a:t>
            </a:r>
            <a:r>
              <a:rPr lang="en-US" altLang="zh-CN" sz="2800" b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训练集、验证集和测试集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评估机器学习模型的效果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画布 112"/>
          <p:cNvGrpSpPr/>
          <p:nvPr/>
        </p:nvGrpSpPr>
        <p:grpSpPr bwMode="auto">
          <a:xfrm>
            <a:off x="150493" y="828740"/>
            <a:ext cx="5375915" cy="4055663"/>
            <a:chOff x="0" y="0"/>
            <a:chExt cx="26625" cy="20096"/>
          </a:xfrm>
        </p:grpSpPr>
        <p:sp>
          <p:nvSpPr>
            <p:cNvPr id="6" name="AutoShape 33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26625" cy="19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7" name="AutoShape 4"/>
            <p:cNvSpPr>
              <a:spLocks noChangeShapeType="1"/>
            </p:cNvSpPr>
            <p:nvPr/>
          </p:nvSpPr>
          <p:spPr bwMode="auto">
            <a:xfrm>
              <a:off x="3300" y="17272"/>
              <a:ext cx="2277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8" name="AutoShape 5"/>
            <p:cNvSpPr>
              <a:spLocks noChangeShapeType="1"/>
            </p:cNvSpPr>
            <p:nvPr/>
          </p:nvSpPr>
          <p:spPr bwMode="auto">
            <a:xfrm flipV="1">
              <a:off x="4544" y="0"/>
              <a:ext cx="0" cy="18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6208" y="14865"/>
              <a:ext cx="540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7732" y="16389"/>
              <a:ext cx="540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6208" y="11334"/>
              <a:ext cx="540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8272" y="13398"/>
              <a:ext cx="539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12844" y="16389"/>
              <a:ext cx="546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11447" y="14319"/>
              <a:ext cx="539" cy="54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7065" y="9798"/>
              <a:ext cx="540" cy="5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9700" y="11779"/>
              <a:ext cx="534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7" name="Oval 14"/>
            <p:cNvSpPr>
              <a:spLocks noChangeArrowheads="1"/>
            </p:cNvSpPr>
            <p:nvPr/>
          </p:nvSpPr>
          <p:spPr bwMode="auto">
            <a:xfrm>
              <a:off x="14272" y="14319"/>
              <a:ext cx="540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8811" y="3054"/>
              <a:ext cx="540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14812" y="7334"/>
              <a:ext cx="540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19924" y="5473"/>
              <a:ext cx="540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17593" y="4965"/>
              <a:ext cx="540" cy="53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21619" y="7899"/>
              <a:ext cx="546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14272" y="2489"/>
              <a:ext cx="540" cy="53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18133" y="7334"/>
              <a:ext cx="540" cy="52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2165" y="5448"/>
              <a:ext cx="546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15130" y="3848"/>
              <a:ext cx="539" cy="53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11986" y="2482"/>
              <a:ext cx="546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20464" y="17245"/>
              <a:ext cx="6146" cy="2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长度</a:t>
              </a:r>
              <a:endParaRPr kumimoji="0" lang="zh-CN" altLang="zh-CN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340" y="0"/>
              <a:ext cx="4953" cy="2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质量</a:t>
              </a:r>
              <a:endParaRPr kumimoji="0" lang="zh-CN" altLang="zh-CN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Oval 28"/>
            <p:cNvSpPr>
              <a:spLocks noChangeArrowheads="1"/>
            </p:cNvSpPr>
            <p:nvPr/>
          </p:nvSpPr>
          <p:spPr bwMode="auto">
            <a:xfrm>
              <a:off x="17054" y="14706"/>
              <a:ext cx="539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19695" y="10331"/>
              <a:ext cx="546" cy="54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>
              <a:off x="12532" y="11874"/>
              <a:ext cx="540" cy="54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0548" y="4944"/>
              <a:ext cx="3422" cy="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▲</a:t>
              </a:r>
              <a:endPara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8811" y="3806"/>
              <a:ext cx="6139" cy="2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新样本</a:t>
              </a:r>
              <a:endParaRPr kumimoji="0" lang="zh-CN" altLang="zh-CN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任意多边形 114"/>
            <p:cNvSpPr/>
            <p:nvPr/>
          </p:nvSpPr>
          <p:spPr bwMode="auto">
            <a:xfrm>
              <a:off x="4981" y="1637"/>
              <a:ext cx="18220" cy="14273"/>
            </a:xfrm>
            <a:custGeom>
              <a:avLst/>
              <a:gdLst>
                <a:gd name="T0" fmla="*/ 0 w 1821976"/>
                <a:gd name="T1" fmla="*/ 0 h 1427289"/>
                <a:gd name="T2" fmla="*/ 6824 w 1821976"/>
                <a:gd name="T3" fmla="*/ 61415 h 1427289"/>
                <a:gd name="T4" fmla="*/ 20471 w 1821976"/>
                <a:gd name="T5" fmla="*/ 109182 h 1427289"/>
                <a:gd name="T6" fmla="*/ 27295 w 1821976"/>
                <a:gd name="T7" fmla="*/ 136478 h 1427289"/>
                <a:gd name="T8" fmla="*/ 34119 w 1821976"/>
                <a:gd name="T9" fmla="*/ 156949 h 1427289"/>
                <a:gd name="T10" fmla="*/ 40943 w 1821976"/>
                <a:gd name="T11" fmla="*/ 191069 h 1427289"/>
                <a:gd name="T12" fmla="*/ 47767 w 1821976"/>
                <a:gd name="T13" fmla="*/ 341194 h 1427289"/>
                <a:gd name="T14" fmla="*/ 54591 w 1821976"/>
                <a:gd name="T15" fmla="*/ 375314 h 1427289"/>
                <a:gd name="T16" fmla="*/ 61415 w 1821976"/>
                <a:gd name="T17" fmla="*/ 416257 h 1427289"/>
                <a:gd name="T18" fmla="*/ 68238 w 1821976"/>
                <a:gd name="T19" fmla="*/ 689212 h 1427289"/>
                <a:gd name="T20" fmla="*/ 75062 w 1821976"/>
                <a:gd name="T21" fmla="*/ 730155 h 1427289"/>
                <a:gd name="T22" fmla="*/ 88710 w 1821976"/>
                <a:gd name="T23" fmla="*/ 750627 h 1427289"/>
                <a:gd name="T24" fmla="*/ 95534 w 1821976"/>
                <a:gd name="T25" fmla="*/ 771099 h 1427289"/>
                <a:gd name="T26" fmla="*/ 136477 w 1821976"/>
                <a:gd name="T27" fmla="*/ 805218 h 1427289"/>
                <a:gd name="T28" fmla="*/ 197892 w 1821976"/>
                <a:gd name="T29" fmla="*/ 798394 h 1427289"/>
                <a:gd name="T30" fmla="*/ 232012 w 1821976"/>
                <a:gd name="T31" fmla="*/ 757451 h 1427289"/>
                <a:gd name="T32" fmla="*/ 252483 w 1821976"/>
                <a:gd name="T33" fmla="*/ 750627 h 1427289"/>
                <a:gd name="T34" fmla="*/ 361665 w 1821976"/>
                <a:gd name="T35" fmla="*/ 757451 h 1427289"/>
                <a:gd name="T36" fmla="*/ 382137 w 1821976"/>
                <a:gd name="T37" fmla="*/ 771099 h 1427289"/>
                <a:gd name="T38" fmla="*/ 429904 w 1821976"/>
                <a:gd name="T39" fmla="*/ 825690 h 1427289"/>
                <a:gd name="T40" fmla="*/ 470847 w 1821976"/>
                <a:gd name="T41" fmla="*/ 839338 h 1427289"/>
                <a:gd name="T42" fmla="*/ 511791 w 1821976"/>
                <a:gd name="T43" fmla="*/ 852985 h 1427289"/>
                <a:gd name="T44" fmla="*/ 532262 w 1821976"/>
                <a:gd name="T45" fmla="*/ 859809 h 1427289"/>
                <a:gd name="T46" fmla="*/ 566382 w 1821976"/>
                <a:gd name="T47" fmla="*/ 866633 h 1427289"/>
                <a:gd name="T48" fmla="*/ 593677 w 1821976"/>
                <a:gd name="T49" fmla="*/ 873457 h 1427289"/>
                <a:gd name="T50" fmla="*/ 661916 w 1821976"/>
                <a:gd name="T51" fmla="*/ 887105 h 1427289"/>
                <a:gd name="T52" fmla="*/ 702859 w 1821976"/>
                <a:gd name="T53" fmla="*/ 900752 h 1427289"/>
                <a:gd name="T54" fmla="*/ 743803 w 1821976"/>
                <a:gd name="T55" fmla="*/ 914400 h 1427289"/>
                <a:gd name="T56" fmla="*/ 805218 w 1821976"/>
                <a:gd name="T57" fmla="*/ 928048 h 1427289"/>
                <a:gd name="T58" fmla="*/ 846161 w 1821976"/>
                <a:gd name="T59" fmla="*/ 941696 h 1427289"/>
                <a:gd name="T60" fmla="*/ 893928 w 1821976"/>
                <a:gd name="T61" fmla="*/ 955343 h 1427289"/>
                <a:gd name="T62" fmla="*/ 934871 w 1821976"/>
                <a:gd name="T63" fmla="*/ 968991 h 1427289"/>
                <a:gd name="T64" fmla="*/ 975815 w 1821976"/>
                <a:gd name="T65" fmla="*/ 982639 h 1427289"/>
                <a:gd name="T66" fmla="*/ 1016758 w 1821976"/>
                <a:gd name="T67" fmla="*/ 996287 h 1427289"/>
                <a:gd name="T68" fmla="*/ 1037230 w 1821976"/>
                <a:gd name="T69" fmla="*/ 1003111 h 1427289"/>
                <a:gd name="T70" fmla="*/ 1098644 w 1821976"/>
                <a:gd name="T71" fmla="*/ 1030406 h 1427289"/>
                <a:gd name="T72" fmla="*/ 1119116 w 1821976"/>
                <a:gd name="T73" fmla="*/ 1037230 h 1427289"/>
                <a:gd name="T74" fmla="*/ 1139588 w 1821976"/>
                <a:gd name="T75" fmla="*/ 1044054 h 1427289"/>
                <a:gd name="T76" fmla="*/ 1160059 w 1821976"/>
                <a:gd name="T77" fmla="*/ 1057702 h 1427289"/>
                <a:gd name="T78" fmla="*/ 1201003 w 1821976"/>
                <a:gd name="T79" fmla="*/ 1071349 h 1427289"/>
                <a:gd name="T80" fmla="*/ 1262418 w 1821976"/>
                <a:gd name="T81" fmla="*/ 1105469 h 1427289"/>
                <a:gd name="T82" fmla="*/ 1269241 w 1821976"/>
                <a:gd name="T83" fmla="*/ 1125940 h 1427289"/>
                <a:gd name="T84" fmla="*/ 1289713 w 1821976"/>
                <a:gd name="T85" fmla="*/ 1132764 h 1427289"/>
                <a:gd name="T86" fmla="*/ 1310185 w 1821976"/>
                <a:gd name="T87" fmla="*/ 1146412 h 1427289"/>
                <a:gd name="T88" fmla="*/ 1351128 w 1821976"/>
                <a:gd name="T89" fmla="*/ 1160060 h 1427289"/>
                <a:gd name="T90" fmla="*/ 1371600 w 1821976"/>
                <a:gd name="T91" fmla="*/ 1173708 h 1427289"/>
                <a:gd name="T92" fmla="*/ 1392071 w 1821976"/>
                <a:gd name="T93" fmla="*/ 1180532 h 1427289"/>
                <a:gd name="T94" fmla="*/ 1433015 w 1821976"/>
                <a:gd name="T95" fmla="*/ 1207827 h 1427289"/>
                <a:gd name="T96" fmla="*/ 1473958 w 1821976"/>
                <a:gd name="T97" fmla="*/ 1221475 h 1427289"/>
                <a:gd name="T98" fmla="*/ 1521725 w 1821976"/>
                <a:gd name="T99" fmla="*/ 1248770 h 1427289"/>
                <a:gd name="T100" fmla="*/ 1562668 w 1821976"/>
                <a:gd name="T101" fmla="*/ 1276066 h 1427289"/>
                <a:gd name="T102" fmla="*/ 1583140 w 1821976"/>
                <a:gd name="T103" fmla="*/ 1289714 h 1427289"/>
                <a:gd name="T104" fmla="*/ 1624083 w 1821976"/>
                <a:gd name="T105" fmla="*/ 1310185 h 1427289"/>
                <a:gd name="T106" fmla="*/ 1637731 w 1821976"/>
                <a:gd name="T107" fmla="*/ 1330657 h 1427289"/>
                <a:gd name="T108" fmla="*/ 1678674 w 1821976"/>
                <a:gd name="T109" fmla="*/ 1344305 h 1427289"/>
                <a:gd name="T110" fmla="*/ 1719618 w 1821976"/>
                <a:gd name="T111" fmla="*/ 1364776 h 1427289"/>
                <a:gd name="T112" fmla="*/ 1740089 w 1821976"/>
                <a:gd name="T113" fmla="*/ 1378424 h 1427289"/>
                <a:gd name="T114" fmla="*/ 1760561 w 1821976"/>
                <a:gd name="T115" fmla="*/ 1385248 h 1427289"/>
                <a:gd name="T116" fmla="*/ 1774209 w 1821976"/>
                <a:gd name="T117" fmla="*/ 1405720 h 1427289"/>
                <a:gd name="T118" fmla="*/ 1821976 w 1821976"/>
                <a:gd name="T119" fmla="*/ 1426191 h 142728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821976" h="1427289">
                  <a:moveTo>
                    <a:pt x="0" y="0"/>
                  </a:moveTo>
                  <a:cubicBezTo>
                    <a:pt x="2275" y="20472"/>
                    <a:pt x="3692" y="41057"/>
                    <a:pt x="6824" y="61415"/>
                  </a:cubicBezTo>
                  <a:cubicBezTo>
                    <a:pt x="10381" y="84537"/>
                    <a:pt x="14524" y="88367"/>
                    <a:pt x="20471" y="109182"/>
                  </a:cubicBezTo>
                  <a:cubicBezTo>
                    <a:pt x="23048" y="118200"/>
                    <a:pt x="24718" y="127460"/>
                    <a:pt x="27295" y="136478"/>
                  </a:cubicBezTo>
                  <a:cubicBezTo>
                    <a:pt x="29271" y="143394"/>
                    <a:pt x="32374" y="149971"/>
                    <a:pt x="34119" y="156949"/>
                  </a:cubicBezTo>
                  <a:cubicBezTo>
                    <a:pt x="36932" y="168201"/>
                    <a:pt x="38668" y="179696"/>
                    <a:pt x="40943" y="191069"/>
                  </a:cubicBezTo>
                  <a:cubicBezTo>
                    <a:pt x="43218" y="241111"/>
                    <a:pt x="44066" y="291238"/>
                    <a:pt x="47767" y="341194"/>
                  </a:cubicBezTo>
                  <a:cubicBezTo>
                    <a:pt x="48624" y="352761"/>
                    <a:pt x="52516" y="363903"/>
                    <a:pt x="54591" y="375314"/>
                  </a:cubicBezTo>
                  <a:cubicBezTo>
                    <a:pt x="57066" y="388927"/>
                    <a:pt x="59140" y="402609"/>
                    <a:pt x="61415" y="416257"/>
                  </a:cubicBezTo>
                  <a:cubicBezTo>
                    <a:pt x="63689" y="507242"/>
                    <a:pt x="64285" y="598284"/>
                    <a:pt x="68238" y="689212"/>
                  </a:cubicBezTo>
                  <a:cubicBezTo>
                    <a:pt x="68839" y="703035"/>
                    <a:pt x="70687" y="717029"/>
                    <a:pt x="75062" y="730155"/>
                  </a:cubicBezTo>
                  <a:cubicBezTo>
                    <a:pt x="77656" y="737936"/>
                    <a:pt x="85042" y="743291"/>
                    <a:pt x="88710" y="750627"/>
                  </a:cubicBezTo>
                  <a:cubicBezTo>
                    <a:pt x="91927" y="757061"/>
                    <a:pt x="91544" y="765114"/>
                    <a:pt x="95534" y="771099"/>
                  </a:cubicBezTo>
                  <a:cubicBezTo>
                    <a:pt x="106041" y="786859"/>
                    <a:pt x="121374" y="795149"/>
                    <a:pt x="136477" y="805218"/>
                  </a:cubicBezTo>
                  <a:cubicBezTo>
                    <a:pt x="156949" y="802943"/>
                    <a:pt x="178351" y="804907"/>
                    <a:pt x="197892" y="798394"/>
                  </a:cubicBezTo>
                  <a:cubicBezTo>
                    <a:pt x="220171" y="790968"/>
                    <a:pt x="216404" y="769938"/>
                    <a:pt x="232012" y="757451"/>
                  </a:cubicBezTo>
                  <a:cubicBezTo>
                    <a:pt x="237629" y="752958"/>
                    <a:pt x="245659" y="752902"/>
                    <a:pt x="252483" y="750627"/>
                  </a:cubicBezTo>
                  <a:cubicBezTo>
                    <a:pt x="288877" y="752902"/>
                    <a:pt x="325646" y="751764"/>
                    <a:pt x="361665" y="757451"/>
                  </a:cubicBezTo>
                  <a:cubicBezTo>
                    <a:pt x="369766" y="758730"/>
                    <a:pt x="376736" y="764927"/>
                    <a:pt x="382137" y="771099"/>
                  </a:cubicBezTo>
                  <a:cubicBezTo>
                    <a:pt x="408555" y="801291"/>
                    <a:pt x="398498" y="811731"/>
                    <a:pt x="429904" y="825690"/>
                  </a:cubicBezTo>
                  <a:cubicBezTo>
                    <a:pt x="443050" y="831533"/>
                    <a:pt x="457199" y="834789"/>
                    <a:pt x="470847" y="839338"/>
                  </a:cubicBezTo>
                  <a:lnTo>
                    <a:pt x="511791" y="852985"/>
                  </a:lnTo>
                  <a:cubicBezTo>
                    <a:pt x="518615" y="855260"/>
                    <a:pt x="525209" y="858398"/>
                    <a:pt x="532262" y="859809"/>
                  </a:cubicBezTo>
                  <a:cubicBezTo>
                    <a:pt x="543635" y="862084"/>
                    <a:pt x="555060" y="864117"/>
                    <a:pt x="566382" y="866633"/>
                  </a:cubicBezTo>
                  <a:cubicBezTo>
                    <a:pt x="575537" y="868667"/>
                    <a:pt x="584507" y="871492"/>
                    <a:pt x="593677" y="873457"/>
                  </a:cubicBezTo>
                  <a:cubicBezTo>
                    <a:pt x="616359" y="878318"/>
                    <a:pt x="639170" y="882556"/>
                    <a:pt x="661916" y="887105"/>
                  </a:cubicBezTo>
                  <a:cubicBezTo>
                    <a:pt x="676022" y="889926"/>
                    <a:pt x="689211" y="896203"/>
                    <a:pt x="702859" y="900752"/>
                  </a:cubicBezTo>
                  <a:lnTo>
                    <a:pt x="743803" y="914400"/>
                  </a:lnTo>
                  <a:cubicBezTo>
                    <a:pt x="771385" y="923594"/>
                    <a:pt x="775463" y="919933"/>
                    <a:pt x="805218" y="928048"/>
                  </a:cubicBezTo>
                  <a:cubicBezTo>
                    <a:pt x="819097" y="931833"/>
                    <a:pt x="832513" y="937147"/>
                    <a:pt x="846161" y="941696"/>
                  </a:cubicBezTo>
                  <a:cubicBezTo>
                    <a:pt x="914959" y="964629"/>
                    <a:pt x="808242" y="929638"/>
                    <a:pt x="893928" y="955343"/>
                  </a:cubicBezTo>
                  <a:cubicBezTo>
                    <a:pt x="907707" y="959477"/>
                    <a:pt x="921223" y="964442"/>
                    <a:pt x="934871" y="968991"/>
                  </a:cubicBezTo>
                  <a:lnTo>
                    <a:pt x="975815" y="982639"/>
                  </a:lnTo>
                  <a:lnTo>
                    <a:pt x="1016758" y="996287"/>
                  </a:lnTo>
                  <a:cubicBezTo>
                    <a:pt x="1023582" y="998562"/>
                    <a:pt x="1031245" y="999121"/>
                    <a:pt x="1037230" y="1003111"/>
                  </a:cubicBezTo>
                  <a:cubicBezTo>
                    <a:pt x="1069671" y="1024738"/>
                    <a:pt x="1049921" y="1014165"/>
                    <a:pt x="1098644" y="1030406"/>
                  </a:cubicBezTo>
                  <a:lnTo>
                    <a:pt x="1119116" y="1037230"/>
                  </a:lnTo>
                  <a:lnTo>
                    <a:pt x="1139588" y="1044054"/>
                  </a:lnTo>
                  <a:cubicBezTo>
                    <a:pt x="1146412" y="1048603"/>
                    <a:pt x="1152565" y="1054371"/>
                    <a:pt x="1160059" y="1057702"/>
                  </a:cubicBezTo>
                  <a:cubicBezTo>
                    <a:pt x="1173205" y="1063545"/>
                    <a:pt x="1201003" y="1071349"/>
                    <a:pt x="1201003" y="1071349"/>
                  </a:cubicBezTo>
                  <a:cubicBezTo>
                    <a:pt x="1247931" y="1102635"/>
                    <a:pt x="1226385" y="1093458"/>
                    <a:pt x="1262418" y="1105469"/>
                  </a:cubicBezTo>
                  <a:cubicBezTo>
                    <a:pt x="1264692" y="1112293"/>
                    <a:pt x="1264155" y="1120854"/>
                    <a:pt x="1269241" y="1125940"/>
                  </a:cubicBezTo>
                  <a:cubicBezTo>
                    <a:pt x="1274327" y="1131026"/>
                    <a:pt x="1283279" y="1129547"/>
                    <a:pt x="1289713" y="1132764"/>
                  </a:cubicBezTo>
                  <a:cubicBezTo>
                    <a:pt x="1297049" y="1136432"/>
                    <a:pt x="1302690" y="1143081"/>
                    <a:pt x="1310185" y="1146412"/>
                  </a:cubicBezTo>
                  <a:cubicBezTo>
                    <a:pt x="1323331" y="1152255"/>
                    <a:pt x="1351128" y="1160060"/>
                    <a:pt x="1351128" y="1160060"/>
                  </a:cubicBezTo>
                  <a:cubicBezTo>
                    <a:pt x="1357952" y="1164609"/>
                    <a:pt x="1364264" y="1170040"/>
                    <a:pt x="1371600" y="1173708"/>
                  </a:cubicBezTo>
                  <a:cubicBezTo>
                    <a:pt x="1378033" y="1176925"/>
                    <a:pt x="1385783" y="1177039"/>
                    <a:pt x="1392071" y="1180532"/>
                  </a:cubicBezTo>
                  <a:cubicBezTo>
                    <a:pt x="1406410" y="1188498"/>
                    <a:pt x="1419367" y="1198729"/>
                    <a:pt x="1433015" y="1207827"/>
                  </a:cubicBezTo>
                  <a:cubicBezTo>
                    <a:pt x="1444985" y="1215807"/>
                    <a:pt x="1473958" y="1221475"/>
                    <a:pt x="1473958" y="1221475"/>
                  </a:cubicBezTo>
                  <a:cubicBezTo>
                    <a:pt x="1544787" y="1268694"/>
                    <a:pt x="1435135" y="1196816"/>
                    <a:pt x="1521725" y="1248770"/>
                  </a:cubicBezTo>
                  <a:cubicBezTo>
                    <a:pt x="1535790" y="1257209"/>
                    <a:pt x="1549020" y="1266967"/>
                    <a:pt x="1562668" y="1276066"/>
                  </a:cubicBezTo>
                  <a:cubicBezTo>
                    <a:pt x="1569492" y="1280615"/>
                    <a:pt x="1575359" y="1287120"/>
                    <a:pt x="1583140" y="1289714"/>
                  </a:cubicBezTo>
                  <a:cubicBezTo>
                    <a:pt x="1611392" y="1299131"/>
                    <a:pt x="1597627" y="1292548"/>
                    <a:pt x="1624083" y="1310185"/>
                  </a:cubicBezTo>
                  <a:cubicBezTo>
                    <a:pt x="1628632" y="1317009"/>
                    <a:pt x="1630776" y="1326310"/>
                    <a:pt x="1637731" y="1330657"/>
                  </a:cubicBezTo>
                  <a:cubicBezTo>
                    <a:pt x="1649930" y="1338282"/>
                    <a:pt x="1666704" y="1336326"/>
                    <a:pt x="1678674" y="1344305"/>
                  </a:cubicBezTo>
                  <a:cubicBezTo>
                    <a:pt x="1705131" y="1361942"/>
                    <a:pt x="1691366" y="1355359"/>
                    <a:pt x="1719618" y="1364776"/>
                  </a:cubicBezTo>
                  <a:cubicBezTo>
                    <a:pt x="1726442" y="1369325"/>
                    <a:pt x="1732754" y="1374756"/>
                    <a:pt x="1740089" y="1378424"/>
                  </a:cubicBezTo>
                  <a:cubicBezTo>
                    <a:pt x="1746523" y="1381641"/>
                    <a:pt x="1754944" y="1380754"/>
                    <a:pt x="1760561" y="1385248"/>
                  </a:cubicBezTo>
                  <a:cubicBezTo>
                    <a:pt x="1766965" y="1390371"/>
                    <a:pt x="1767254" y="1401373"/>
                    <a:pt x="1774209" y="1405720"/>
                  </a:cubicBezTo>
                  <a:cubicBezTo>
                    <a:pt x="1852422" y="1454603"/>
                    <a:pt x="1797328" y="1401543"/>
                    <a:pt x="1821976" y="1426191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 sz="4000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4811" y="14319"/>
              <a:ext cx="8390" cy="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en-US" altLang="zh-CN" sz="2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牙签</a:t>
              </a:r>
              <a:endParaRPr kumimoji="0" lang="zh-CN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Text Box 32"/>
            <p:cNvSpPr txBox="1">
              <a:spLocks noChangeArrowheads="1"/>
            </p:cNvSpPr>
            <p:nvPr/>
          </p:nvSpPr>
          <p:spPr bwMode="auto">
            <a:xfrm>
              <a:off x="17591" y="1504"/>
              <a:ext cx="8486" cy="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en-US" altLang="zh-CN" sz="2800" b="0" i="0" u="none" strike="noStrike" cap="none" normalizeH="0" baseline="-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筷子</a:t>
              </a:r>
              <a:endParaRPr kumimoji="0" lang="zh-CN" alt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41" name="Rectangle 41"/>
          <p:cNvSpPr>
            <a:spLocks noChangeArrowheads="1"/>
          </p:cNvSpPr>
          <p:nvPr/>
        </p:nvSpPr>
        <p:spPr bwMode="auto">
          <a:xfrm>
            <a:off x="425299" y="4769369"/>
            <a:ext cx="46939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1-6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为适应特样本而修改分类线为曲线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23380" y="1005157"/>
            <a:ext cx="3520982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400" dirty="0"/>
              <a:t>训练模型的最终目的是提高模型在总体（含新样本）上的预测准确率，而不是在已知样本上的预测准确率</a:t>
            </a:r>
            <a:r>
              <a:rPr lang="zh-CN" altLang="zh-CN" sz="2400" dirty="0" smtClean="0"/>
              <a:t>。</a:t>
            </a:r>
            <a:endParaRPr lang="zh-CN" altLang="zh-CN" sz="2400" dirty="0"/>
          </a:p>
        </p:txBody>
      </p:sp>
      <p:sp>
        <p:nvSpPr>
          <p:cNvPr id="43" name="矩形 42"/>
          <p:cNvSpPr/>
          <p:nvPr/>
        </p:nvSpPr>
        <p:spPr>
          <a:xfrm>
            <a:off x="425299" y="5279580"/>
            <a:ext cx="831137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/>
              <a:t>泛化能力是评价机器学习模型优劣的最根本指标，然而，模型的训练通常以最小化训练误差为标准。对于固定数量的训练样本，随着训练的不断进行，训练误差会不断降低，甚至趋向于零。如果模型训练误差过小，就会使训练出来的模型基本上完全适应于训练样本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2.1.4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评估机器学习模型的效果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画布 144"/>
          <p:cNvGrpSpPr/>
          <p:nvPr/>
        </p:nvGrpSpPr>
        <p:grpSpPr bwMode="auto">
          <a:xfrm>
            <a:off x="470898" y="1005234"/>
            <a:ext cx="5103235" cy="3850235"/>
            <a:chOff x="3853" y="5845"/>
            <a:chExt cx="4194" cy="3165"/>
          </a:xfrm>
        </p:grpSpPr>
        <p:sp>
          <p:nvSpPr>
            <p:cNvPr id="45" name="AutoShape 37"/>
            <p:cNvSpPr>
              <a:spLocks noChangeAspect="1" noChangeArrowheads="1"/>
            </p:cNvSpPr>
            <p:nvPr/>
          </p:nvSpPr>
          <p:spPr bwMode="auto">
            <a:xfrm>
              <a:off x="3853" y="5845"/>
              <a:ext cx="4194" cy="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6" name="AutoShape 4"/>
            <p:cNvSpPr>
              <a:spLocks noChangeShapeType="1"/>
            </p:cNvSpPr>
            <p:nvPr/>
          </p:nvSpPr>
          <p:spPr bwMode="auto">
            <a:xfrm>
              <a:off x="4373" y="8565"/>
              <a:ext cx="358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7" name="AutoShape 5"/>
            <p:cNvSpPr>
              <a:spLocks noChangeShapeType="1"/>
            </p:cNvSpPr>
            <p:nvPr/>
          </p:nvSpPr>
          <p:spPr bwMode="auto">
            <a:xfrm flipV="1">
              <a:off x="4569" y="5845"/>
              <a:ext cx="0" cy="29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8" name="Oval 6"/>
            <p:cNvSpPr>
              <a:spLocks noChangeArrowheads="1"/>
            </p:cNvSpPr>
            <p:nvPr/>
          </p:nvSpPr>
          <p:spPr bwMode="auto">
            <a:xfrm>
              <a:off x="4831" y="8186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49" name="Oval 7"/>
            <p:cNvSpPr>
              <a:spLocks noChangeArrowheads="1"/>
            </p:cNvSpPr>
            <p:nvPr/>
          </p:nvSpPr>
          <p:spPr bwMode="auto">
            <a:xfrm>
              <a:off x="5071" y="8426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4831" y="7630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1" name="Oval 9"/>
            <p:cNvSpPr>
              <a:spLocks noChangeArrowheads="1"/>
            </p:cNvSpPr>
            <p:nvPr/>
          </p:nvSpPr>
          <p:spPr bwMode="auto">
            <a:xfrm>
              <a:off x="5156" y="7955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5876" y="8426"/>
              <a:ext cx="86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5656" y="8100"/>
              <a:ext cx="85" cy="86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966" y="7388"/>
              <a:ext cx="85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5" name="Oval 13"/>
            <p:cNvSpPr>
              <a:spLocks noChangeArrowheads="1"/>
            </p:cNvSpPr>
            <p:nvPr/>
          </p:nvSpPr>
          <p:spPr bwMode="auto">
            <a:xfrm>
              <a:off x="5381" y="7700"/>
              <a:ext cx="84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6" name="Oval 14"/>
            <p:cNvSpPr>
              <a:spLocks noChangeArrowheads="1"/>
            </p:cNvSpPr>
            <p:nvPr/>
          </p:nvSpPr>
          <p:spPr bwMode="auto">
            <a:xfrm>
              <a:off x="6101" y="8100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7" name="Rectangle 15"/>
            <p:cNvSpPr>
              <a:spLocks noChangeArrowheads="1"/>
            </p:cNvSpPr>
            <p:nvPr/>
          </p:nvSpPr>
          <p:spPr bwMode="auto">
            <a:xfrm>
              <a:off x="5241" y="6326"/>
              <a:ext cx="85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8" name="Rectangle 16"/>
            <p:cNvSpPr>
              <a:spLocks noChangeArrowheads="1"/>
            </p:cNvSpPr>
            <p:nvPr/>
          </p:nvSpPr>
          <p:spPr bwMode="auto">
            <a:xfrm>
              <a:off x="6186" y="7000"/>
              <a:ext cx="85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59" name="Rectangle 17"/>
            <p:cNvSpPr>
              <a:spLocks noChangeArrowheads="1"/>
            </p:cNvSpPr>
            <p:nvPr/>
          </p:nvSpPr>
          <p:spPr bwMode="auto">
            <a:xfrm>
              <a:off x="6991" y="6707"/>
              <a:ext cx="85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0" name="Rectangle 18"/>
            <p:cNvSpPr>
              <a:spLocks noChangeArrowheads="1"/>
            </p:cNvSpPr>
            <p:nvPr/>
          </p:nvSpPr>
          <p:spPr bwMode="auto">
            <a:xfrm>
              <a:off x="6624" y="6627"/>
              <a:ext cx="85" cy="8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1" name="Rectangle 19"/>
            <p:cNvSpPr>
              <a:spLocks noChangeArrowheads="1"/>
            </p:cNvSpPr>
            <p:nvPr/>
          </p:nvSpPr>
          <p:spPr bwMode="auto">
            <a:xfrm>
              <a:off x="7259" y="7089"/>
              <a:ext cx="86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2" name="Rectangle 20"/>
            <p:cNvSpPr>
              <a:spLocks noChangeArrowheads="1"/>
            </p:cNvSpPr>
            <p:nvPr/>
          </p:nvSpPr>
          <p:spPr bwMode="auto">
            <a:xfrm>
              <a:off x="6101" y="6237"/>
              <a:ext cx="85" cy="8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3" name="Rectangle 21"/>
            <p:cNvSpPr>
              <a:spLocks noChangeArrowheads="1"/>
            </p:cNvSpPr>
            <p:nvPr/>
          </p:nvSpPr>
          <p:spPr bwMode="auto">
            <a:xfrm>
              <a:off x="6709" y="7000"/>
              <a:ext cx="85" cy="8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4" name="Rectangle 22"/>
            <p:cNvSpPr>
              <a:spLocks noChangeArrowheads="1"/>
            </p:cNvSpPr>
            <p:nvPr/>
          </p:nvSpPr>
          <p:spPr bwMode="auto">
            <a:xfrm>
              <a:off x="7345" y="6703"/>
              <a:ext cx="86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6236" y="6451"/>
              <a:ext cx="85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6" name="Rectangle 24"/>
            <p:cNvSpPr>
              <a:spLocks noChangeArrowheads="1"/>
            </p:cNvSpPr>
            <p:nvPr/>
          </p:nvSpPr>
          <p:spPr bwMode="auto">
            <a:xfrm>
              <a:off x="5741" y="6236"/>
              <a:ext cx="86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67" name="Text Box 26"/>
            <p:cNvSpPr txBox="1">
              <a:spLocks noChangeArrowheads="1"/>
            </p:cNvSpPr>
            <p:nvPr/>
          </p:nvSpPr>
          <p:spPr bwMode="auto">
            <a:xfrm>
              <a:off x="7041" y="8561"/>
              <a:ext cx="969" cy="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长度</a:t>
              </a:r>
              <a:endParaRPr kumimoji="0" lang="zh-CN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8" name="Text Box 27"/>
            <p:cNvSpPr txBox="1">
              <a:spLocks noChangeArrowheads="1"/>
            </p:cNvSpPr>
            <p:nvPr/>
          </p:nvSpPr>
          <p:spPr bwMode="auto">
            <a:xfrm>
              <a:off x="3907" y="5845"/>
              <a:ext cx="78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质量</a:t>
              </a:r>
              <a:endParaRPr kumimoji="0" lang="zh-CN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Oval 28"/>
            <p:cNvSpPr>
              <a:spLocks noChangeArrowheads="1"/>
            </p:cNvSpPr>
            <p:nvPr/>
          </p:nvSpPr>
          <p:spPr bwMode="auto">
            <a:xfrm>
              <a:off x="6539" y="8161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70" name="Rectangle 29"/>
            <p:cNvSpPr>
              <a:spLocks noChangeArrowheads="1"/>
            </p:cNvSpPr>
            <p:nvPr/>
          </p:nvSpPr>
          <p:spPr bwMode="auto">
            <a:xfrm>
              <a:off x="6955" y="7472"/>
              <a:ext cx="86" cy="8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71" name="Oval 30"/>
            <p:cNvSpPr>
              <a:spLocks noChangeArrowheads="1"/>
            </p:cNvSpPr>
            <p:nvPr/>
          </p:nvSpPr>
          <p:spPr bwMode="auto">
            <a:xfrm>
              <a:off x="5827" y="7715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72" name="任意多边形 143"/>
            <p:cNvSpPr/>
            <p:nvPr/>
          </p:nvSpPr>
          <p:spPr bwMode="auto">
            <a:xfrm>
              <a:off x="4638" y="6103"/>
              <a:ext cx="2870" cy="2248"/>
            </a:xfrm>
            <a:custGeom>
              <a:avLst/>
              <a:gdLst>
                <a:gd name="T0" fmla="*/ 0 w 1821976"/>
                <a:gd name="T1" fmla="*/ 0 h 1427289"/>
                <a:gd name="T2" fmla="*/ 6824 w 1821976"/>
                <a:gd name="T3" fmla="*/ 61415 h 1427289"/>
                <a:gd name="T4" fmla="*/ 20471 w 1821976"/>
                <a:gd name="T5" fmla="*/ 109182 h 1427289"/>
                <a:gd name="T6" fmla="*/ 27295 w 1821976"/>
                <a:gd name="T7" fmla="*/ 136478 h 1427289"/>
                <a:gd name="T8" fmla="*/ 34119 w 1821976"/>
                <a:gd name="T9" fmla="*/ 156949 h 1427289"/>
                <a:gd name="T10" fmla="*/ 40943 w 1821976"/>
                <a:gd name="T11" fmla="*/ 191069 h 1427289"/>
                <a:gd name="T12" fmla="*/ 47767 w 1821976"/>
                <a:gd name="T13" fmla="*/ 341194 h 1427289"/>
                <a:gd name="T14" fmla="*/ 54591 w 1821976"/>
                <a:gd name="T15" fmla="*/ 375314 h 1427289"/>
                <a:gd name="T16" fmla="*/ 61415 w 1821976"/>
                <a:gd name="T17" fmla="*/ 416257 h 1427289"/>
                <a:gd name="T18" fmla="*/ 68238 w 1821976"/>
                <a:gd name="T19" fmla="*/ 689212 h 1427289"/>
                <a:gd name="T20" fmla="*/ 75062 w 1821976"/>
                <a:gd name="T21" fmla="*/ 730155 h 1427289"/>
                <a:gd name="T22" fmla="*/ 88710 w 1821976"/>
                <a:gd name="T23" fmla="*/ 750627 h 1427289"/>
                <a:gd name="T24" fmla="*/ 95534 w 1821976"/>
                <a:gd name="T25" fmla="*/ 771099 h 1427289"/>
                <a:gd name="T26" fmla="*/ 136477 w 1821976"/>
                <a:gd name="T27" fmla="*/ 805218 h 1427289"/>
                <a:gd name="T28" fmla="*/ 197892 w 1821976"/>
                <a:gd name="T29" fmla="*/ 798394 h 1427289"/>
                <a:gd name="T30" fmla="*/ 232012 w 1821976"/>
                <a:gd name="T31" fmla="*/ 757451 h 1427289"/>
                <a:gd name="T32" fmla="*/ 252483 w 1821976"/>
                <a:gd name="T33" fmla="*/ 750627 h 1427289"/>
                <a:gd name="T34" fmla="*/ 361665 w 1821976"/>
                <a:gd name="T35" fmla="*/ 757451 h 1427289"/>
                <a:gd name="T36" fmla="*/ 382137 w 1821976"/>
                <a:gd name="T37" fmla="*/ 771099 h 1427289"/>
                <a:gd name="T38" fmla="*/ 429904 w 1821976"/>
                <a:gd name="T39" fmla="*/ 825690 h 1427289"/>
                <a:gd name="T40" fmla="*/ 470847 w 1821976"/>
                <a:gd name="T41" fmla="*/ 839338 h 1427289"/>
                <a:gd name="T42" fmla="*/ 511791 w 1821976"/>
                <a:gd name="T43" fmla="*/ 852985 h 1427289"/>
                <a:gd name="T44" fmla="*/ 532262 w 1821976"/>
                <a:gd name="T45" fmla="*/ 859809 h 1427289"/>
                <a:gd name="T46" fmla="*/ 566382 w 1821976"/>
                <a:gd name="T47" fmla="*/ 866633 h 1427289"/>
                <a:gd name="T48" fmla="*/ 593677 w 1821976"/>
                <a:gd name="T49" fmla="*/ 873457 h 1427289"/>
                <a:gd name="T50" fmla="*/ 661916 w 1821976"/>
                <a:gd name="T51" fmla="*/ 887105 h 1427289"/>
                <a:gd name="T52" fmla="*/ 702859 w 1821976"/>
                <a:gd name="T53" fmla="*/ 900752 h 1427289"/>
                <a:gd name="T54" fmla="*/ 743803 w 1821976"/>
                <a:gd name="T55" fmla="*/ 914400 h 1427289"/>
                <a:gd name="T56" fmla="*/ 805218 w 1821976"/>
                <a:gd name="T57" fmla="*/ 928048 h 1427289"/>
                <a:gd name="T58" fmla="*/ 846161 w 1821976"/>
                <a:gd name="T59" fmla="*/ 941696 h 1427289"/>
                <a:gd name="T60" fmla="*/ 893928 w 1821976"/>
                <a:gd name="T61" fmla="*/ 955343 h 1427289"/>
                <a:gd name="T62" fmla="*/ 934871 w 1821976"/>
                <a:gd name="T63" fmla="*/ 968991 h 1427289"/>
                <a:gd name="T64" fmla="*/ 975815 w 1821976"/>
                <a:gd name="T65" fmla="*/ 982639 h 1427289"/>
                <a:gd name="T66" fmla="*/ 1016758 w 1821976"/>
                <a:gd name="T67" fmla="*/ 996287 h 1427289"/>
                <a:gd name="T68" fmla="*/ 1037230 w 1821976"/>
                <a:gd name="T69" fmla="*/ 1003111 h 1427289"/>
                <a:gd name="T70" fmla="*/ 1098644 w 1821976"/>
                <a:gd name="T71" fmla="*/ 1030406 h 1427289"/>
                <a:gd name="T72" fmla="*/ 1119116 w 1821976"/>
                <a:gd name="T73" fmla="*/ 1037230 h 1427289"/>
                <a:gd name="T74" fmla="*/ 1139588 w 1821976"/>
                <a:gd name="T75" fmla="*/ 1044054 h 1427289"/>
                <a:gd name="T76" fmla="*/ 1160059 w 1821976"/>
                <a:gd name="T77" fmla="*/ 1057702 h 1427289"/>
                <a:gd name="T78" fmla="*/ 1201003 w 1821976"/>
                <a:gd name="T79" fmla="*/ 1071349 h 1427289"/>
                <a:gd name="T80" fmla="*/ 1262418 w 1821976"/>
                <a:gd name="T81" fmla="*/ 1105469 h 1427289"/>
                <a:gd name="T82" fmla="*/ 1269241 w 1821976"/>
                <a:gd name="T83" fmla="*/ 1125940 h 1427289"/>
                <a:gd name="T84" fmla="*/ 1289713 w 1821976"/>
                <a:gd name="T85" fmla="*/ 1132764 h 1427289"/>
                <a:gd name="T86" fmla="*/ 1310185 w 1821976"/>
                <a:gd name="T87" fmla="*/ 1146412 h 1427289"/>
                <a:gd name="T88" fmla="*/ 1351128 w 1821976"/>
                <a:gd name="T89" fmla="*/ 1160060 h 1427289"/>
                <a:gd name="T90" fmla="*/ 1371600 w 1821976"/>
                <a:gd name="T91" fmla="*/ 1173708 h 1427289"/>
                <a:gd name="T92" fmla="*/ 1392071 w 1821976"/>
                <a:gd name="T93" fmla="*/ 1180532 h 1427289"/>
                <a:gd name="T94" fmla="*/ 1433015 w 1821976"/>
                <a:gd name="T95" fmla="*/ 1207827 h 1427289"/>
                <a:gd name="T96" fmla="*/ 1473958 w 1821976"/>
                <a:gd name="T97" fmla="*/ 1221475 h 1427289"/>
                <a:gd name="T98" fmla="*/ 1521725 w 1821976"/>
                <a:gd name="T99" fmla="*/ 1248770 h 1427289"/>
                <a:gd name="T100" fmla="*/ 1562668 w 1821976"/>
                <a:gd name="T101" fmla="*/ 1276066 h 1427289"/>
                <a:gd name="T102" fmla="*/ 1583140 w 1821976"/>
                <a:gd name="T103" fmla="*/ 1289714 h 1427289"/>
                <a:gd name="T104" fmla="*/ 1624083 w 1821976"/>
                <a:gd name="T105" fmla="*/ 1310185 h 1427289"/>
                <a:gd name="T106" fmla="*/ 1637731 w 1821976"/>
                <a:gd name="T107" fmla="*/ 1330657 h 1427289"/>
                <a:gd name="T108" fmla="*/ 1678674 w 1821976"/>
                <a:gd name="T109" fmla="*/ 1344305 h 1427289"/>
                <a:gd name="T110" fmla="*/ 1719618 w 1821976"/>
                <a:gd name="T111" fmla="*/ 1364776 h 1427289"/>
                <a:gd name="T112" fmla="*/ 1740089 w 1821976"/>
                <a:gd name="T113" fmla="*/ 1378424 h 1427289"/>
                <a:gd name="T114" fmla="*/ 1760561 w 1821976"/>
                <a:gd name="T115" fmla="*/ 1385248 h 1427289"/>
                <a:gd name="T116" fmla="*/ 1774209 w 1821976"/>
                <a:gd name="T117" fmla="*/ 1405720 h 1427289"/>
                <a:gd name="T118" fmla="*/ 1821976 w 1821976"/>
                <a:gd name="T119" fmla="*/ 1426191 h 142728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821976" h="1427289">
                  <a:moveTo>
                    <a:pt x="0" y="0"/>
                  </a:moveTo>
                  <a:cubicBezTo>
                    <a:pt x="2275" y="20472"/>
                    <a:pt x="3692" y="41057"/>
                    <a:pt x="6824" y="61415"/>
                  </a:cubicBezTo>
                  <a:cubicBezTo>
                    <a:pt x="10381" y="84537"/>
                    <a:pt x="14524" y="88367"/>
                    <a:pt x="20471" y="109182"/>
                  </a:cubicBezTo>
                  <a:cubicBezTo>
                    <a:pt x="23048" y="118200"/>
                    <a:pt x="24718" y="127460"/>
                    <a:pt x="27295" y="136478"/>
                  </a:cubicBezTo>
                  <a:cubicBezTo>
                    <a:pt x="29271" y="143394"/>
                    <a:pt x="32374" y="149971"/>
                    <a:pt x="34119" y="156949"/>
                  </a:cubicBezTo>
                  <a:cubicBezTo>
                    <a:pt x="36932" y="168201"/>
                    <a:pt x="38668" y="179696"/>
                    <a:pt x="40943" y="191069"/>
                  </a:cubicBezTo>
                  <a:cubicBezTo>
                    <a:pt x="43218" y="241111"/>
                    <a:pt x="44066" y="291238"/>
                    <a:pt x="47767" y="341194"/>
                  </a:cubicBezTo>
                  <a:cubicBezTo>
                    <a:pt x="48624" y="352761"/>
                    <a:pt x="52516" y="363903"/>
                    <a:pt x="54591" y="375314"/>
                  </a:cubicBezTo>
                  <a:cubicBezTo>
                    <a:pt x="57066" y="388927"/>
                    <a:pt x="59140" y="402609"/>
                    <a:pt x="61415" y="416257"/>
                  </a:cubicBezTo>
                  <a:cubicBezTo>
                    <a:pt x="63689" y="507242"/>
                    <a:pt x="64285" y="598284"/>
                    <a:pt x="68238" y="689212"/>
                  </a:cubicBezTo>
                  <a:cubicBezTo>
                    <a:pt x="68839" y="703035"/>
                    <a:pt x="70687" y="717029"/>
                    <a:pt x="75062" y="730155"/>
                  </a:cubicBezTo>
                  <a:cubicBezTo>
                    <a:pt x="77656" y="737936"/>
                    <a:pt x="85042" y="743291"/>
                    <a:pt x="88710" y="750627"/>
                  </a:cubicBezTo>
                  <a:cubicBezTo>
                    <a:pt x="91927" y="757061"/>
                    <a:pt x="91544" y="765114"/>
                    <a:pt x="95534" y="771099"/>
                  </a:cubicBezTo>
                  <a:cubicBezTo>
                    <a:pt x="106041" y="786859"/>
                    <a:pt x="121374" y="795149"/>
                    <a:pt x="136477" y="805218"/>
                  </a:cubicBezTo>
                  <a:cubicBezTo>
                    <a:pt x="156949" y="802943"/>
                    <a:pt x="178351" y="804907"/>
                    <a:pt x="197892" y="798394"/>
                  </a:cubicBezTo>
                  <a:cubicBezTo>
                    <a:pt x="220171" y="790968"/>
                    <a:pt x="216404" y="769938"/>
                    <a:pt x="232012" y="757451"/>
                  </a:cubicBezTo>
                  <a:cubicBezTo>
                    <a:pt x="237629" y="752958"/>
                    <a:pt x="245659" y="752902"/>
                    <a:pt x="252483" y="750627"/>
                  </a:cubicBezTo>
                  <a:cubicBezTo>
                    <a:pt x="288877" y="752902"/>
                    <a:pt x="325646" y="751764"/>
                    <a:pt x="361665" y="757451"/>
                  </a:cubicBezTo>
                  <a:cubicBezTo>
                    <a:pt x="369766" y="758730"/>
                    <a:pt x="376736" y="764927"/>
                    <a:pt x="382137" y="771099"/>
                  </a:cubicBezTo>
                  <a:cubicBezTo>
                    <a:pt x="408555" y="801291"/>
                    <a:pt x="398498" y="811731"/>
                    <a:pt x="429904" y="825690"/>
                  </a:cubicBezTo>
                  <a:cubicBezTo>
                    <a:pt x="443050" y="831533"/>
                    <a:pt x="457199" y="834789"/>
                    <a:pt x="470847" y="839338"/>
                  </a:cubicBezTo>
                  <a:lnTo>
                    <a:pt x="511791" y="852985"/>
                  </a:lnTo>
                  <a:cubicBezTo>
                    <a:pt x="518615" y="855260"/>
                    <a:pt x="525209" y="858398"/>
                    <a:pt x="532262" y="859809"/>
                  </a:cubicBezTo>
                  <a:cubicBezTo>
                    <a:pt x="543635" y="862084"/>
                    <a:pt x="555060" y="864117"/>
                    <a:pt x="566382" y="866633"/>
                  </a:cubicBezTo>
                  <a:cubicBezTo>
                    <a:pt x="575537" y="868667"/>
                    <a:pt x="584507" y="871492"/>
                    <a:pt x="593677" y="873457"/>
                  </a:cubicBezTo>
                  <a:cubicBezTo>
                    <a:pt x="616359" y="878318"/>
                    <a:pt x="639170" y="882556"/>
                    <a:pt x="661916" y="887105"/>
                  </a:cubicBezTo>
                  <a:cubicBezTo>
                    <a:pt x="676022" y="889926"/>
                    <a:pt x="689211" y="896203"/>
                    <a:pt x="702859" y="900752"/>
                  </a:cubicBezTo>
                  <a:lnTo>
                    <a:pt x="743803" y="914400"/>
                  </a:lnTo>
                  <a:cubicBezTo>
                    <a:pt x="771385" y="923594"/>
                    <a:pt x="775463" y="919933"/>
                    <a:pt x="805218" y="928048"/>
                  </a:cubicBezTo>
                  <a:cubicBezTo>
                    <a:pt x="819097" y="931833"/>
                    <a:pt x="832513" y="937147"/>
                    <a:pt x="846161" y="941696"/>
                  </a:cubicBezTo>
                  <a:cubicBezTo>
                    <a:pt x="914959" y="964629"/>
                    <a:pt x="808242" y="929638"/>
                    <a:pt x="893928" y="955343"/>
                  </a:cubicBezTo>
                  <a:cubicBezTo>
                    <a:pt x="907707" y="959477"/>
                    <a:pt x="921223" y="964442"/>
                    <a:pt x="934871" y="968991"/>
                  </a:cubicBezTo>
                  <a:lnTo>
                    <a:pt x="975815" y="982639"/>
                  </a:lnTo>
                  <a:lnTo>
                    <a:pt x="1016758" y="996287"/>
                  </a:lnTo>
                  <a:cubicBezTo>
                    <a:pt x="1023582" y="998562"/>
                    <a:pt x="1031245" y="999121"/>
                    <a:pt x="1037230" y="1003111"/>
                  </a:cubicBezTo>
                  <a:cubicBezTo>
                    <a:pt x="1069671" y="1024738"/>
                    <a:pt x="1049921" y="1014165"/>
                    <a:pt x="1098644" y="1030406"/>
                  </a:cubicBezTo>
                  <a:lnTo>
                    <a:pt x="1119116" y="1037230"/>
                  </a:lnTo>
                  <a:lnTo>
                    <a:pt x="1139588" y="1044054"/>
                  </a:lnTo>
                  <a:cubicBezTo>
                    <a:pt x="1146412" y="1048603"/>
                    <a:pt x="1152565" y="1054371"/>
                    <a:pt x="1160059" y="1057702"/>
                  </a:cubicBezTo>
                  <a:cubicBezTo>
                    <a:pt x="1173205" y="1063545"/>
                    <a:pt x="1201003" y="1071349"/>
                    <a:pt x="1201003" y="1071349"/>
                  </a:cubicBezTo>
                  <a:cubicBezTo>
                    <a:pt x="1247931" y="1102635"/>
                    <a:pt x="1226385" y="1093458"/>
                    <a:pt x="1262418" y="1105469"/>
                  </a:cubicBezTo>
                  <a:cubicBezTo>
                    <a:pt x="1264692" y="1112293"/>
                    <a:pt x="1264155" y="1120854"/>
                    <a:pt x="1269241" y="1125940"/>
                  </a:cubicBezTo>
                  <a:cubicBezTo>
                    <a:pt x="1274327" y="1131026"/>
                    <a:pt x="1283279" y="1129547"/>
                    <a:pt x="1289713" y="1132764"/>
                  </a:cubicBezTo>
                  <a:cubicBezTo>
                    <a:pt x="1297049" y="1136432"/>
                    <a:pt x="1302690" y="1143081"/>
                    <a:pt x="1310185" y="1146412"/>
                  </a:cubicBezTo>
                  <a:cubicBezTo>
                    <a:pt x="1323331" y="1152255"/>
                    <a:pt x="1351128" y="1160060"/>
                    <a:pt x="1351128" y="1160060"/>
                  </a:cubicBezTo>
                  <a:cubicBezTo>
                    <a:pt x="1357952" y="1164609"/>
                    <a:pt x="1364264" y="1170040"/>
                    <a:pt x="1371600" y="1173708"/>
                  </a:cubicBezTo>
                  <a:cubicBezTo>
                    <a:pt x="1378033" y="1176925"/>
                    <a:pt x="1385783" y="1177039"/>
                    <a:pt x="1392071" y="1180532"/>
                  </a:cubicBezTo>
                  <a:cubicBezTo>
                    <a:pt x="1406410" y="1188498"/>
                    <a:pt x="1419367" y="1198729"/>
                    <a:pt x="1433015" y="1207827"/>
                  </a:cubicBezTo>
                  <a:cubicBezTo>
                    <a:pt x="1444985" y="1215807"/>
                    <a:pt x="1473958" y="1221475"/>
                    <a:pt x="1473958" y="1221475"/>
                  </a:cubicBezTo>
                  <a:cubicBezTo>
                    <a:pt x="1544787" y="1268694"/>
                    <a:pt x="1435135" y="1196816"/>
                    <a:pt x="1521725" y="1248770"/>
                  </a:cubicBezTo>
                  <a:cubicBezTo>
                    <a:pt x="1535790" y="1257209"/>
                    <a:pt x="1549020" y="1266967"/>
                    <a:pt x="1562668" y="1276066"/>
                  </a:cubicBezTo>
                  <a:cubicBezTo>
                    <a:pt x="1569492" y="1280615"/>
                    <a:pt x="1575359" y="1287120"/>
                    <a:pt x="1583140" y="1289714"/>
                  </a:cubicBezTo>
                  <a:cubicBezTo>
                    <a:pt x="1611392" y="1299131"/>
                    <a:pt x="1597627" y="1292548"/>
                    <a:pt x="1624083" y="1310185"/>
                  </a:cubicBezTo>
                  <a:cubicBezTo>
                    <a:pt x="1628632" y="1317009"/>
                    <a:pt x="1630776" y="1326310"/>
                    <a:pt x="1637731" y="1330657"/>
                  </a:cubicBezTo>
                  <a:cubicBezTo>
                    <a:pt x="1649930" y="1338282"/>
                    <a:pt x="1666704" y="1336326"/>
                    <a:pt x="1678674" y="1344305"/>
                  </a:cubicBezTo>
                  <a:cubicBezTo>
                    <a:pt x="1705131" y="1361942"/>
                    <a:pt x="1691366" y="1355359"/>
                    <a:pt x="1719618" y="1364776"/>
                  </a:cubicBezTo>
                  <a:cubicBezTo>
                    <a:pt x="1726442" y="1369325"/>
                    <a:pt x="1732754" y="1374756"/>
                    <a:pt x="1740089" y="1378424"/>
                  </a:cubicBezTo>
                  <a:cubicBezTo>
                    <a:pt x="1746523" y="1381641"/>
                    <a:pt x="1754944" y="1380754"/>
                    <a:pt x="1760561" y="1385248"/>
                  </a:cubicBezTo>
                  <a:cubicBezTo>
                    <a:pt x="1766965" y="1390371"/>
                    <a:pt x="1767254" y="1401373"/>
                    <a:pt x="1774209" y="1405720"/>
                  </a:cubicBezTo>
                  <a:cubicBezTo>
                    <a:pt x="1852422" y="1454603"/>
                    <a:pt x="1797328" y="1401543"/>
                    <a:pt x="1821976" y="1426191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 sz="3200"/>
            </a:p>
          </p:txBody>
        </p:sp>
        <p:sp>
          <p:nvSpPr>
            <p:cNvPr id="73" name="AutoShape 25"/>
            <p:cNvSpPr>
              <a:spLocks noChangeShapeType="1"/>
            </p:cNvSpPr>
            <p:nvPr/>
          </p:nvSpPr>
          <p:spPr bwMode="auto">
            <a:xfrm>
              <a:off x="4820" y="6380"/>
              <a:ext cx="2673" cy="18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200"/>
            </a:p>
          </p:txBody>
        </p:sp>
        <p:sp>
          <p:nvSpPr>
            <p:cNvPr id="74" name="Text Box 31"/>
            <p:cNvSpPr txBox="1">
              <a:spLocks noChangeArrowheads="1"/>
            </p:cNvSpPr>
            <p:nvPr/>
          </p:nvSpPr>
          <p:spPr bwMode="auto">
            <a:xfrm>
              <a:off x="4594" y="6777"/>
              <a:ext cx="691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8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▲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5" name="Text Box 31"/>
            <p:cNvSpPr txBox="1">
              <a:spLocks noChangeArrowheads="1"/>
            </p:cNvSpPr>
            <p:nvPr/>
          </p:nvSpPr>
          <p:spPr bwMode="auto">
            <a:xfrm>
              <a:off x="5453" y="6875"/>
              <a:ext cx="456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1" i="0" u="none" strike="noStrike" cap="none" normalizeH="0" baseline="0" smtClean="0">
                  <a:ln>
                    <a:noFill/>
                  </a:ln>
                  <a:solidFill>
                    <a:srgbClr val="4A442A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▼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6" name="Text Box 31"/>
            <p:cNvSpPr txBox="1">
              <a:spLocks noChangeArrowheads="1"/>
            </p:cNvSpPr>
            <p:nvPr/>
          </p:nvSpPr>
          <p:spPr bwMode="auto">
            <a:xfrm>
              <a:off x="4820" y="6570"/>
              <a:ext cx="456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1" i="0" u="none" strike="noStrike" cap="none" normalizeH="0" baseline="0" smtClean="0">
                  <a:ln>
                    <a:noFill/>
                  </a:ln>
                  <a:solidFill>
                    <a:srgbClr val="4A442A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▼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7" name="Text Box 31"/>
            <p:cNvSpPr txBox="1">
              <a:spLocks noChangeArrowheads="1"/>
            </p:cNvSpPr>
            <p:nvPr/>
          </p:nvSpPr>
          <p:spPr bwMode="auto">
            <a:xfrm>
              <a:off x="5155" y="6875"/>
              <a:ext cx="456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1" i="0" u="none" strike="noStrike" cap="none" normalizeH="0" baseline="0" smtClean="0">
                  <a:ln>
                    <a:noFill/>
                  </a:ln>
                  <a:solidFill>
                    <a:srgbClr val="4A442A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▼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8" name="Text Box 31"/>
            <p:cNvSpPr txBox="1">
              <a:spLocks noChangeArrowheads="1"/>
            </p:cNvSpPr>
            <p:nvPr/>
          </p:nvSpPr>
          <p:spPr bwMode="auto">
            <a:xfrm>
              <a:off x="5656" y="7174"/>
              <a:ext cx="456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1" i="0" u="none" strike="noStrike" cap="none" normalizeH="0" baseline="0" smtClean="0">
                  <a:ln>
                    <a:noFill/>
                  </a:ln>
                  <a:solidFill>
                    <a:srgbClr val="4A442A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▼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9" name="Text Box 32"/>
            <p:cNvSpPr txBox="1">
              <a:spLocks noChangeArrowheads="1"/>
            </p:cNvSpPr>
            <p:nvPr/>
          </p:nvSpPr>
          <p:spPr bwMode="auto">
            <a:xfrm>
              <a:off x="6794" y="6082"/>
              <a:ext cx="955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筷子</a:t>
              </a:r>
              <a:endParaRPr kumimoji="0" lang="zh-CN" altLang="en-US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0" name="Text Box 32"/>
            <p:cNvSpPr txBox="1">
              <a:spLocks noChangeArrowheads="1"/>
            </p:cNvSpPr>
            <p:nvPr/>
          </p:nvSpPr>
          <p:spPr bwMode="auto">
            <a:xfrm>
              <a:off x="6186" y="8186"/>
              <a:ext cx="955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rPr>
                <a:t>牙签</a:t>
              </a:r>
              <a:endParaRPr kumimoji="0" lang="zh-CN" altLang="en-US" sz="3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81" name="Rectangle 48"/>
          <p:cNvSpPr>
            <a:spLocks noChangeArrowheads="1"/>
          </p:cNvSpPr>
          <p:nvPr/>
        </p:nvSpPr>
        <p:spPr bwMode="auto">
          <a:xfrm>
            <a:off x="446390" y="4745984"/>
            <a:ext cx="46730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1-7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两种分类线的预测准率对比</a:t>
            </a:r>
            <a:endParaRPr kumimoji="0" lang="zh-CN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2" y="681693"/>
            <a:ext cx="3208646" cy="577397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欠拟合、过拟合示例</a:t>
            </a:r>
            <a:endParaRPr lang="en-US" altLang="zh-CN" sz="24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模型在训练样本上产生的误差叫训练误差（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training 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error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。在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测试样本上产生的误差叫测试误差（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test error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）。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endParaRPr lang="zh-CN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2.1.5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欠拟合、过拟合与泛化能力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1"/>
          <p:cNvSpPr txBox="1"/>
          <p:nvPr/>
        </p:nvSpPr>
        <p:spPr>
          <a:xfrm>
            <a:off x="6791621" y="6464141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1BEBC7A-FD02-486B-81B5-A845787C689C}" type="slidenum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345" y="830317"/>
            <a:ext cx="2555539" cy="1830346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127" y="3032555"/>
            <a:ext cx="2559523" cy="1834452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437" y="3032555"/>
            <a:ext cx="2559523" cy="1834452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7399" y="5285530"/>
          <a:ext cx="8993541" cy="109728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141115"/>
                <a:gridCol w="2133549"/>
                <a:gridCol w="1949807"/>
                <a:gridCol w="1884535"/>
                <a:gridCol w="1884535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线性回归模型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三次多项式模型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五次多项式模型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九次多项式模型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训练误差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2019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534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209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测试误差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578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247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1232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38492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和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2597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781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1441</a:t>
                      </a:r>
                      <a:endParaRPr lang="zh-CN" sz="24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38496</a:t>
                      </a:r>
                      <a:endParaRPr lang="zh-CN" sz="24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852" y="830317"/>
            <a:ext cx="2631869" cy="183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4818065" cy="577397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泛化能力与模型复杂度</a:t>
            </a:r>
            <a:endParaRPr lang="en-US" altLang="zh-CN" sz="24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衡量模型好坏的是测试误差，它标志了模型对未知新实例的预测能力，因此一般追求的是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测试误差最小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的那个模型。</a:t>
            </a: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模型对新实例的预测能力称为泛化</a:t>
            </a:r>
            <a:r>
              <a:rPr lang="zh-CN" altLang="en-US" sz="2200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能力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模型在新实例上的误差称为泛化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误差。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能够求解问题的模型往往不只一个</a:t>
            </a:r>
            <a:r>
              <a:rPr lang="zh-CN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。一般来说</a:t>
            </a:r>
            <a:r>
              <a:rPr lang="zh-CN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，只有合适复杂程度的模型才能最好地反映出训练集中蕴含的规律，取得最好的泛化能力。</a:t>
            </a:r>
            <a:endParaRPr lang="zh-CN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2.1.5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欠拟合、过拟合与泛化能力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1"/>
          <p:cNvSpPr txBox="1"/>
          <p:nvPr/>
        </p:nvSpPr>
        <p:spPr>
          <a:xfrm>
            <a:off x="6791621" y="6464141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1BEBC7A-FD02-486B-81B5-A845787C689C}" type="slidenum">
              <a:rPr lang="zh-CN" altLang="en-US" sz="1600" smtClean="0"/>
            </a:fld>
            <a:endParaRPr lang="zh-CN" altLang="en-US" sz="16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23930" name="Picture 2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821" y="1862137"/>
            <a:ext cx="39624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3893405" y="146721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700499" y="1467217"/>
            <a:ext cx="3459941" cy="511238"/>
            <a:chOff x="6339097" y="1573726"/>
            <a:chExt cx="3744416" cy="511504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49" y="1614014"/>
              <a:ext cx="319682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机器学习的概念和步骤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3893405" y="2303235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682598" y="2303235"/>
            <a:ext cx="3806082" cy="511238"/>
            <a:chOff x="6315199" y="2410178"/>
            <a:chExt cx="4097814" cy="511504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16745" y="2450466"/>
              <a:ext cx="3696268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机器学习的预处理环节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3893405" y="3188627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00500" y="3188625"/>
            <a:ext cx="3459941" cy="511238"/>
            <a:chOff x="6339097" y="3296031"/>
            <a:chExt cx="3744417" cy="511504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7" y="3336319"/>
              <a:ext cx="336016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机器学习的类型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3893405" y="407303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00499" y="4073036"/>
            <a:ext cx="3459941" cy="511237"/>
            <a:chOff x="6339097" y="4180903"/>
            <a:chExt cx="3744416" cy="511504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机器学习的历史和应用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04800" y="2219405"/>
            <a:ext cx="3426106" cy="1600329"/>
          </a:xfrm>
          <a:prstGeom prst="rect">
            <a:avLst/>
          </a:prstGeom>
          <a:noFill/>
        </p:spPr>
        <p:txBody>
          <a:bodyPr wrap="square" lIns="121817" tIns="60906" rIns="121817" bIns="60906">
            <a:spAutoFit/>
          </a:bodyPr>
          <a:lstStyle/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要</a:t>
            </a:r>
            <a:endParaRPr lang="en-US" altLang="zh-CN" sz="4800" b="1" spc="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 容</a:t>
            </a:r>
            <a:endParaRPr lang="zh-CN" altLang="en-US" sz="3200" b="1" spc="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3071282" y="2211092"/>
            <a:ext cx="575764" cy="695523"/>
          </a:xfrm>
          <a:prstGeom prst="downArrow">
            <a:avLst/>
          </a:prstGeom>
          <a:solidFill>
            <a:srgbClr val="F5A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94878" y="500267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 smtClean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701972" y="5002676"/>
            <a:ext cx="3459941" cy="511237"/>
            <a:chOff x="6339097" y="4180903"/>
            <a:chExt cx="3744416" cy="511504"/>
          </a:xfrm>
        </p:grpSpPr>
        <p:sp>
          <p:nvSpPr>
            <p:cNvPr id="27" name="圆角矩形 26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000" b="1" kern="100" dirty="0" err="1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Scikit</a:t>
              </a:r>
              <a:r>
                <a:rPr lang="en-US" altLang="zh-CN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-learn</a:t>
              </a: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机器学习库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画布 176"/>
          <p:cNvGrpSpPr/>
          <p:nvPr/>
        </p:nvGrpSpPr>
        <p:grpSpPr bwMode="auto">
          <a:xfrm>
            <a:off x="406490" y="1139372"/>
            <a:ext cx="8566782" cy="3004003"/>
            <a:chOff x="1800" y="11369"/>
            <a:chExt cx="8370" cy="2935"/>
          </a:xfrm>
        </p:grpSpPr>
        <p:sp>
          <p:nvSpPr>
            <p:cNvPr id="5" name="AutoShape 24"/>
            <p:cNvSpPr>
              <a:spLocks noChangeAspect="1" noChangeArrowheads="1"/>
            </p:cNvSpPr>
            <p:nvPr/>
          </p:nvSpPr>
          <p:spPr bwMode="auto">
            <a:xfrm>
              <a:off x="1800" y="11369"/>
              <a:ext cx="8370" cy="2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6" name="圆角矩形 177"/>
            <p:cNvSpPr>
              <a:spLocks noChangeArrowheads="1"/>
            </p:cNvSpPr>
            <p:nvPr/>
          </p:nvSpPr>
          <p:spPr bwMode="auto">
            <a:xfrm>
              <a:off x="1815" y="11609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数据获取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圆角矩形 178"/>
            <p:cNvSpPr>
              <a:spLocks noChangeArrowheads="1"/>
            </p:cNvSpPr>
            <p:nvPr/>
          </p:nvSpPr>
          <p:spPr bwMode="auto">
            <a:xfrm>
              <a:off x="4696" y="11609"/>
              <a:ext cx="1065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</a:t>
              </a:r>
              <a:b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预处理</a:t>
              </a:r>
              <a:endParaRPr kumimoji="0" lang="zh-CN" altLang="en-US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圆角矩形 179"/>
            <p:cNvSpPr>
              <a:spLocks noChangeArrowheads="1"/>
            </p:cNvSpPr>
            <p:nvPr/>
          </p:nvSpPr>
          <p:spPr bwMode="auto">
            <a:xfrm>
              <a:off x="3195" y="11609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特征提取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圆角矩形 180"/>
            <p:cNvSpPr>
              <a:spLocks noChangeArrowheads="1"/>
            </p:cNvSpPr>
            <p:nvPr/>
          </p:nvSpPr>
          <p:spPr bwMode="auto">
            <a:xfrm>
              <a:off x="6330" y="12014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训练模型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圆角矩形 181"/>
            <p:cNvSpPr>
              <a:spLocks noChangeArrowheads="1"/>
            </p:cNvSpPr>
            <p:nvPr/>
          </p:nvSpPr>
          <p:spPr bwMode="auto">
            <a:xfrm>
              <a:off x="7785" y="12014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测试模型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圆角矩形 182"/>
            <p:cNvSpPr>
              <a:spLocks noChangeArrowheads="1"/>
            </p:cNvSpPr>
            <p:nvPr/>
          </p:nvSpPr>
          <p:spPr bwMode="auto">
            <a:xfrm>
              <a:off x="9150" y="12014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使用模型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文本框 189"/>
            <p:cNvSpPr txBox="1">
              <a:spLocks noChangeArrowheads="1"/>
            </p:cNvSpPr>
            <p:nvPr/>
          </p:nvSpPr>
          <p:spPr bwMode="auto">
            <a:xfrm>
              <a:off x="5610" y="11716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训练集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文本框 190"/>
            <p:cNvSpPr txBox="1">
              <a:spLocks noChangeArrowheads="1"/>
            </p:cNvSpPr>
            <p:nvPr/>
          </p:nvSpPr>
          <p:spPr bwMode="auto">
            <a:xfrm>
              <a:off x="7140" y="11684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测试集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文本框 194"/>
            <p:cNvSpPr txBox="1">
              <a:spLocks noChangeArrowheads="1"/>
            </p:cNvSpPr>
            <p:nvPr/>
          </p:nvSpPr>
          <p:spPr bwMode="auto">
            <a:xfrm>
              <a:off x="7059" y="13650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反馈修正</a:t>
              </a:r>
              <a:endParaRPr kumimoji="0" lang="zh-CN" altLang="zh-CN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圆角矩形 178"/>
            <p:cNvSpPr>
              <a:spLocks noChangeArrowheads="1"/>
            </p:cNvSpPr>
            <p:nvPr/>
          </p:nvSpPr>
          <p:spPr bwMode="auto">
            <a:xfrm>
              <a:off x="3088" y="12839"/>
              <a:ext cx="1065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</a:t>
              </a:r>
              <a:b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</a:b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标准化</a:t>
              </a:r>
              <a:endParaRPr kumimoji="0" lang="zh-CN" altLang="en-US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圆角矩形 179"/>
            <p:cNvSpPr>
              <a:spLocks noChangeArrowheads="1"/>
            </p:cNvSpPr>
            <p:nvPr/>
          </p:nvSpPr>
          <p:spPr bwMode="auto">
            <a:xfrm>
              <a:off x="4801" y="12839"/>
              <a:ext cx="960" cy="840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数据降维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AutoShape 12"/>
            <p:cNvSpPr>
              <a:spLocks noChangeShapeType="1"/>
            </p:cNvSpPr>
            <p:nvPr/>
          </p:nvSpPr>
          <p:spPr bwMode="auto">
            <a:xfrm rot="5400000">
              <a:off x="4230" y="11840"/>
              <a:ext cx="390" cy="160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8" name="AutoShape 11"/>
            <p:cNvSpPr>
              <a:spLocks noChangeShapeType="1"/>
            </p:cNvSpPr>
            <p:nvPr/>
          </p:nvSpPr>
          <p:spPr bwMode="auto">
            <a:xfrm>
              <a:off x="4153" y="13259"/>
              <a:ext cx="64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19" name="AutoShape 10"/>
            <p:cNvSpPr>
              <a:spLocks noChangeShapeType="1"/>
            </p:cNvSpPr>
            <p:nvPr/>
          </p:nvSpPr>
          <p:spPr bwMode="auto">
            <a:xfrm flipV="1">
              <a:off x="5761" y="12434"/>
              <a:ext cx="569" cy="825"/>
            </a:xfrm>
            <a:prstGeom prst="bentConnector3">
              <a:avLst>
                <a:gd name="adj1" fmla="val 49912"/>
              </a:avLst>
            </a:prstGeom>
            <a:noFill/>
            <a:ln w="9525">
              <a:solidFill>
                <a:srgbClr val="000000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20" name="文本框 194"/>
            <p:cNvSpPr txBox="1">
              <a:spLocks noChangeArrowheads="1"/>
            </p:cNvSpPr>
            <p:nvPr/>
          </p:nvSpPr>
          <p:spPr bwMode="auto">
            <a:xfrm>
              <a:off x="3346" y="13815"/>
              <a:ext cx="2024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数据准备阶段</a:t>
              </a:r>
              <a:endParaRPr kumimoji="0" lang="zh-CN" altLang="zh-CN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AutoShape 8"/>
            <p:cNvSpPr>
              <a:spLocks noChangeShapeType="1"/>
            </p:cNvSpPr>
            <p:nvPr/>
          </p:nvSpPr>
          <p:spPr bwMode="auto">
            <a:xfrm>
              <a:off x="2775" y="12029"/>
              <a:ext cx="4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22" name="AutoShape 7"/>
            <p:cNvSpPr>
              <a:spLocks noChangeShapeType="1"/>
            </p:cNvSpPr>
            <p:nvPr/>
          </p:nvSpPr>
          <p:spPr bwMode="auto">
            <a:xfrm>
              <a:off x="4155" y="12029"/>
              <a:ext cx="54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23" name="AutoShape 6"/>
            <p:cNvSpPr>
              <a:spLocks noChangeShapeType="1"/>
            </p:cNvSpPr>
            <p:nvPr/>
          </p:nvSpPr>
          <p:spPr bwMode="auto">
            <a:xfrm>
              <a:off x="7290" y="12434"/>
              <a:ext cx="49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24" name="AutoShape 5"/>
            <p:cNvSpPr>
              <a:spLocks noChangeShapeType="1"/>
            </p:cNvSpPr>
            <p:nvPr/>
          </p:nvSpPr>
          <p:spPr bwMode="auto">
            <a:xfrm>
              <a:off x="8745" y="12434"/>
              <a:ext cx="40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400"/>
            </a:p>
          </p:txBody>
        </p:sp>
        <p:sp>
          <p:nvSpPr>
            <p:cNvPr id="25" name="文本框 190"/>
            <p:cNvSpPr txBox="1">
              <a:spLocks noChangeArrowheads="1"/>
            </p:cNvSpPr>
            <p:nvPr/>
          </p:nvSpPr>
          <p:spPr bwMode="auto">
            <a:xfrm>
              <a:off x="8475" y="11654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新样本</a:t>
              </a:r>
              <a:endParaRPr kumimoji="0" lang="zh-CN" altLang="zh-CN" sz="4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7" name="矩形 195"/>
            <p:cNvSpPr>
              <a:spLocks noChangeArrowheads="1"/>
            </p:cNvSpPr>
            <p:nvPr/>
          </p:nvSpPr>
          <p:spPr bwMode="auto">
            <a:xfrm>
              <a:off x="2911" y="11490"/>
              <a:ext cx="3015" cy="232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 sz="4400"/>
            </a:p>
          </p:txBody>
        </p:sp>
      </p:grpSp>
      <p:cxnSp>
        <p:nvCxnSpPr>
          <p:cNvPr id="36" name="肘形连接符 35"/>
          <p:cNvCxnSpPr>
            <a:stCxn id="10" idx="2"/>
          </p:cNvCxnSpPr>
          <p:nvPr/>
        </p:nvCxnSpPr>
        <p:spPr>
          <a:xfrm rot="5400000">
            <a:off x="5961153" y="2232410"/>
            <a:ext cx="635457" cy="148920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5534277" y="2659286"/>
            <a:ext cx="0" cy="6354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87468" y="4755047"/>
            <a:ext cx="774629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accent1"/>
                </a:solidFill>
              </a:rPr>
              <a:t>数据准备阶段是机器学习任务中繁琐枯燥但又是很重要的一个阶段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机器学习的预处理环境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机器学习的工作流程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数据获取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数据和特征决定了机器学习的上限，而模型和算法只是逼近这个上限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而已，因此数据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比模型更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重要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72123" y="149327"/>
            <a:ext cx="2956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zh-CN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为什么要进行数据预处理：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</a:rPr>
              <a:t>获取到的原始样本数据往往会存在有缺失值、重复值等问题，在使用之前必须进行</a:t>
            </a:r>
            <a:r>
              <a:rPr lang="zh-CN" altLang="zh-CN" sz="2400" dirty="0" smtClean="0">
                <a:solidFill>
                  <a:schemeClr val="tx1"/>
                </a:solidFill>
              </a:rPr>
              <a:t>数据预处理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tx1"/>
                </a:solidFill>
              </a:rPr>
              <a:t>数</a:t>
            </a:r>
            <a:r>
              <a:rPr lang="zh-CN" altLang="zh-CN" sz="2400" dirty="0">
                <a:solidFill>
                  <a:schemeClr val="tx1"/>
                </a:solidFill>
              </a:rPr>
              <a:t>据预处理没有标准的流程，但一般包括以下几个步骤：去除唯一属性、处理缺失值、属性编码、数据标准化、特征选择、</a:t>
            </a:r>
            <a:r>
              <a:rPr lang="zh-CN" altLang="zh-CN" sz="2400" dirty="0" smtClean="0">
                <a:solidFill>
                  <a:schemeClr val="tx1"/>
                </a:solidFill>
              </a:rPr>
              <a:t>主成分分析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对于样本数据来说，首先需要消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除特征属性之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间不同量级的影响：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量级的差异将导致数量级较大的属性占主导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地位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数量级的差异将导致迭代收敛速度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减慢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依赖于样本距离的算法对于数量级非常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敏感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72123" y="149327"/>
            <a:ext cx="2956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zh-CN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12058" y="1230221"/>
          <a:ext cx="8229599" cy="27063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9890"/>
                <a:gridCol w="952987"/>
                <a:gridCol w="992490"/>
                <a:gridCol w="1403558"/>
                <a:gridCol w="1403558"/>
                <a:gridCol w="1403558"/>
                <a:gridCol w="1403558"/>
              </a:tblGrid>
              <a:tr h="210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ID</a:t>
                      </a:r>
                      <a:endParaRPr lang="zh-CN" sz="2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姓名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年龄</a:t>
                      </a:r>
                      <a:endParaRPr lang="zh-CN" sz="2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年收入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性别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学历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消费额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  <a:tr h="210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01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张三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36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男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本科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  <a:tr h="210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02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李四</a:t>
                      </a:r>
                      <a:endParaRPr lang="zh-CN" sz="2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42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r>
                        <a:rPr lang="en-US" sz="2400" kern="100">
                          <a:effectLst/>
                        </a:rPr>
                        <a:t>5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女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本科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  <a:tr h="2253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03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王涛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23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男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高中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endParaRPr lang="zh-CN" sz="2800">
                        <a:effectLst/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  <a:tr h="210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04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赵波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61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男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本科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  <a:tr h="2103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05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钱图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38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r>
                        <a:rPr lang="zh-CN" sz="2400" kern="100">
                          <a:effectLst/>
                        </a:rPr>
                        <a:t>万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女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大专</a:t>
                      </a:r>
                      <a:endParaRPr lang="zh-CN" sz="28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</a:t>
                      </a:r>
                      <a:r>
                        <a:rPr lang="zh-CN" sz="2400" kern="100" dirty="0">
                          <a:effectLst/>
                        </a:rPr>
                        <a:t>万</a:t>
                      </a:r>
                      <a:endParaRPr lang="zh-CN" sz="28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90160" marR="90160" marT="37567" marB="37567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06030" y="4231305"/>
            <a:ext cx="234711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1. </a:t>
            </a:r>
            <a:r>
              <a:rPr lang="zh-CN" altLang="zh-CN" sz="2400" b="1" dirty="0"/>
              <a:t>去除唯一属性</a:t>
            </a:r>
            <a:endParaRPr lang="zh-CN" altLang="zh-CN" sz="2400" dirty="0"/>
          </a:p>
        </p:txBody>
      </p:sp>
      <p:sp>
        <p:nvSpPr>
          <p:cNvPr id="7" name="矩形 6"/>
          <p:cNvSpPr/>
          <p:nvPr/>
        </p:nvSpPr>
        <p:spPr>
          <a:xfrm>
            <a:off x="706030" y="4797363"/>
            <a:ext cx="203773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2. </a:t>
            </a:r>
            <a:r>
              <a:rPr lang="zh-CN" altLang="zh-CN" sz="2400" b="1" dirty="0"/>
              <a:t>处理缺失值</a:t>
            </a:r>
            <a:endParaRPr lang="zh-CN" altLang="zh-CN" sz="2400" dirty="0"/>
          </a:p>
        </p:txBody>
      </p:sp>
      <p:sp>
        <p:nvSpPr>
          <p:cNvPr id="8" name="矩形 7"/>
          <p:cNvSpPr/>
          <p:nvPr/>
        </p:nvSpPr>
        <p:spPr>
          <a:xfrm>
            <a:off x="706030" y="5319876"/>
            <a:ext cx="203773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3. </a:t>
            </a:r>
            <a:r>
              <a:rPr lang="zh-CN" altLang="zh-CN" sz="2400" b="1" dirty="0"/>
              <a:t>数据定量化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72123" y="149327"/>
            <a:ext cx="2956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zh-CN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506621" y="2472350"/>
          <a:ext cx="5956585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1792"/>
                <a:gridCol w="1223482"/>
                <a:gridCol w="1086481"/>
                <a:gridCol w="1355719"/>
                <a:gridCol w="1439111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年龄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年收入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性别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学历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消费额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36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50000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41000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42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45000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40000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23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31000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15000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61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70000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20000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38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20000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60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10000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043272" y="1110381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数据预处</a:t>
            </a:r>
            <a:r>
              <a:rPr lang="zh-CN" altLang="en-US" sz="28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理之后的样本：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72123" y="149327"/>
            <a:ext cx="2956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zh-CN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4286" y="848250"/>
            <a:ext cx="7699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数据标准化就是用来消除不同量级的影响，常用的数据标准化方法有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min-max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归一化和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标准化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两种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82194" y="2225607"/>
          <a:ext cx="4212006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092"/>
                <a:gridCol w="1045028"/>
                <a:gridCol w="667657"/>
                <a:gridCol w="740229"/>
                <a:gridCol w="1016000"/>
              </a:tblGrid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年龄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年收入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性别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学历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消费额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0.34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0.6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0.97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0.22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0.32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0.39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effectLst/>
                        </a:rPr>
                        <a:t>0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83651" y="2704579"/>
          <a:ext cx="445874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770"/>
                <a:gridCol w="1009922"/>
                <a:gridCol w="827314"/>
                <a:gridCol w="725715"/>
                <a:gridCol w="1045028"/>
              </a:tblGrid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effectLst/>
                        </a:rPr>
                        <a:t>年龄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effectLst/>
                        </a:rPr>
                        <a:t>年收入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性别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学历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2000" kern="1200">
                          <a:effectLst/>
                        </a:rPr>
                        <a:t>消费额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-0.33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0.40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-0.82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0.97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0.16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0.11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1.22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0.89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-1.38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-0.72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-0.82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-1.75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0.48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1.71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1.57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-0.82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0.75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-0.16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-1.36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1.22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effectLst/>
                        </a:rPr>
                        <a:t>-1.75</a:t>
                      </a:r>
                      <a:endParaRPr lang="zh-CN" sz="2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pPr algn="ctr" eaLnBrk="0" fontAlgn="base" hangingPunct="0"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effectLst/>
                        </a:rPr>
                        <a:t>1.58</a:t>
                      </a:r>
                      <a:endParaRPr lang="zh-CN" sz="2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常用的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数据预处理方法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min-max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（归一化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defTabSz="913765">
              <a:lnSpc>
                <a:spcPct val="150000"/>
              </a:lnSpc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新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（原数据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最小值）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（最大值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最小值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2400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z-score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标准化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（规范化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）：</a:t>
            </a:r>
            <a:endParaRPr lang="en-US" altLang="zh-CN" sz="24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457200" lvl="1" indent="0" defTabSz="913765">
              <a:lnSpc>
                <a:spcPct val="150000"/>
              </a:lnSpc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新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（原数据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均值）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标准差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“维度”就是指样本集中特征属性的个数，“降维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”指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的是降低特征矩阵中特征的数量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数据降维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Group 1"/>
          <p:cNvGrpSpPr>
            <a:grpSpLocks noChangeAspect="1"/>
          </p:cNvGrpSpPr>
          <p:nvPr/>
        </p:nvGrpSpPr>
        <p:grpSpPr bwMode="auto">
          <a:xfrm>
            <a:off x="308609" y="2420648"/>
            <a:ext cx="8651495" cy="3922473"/>
            <a:chOff x="1861" y="2063"/>
            <a:chExt cx="8238" cy="3736"/>
          </a:xfrm>
        </p:grpSpPr>
        <p:sp>
          <p:nvSpPr>
            <p:cNvPr id="4" name="AutoShape 30"/>
            <p:cNvSpPr>
              <a:spLocks noChangeAspect="1" noChangeArrowheads="1" noTextEdit="1"/>
            </p:cNvSpPr>
            <p:nvPr/>
          </p:nvSpPr>
          <p:spPr bwMode="auto">
            <a:xfrm>
              <a:off x="1861" y="2063"/>
              <a:ext cx="8030" cy="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" name="AutoShape 29"/>
            <p:cNvSpPr>
              <a:spLocks noChangeShapeType="1"/>
            </p:cNvSpPr>
            <p:nvPr/>
          </p:nvSpPr>
          <p:spPr bwMode="auto">
            <a:xfrm>
              <a:off x="2108" y="4330"/>
              <a:ext cx="297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6" name="AutoShape 28"/>
            <p:cNvSpPr>
              <a:spLocks noChangeShapeType="1"/>
            </p:cNvSpPr>
            <p:nvPr/>
          </p:nvSpPr>
          <p:spPr bwMode="auto">
            <a:xfrm flipH="1" flipV="1">
              <a:off x="2295" y="2064"/>
              <a:ext cx="9" cy="2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2566" y="3951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8" name="Oval 26"/>
            <p:cNvSpPr>
              <a:spLocks noChangeArrowheads="1"/>
            </p:cNvSpPr>
            <p:nvPr/>
          </p:nvSpPr>
          <p:spPr bwMode="auto">
            <a:xfrm>
              <a:off x="3157" y="3480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9" name="Oval 25"/>
            <p:cNvSpPr>
              <a:spLocks noChangeArrowheads="1"/>
            </p:cNvSpPr>
            <p:nvPr/>
          </p:nvSpPr>
          <p:spPr bwMode="auto">
            <a:xfrm>
              <a:off x="4236" y="2670"/>
              <a:ext cx="86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0" name="Oval 24"/>
            <p:cNvSpPr>
              <a:spLocks noChangeArrowheads="1"/>
            </p:cNvSpPr>
            <p:nvPr/>
          </p:nvSpPr>
          <p:spPr bwMode="auto">
            <a:xfrm>
              <a:off x="3770" y="3069"/>
              <a:ext cx="85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1" name="Text Box 23"/>
            <p:cNvSpPr txBox="1">
              <a:spLocks noChangeArrowheads="1"/>
            </p:cNvSpPr>
            <p:nvPr/>
          </p:nvSpPr>
          <p:spPr bwMode="auto">
            <a:xfrm>
              <a:off x="4539" y="4236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1861" y="2216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AutoShape 21"/>
            <p:cNvSpPr>
              <a:spLocks noChangeShapeType="1"/>
            </p:cNvSpPr>
            <p:nvPr/>
          </p:nvSpPr>
          <p:spPr bwMode="auto">
            <a:xfrm>
              <a:off x="6920" y="4329"/>
              <a:ext cx="297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4" name="AutoShape 20"/>
            <p:cNvSpPr>
              <a:spLocks noChangeShapeType="1"/>
            </p:cNvSpPr>
            <p:nvPr/>
          </p:nvSpPr>
          <p:spPr bwMode="auto">
            <a:xfrm flipH="1" flipV="1">
              <a:off x="7107" y="2063"/>
              <a:ext cx="9" cy="2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7378" y="3950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>
              <a:off x="7969" y="3479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9048" y="2669"/>
              <a:ext cx="86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8582" y="3068"/>
              <a:ext cx="85" cy="8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559" y="4340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AutoShape 14"/>
            <p:cNvSpPr>
              <a:spLocks noChangeShapeType="1"/>
            </p:cNvSpPr>
            <p:nvPr/>
          </p:nvSpPr>
          <p:spPr bwMode="auto">
            <a:xfrm flipV="1">
              <a:off x="7107" y="2498"/>
              <a:ext cx="2244" cy="18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2" name="AutoShape 13"/>
            <p:cNvSpPr>
              <a:spLocks noChangeShapeType="1"/>
            </p:cNvSpPr>
            <p:nvPr/>
          </p:nvSpPr>
          <p:spPr bwMode="auto">
            <a:xfrm flipH="1" flipV="1">
              <a:off x="6013" y="3152"/>
              <a:ext cx="1103" cy="11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9289" y="2402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6013" y="2856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000" b="0" i="0" u="none" strike="noStrike" cap="none" normalizeH="0" baseline="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5736" y="5467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6253" y="5468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7" name="AutoShape 8"/>
            <p:cNvSpPr>
              <a:spLocks noChangeShapeType="1"/>
            </p:cNvSpPr>
            <p:nvPr/>
          </p:nvSpPr>
          <p:spPr bwMode="auto">
            <a:xfrm>
              <a:off x="5234" y="5551"/>
              <a:ext cx="297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8" name="Oval 7"/>
            <p:cNvSpPr>
              <a:spLocks noChangeArrowheads="1"/>
            </p:cNvSpPr>
            <p:nvPr/>
          </p:nvSpPr>
          <p:spPr bwMode="auto">
            <a:xfrm>
              <a:off x="6889" y="5551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9" name="Oval 6"/>
            <p:cNvSpPr>
              <a:spLocks noChangeArrowheads="1"/>
            </p:cNvSpPr>
            <p:nvPr/>
          </p:nvSpPr>
          <p:spPr bwMode="auto">
            <a:xfrm>
              <a:off x="7618" y="5466"/>
              <a:ext cx="85" cy="8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0" name="Text Box 5"/>
            <p:cNvSpPr txBox="1">
              <a:spLocks noChangeArrowheads="1"/>
            </p:cNvSpPr>
            <p:nvPr/>
          </p:nvSpPr>
          <p:spPr bwMode="auto">
            <a:xfrm>
              <a:off x="6734" y="2215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8294" y="5345"/>
              <a:ext cx="540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000" b="0" i="0" u="none" strike="noStrike" cap="none" normalizeH="0" baseline="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AutoShape 3"/>
            <p:cNvSpPr>
              <a:spLocks noChangeArrowheads="1"/>
            </p:cNvSpPr>
            <p:nvPr/>
          </p:nvSpPr>
          <p:spPr bwMode="auto">
            <a:xfrm>
              <a:off x="4909" y="2402"/>
              <a:ext cx="1104" cy="352"/>
            </a:xfrm>
            <a:prstGeom prst="rightArrow">
              <a:avLst>
                <a:gd name="adj1" fmla="val 50000"/>
                <a:gd name="adj2" fmla="val 78409"/>
              </a:avLst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3" name="AutoShape 2"/>
            <p:cNvSpPr>
              <a:spLocks noChangeArrowheads="1"/>
            </p:cNvSpPr>
            <p:nvPr/>
          </p:nvSpPr>
          <p:spPr bwMode="auto">
            <a:xfrm rot="5400000">
              <a:off x="7072" y="4630"/>
              <a:ext cx="859" cy="352"/>
            </a:xfrm>
            <a:prstGeom prst="rightArrow">
              <a:avLst>
                <a:gd name="adj1" fmla="val 50000"/>
                <a:gd name="adj2" fmla="val 61009"/>
              </a:avLst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2.2.3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数据降维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73314" y="906307"/>
            <a:ext cx="82513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/>
              <a:t>维度灾难会导致分类器出现过</a:t>
            </a:r>
            <a:r>
              <a:rPr lang="zh-CN" altLang="zh-CN" sz="2800" dirty="0" smtClean="0"/>
              <a:t>拟合</a:t>
            </a:r>
            <a:r>
              <a:rPr lang="zh-CN" altLang="en-US" sz="2800" dirty="0" smtClean="0"/>
              <a:t>，</a:t>
            </a:r>
            <a:r>
              <a:rPr lang="zh-CN" altLang="zh-CN" sz="2800" dirty="0" smtClean="0"/>
              <a:t>这</a:t>
            </a:r>
            <a:r>
              <a:rPr lang="zh-CN" altLang="zh-CN" sz="2800" dirty="0"/>
              <a:t>是因为在样本容量固定时，随着特征数量的增加，单位空间内的样本数量会变</a:t>
            </a:r>
            <a:r>
              <a:rPr lang="zh-CN" altLang="zh-CN" sz="2800" dirty="0" smtClean="0"/>
              <a:t>少</a:t>
            </a:r>
            <a:endParaRPr lang="zh-CN" altLang="en-US" sz="2800" dirty="0"/>
          </a:p>
        </p:txBody>
      </p:sp>
      <p:grpSp>
        <p:nvGrpSpPr>
          <p:cNvPr id="49" name="Group 1"/>
          <p:cNvGrpSpPr>
            <a:grpSpLocks noChangeAspect="1"/>
          </p:cNvGrpSpPr>
          <p:nvPr/>
        </p:nvGrpSpPr>
        <p:grpSpPr bwMode="auto">
          <a:xfrm>
            <a:off x="604853" y="2508988"/>
            <a:ext cx="8033839" cy="742950"/>
            <a:chOff x="2006" y="7230"/>
            <a:chExt cx="7305" cy="1170"/>
          </a:xfrm>
        </p:grpSpPr>
        <p:sp>
          <p:nvSpPr>
            <p:cNvPr id="50" name="AutoShape 37"/>
            <p:cNvSpPr>
              <a:spLocks noChangeAspect="1" noChangeArrowheads="1" noTextEdit="1"/>
            </p:cNvSpPr>
            <p:nvPr/>
          </p:nvSpPr>
          <p:spPr bwMode="auto">
            <a:xfrm>
              <a:off x="2006" y="7230"/>
              <a:ext cx="7305" cy="1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1" name="AutoShape 36"/>
            <p:cNvSpPr>
              <a:spLocks noChangeShapeType="1"/>
            </p:cNvSpPr>
            <p:nvPr/>
          </p:nvSpPr>
          <p:spPr bwMode="auto">
            <a:xfrm flipV="1">
              <a:off x="2130" y="7790"/>
              <a:ext cx="7046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2" name="AutoShape 35"/>
            <p:cNvSpPr>
              <a:spLocks noChangeShapeType="1"/>
            </p:cNvSpPr>
            <p:nvPr/>
          </p:nvSpPr>
          <p:spPr bwMode="auto">
            <a:xfrm flipV="1">
              <a:off x="2130" y="7230"/>
              <a:ext cx="0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3" name="AutoShape 34"/>
            <p:cNvSpPr>
              <a:spLocks noChangeShapeType="1"/>
            </p:cNvSpPr>
            <p:nvPr/>
          </p:nvSpPr>
          <p:spPr bwMode="auto">
            <a:xfrm flipV="1">
              <a:off x="3765" y="7230"/>
              <a:ext cx="1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4" name="AutoShape 33"/>
            <p:cNvSpPr>
              <a:spLocks noChangeShapeType="1"/>
            </p:cNvSpPr>
            <p:nvPr/>
          </p:nvSpPr>
          <p:spPr bwMode="auto">
            <a:xfrm flipV="1">
              <a:off x="5430" y="7230"/>
              <a:ext cx="2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5" name="AutoShape 32"/>
            <p:cNvSpPr>
              <a:spLocks noChangeShapeType="1"/>
            </p:cNvSpPr>
            <p:nvPr/>
          </p:nvSpPr>
          <p:spPr bwMode="auto">
            <a:xfrm flipV="1">
              <a:off x="7096" y="7230"/>
              <a:ext cx="1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6" name="AutoShape 31"/>
            <p:cNvSpPr>
              <a:spLocks noChangeShapeType="1"/>
            </p:cNvSpPr>
            <p:nvPr/>
          </p:nvSpPr>
          <p:spPr bwMode="auto">
            <a:xfrm flipV="1">
              <a:off x="8775" y="7230"/>
              <a:ext cx="1" cy="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4000"/>
            </a:p>
          </p:txBody>
        </p:sp>
        <p:sp>
          <p:nvSpPr>
            <p:cNvPr id="57" name="文本框 190"/>
            <p:cNvSpPr txBox="1">
              <a:spLocks noChangeArrowheads="1"/>
            </p:cNvSpPr>
            <p:nvPr/>
          </p:nvSpPr>
          <p:spPr bwMode="auto">
            <a:xfrm>
              <a:off x="2593" y="7800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区域</a:t>
              </a: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8" name="文本框 190"/>
            <p:cNvSpPr txBox="1">
              <a:spLocks noChangeArrowheads="1"/>
            </p:cNvSpPr>
            <p:nvPr/>
          </p:nvSpPr>
          <p:spPr bwMode="auto">
            <a:xfrm>
              <a:off x="4273" y="7800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区域</a:t>
              </a: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9" name="文本框 190"/>
            <p:cNvSpPr txBox="1">
              <a:spLocks noChangeArrowheads="1"/>
            </p:cNvSpPr>
            <p:nvPr/>
          </p:nvSpPr>
          <p:spPr bwMode="auto">
            <a:xfrm>
              <a:off x="5897" y="7800"/>
              <a:ext cx="12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区域</a:t>
              </a: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" name="文本框 190"/>
            <p:cNvSpPr txBox="1">
              <a:spLocks noChangeArrowheads="1"/>
            </p:cNvSpPr>
            <p:nvPr/>
          </p:nvSpPr>
          <p:spPr bwMode="auto">
            <a:xfrm>
              <a:off x="7576" y="7800"/>
              <a:ext cx="1199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区域</a:t>
              </a: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1" name="文本框 190"/>
            <p:cNvSpPr txBox="1">
              <a:spLocks noChangeArrowheads="1"/>
            </p:cNvSpPr>
            <p:nvPr/>
          </p:nvSpPr>
          <p:spPr bwMode="auto">
            <a:xfrm>
              <a:off x="2006" y="7800"/>
              <a:ext cx="407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2" name="文本框 190"/>
            <p:cNvSpPr txBox="1">
              <a:spLocks noChangeArrowheads="1"/>
            </p:cNvSpPr>
            <p:nvPr/>
          </p:nvSpPr>
          <p:spPr bwMode="auto">
            <a:xfrm>
              <a:off x="3613" y="7800"/>
              <a:ext cx="407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3" name="文本框 190"/>
            <p:cNvSpPr txBox="1">
              <a:spLocks noChangeArrowheads="1"/>
            </p:cNvSpPr>
            <p:nvPr/>
          </p:nvSpPr>
          <p:spPr bwMode="auto">
            <a:xfrm>
              <a:off x="6898" y="7800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" name="文本框 190"/>
            <p:cNvSpPr txBox="1">
              <a:spLocks noChangeArrowheads="1"/>
            </p:cNvSpPr>
            <p:nvPr/>
          </p:nvSpPr>
          <p:spPr bwMode="auto">
            <a:xfrm>
              <a:off x="5201" y="7800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5" name="文本框 190"/>
            <p:cNvSpPr txBox="1">
              <a:spLocks noChangeArrowheads="1"/>
            </p:cNvSpPr>
            <p:nvPr/>
          </p:nvSpPr>
          <p:spPr bwMode="auto">
            <a:xfrm>
              <a:off x="8487" y="7800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endParaRPr kumimoji="0" lang="en-US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6" name="文本框 190"/>
            <p:cNvSpPr txBox="1">
              <a:spLocks noChangeArrowheads="1"/>
            </p:cNvSpPr>
            <p:nvPr/>
          </p:nvSpPr>
          <p:spPr bwMode="auto">
            <a:xfrm>
              <a:off x="2921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7" name="文本框 190"/>
            <p:cNvSpPr txBox="1">
              <a:spLocks noChangeArrowheads="1"/>
            </p:cNvSpPr>
            <p:nvPr/>
          </p:nvSpPr>
          <p:spPr bwMode="auto">
            <a:xfrm>
              <a:off x="2291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8" name="文本框 190"/>
            <p:cNvSpPr txBox="1">
              <a:spLocks noChangeArrowheads="1"/>
            </p:cNvSpPr>
            <p:nvPr/>
          </p:nvSpPr>
          <p:spPr bwMode="auto">
            <a:xfrm>
              <a:off x="4020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文本框 190"/>
            <p:cNvSpPr txBox="1">
              <a:spLocks noChangeArrowheads="1"/>
            </p:cNvSpPr>
            <p:nvPr/>
          </p:nvSpPr>
          <p:spPr bwMode="auto">
            <a:xfrm>
              <a:off x="4427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0" name="文本框 190"/>
            <p:cNvSpPr txBox="1">
              <a:spLocks noChangeArrowheads="1"/>
            </p:cNvSpPr>
            <p:nvPr/>
          </p:nvSpPr>
          <p:spPr bwMode="auto">
            <a:xfrm>
              <a:off x="4834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文本框 190"/>
            <p:cNvSpPr txBox="1">
              <a:spLocks noChangeArrowheads="1"/>
            </p:cNvSpPr>
            <p:nvPr/>
          </p:nvSpPr>
          <p:spPr bwMode="auto">
            <a:xfrm>
              <a:off x="4619" y="7267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文本框 190"/>
            <p:cNvSpPr txBox="1">
              <a:spLocks noChangeArrowheads="1"/>
            </p:cNvSpPr>
            <p:nvPr/>
          </p:nvSpPr>
          <p:spPr bwMode="auto">
            <a:xfrm>
              <a:off x="5897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3" name="文本框 190"/>
            <p:cNvSpPr txBox="1">
              <a:spLocks noChangeArrowheads="1"/>
            </p:cNvSpPr>
            <p:nvPr/>
          </p:nvSpPr>
          <p:spPr bwMode="auto">
            <a:xfrm>
              <a:off x="6491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4" name="文本框 190"/>
            <p:cNvSpPr txBox="1">
              <a:spLocks noChangeArrowheads="1"/>
            </p:cNvSpPr>
            <p:nvPr/>
          </p:nvSpPr>
          <p:spPr bwMode="auto">
            <a:xfrm>
              <a:off x="7470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5" name="文本框 190"/>
            <p:cNvSpPr txBox="1">
              <a:spLocks noChangeArrowheads="1"/>
            </p:cNvSpPr>
            <p:nvPr/>
          </p:nvSpPr>
          <p:spPr bwMode="auto">
            <a:xfrm>
              <a:off x="7877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6" name="文本框 190"/>
            <p:cNvSpPr txBox="1">
              <a:spLocks noChangeArrowheads="1"/>
            </p:cNvSpPr>
            <p:nvPr/>
          </p:nvSpPr>
          <p:spPr bwMode="auto">
            <a:xfrm>
              <a:off x="8284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7" name="文本框 190"/>
            <p:cNvSpPr txBox="1">
              <a:spLocks noChangeArrowheads="1"/>
            </p:cNvSpPr>
            <p:nvPr/>
          </p:nvSpPr>
          <p:spPr bwMode="auto">
            <a:xfrm>
              <a:off x="2593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8" name="文本框 190"/>
            <p:cNvSpPr txBox="1">
              <a:spLocks noChangeArrowheads="1"/>
            </p:cNvSpPr>
            <p:nvPr/>
          </p:nvSpPr>
          <p:spPr bwMode="auto">
            <a:xfrm>
              <a:off x="3206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9" name="文本框 190"/>
            <p:cNvSpPr txBox="1">
              <a:spLocks noChangeArrowheads="1"/>
            </p:cNvSpPr>
            <p:nvPr/>
          </p:nvSpPr>
          <p:spPr bwMode="auto">
            <a:xfrm>
              <a:off x="3478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0" name="文本框 190"/>
            <p:cNvSpPr txBox="1">
              <a:spLocks noChangeArrowheads="1"/>
            </p:cNvSpPr>
            <p:nvPr/>
          </p:nvSpPr>
          <p:spPr bwMode="auto">
            <a:xfrm>
              <a:off x="3793" y="730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1" name="文本框 190"/>
            <p:cNvSpPr txBox="1">
              <a:spLocks noChangeArrowheads="1"/>
            </p:cNvSpPr>
            <p:nvPr/>
          </p:nvSpPr>
          <p:spPr bwMode="auto">
            <a:xfrm>
              <a:off x="5432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2" name="文本框 190"/>
            <p:cNvSpPr txBox="1">
              <a:spLocks noChangeArrowheads="1"/>
            </p:cNvSpPr>
            <p:nvPr/>
          </p:nvSpPr>
          <p:spPr bwMode="auto">
            <a:xfrm>
              <a:off x="5689" y="730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3" name="文本框 190"/>
            <p:cNvSpPr txBox="1">
              <a:spLocks noChangeArrowheads="1"/>
            </p:cNvSpPr>
            <p:nvPr/>
          </p:nvSpPr>
          <p:spPr bwMode="auto">
            <a:xfrm>
              <a:off x="6246" y="7305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4" name="文本框 190"/>
            <p:cNvSpPr txBox="1">
              <a:spLocks noChangeArrowheads="1"/>
            </p:cNvSpPr>
            <p:nvPr/>
          </p:nvSpPr>
          <p:spPr bwMode="auto">
            <a:xfrm>
              <a:off x="6898" y="7306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5" name="文本框 190"/>
            <p:cNvSpPr txBox="1">
              <a:spLocks noChangeArrowheads="1"/>
            </p:cNvSpPr>
            <p:nvPr/>
          </p:nvSpPr>
          <p:spPr bwMode="auto">
            <a:xfrm>
              <a:off x="7305" y="7306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4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86" name="Group 1"/>
          <p:cNvGrpSpPr>
            <a:grpSpLocks noChangeAspect="1"/>
          </p:cNvGrpSpPr>
          <p:nvPr/>
        </p:nvGrpSpPr>
        <p:grpSpPr bwMode="auto">
          <a:xfrm>
            <a:off x="2421841" y="3469624"/>
            <a:ext cx="4796879" cy="3146424"/>
            <a:chOff x="1569" y="3411"/>
            <a:chExt cx="7607" cy="4989"/>
          </a:xfrm>
        </p:grpSpPr>
        <p:sp>
          <p:nvSpPr>
            <p:cNvPr id="87" name="AutoShape 42"/>
            <p:cNvSpPr>
              <a:spLocks noChangeAspect="1" noChangeArrowheads="1" noTextEdit="1"/>
            </p:cNvSpPr>
            <p:nvPr/>
          </p:nvSpPr>
          <p:spPr bwMode="auto">
            <a:xfrm>
              <a:off x="1569" y="3411"/>
              <a:ext cx="7607" cy="4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88" name="AutoShape 41"/>
            <p:cNvSpPr>
              <a:spLocks noChangeShapeType="1"/>
            </p:cNvSpPr>
            <p:nvPr/>
          </p:nvSpPr>
          <p:spPr bwMode="auto">
            <a:xfrm flipV="1">
              <a:off x="2130" y="7790"/>
              <a:ext cx="7046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89" name="AutoShape 40"/>
            <p:cNvSpPr>
              <a:spLocks noChangeShapeType="1"/>
            </p:cNvSpPr>
            <p:nvPr/>
          </p:nvSpPr>
          <p:spPr bwMode="auto">
            <a:xfrm flipH="1" flipV="1">
              <a:off x="3746" y="3844"/>
              <a:ext cx="19" cy="39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90" name="AutoShape 39"/>
            <p:cNvSpPr>
              <a:spLocks noChangeShapeType="1"/>
            </p:cNvSpPr>
            <p:nvPr/>
          </p:nvSpPr>
          <p:spPr bwMode="auto">
            <a:xfrm flipH="1" flipV="1">
              <a:off x="5410" y="3844"/>
              <a:ext cx="20" cy="39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91" name="AutoShape 38"/>
            <p:cNvSpPr>
              <a:spLocks noChangeShapeType="1"/>
            </p:cNvSpPr>
            <p:nvPr/>
          </p:nvSpPr>
          <p:spPr bwMode="auto">
            <a:xfrm flipH="1" flipV="1">
              <a:off x="7089" y="3845"/>
              <a:ext cx="7" cy="39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92" name="AutoShape 37"/>
            <p:cNvSpPr>
              <a:spLocks noChangeShapeType="1"/>
            </p:cNvSpPr>
            <p:nvPr/>
          </p:nvSpPr>
          <p:spPr bwMode="auto">
            <a:xfrm flipH="1" flipV="1">
              <a:off x="8748" y="3845"/>
              <a:ext cx="27" cy="39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93" name="文本框 190"/>
            <p:cNvSpPr txBox="1">
              <a:spLocks noChangeArrowheads="1"/>
            </p:cNvSpPr>
            <p:nvPr/>
          </p:nvSpPr>
          <p:spPr bwMode="auto">
            <a:xfrm>
              <a:off x="2006" y="8197"/>
              <a:ext cx="407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4" name="文本框 190"/>
            <p:cNvSpPr txBox="1">
              <a:spLocks noChangeArrowheads="1"/>
            </p:cNvSpPr>
            <p:nvPr/>
          </p:nvSpPr>
          <p:spPr bwMode="auto">
            <a:xfrm>
              <a:off x="3613" y="7800"/>
              <a:ext cx="407" cy="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5" name="文本框 190"/>
            <p:cNvSpPr txBox="1">
              <a:spLocks noChangeArrowheads="1"/>
            </p:cNvSpPr>
            <p:nvPr/>
          </p:nvSpPr>
          <p:spPr bwMode="auto">
            <a:xfrm>
              <a:off x="6898" y="7800"/>
              <a:ext cx="572" cy="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6" name="文本框 190"/>
            <p:cNvSpPr txBox="1">
              <a:spLocks noChangeArrowheads="1"/>
            </p:cNvSpPr>
            <p:nvPr/>
          </p:nvSpPr>
          <p:spPr bwMode="auto">
            <a:xfrm>
              <a:off x="5201" y="7800"/>
              <a:ext cx="572" cy="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7" name="文本框 190"/>
            <p:cNvSpPr txBox="1">
              <a:spLocks noChangeArrowheads="1"/>
            </p:cNvSpPr>
            <p:nvPr/>
          </p:nvSpPr>
          <p:spPr bwMode="auto">
            <a:xfrm>
              <a:off x="8487" y="7800"/>
              <a:ext cx="572" cy="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8" name="文本框 190"/>
            <p:cNvSpPr txBox="1">
              <a:spLocks noChangeArrowheads="1"/>
            </p:cNvSpPr>
            <p:nvPr/>
          </p:nvSpPr>
          <p:spPr bwMode="auto">
            <a:xfrm>
              <a:off x="3000" y="402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9" name="文本框 190"/>
            <p:cNvSpPr txBox="1">
              <a:spLocks noChangeArrowheads="1"/>
            </p:cNvSpPr>
            <p:nvPr/>
          </p:nvSpPr>
          <p:spPr bwMode="auto">
            <a:xfrm>
              <a:off x="2381" y="497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0" name="文本框 190"/>
            <p:cNvSpPr txBox="1">
              <a:spLocks noChangeArrowheads="1"/>
            </p:cNvSpPr>
            <p:nvPr/>
          </p:nvSpPr>
          <p:spPr bwMode="auto">
            <a:xfrm>
              <a:off x="4020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1" name="文本框 190"/>
            <p:cNvSpPr txBox="1">
              <a:spLocks noChangeArrowheads="1"/>
            </p:cNvSpPr>
            <p:nvPr/>
          </p:nvSpPr>
          <p:spPr bwMode="auto">
            <a:xfrm>
              <a:off x="4294" y="402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2" name="文本框 190"/>
            <p:cNvSpPr txBox="1">
              <a:spLocks noChangeArrowheads="1"/>
            </p:cNvSpPr>
            <p:nvPr/>
          </p:nvSpPr>
          <p:spPr bwMode="auto">
            <a:xfrm>
              <a:off x="4834" y="597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3" name="文本框 190"/>
            <p:cNvSpPr txBox="1">
              <a:spLocks noChangeArrowheads="1"/>
            </p:cNvSpPr>
            <p:nvPr/>
          </p:nvSpPr>
          <p:spPr bwMode="auto">
            <a:xfrm>
              <a:off x="4273" y="511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" name="文本框 190"/>
            <p:cNvSpPr txBox="1">
              <a:spLocks noChangeArrowheads="1"/>
            </p:cNvSpPr>
            <p:nvPr/>
          </p:nvSpPr>
          <p:spPr bwMode="auto">
            <a:xfrm>
              <a:off x="5963" y="429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5" name="文本框 190"/>
            <p:cNvSpPr txBox="1">
              <a:spLocks noChangeArrowheads="1"/>
            </p:cNvSpPr>
            <p:nvPr/>
          </p:nvSpPr>
          <p:spPr bwMode="auto">
            <a:xfrm>
              <a:off x="6491" y="411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6" name="文本框 190"/>
            <p:cNvSpPr txBox="1">
              <a:spLocks noChangeArrowheads="1"/>
            </p:cNvSpPr>
            <p:nvPr/>
          </p:nvSpPr>
          <p:spPr bwMode="auto">
            <a:xfrm>
              <a:off x="7744" y="597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7" name="文本框 190"/>
            <p:cNvSpPr txBox="1">
              <a:spLocks noChangeArrowheads="1"/>
            </p:cNvSpPr>
            <p:nvPr/>
          </p:nvSpPr>
          <p:spPr bwMode="auto">
            <a:xfrm>
              <a:off x="7579" y="497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8" name="文本框 190"/>
            <p:cNvSpPr txBox="1">
              <a:spLocks noChangeArrowheads="1"/>
            </p:cNvSpPr>
            <p:nvPr/>
          </p:nvSpPr>
          <p:spPr bwMode="auto">
            <a:xfrm>
              <a:off x="8284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■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9" name="文本框 190"/>
            <p:cNvSpPr txBox="1">
              <a:spLocks noChangeArrowheads="1"/>
            </p:cNvSpPr>
            <p:nvPr/>
          </p:nvSpPr>
          <p:spPr bwMode="auto">
            <a:xfrm>
              <a:off x="2593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0" name="文本框 190"/>
            <p:cNvSpPr txBox="1">
              <a:spLocks noChangeArrowheads="1"/>
            </p:cNvSpPr>
            <p:nvPr/>
          </p:nvSpPr>
          <p:spPr bwMode="auto">
            <a:xfrm>
              <a:off x="3206" y="7230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1" name="文本框 190"/>
            <p:cNvSpPr txBox="1">
              <a:spLocks noChangeArrowheads="1"/>
            </p:cNvSpPr>
            <p:nvPr/>
          </p:nvSpPr>
          <p:spPr bwMode="auto">
            <a:xfrm>
              <a:off x="3253" y="5704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2" name="文本框 190"/>
            <p:cNvSpPr txBox="1">
              <a:spLocks noChangeArrowheads="1"/>
            </p:cNvSpPr>
            <p:nvPr/>
          </p:nvSpPr>
          <p:spPr bwMode="auto">
            <a:xfrm>
              <a:off x="3887" y="597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3" name="文本框 190"/>
            <p:cNvSpPr txBox="1">
              <a:spLocks noChangeArrowheads="1"/>
            </p:cNvSpPr>
            <p:nvPr/>
          </p:nvSpPr>
          <p:spPr bwMode="auto">
            <a:xfrm>
              <a:off x="5432" y="7305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4" name="文本框 190"/>
            <p:cNvSpPr txBox="1">
              <a:spLocks noChangeArrowheads="1"/>
            </p:cNvSpPr>
            <p:nvPr/>
          </p:nvSpPr>
          <p:spPr bwMode="auto">
            <a:xfrm>
              <a:off x="5706" y="5209"/>
              <a:ext cx="407" cy="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5" name="文本框 190"/>
            <p:cNvSpPr txBox="1">
              <a:spLocks noChangeArrowheads="1"/>
            </p:cNvSpPr>
            <p:nvPr/>
          </p:nvSpPr>
          <p:spPr bwMode="auto">
            <a:xfrm>
              <a:off x="6171" y="5110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6" name="文本框 190"/>
            <p:cNvSpPr txBox="1">
              <a:spLocks noChangeArrowheads="1"/>
            </p:cNvSpPr>
            <p:nvPr/>
          </p:nvSpPr>
          <p:spPr bwMode="auto">
            <a:xfrm>
              <a:off x="6358" y="6381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7" name="文本框 190"/>
            <p:cNvSpPr txBox="1">
              <a:spLocks noChangeArrowheads="1"/>
            </p:cNvSpPr>
            <p:nvPr/>
          </p:nvSpPr>
          <p:spPr bwMode="auto">
            <a:xfrm>
              <a:off x="7337" y="6199"/>
              <a:ext cx="407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宋体" panose="02010600030101010101" pitchFamily="2" charset="-122"/>
                </a:rPr>
                <a:t>▲</a:t>
              </a:r>
              <a:endParaRPr kumimoji="0" lang="zh-CN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8" name="AutoShape 11"/>
            <p:cNvSpPr>
              <a:spLocks noChangeShapeType="1"/>
            </p:cNvSpPr>
            <p:nvPr/>
          </p:nvSpPr>
          <p:spPr bwMode="auto">
            <a:xfrm flipH="1" flipV="1">
              <a:off x="2105" y="3567"/>
              <a:ext cx="22" cy="4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119" name="AutoShape 10"/>
            <p:cNvSpPr>
              <a:spLocks noChangeShapeType="1"/>
            </p:cNvSpPr>
            <p:nvPr/>
          </p:nvSpPr>
          <p:spPr bwMode="auto">
            <a:xfrm>
              <a:off x="2130" y="6769"/>
              <a:ext cx="664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120" name="AutoShape 9"/>
            <p:cNvSpPr>
              <a:spLocks noChangeShapeType="1"/>
            </p:cNvSpPr>
            <p:nvPr/>
          </p:nvSpPr>
          <p:spPr bwMode="auto">
            <a:xfrm>
              <a:off x="2130" y="5807"/>
              <a:ext cx="66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121" name="AutoShape 8"/>
            <p:cNvSpPr>
              <a:spLocks noChangeShapeType="1"/>
            </p:cNvSpPr>
            <p:nvPr/>
          </p:nvSpPr>
          <p:spPr bwMode="auto">
            <a:xfrm>
              <a:off x="2105" y="4789"/>
              <a:ext cx="66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122" name="AutoShape 7"/>
            <p:cNvSpPr>
              <a:spLocks noChangeShapeType="1"/>
            </p:cNvSpPr>
            <p:nvPr/>
          </p:nvSpPr>
          <p:spPr bwMode="auto">
            <a:xfrm>
              <a:off x="2105" y="3844"/>
              <a:ext cx="66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123" name="文本框 190"/>
            <p:cNvSpPr txBox="1">
              <a:spLocks noChangeArrowheads="1"/>
            </p:cNvSpPr>
            <p:nvPr/>
          </p:nvSpPr>
          <p:spPr bwMode="auto">
            <a:xfrm>
              <a:off x="1911" y="7790"/>
              <a:ext cx="407" cy="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4" name="文本框 190"/>
            <p:cNvSpPr txBox="1">
              <a:spLocks noChangeArrowheads="1"/>
            </p:cNvSpPr>
            <p:nvPr/>
          </p:nvSpPr>
          <p:spPr bwMode="auto">
            <a:xfrm>
              <a:off x="1787" y="6534"/>
              <a:ext cx="407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5" name="文本框 190"/>
            <p:cNvSpPr txBox="1">
              <a:spLocks noChangeArrowheads="1"/>
            </p:cNvSpPr>
            <p:nvPr/>
          </p:nvSpPr>
          <p:spPr bwMode="auto">
            <a:xfrm>
              <a:off x="1667" y="5584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6" name="文本框 190"/>
            <p:cNvSpPr txBox="1">
              <a:spLocks noChangeArrowheads="1"/>
            </p:cNvSpPr>
            <p:nvPr/>
          </p:nvSpPr>
          <p:spPr bwMode="auto">
            <a:xfrm>
              <a:off x="1637" y="4540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15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7" name="文本框 190"/>
            <p:cNvSpPr txBox="1">
              <a:spLocks noChangeArrowheads="1"/>
            </p:cNvSpPr>
            <p:nvPr/>
          </p:nvSpPr>
          <p:spPr bwMode="auto">
            <a:xfrm>
              <a:off x="1622" y="3694"/>
              <a:ext cx="572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20</a:t>
              </a:r>
              <a:endParaRPr kumimoji="0" lang="en-US" altLang="zh-CN" sz="3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3893405" y="146721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700499" y="1467217"/>
            <a:ext cx="3459941" cy="511238"/>
            <a:chOff x="6339097" y="1573726"/>
            <a:chExt cx="3744416" cy="511504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49" y="1614014"/>
              <a:ext cx="319682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机器学习的概念和步骤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3893405" y="2303235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682598" y="2303235"/>
            <a:ext cx="3806082" cy="511238"/>
            <a:chOff x="6315199" y="2410178"/>
            <a:chExt cx="4097814" cy="511504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16745" y="2450466"/>
              <a:ext cx="3696268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机器学习的预处理环节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3893405" y="3188627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00500" y="3188625"/>
            <a:ext cx="3459941" cy="511238"/>
            <a:chOff x="6339097" y="3296031"/>
            <a:chExt cx="3744417" cy="511504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7" y="3336319"/>
              <a:ext cx="336016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机器学习的类型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3893405" y="407303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00499" y="4073036"/>
            <a:ext cx="3459941" cy="511237"/>
            <a:chOff x="6339097" y="4180903"/>
            <a:chExt cx="3744416" cy="511504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机器学习的历史和应用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04800" y="2219405"/>
            <a:ext cx="3426106" cy="1600329"/>
          </a:xfrm>
          <a:prstGeom prst="rect">
            <a:avLst/>
          </a:prstGeom>
          <a:noFill/>
        </p:spPr>
        <p:txBody>
          <a:bodyPr wrap="square" lIns="121817" tIns="60906" rIns="121817" bIns="60906">
            <a:spAutoFit/>
          </a:bodyPr>
          <a:lstStyle/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要</a:t>
            </a:r>
            <a:endParaRPr lang="en-US" altLang="zh-CN" sz="4800" b="1" spc="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 容</a:t>
            </a:r>
            <a:endParaRPr lang="zh-CN" altLang="en-US" sz="3200" b="1" spc="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3120727" y="3096482"/>
            <a:ext cx="575764" cy="695523"/>
          </a:xfrm>
          <a:prstGeom prst="downArrow">
            <a:avLst/>
          </a:prstGeom>
          <a:solidFill>
            <a:srgbClr val="F5A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94878" y="500267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 smtClean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701972" y="5002676"/>
            <a:ext cx="3459941" cy="511237"/>
            <a:chOff x="6339097" y="4180903"/>
            <a:chExt cx="3744416" cy="511504"/>
          </a:xfrm>
        </p:grpSpPr>
        <p:sp>
          <p:nvSpPr>
            <p:cNvPr id="27" name="圆角矩形 26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000" b="1" kern="100" dirty="0" err="1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Scikit</a:t>
              </a:r>
              <a:r>
                <a:rPr lang="en-US" altLang="zh-CN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-learn</a:t>
              </a: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机器学习库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按完成的任务来看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聚类模型、分类模型、回归模型和标注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聚类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Clustering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）模型用于将训练数据按照某种关系划分为多个簇，将关系相近的训练数据分在同一个簇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分类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Classification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）是机器学习应用中最为广泛的任务，它用于将某个事物判定为属于预先设定的多个类别中的某一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</a:t>
            </a:r>
            <a:endParaRPr lang="zh-CN" altLang="en-US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回归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Regression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）模型预测的不是属于哪一类，而是什么值，可以看作是将分类模型的类别数无限增加，即标签值不再只是几个离散的值了，而是连续的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值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标注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Tagging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）模型用于处理有前后关联关系的序列问题。它的输入是一个观测序列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，它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的输出是一个标签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序列</a:t>
            </a:r>
            <a:endParaRPr lang="zh-CN" altLang="en-US" sz="22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按学习的过程来看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411481" y="914400"/>
            <a:ext cx="8357616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监督学习、无监督学习和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半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监督学习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监督学习处理的对象是所谓的有标签训练数据，它利用有标签的训练数据来学习一个模型，它的目标是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用学到的模型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给无标签的测试数据打上标签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77" y="3120887"/>
            <a:ext cx="46291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/>
          <p:nvPr/>
        </p:nvSpPr>
        <p:spPr>
          <a:xfrm>
            <a:off x="5033727" y="2978213"/>
            <a:ext cx="3808520" cy="3520441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无监督学习的训练数据没有标签，它自动从训练数据中学习知识，建立模型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半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监督学习是监督学习和无监督学习相结合的一种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学习方法。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3893405" y="146721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700499" y="1467217"/>
            <a:ext cx="3459941" cy="511238"/>
            <a:chOff x="6339097" y="1573726"/>
            <a:chExt cx="3744416" cy="511504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49" y="1614014"/>
              <a:ext cx="319682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机器学习的概念和步骤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3893405" y="2303235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682598" y="2303235"/>
            <a:ext cx="3806082" cy="511238"/>
            <a:chOff x="6315199" y="2410178"/>
            <a:chExt cx="4097814" cy="511504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16745" y="2450466"/>
              <a:ext cx="3696268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机器学习的预处理环节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3893405" y="3188627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00500" y="3188625"/>
            <a:ext cx="3459941" cy="511238"/>
            <a:chOff x="6339097" y="3296031"/>
            <a:chExt cx="3744417" cy="511504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7" y="3336319"/>
              <a:ext cx="336016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机器学习的类型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3893405" y="407303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00499" y="4073036"/>
            <a:ext cx="3459941" cy="511237"/>
            <a:chOff x="6339097" y="4180903"/>
            <a:chExt cx="3744416" cy="511504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机器学习的历史和应用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04800" y="2219405"/>
            <a:ext cx="3426106" cy="1600329"/>
          </a:xfrm>
          <a:prstGeom prst="rect">
            <a:avLst/>
          </a:prstGeom>
          <a:noFill/>
        </p:spPr>
        <p:txBody>
          <a:bodyPr wrap="square" lIns="121817" tIns="60906" rIns="121817" bIns="60906">
            <a:spAutoFit/>
          </a:bodyPr>
          <a:lstStyle/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要</a:t>
            </a:r>
            <a:endParaRPr lang="en-US" altLang="zh-CN" sz="4800" b="1" spc="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 容</a:t>
            </a:r>
            <a:endParaRPr lang="zh-CN" altLang="en-US" sz="3200" b="1" spc="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3116768" y="3980893"/>
            <a:ext cx="575764" cy="695523"/>
          </a:xfrm>
          <a:prstGeom prst="downArrow">
            <a:avLst/>
          </a:prstGeom>
          <a:solidFill>
            <a:srgbClr val="F5A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94878" y="500267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 smtClean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701972" y="5002676"/>
            <a:ext cx="3459941" cy="511237"/>
            <a:chOff x="6339097" y="4180903"/>
            <a:chExt cx="3744416" cy="511504"/>
          </a:xfrm>
        </p:grpSpPr>
        <p:sp>
          <p:nvSpPr>
            <p:cNvPr id="27" name="圆角矩形 26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000" b="1" kern="100" dirty="0" err="1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Scikit</a:t>
              </a:r>
              <a:r>
                <a:rPr lang="en-US" altLang="zh-CN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-learn</a:t>
              </a: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机器学习库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机器学习的发展历史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1481" y="1277257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感知机模型</a:t>
            </a:r>
            <a:endParaRPr lang="zh-CN" altLang="en-US" sz="3200" b="1" dirty="0"/>
          </a:p>
        </p:txBody>
      </p:sp>
      <p:sp>
        <p:nvSpPr>
          <p:cNvPr id="12" name="矩形 11"/>
          <p:cNvSpPr/>
          <p:nvPr/>
        </p:nvSpPr>
        <p:spPr>
          <a:xfrm>
            <a:off x="411481" y="2423886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多层感知机</a:t>
            </a:r>
            <a:endParaRPr lang="zh-CN" altLang="en-US" sz="3200" b="1" dirty="0"/>
          </a:p>
        </p:txBody>
      </p:sp>
      <p:sp>
        <p:nvSpPr>
          <p:cNvPr id="13" name="矩形 12"/>
          <p:cNvSpPr/>
          <p:nvPr/>
        </p:nvSpPr>
        <p:spPr>
          <a:xfrm>
            <a:off x="411481" y="3614056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/>
              <a:t>BP</a:t>
            </a:r>
            <a:r>
              <a:rPr lang="zh-CN" altLang="en-US" sz="3200" b="1" dirty="0" smtClean="0"/>
              <a:t>神经网络</a:t>
            </a:r>
            <a:endParaRPr lang="zh-CN" altLang="en-US" sz="3200" b="1" dirty="0"/>
          </a:p>
        </p:txBody>
      </p:sp>
      <p:sp>
        <p:nvSpPr>
          <p:cNvPr id="14" name="矩形 13"/>
          <p:cNvSpPr/>
          <p:nvPr/>
        </p:nvSpPr>
        <p:spPr>
          <a:xfrm>
            <a:off x="411481" y="4789713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反向传播</a:t>
            </a:r>
            <a:endParaRPr lang="zh-CN" altLang="en-US" sz="3200" b="1" dirty="0"/>
          </a:p>
        </p:txBody>
      </p:sp>
      <p:sp>
        <p:nvSpPr>
          <p:cNvPr id="15" name="矩形 14"/>
          <p:cNvSpPr/>
          <p:nvPr/>
        </p:nvSpPr>
        <p:spPr>
          <a:xfrm>
            <a:off x="411481" y="5947664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深度神经网络</a:t>
            </a:r>
            <a:endParaRPr lang="zh-CN" altLang="en-US" sz="2800" b="1" dirty="0"/>
          </a:p>
        </p:txBody>
      </p:sp>
      <p:sp>
        <p:nvSpPr>
          <p:cNvPr id="16" name="矩形 15"/>
          <p:cNvSpPr/>
          <p:nvPr/>
        </p:nvSpPr>
        <p:spPr>
          <a:xfrm>
            <a:off x="3330885" y="1277257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支持向量机</a:t>
            </a:r>
            <a:endParaRPr lang="zh-CN" altLang="en-US" sz="3200" b="1" dirty="0"/>
          </a:p>
        </p:txBody>
      </p:sp>
      <p:sp>
        <p:nvSpPr>
          <p:cNvPr id="17" name="矩形 16"/>
          <p:cNvSpPr/>
          <p:nvPr/>
        </p:nvSpPr>
        <p:spPr>
          <a:xfrm>
            <a:off x="3490542" y="2423886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/>
              <a:t>K-</a:t>
            </a:r>
            <a:r>
              <a:rPr lang="zh-CN" altLang="en-US" sz="3200" b="1" dirty="0" smtClean="0"/>
              <a:t>近邻</a:t>
            </a:r>
            <a:endParaRPr lang="zh-CN" altLang="en-US" sz="3200" b="1" dirty="0"/>
          </a:p>
        </p:txBody>
      </p:sp>
      <p:sp>
        <p:nvSpPr>
          <p:cNvPr id="18" name="矩形 17"/>
          <p:cNvSpPr/>
          <p:nvPr/>
        </p:nvSpPr>
        <p:spPr>
          <a:xfrm>
            <a:off x="3490542" y="3614056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朴素贝叶斯</a:t>
            </a:r>
            <a:endParaRPr lang="zh-CN" altLang="en-US" sz="3200" b="1" dirty="0"/>
          </a:p>
        </p:txBody>
      </p:sp>
      <p:sp>
        <p:nvSpPr>
          <p:cNvPr id="19" name="矩形 18"/>
          <p:cNvSpPr/>
          <p:nvPr/>
        </p:nvSpPr>
        <p:spPr>
          <a:xfrm>
            <a:off x="3490542" y="4789713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决策树</a:t>
            </a:r>
            <a:endParaRPr lang="zh-CN" altLang="en-US" sz="3200" b="1" dirty="0"/>
          </a:p>
        </p:txBody>
      </p:sp>
      <p:sp>
        <p:nvSpPr>
          <p:cNvPr id="21" name="矩形 20"/>
          <p:cNvSpPr/>
          <p:nvPr/>
        </p:nvSpPr>
        <p:spPr>
          <a:xfrm>
            <a:off x="3490542" y="5958985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随机森林</a:t>
            </a:r>
            <a:endParaRPr lang="zh-CN" altLang="en-US" sz="3200" b="1" dirty="0"/>
          </a:p>
        </p:txBody>
      </p:sp>
      <p:sp>
        <p:nvSpPr>
          <p:cNvPr id="22" name="矩形 21"/>
          <p:cNvSpPr/>
          <p:nvPr/>
        </p:nvSpPr>
        <p:spPr>
          <a:xfrm>
            <a:off x="6250289" y="1277257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/>
              <a:t>HMM</a:t>
            </a:r>
            <a:endParaRPr lang="zh-CN" altLang="en-US" sz="3200" b="1" dirty="0"/>
          </a:p>
        </p:txBody>
      </p:sp>
      <p:sp>
        <p:nvSpPr>
          <p:cNvPr id="23" name="矩形 22"/>
          <p:cNvSpPr/>
          <p:nvPr/>
        </p:nvSpPr>
        <p:spPr>
          <a:xfrm>
            <a:off x="6329466" y="2423886"/>
            <a:ext cx="2491376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/>
              <a:t>EM</a:t>
            </a:r>
            <a:r>
              <a:rPr lang="zh-CN" altLang="en-US" sz="3200" b="1" dirty="0" smtClean="0"/>
              <a:t>算法</a:t>
            </a:r>
            <a:endParaRPr lang="zh-CN" altLang="en-US" sz="3200" b="1" dirty="0"/>
          </a:p>
        </p:txBody>
      </p:sp>
      <p:cxnSp>
        <p:nvCxnSpPr>
          <p:cNvPr id="24" name="直接箭头连接符 23"/>
          <p:cNvCxnSpPr>
            <a:stCxn id="11" idx="2"/>
            <a:endCxn id="12" idx="0"/>
          </p:cNvCxnSpPr>
          <p:nvPr/>
        </p:nvCxnSpPr>
        <p:spPr>
          <a:xfrm>
            <a:off x="1657169" y="1886857"/>
            <a:ext cx="0" cy="5370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2" idx="2"/>
            <a:endCxn id="13" idx="0"/>
          </p:cNvCxnSpPr>
          <p:nvPr/>
        </p:nvCxnSpPr>
        <p:spPr>
          <a:xfrm>
            <a:off x="1657169" y="3033486"/>
            <a:ext cx="0" cy="580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2"/>
            <a:endCxn id="14" idx="0"/>
          </p:cNvCxnSpPr>
          <p:nvPr/>
        </p:nvCxnSpPr>
        <p:spPr>
          <a:xfrm>
            <a:off x="1657169" y="4223656"/>
            <a:ext cx="0" cy="5660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4" idx="2"/>
            <a:endCxn id="15" idx="0"/>
          </p:cNvCxnSpPr>
          <p:nvPr/>
        </p:nvCxnSpPr>
        <p:spPr>
          <a:xfrm>
            <a:off x="1657169" y="5399313"/>
            <a:ext cx="0" cy="5483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9" idx="2"/>
            <a:endCxn id="21" idx="0"/>
          </p:cNvCxnSpPr>
          <p:nvPr/>
        </p:nvCxnSpPr>
        <p:spPr>
          <a:xfrm>
            <a:off x="4736230" y="5399313"/>
            <a:ext cx="0" cy="5596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2.4.2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机器学习的应用领域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ntent Placeholder 2"/>
          <p:cNvSpPr txBox="1"/>
          <p:nvPr/>
        </p:nvSpPr>
        <p:spPr>
          <a:xfrm>
            <a:off x="411481" y="914400"/>
            <a:ext cx="8653006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3765">
              <a:lnSpc>
                <a:spcPct val="15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语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音识别</a:t>
            </a:r>
            <a:b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——GMM-HMM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模型、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RNN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循环神经网络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765">
              <a:lnSpc>
                <a:spcPct val="150000"/>
              </a:lnSpc>
            </a:pP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计算机视觉</a:t>
            </a:r>
            <a:b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深度学习模型</a:t>
            </a:r>
            <a:endParaRPr lang="en-US" altLang="zh-CN" sz="2600" b="1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765">
              <a:lnSpc>
                <a:spcPct val="150000"/>
              </a:lnSpc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自然语言处理</a:t>
            </a:r>
            <a:b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强化学习方法、半监督学习方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法等</a:t>
            </a:r>
            <a:endParaRPr lang="en-US" altLang="zh-CN" sz="26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913765">
              <a:lnSpc>
                <a:spcPct val="150000"/>
              </a:lnSpc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大数据分析</a:t>
            </a:r>
            <a:b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基于机器学习对复杂多样的数据进行深层次的分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析</a:t>
            </a:r>
            <a:endParaRPr lang="en-US" altLang="zh-CN" sz="26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2.4.3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机器学习的学习路线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09600" y="167640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线</a:t>
            </a:r>
            <a:r>
              <a:rPr lang="zh-CN" altLang="en-US" sz="2800" b="1" dirty="0" smtClean="0"/>
              <a:t>性回归</a:t>
            </a:r>
            <a:endParaRPr lang="zh-CN" altLang="en-US" sz="2800" b="1" dirty="0"/>
          </a:p>
        </p:txBody>
      </p:sp>
      <p:sp>
        <p:nvSpPr>
          <p:cNvPr id="5" name="圆角矩形 4"/>
          <p:cNvSpPr/>
          <p:nvPr/>
        </p:nvSpPr>
        <p:spPr>
          <a:xfrm>
            <a:off x="609600" y="291084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逻辑回归</a:t>
            </a:r>
            <a:endParaRPr lang="zh-CN" altLang="en-US" sz="2800" b="1" dirty="0"/>
          </a:p>
        </p:txBody>
      </p:sp>
      <p:sp>
        <p:nvSpPr>
          <p:cNvPr id="6" name="圆角矩形 5"/>
          <p:cNvSpPr/>
          <p:nvPr/>
        </p:nvSpPr>
        <p:spPr>
          <a:xfrm>
            <a:off x="609600" y="422148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神经网络</a:t>
            </a:r>
            <a:endParaRPr lang="zh-CN" altLang="en-US" sz="2800" b="1" dirty="0"/>
          </a:p>
        </p:txBody>
      </p:sp>
      <p:sp>
        <p:nvSpPr>
          <p:cNvPr id="7" name="圆角矩形 6"/>
          <p:cNvSpPr/>
          <p:nvPr/>
        </p:nvSpPr>
        <p:spPr>
          <a:xfrm>
            <a:off x="609600" y="541020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深度学习</a:t>
            </a:r>
            <a:endParaRPr lang="zh-CN" altLang="en-US" sz="2800" b="1" dirty="0"/>
          </a:p>
        </p:txBody>
      </p:sp>
      <p:sp>
        <p:nvSpPr>
          <p:cNvPr id="8" name="圆角矩形 7"/>
          <p:cNvSpPr/>
          <p:nvPr/>
        </p:nvSpPr>
        <p:spPr>
          <a:xfrm>
            <a:off x="6172200" y="571500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支持向量机</a:t>
            </a:r>
            <a:endParaRPr lang="zh-CN" altLang="en-US" sz="2800" b="1" dirty="0"/>
          </a:p>
        </p:txBody>
      </p:sp>
      <p:sp>
        <p:nvSpPr>
          <p:cNvPr id="9" name="圆角矩形 8"/>
          <p:cNvSpPr/>
          <p:nvPr/>
        </p:nvSpPr>
        <p:spPr>
          <a:xfrm>
            <a:off x="3916680" y="4047744"/>
            <a:ext cx="138684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分类</a:t>
            </a:r>
            <a:endParaRPr lang="zh-CN" altLang="en-US" sz="2800" b="1" dirty="0"/>
          </a:p>
        </p:txBody>
      </p:sp>
      <p:sp>
        <p:nvSpPr>
          <p:cNvPr id="10" name="圆角矩形 9"/>
          <p:cNvSpPr/>
          <p:nvPr/>
        </p:nvSpPr>
        <p:spPr>
          <a:xfrm>
            <a:off x="3916680" y="1988820"/>
            <a:ext cx="138684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聚类</a:t>
            </a:r>
            <a:endParaRPr lang="zh-CN" altLang="en-US" sz="2800" b="1" dirty="0"/>
          </a:p>
        </p:txBody>
      </p:sp>
      <p:sp>
        <p:nvSpPr>
          <p:cNvPr id="11" name="圆角矩形 10"/>
          <p:cNvSpPr/>
          <p:nvPr/>
        </p:nvSpPr>
        <p:spPr>
          <a:xfrm>
            <a:off x="6156960" y="484632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朴素贝叶斯</a:t>
            </a:r>
            <a:endParaRPr lang="zh-CN" altLang="en-US" sz="2800" b="1" dirty="0"/>
          </a:p>
        </p:txBody>
      </p:sp>
      <p:sp>
        <p:nvSpPr>
          <p:cNvPr id="12" name="圆角矩形 11"/>
          <p:cNvSpPr/>
          <p:nvPr/>
        </p:nvSpPr>
        <p:spPr>
          <a:xfrm>
            <a:off x="6156960" y="3954780"/>
            <a:ext cx="2103120" cy="6248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/>
              <a:t>决策树</a:t>
            </a:r>
            <a:endParaRPr lang="zh-CN" altLang="en-US" sz="2800" b="1" dirty="0"/>
          </a:p>
        </p:txBody>
      </p:sp>
      <p:cxnSp>
        <p:nvCxnSpPr>
          <p:cNvPr id="13" name="直接箭头连接符 12"/>
          <p:cNvCxnSpPr>
            <a:stCxn id="4" idx="2"/>
            <a:endCxn id="5" idx="0"/>
          </p:cNvCxnSpPr>
          <p:nvPr/>
        </p:nvCxnSpPr>
        <p:spPr>
          <a:xfrm>
            <a:off x="1661160" y="230124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2"/>
            <a:endCxn id="6" idx="0"/>
          </p:cNvCxnSpPr>
          <p:nvPr/>
        </p:nvCxnSpPr>
        <p:spPr>
          <a:xfrm>
            <a:off x="1661160" y="3535680"/>
            <a:ext cx="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2"/>
            <a:endCxn id="7" idx="0"/>
          </p:cNvCxnSpPr>
          <p:nvPr/>
        </p:nvCxnSpPr>
        <p:spPr>
          <a:xfrm>
            <a:off x="1661160" y="4846320"/>
            <a:ext cx="0" cy="563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2" idx="1"/>
          </p:cNvCxnSpPr>
          <p:nvPr/>
        </p:nvCxnSpPr>
        <p:spPr>
          <a:xfrm flipV="1">
            <a:off x="5303520" y="4267200"/>
            <a:ext cx="853440" cy="929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9" idx="3"/>
            <a:endCxn id="11" idx="1"/>
          </p:cNvCxnSpPr>
          <p:nvPr/>
        </p:nvCxnSpPr>
        <p:spPr>
          <a:xfrm>
            <a:off x="5303520" y="4360164"/>
            <a:ext cx="853440" cy="7985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9" idx="3"/>
          </p:cNvCxnSpPr>
          <p:nvPr/>
        </p:nvCxnSpPr>
        <p:spPr>
          <a:xfrm>
            <a:off x="5303520" y="4360164"/>
            <a:ext cx="853440" cy="17967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3893405" y="146721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4700499" y="1467217"/>
            <a:ext cx="3459941" cy="511238"/>
            <a:chOff x="6339097" y="1573726"/>
            <a:chExt cx="3744416" cy="511504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49" y="1614014"/>
              <a:ext cx="319682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机器学习的概念和步骤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3893405" y="2303235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682598" y="2303235"/>
            <a:ext cx="3806082" cy="511238"/>
            <a:chOff x="6315199" y="2410178"/>
            <a:chExt cx="4097814" cy="511504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16745" y="2450466"/>
              <a:ext cx="3696268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机器学习的预处理环节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3893405" y="3188627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4700500" y="3188625"/>
            <a:ext cx="3459941" cy="511238"/>
            <a:chOff x="6339097" y="3296031"/>
            <a:chExt cx="3744417" cy="511504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7" y="3336319"/>
              <a:ext cx="3360167" cy="431087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机器学习的类型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3893405" y="407303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4700499" y="4073036"/>
            <a:ext cx="3459941" cy="511237"/>
            <a:chOff x="6339097" y="4180903"/>
            <a:chExt cx="3744416" cy="511504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0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机器学习的历史和应用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04800" y="2219405"/>
            <a:ext cx="3426106" cy="1600329"/>
          </a:xfrm>
          <a:prstGeom prst="rect">
            <a:avLst/>
          </a:prstGeom>
          <a:noFill/>
        </p:spPr>
        <p:txBody>
          <a:bodyPr wrap="square" lIns="121817" tIns="60906" rIns="121817" bIns="60906">
            <a:spAutoFit/>
          </a:bodyPr>
          <a:lstStyle/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 要</a:t>
            </a:r>
            <a:endParaRPr lang="en-US" altLang="zh-CN" sz="4800" b="1" spc="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8565">
              <a:defRPr/>
            </a:pPr>
            <a:r>
              <a:rPr lang="zh-CN" altLang="en-US" sz="4800" b="1" spc="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  容</a:t>
            </a:r>
            <a:endParaRPr lang="zh-CN" altLang="en-US" sz="3200" b="1" spc="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3095261" y="4910533"/>
            <a:ext cx="575764" cy="695523"/>
          </a:xfrm>
          <a:prstGeom prst="downArrow">
            <a:avLst/>
          </a:prstGeom>
          <a:solidFill>
            <a:srgbClr val="F5A6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40" tIns="45671" rIns="91340" bIns="45671"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894878" y="5002678"/>
            <a:ext cx="525109" cy="511238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29" tIns="60914" rIns="121829" bIns="60914" anchor="ctr"/>
          <a:lstStyle/>
          <a:p>
            <a:pPr algn="ctr" defTabSz="1218565">
              <a:defRPr/>
            </a:pPr>
            <a:r>
              <a:rPr lang="en-US" altLang="zh-CN" sz="3600" dirty="0" smtClean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solidFill>
                <a:prstClr val="white"/>
              </a:solidFill>
              <a:latin typeface="Calibri" panose="020F0502020204030204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701972" y="5002676"/>
            <a:ext cx="3459941" cy="511237"/>
            <a:chOff x="6339097" y="4180903"/>
            <a:chExt cx="3744416" cy="511504"/>
          </a:xfrm>
        </p:grpSpPr>
        <p:sp>
          <p:nvSpPr>
            <p:cNvPr id="27" name="圆角矩形 26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723348" y="4221882"/>
              <a:ext cx="3196829" cy="431088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000" b="1" kern="100" dirty="0" err="1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Scikit</a:t>
              </a:r>
              <a:r>
                <a:rPr lang="en-US" altLang="zh-CN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-learn</a:t>
              </a:r>
              <a:r>
                <a:rPr lang="zh-CN" altLang="en-US" sz="20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机器学习库</a:t>
              </a:r>
              <a:endParaRPr lang="zh-CN" altLang="zh-CN" sz="20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train_test_split</a:t>
            </a:r>
            <a: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函数划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分样本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sklearn.model_selection import train_test_split 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Xtrain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Xtest, Ytrain, Ytest = </a:t>
            </a: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train_test_split(X,y, test_size=0.3,random_state=420)</a:t>
            </a:r>
            <a:endParaRPr lang="en-US" altLang="zh-CN" sz="24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样本及样本的划分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1538" y="5457938"/>
            <a:ext cx="8433382" cy="887361"/>
            <a:chOff x="6339097" y="1573726"/>
            <a:chExt cx="3744416" cy="887823"/>
          </a:xfrm>
        </p:grpSpPr>
        <p:sp>
          <p:nvSpPr>
            <p:cNvPr id="6" name="圆角矩形 5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399543" y="1599350"/>
              <a:ext cx="3683970" cy="862199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train_test_split</a:t>
              </a:r>
              <a:r>
                <a:rPr lang="en-US" altLang="zh-CN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()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函数返回</a:t>
              </a:r>
              <a:r>
                <a:rPr lang="en-US" altLang="zh-CN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个值（实际是一个元组）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11481" y="4779369"/>
            <a:ext cx="5455919" cy="887361"/>
            <a:chOff x="6339097" y="1573726"/>
            <a:chExt cx="3744416" cy="887823"/>
          </a:xfrm>
        </p:grpSpPr>
        <p:sp>
          <p:nvSpPr>
            <p:cNvPr id="9" name="圆角矩形 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9543" y="1599350"/>
              <a:ext cx="3683970" cy="862199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test_size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设置测试集所占的比例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713326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折交叉验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证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2566" y="6184588"/>
            <a:ext cx="8297242" cy="861750"/>
          </a:xfrm>
          <a:prstGeom prst="rect">
            <a:avLst/>
          </a:prstGeom>
        </p:spPr>
        <p:txBody>
          <a:bodyPr wrap="square" lIns="121897" tIns="60948" rIns="121897" bIns="60948">
            <a:spAutoFit/>
          </a:bodyPr>
          <a:lstStyle/>
          <a:p>
            <a:pPr defTabSz="1218565">
              <a:defRPr/>
            </a:pPr>
            <a:r>
              <a:rPr lang="en-US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train_test_split</a:t>
            </a:r>
            <a:r>
              <a:rPr lang="en-US" altLang="zh-CN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函数返回</a:t>
            </a:r>
            <a:r>
              <a:rPr lang="en-US" altLang="zh-CN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个值（实际是一个元组）</a:t>
            </a:r>
            <a:endParaRPr lang="zh-CN" altLang="zh-CN" sz="2400" b="1" kern="1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2821" y="5449520"/>
            <a:ext cx="8181584" cy="1256694"/>
            <a:chOff x="6339097" y="1573725"/>
            <a:chExt cx="3744416" cy="1257349"/>
          </a:xfrm>
        </p:grpSpPr>
        <p:sp>
          <p:nvSpPr>
            <p:cNvPr id="9" name="圆角矩形 8"/>
            <p:cNvSpPr/>
            <p:nvPr/>
          </p:nvSpPr>
          <p:spPr>
            <a:xfrm>
              <a:off x="6339097" y="1573725"/>
              <a:ext cx="3744416" cy="96702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9543" y="1599350"/>
              <a:ext cx="3683970" cy="1231724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适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用于小样本集的情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况，将样本划分为 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k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个子集，每个子集均做一次测试集，其余的作为训练集。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67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Group 1"/>
          <p:cNvGrpSpPr>
            <a:grpSpLocks noChangeAspect="1"/>
          </p:cNvGrpSpPr>
          <p:nvPr/>
        </p:nvGrpSpPr>
        <p:grpSpPr bwMode="auto">
          <a:xfrm>
            <a:off x="542566" y="1340406"/>
            <a:ext cx="7639685" cy="3925640"/>
            <a:chOff x="2808" y="5963"/>
            <a:chExt cx="6860" cy="3526"/>
          </a:xfrm>
        </p:grpSpPr>
        <p:sp>
          <p:nvSpPr>
            <p:cNvPr id="4" name="AutoShape 66"/>
            <p:cNvSpPr>
              <a:spLocks noChangeAspect="1" noChangeArrowheads="1" noTextEdit="1"/>
            </p:cNvSpPr>
            <p:nvPr/>
          </p:nvSpPr>
          <p:spPr bwMode="auto">
            <a:xfrm>
              <a:off x="2808" y="5963"/>
              <a:ext cx="6860" cy="3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1" name="Rectangle 65"/>
            <p:cNvSpPr>
              <a:spLocks noChangeArrowheads="1"/>
            </p:cNvSpPr>
            <p:nvPr/>
          </p:nvSpPr>
          <p:spPr bwMode="auto">
            <a:xfrm>
              <a:off x="3860" y="5963"/>
              <a:ext cx="3403" cy="3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10800" rIns="91440" bIns="10800" numCol="1" anchor="t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样本集</a:t>
              </a:r>
              <a:endPara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Rectangle 64"/>
            <p:cNvSpPr>
              <a:spLocks noChangeArrowheads="1"/>
            </p:cNvSpPr>
            <p:nvPr/>
          </p:nvSpPr>
          <p:spPr bwMode="auto">
            <a:xfrm>
              <a:off x="3860" y="6889"/>
              <a:ext cx="3403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10800" rIns="91440" bIns="1080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Rectangle 63"/>
            <p:cNvSpPr>
              <a:spLocks noChangeArrowheads="1"/>
            </p:cNvSpPr>
            <p:nvPr/>
          </p:nvSpPr>
          <p:spPr bwMode="auto">
            <a:xfrm>
              <a:off x="3860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4" name="Rectangle 62"/>
            <p:cNvSpPr>
              <a:spLocks noChangeArrowheads="1"/>
            </p:cNvSpPr>
            <p:nvPr/>
          </p:nvSpPr>
          <p:spPr bwMode="auto">
            <a:xfrm>
              <a:off x="4200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5" name="Rectangle 61"/>
            <p:cNvSpPr>
              <a:spLocks noChangeArrowheads="1"/>
            </p:cNvSpPr>
            <p:nvPr/>
          </p:nvSpPr>
          <p:spPr bwMode="auto">
            <a:xfrm>
              <a:off x="4540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6" name="Rectangle 60"/>
            <p:cNvSpPr>
              <a:spLocks noChangeArrowheads="1"/>
            </p:cNvSpPr>
            <p:nvPr/>
          </p:nvSpPr>
          <p:spPr bwMode="auto">
            <a:xfrm>
              <a:off x="4880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7" name="Rectangle 59"/>
            <p:cNvSpPr>
              <a:spLocks noChangeArrowheads="1"/>
            </p:cNvSpPr>
            <p:nvPr/>
          </p:nvSpPr>
          <p:spPr bwMode="auto">
            <a:xfrm>
              <a:off x="5220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8" name="Rectangle 58"/>
            <p:cNvSpPr>
              <a:spLocks noChangeArrowheads="1"/>
            </p:cNvSpPr>
            <p:nvPr/>
          </p:nvSpPr>
          <p:spPr bwMode="auto">
            <a:xfrm>
              <a:off x="5560" y="6889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19" name="Rectangle 57"/>
            <p:cNvSpPr>
              <a:spLocks noChangeArrowheads="1"/>
            </p:cNvSpPr>
            <p:nvPr/>
          </p:nvSpPr>
          <p:spPr bwMode="auto">
            <a:xfrm>
              <a:off x="5901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1" name="Rectangle 56"/>
            <p:cNvSpPr>
              <a:spLocks noChangeArrowheads="1"/>
            </p:cNvSpPr>
            <p:nvPr/>
          </p:nvSpPr>
          <p:spPr bwMode="auto">
            <a:xfrm>
              <a:off x="6241" y="6889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2" name="Rectangle 55"/>
            <p:cNvSpPr>
              <a:spLocks noChangeArrowheads="1"/>
            </p:cNvSpPr>
            <p:nvPr/>
          </p:nvSpPr>
          <p:spPr bwMode="auto">
            <a:xfrm>
              <a:off x="6582" y="688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3" name="Rectangle 54"/>
            <p:cNvSpPr>
              <a:spLocks noChangeArrowheads="1"/>
            </p:cNvSpPr>
            <p:nvPr/>
          </p:nvSpPr>
          <p:spPr bwMode="auto">
            <a:xfrm>
              <a:off x="6922" y="6889"/>
              <a:ext cx="341" cy="347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4" name="Rectangle 53"/>
            <p:cNvSpPr>
              <a:spLocks noChangeArrowheads="1"/>
            </p:cNvSpPr>
            <p:nvPr/>
          </p:nvSpPr>
          <p:spPr bwMode="auto">
            <a:xfrm>
              <a:off x="3860" y="7573"/>
              <a:ext cx="3403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10800" rIns="91440" bIns="1080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5" name="Rectangle 52"/>
            <p:cNvSpPr>
              <a:spLocks noChangeArrowheads="1"/>
            </p:cNvSpPr>
            <p:nvPr/>
          </p:nvSpPr>
          <p:spPr bwMode="auto">
            <a:xfrm>
              <a:off x="3860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6" name="Rectangle 51"/>
            <p:cNvSpPr>
              <a:spLocks noChangeArrowheads="1"/>
            </p:cNvSpPr>
            <p:nvPr/>
          </p:nvSpPr>
          <p:spPr bwMode="auto">
            <a:xfrm>
              <a:off x="4200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7" name="Rectangle 50"/>
            <p:cNvSpPr>
              <a:spLocks noChangeArrowheads="1"/>
            </p:cNvSpPr>
            <p:nvPr/>
          </p:nvSpPr>
          <p:spPr bwMode="auto">
            <a:xfrm>
              <a:off x="4540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8" name="Rectangle 49"/>
            <p:cNvSpPr>
              <a:spLocks noChangeArrowheads="1"/>
            </p:cNvSpPr>
            <p:nvPr/>
          </p:nvSpPr>
          <p:spPr bwMode="auto">
            <a:xfrm>
              <a:off x="4880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29" name="Rectangle 48"/>
            <p:cNvSpPr>
              <a:spLocks noChangeArrowheads="1"/>
            </p:cNvSpPr>
            <p:nvPr/>
          </p:nvSpPr>
          <p:spPr bwMode="auto">
            <a:xfrm>
              <a:off x="5220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5560" y="7573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5901" y="7573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2" name="Rectangle 45"/>
            <p:cNvSpPr>
              <a:spLocks noChangeArrowheads="1"/>
            </p:cNvSpPr>
            <p:nvPr/>
          </p:nvSpPr>
          <p:spPr bwMode="auto">
            <a:xfrm>
              <a:off x="6241" y="7573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3" name="Rectangle 44"/>
            <p:cNvSpPr>
              <a:spLocks noChangeArrowheads="1"/>
            </p:cNvSpPr>
            <p:nvPr/>
          </p:nvSpPr>
          <p:spPr bwMode="auto">
            <a:xfrm>
              <a:off x="6582" y="7573"/>
              <a:ext cx="340" cy="347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4" name="Rectangle 43"/>
            <p:cNvSpPr>
              <a:spLocks noChangeArrowheads="1"/>
            </p:cNvSpPr>
            <p:nvPr/>
          </p:nvSpPr>
          <p:spPr bwMode="auto">
            <a:xfrm>
              <a:off x="6922" y="7573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5" name="Rectangle 42"/>
            <p:cNvSpPr>
              <a:spLocks noChangeArrowheads="1"/>
            </p:cNvSpPr>
            <p:nvPr/>
          </p:nvSpPr>
          <p:spPr bwMode="auto">
            <a:xfrm>
              <a:off x="3860" y="8257"/>
              <a:ext cx="3403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10800" rIns="91440" bIns="1080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Rectangle 41"/>
            <p:cNvSpPr>
              <a:spLocks noChangeArrowheads="1"/>
            </p:cNvSpPr>
            <p:nvPr/>
          </p:nvSpPr>
          <p:spPr bwMode="auto">
            <a:xfrm>
              <a:off x="3860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4200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4540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4880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0" name="Rectangle 37"/>
            <p:cNvSpPr>
              <a:spLocks noChangeArrowheads="1"/>
            </p:cNvSpPr>
            <p:nvPr/>
          </p:nvSpPr>
          <p:spPr bwMode="auto">
            <a:xfrm>
              <a:off x="5220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5560" y="8257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5901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6241" y="8257"/>
              <a:ext cx="341" cy="347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5" name="Rectangle 33"/>
            <p:cNvSpPr>
              <a:spLocks noChangeArrowheads="1"/>
            </p:cNvSpPr>
            <p:nvPr/>
          </p:nvSpPr>
          <p:spPr bwMode="auto">
            <a:xfrm>
              <a:off x="6582" y="8257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>
              <a:off x="6922" y="8257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7" name="Rectangle 31"/>
            <p:cNvSpPr>
              <a:spLocks noChangeArrowheads="1"/>
            </p:cNvSpPr>
            <p:nvPr/>
          </p:nvSpPr>
          <p:spPr bwMode="auto">
            <a:xfrm>
              <a:off x="3860" y="9049"/>
              <a:ext cx="3403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10800" rIns="91440" bIns="1080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8" name="Rectangle 30"/>
            <p:cNvSpPr>
              <a:spLocks noChangeArrowheads="1"/>
            </p:cNvSpPr>
            <p:nvPr/>
          </p:nvSpPr>
          <p:spPr bwMode="auto">
            <a:xfrm>
              <a:off x="3860" y="9049"/>
              <a:ext cx="340" cy="347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49" name="Rectangle 29"/>
            <p:cNvSpPr>
              <a:spLocks noChangeArrowheads="1"/>
            </p:cNvSpPr>
            <p:nvPr/>
          </p:nvSpPr>
          <p:spPr bwMode="auto">
            <a:xfrm>
              <a:off x="4200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0" name="Rectangle 28"/>
            <p:cNvSpPr>
              <a:spLocks noChangeArrowheads="1"/>
            </p:cNvSpPr>
            <p:nvPr/>
          </p:nvSpPr>
          <p:spPr bwMode="auto">
            <a:xfrm>
              <a:off x="4540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1" name="Rectangle 27"/>
            <p:cNvSpPr>
              <a:spLocks noChangeArrowheads="1"/>
            </p:cNvSpPr>
            <p:nvPr/>
          </p:nvSpPr>
          <p:spPr bwMode="auto">
            <a:xfrm>
              <a:off x="4880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2" name="Rectangle 26"/>
            <p:cNvSpPr>
              <a:spLocks noChangeArrowheads="1"/>
            </p:cNvSpPr>
            <p:nvPr/>
          </p:nvSpPr>
          <p:spPr bwMode="auto">
            <a:xfrm>
              <a:off x="5220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5560" y="9049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901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5" name="Rectangle 23"/>
            <p:cNvSpPr>
              <a:spLocks noChangeArrowheads="1"/>
            </p:cNvSpPr>
            <p:nvPr/>
          </p:nvSpPr>
          <p:spPr bwMode="auto">
            <a:xfrm>
              <a:off x="6241" y="9049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6" name="Rectangle 22"/>
            <p:cNvSpPr>
              <a:spLocks noChangeArrowheads="1"/>
            </p:cNvSpPr>
            <p:nvPr/>
          </p:nvSpPr>
          <p:spPr bwMode="auto">
            <a:xfrm>
              <a:off x="6582" y="9049"/>
              <a:ext cx="340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7" name="Rectangle 21"/>
            <p:cNvSpPr>
              <a:spLocks noChangeArrowheads="1"/>
            </p:cNvSpPr>
            <p:nvPr/>
          </p:nvSpPr>
          <p:spPr bwMode="auto">
            <a:xfrm>
              <a:off x="6922" y="9049"/>
              <a:ext cx="34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8" name="AutoShape 20"/>
            <p:cNvSpPr/>
            <p:nvPr/>
          </p:nvSpPr>
          <p:spPr bwMode="auto">
            <a:xfrm rot="5400000">
              <a:off x="5288" y="5255"/>
              <a:ext cx="206" cy="3062"/>
            </a:xfrm>
            <a:prstGeom prst="leftBrace">
              <a:avLst>
                <a:gd name="adj1" fmla="val 123867"/>
                <a:gd name="adj2" fmla="val 49278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59" name="Text Box 19"/>
            <p:cNvSpPr txBox="1">
              <a:spLocks noChangeArrowheads="1"/>
            </p:cNvSpPr>
            <p:nvPr/>
          </p:nvSpPr>
          <p:spPr bwMode="auto">
            <a:xfrm>
              <a:off x="4682" y="6407"/>
              <a:ext cx="1617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Training folds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" name="Text Box 18"/>
            <p:cNvSpPr txBox="1">
              <a:spLocks noChangeArrowheads="1"/>
            </p:cNvSpPr>
            <p:nvPr/>
          </p:nvSpPr>
          <p:spPr bwMode="auto">
            <a:xfrm>
              <a:off x="6769" y="6311"/>
              <a:ext cx="131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Test folds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1" name="AutoShape 17"/>
            <p:cNvSpPr>
              <a:spLocks noChangeShapeType="1"/>
            </p:cNvSpPr>
            <p:nvPr/>
          </p:nvSpPr>
          <p:spPr bwMode="auto">
            <a:xfrm flipH="1">
              <a:off x="7093" y="6587"/>
              <a:ext cx="187" cy="30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4981" y="8712"/>
              <a:ext cx="51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…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3" name="AutoShape 15"/>
            <p:cNvSpPr>
              <a:spLocks noChangeArrowheads="1"/>
            </p:cNvSpPr>
            <p:nvPr/>
          </p:nvSpPr>
          <p:spPr bwMode="auto">
            <a:xfrm>
              <a:off x="7280" y="7020"/>
              <a:ext cx="316" cy="143"/>
            </a:xfrm>
            <a:prstGeom prst="rightArrow">
              <a:avLst>
                <a:gd name="adj1" fmla="val 50000"/>
                <a:gd name="adj2" fmla="val 552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7500" y="6924"/>
              <a:ext cx="57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5" name="AutoShape 13"/>
            <p:cNvSpPr>
              <a:spLocks noChangeArrowheads="1"/>
            </p:cNvSpPr>
            <p:nvPr/>
          </p:nvSpPr>
          <p:spPr bwMode="auto">
            <a:xfrm>
              <a:off x="7280" y="7680"/>
              <a:ext cx="316" cy="143"/>
            </a:xfrm>
            <a:prstGeom prst="rightArrow">
              <a:avLst>
                <a:gd name="adj1" fmla="val 50000"/>
                <a:gd name="adj2" fmla="val 552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66" name="Text Box 12"/>
            <p:cNvSpPr txBox="1">
              <a:spLocks noChangeArrowheads="1"/>
            </p:cNvSpPr>
            <p:nvPr/>
          </p:nvSpPr>
          <p:spPr bwMode="auto">
            <a:xfrm>
              <a:off x="7500" y="7584"/>
              <a:ext cx="57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7" name="AutoShape 11"/>
            <p:cNvSpPr>
              <a:spLocks noChangeArrowheads="1"/>
            </p:cNvSpPr>
            <p:nvPr/>
          </p:nvSpPr>
          <p:spPr bwMode="auto">
            <a:xfrm>
              <a:off x="7287" y="8353"/>
              <a:ext cx="316" cy="143"/>
            </a:xfrm>
            <a:prstGeom prst="rightArrow">
              <a:avLst>
                <a:gd name="adj1" fmla="val 50000"/>
                <a:gd name="adj2" fmla="val 552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68" name="Text Box 10"/>
            <p:cNvSpPr txBox="1">
              <a:spLocks noChangeArrowheads="1"/>
            </p:cNvSpPr>
            <p:nvPr/>
          </p:nvSpPr>
          <p:spPr bwMode="auto">
            <a:xfrm>
              <a:off x="7507" y="8257"/>
              <a:ext cx="57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9" name="AutoShape 9"/>
            <p:cNvSpPr>
              <a:spLocks noChangeArrowheads="1"/>
            </p:cNvSpPr>
            <p:nvPr/>
          </p:nvSpPr>
          <p:spPr bwMode="auto">
            <a:xfrm>
              <a:off x="7292" y="9156"/>
              <a:ext cx="316" cy="143"/>
            </a:xfrm>
            <a:prstGeom prst="rightArrow">
              <a:avLst>
                <a:gd name="adj1" fmla="val 50000"/>
                <a:gd name="adj2" fmla="val 552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sp>
          <p:nvSpPr>
            <p:cNvPr id="70" name="Text Box 8"/>
            <p:cNvSpPr txBox="1">
              <a:spLocks noChangeArrowheads="1"/>
            </p:cNvSpPr>
            <p:nvPr/>
          </p:nvSpPr>
          <p:spPr bwMode="auto">
            <a:xfrm>
              <a:off x="7512" y="9060"/>
              <a:ext cx="575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kumimoji="0" lang="en-US" altLang="zh-CN" sz="2000" b="0" i="0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en-US" altLang="zh-CN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Text Box 7"/>
            <p:cNvSpPr txBox="1">
              <a:spLocks noChangeArrowheads="1"/>
            </p:cNvSpPr>
            <p:nvPr/>
          </p:nvSpPr>
          <p:spPr bwMode="auto">
            <a:xfrm>
              <a:off x="2868" y="6960"/>
              <a:ext cx="99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次迭代</a:t>
              </a: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Text Box 6"/>
            <p:cNvSpPr txBox="1">
              <a:spLocks noChangeArrowheads="1"/>
            </p:cNvSpPr>
            <p:nvPr/>
          </p:nvSpPr>
          <p:spPr bwMode="auto">
            <a:xfrm>
              <a:off x="2868" y="7584"/>
              <a:ext cx="99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次迭代</a:t>
              </a: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auto">
            <a:xfrm>
              <a:off x="2868" y="8328"/>
              <a:ext cx="99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次迭代</a:t>
              </a: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4" name="Text Box 4"/>
            <p:cNvSpPr txBox="1">
              <a:spLocks noChangeArrowheads="1"/>
            </p:cNvSpPr>
            <p:nvPr/>
          </p:nvSpPr>
          <p:spPr bwMode="auto">
            <a:xfrm>
              <a:off x="2808" y="9120"/>
              <a:ext cx="1222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0" rIns="91440" bIns="0" numCol="1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0" lang="zh-CN" alt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alibri" panose="020F0502020204030204" pitchFamily="34" charset="0"/>
                </a:rPr>
                <a:t>次迭代</a:t>
              </a:r>
              <a:endPara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5" name="AutoShape 3"/>
            <p:cNvSpPr/>
            <p:nvPr/>
          </p:nvSpPr>
          <p:spPr bwMode="auto">
            <a:xfrm>
              <a:off x="7991" y="6683"/>
              <a:ext cx="397" cy="2713"/>
            </a:xfrm>
            <a:prstGeom prst="rightBrace">
              <a:avLst>
                <a:gd name="adj1" fmla="val 5694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/>
            </a:p>
          </p:txBody>
        </p:sp>
        <p:graphicFrame>
          <p:nvGraphicFramePr>
            <p:cNvPr id="76" name="对象 75"/>
            <p:cNvGraphicFramePr>
              <a:graphicFrameLocks noChangeAspect="1"/>
            </p:cNvGraphicFramePr>
            <p:nvPr/>
          </p:nvGraphicFramePr>
          <p:xfrm>
            <a:off x="8388" y="7708"/>
            <a:ext cx="1280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4" name="Equation" r:id="rId1" imgW="812165" imgH="431800" progId="Equation.DSMT4">
                    <p:embed/>
                  </p:oleObj>
                </mc:Choice>
                <mc:Fallback>
                  <p:oleObj name="Equation" r:id="rId1" imgW="812165" imgH="4318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" y="7708"/>
                          <a:ext cx="1280" cy="6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样本及样本的划分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713326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3765">
              <a:lnSpc>
                <a:spcPct val="150000"/>
              </a:lnSpc>
              <a:buNone/>
            </a:pP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</a:t>
            </a:r>
            <a:r>
              <a:rPr lang="zh-CN" alt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折交叉验证</a:t>
            </a:r>
            <a:r>
              <a:rPr lang="en-US" altLang="zh-CN" sz="26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续</a:t>
            </a:r>
            <a:r>
              <a:rPr lang="en-US" altLang="zh-CN" sz="2600" b="1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样本及样本的划分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划分样本的方法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2566" y="6184588"/>
            <a:ext cx="8297242" cy="861750"/>
          </a:xfrm>
          <a:prstGeom prst="rect">
            <a:avLst/>
          </a:prstGeom>
        </p:spPr>
        <p:txBody>
          <a:bodyPr wrap="square" lIns="121897" tIns="60948" rIns="121897" bIns="60948">
            <a:spAutoFit/>
          </a:bodyPr>
          <a:lstStyle/>
          <a:p>
            <a:pPr defTabSz="1218565">
              <a:defRPr/>
            </a:pPr>
            <a:r>
              <a:rPr lang="en-US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train_test_split</a:t>
            </a:r>
            <a:r>
              <a:rPr lang="en-US" altLang="zh-CN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函数返回</a:t>
            </a:r>
            <a:r>
              <a:rPr lang="en-US" altLang="zh-CN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个值（实际是一个元组）</a:t>
            </a:r>
            <a:endParaRPr lang="zh-CN" altLang="zh-CN" sz="2400" b="1" kern="1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67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72821" y="2003196"/>
            <a:ext cx="853390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sklearn.model_selection import cross_val_predict</a:t>
            </a:r>
            <a:endParaRPr lang="zh-CN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predicted = 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cross_val_predict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(clf, iris.data, iris.target, cv=10)</a:t>
            </a:r>
            <a:endParaRPr lang="zh-CN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metrics.accuracy_score(iris.target, predicted</a:t>
            </a:r>
            <a:r>
              <a:rPr lang="en-US" altLang="zh-C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6673" y="1506974"/>
            <a:ext cx="4704493" cy="461665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r>
              <a:rPr lang="zh-CN" altLang="zh-CN" sz="2400" dirty="0"/>
              <a:t>交叉验</a:t>
            </a:r>
            <a:r>
              <a:rPr lang="zh-CN" altLang="zh-CN" sz="2400" dirty="0" smtClean="0"/>
              <a:t>证函</a:t>
            </a:r>
            <a:r>
              <a:rPr lang="zh-CN" altLang="zh-CN" sz="2400" dirty="0"/>
              <a:t>数：</a:t>
            </a:r>
            <a:r>
              <a:rPr lang="en-US" altLang="zh-CN" sz="2400" dirty="0"/>
              <a:t>cross_val_predict()</a:t>
            </a:r>
            <a:endParaRPr lang="zh-CN" altLang="en-US" sz="2400" dirty="0"/>
          </a:p>
        </p:txBody>
      </p:sp>
      <p:sp>
        <p:nvSpPr>
          <p:cNvPr id="77" name="矩形 76"/>
          <p:cNvSpPr/>
          <p:nvPr/>
        </p:nvSpPr>
        <p:spPr>
          <a:xfrm>
            <a:off x="372820" y="3746694"/>
            <a:ext cx="8368845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交叉验证的好处：</a:t>
            </a:r>
            <a:endParaRPr lang="en-US" altLang="zh-CN" sz="2400" dirty="0" smtClean="0"/>
          </a:p>
          <a:p>
            <a:r>
              <a:rPr lang="en-US" altLang="zh-CN" sz="2400" dirty="0" smtClean="0"/>
              <a:t>1</a:t>
            </a:r>
            <a:r>
              <a:rPr lang="zh-CN" altLang="zh-CN" sz="2400" dirty="0"/>
              <a:t>）验证结果更加稳</a:t>
            </a:r>
            <a:r>
              <a:rPr lang="zh-CN" altLang="zh-CN" sz="2400" dirty="0" smtClean="0"/>
              <a:t>定</a:t>
            </a:r>
            <a:r>
              <a:rPr lang="zh-CN" altLang="en-US" sz="2400" dirty="0" smtClean="0"/>
              <a:t>，尤其是</a:t>
            </a:r>
            <a:r>
              <a:rPr lang="zh-CN" altLang="zh-CN" sz="2400" dirty="0" smtClean="0"/>
              <a:t>在</a:t>
            </a:r>
            <a:r>
              <a:rPr lang="zh-CN" altLang="zh-CN" sz="2400" dirty="0"/>
              <a:t>小数据集</a:t>
            </a:r>
            <a:r>
              <a:rPr lang="zh-CN" altLang="zh-CN" sz="2400" dirty="0" smtClean="0"/>
              <a:t>中。</a:t>
            </a:r>
            <a:endParaRPr lang="zh-CN" altLang="zh-CN" sz="2400" dirty="0"/>
          </a:p>
          <a:p>
            <a:r>
              <a:rPr lang="en-US" altLang="zh-CN" sz="2400" dirty="0"/>
              <a:t>2</a:t>
            </a:r>
            <a:r>
              <a:rPr lang="zh-CN" altLang="zh-CN" sz="2400" dirty="0"/>
              <a:t>）能够查看数据分布对于模型效果的影响，通过查看每份的验证结果，可以得到该数据集分布对模型的影响。</a:t>
            </a:r>
            <a:endParaRPr lang="zh-CN" altLang="zh-CN" sz="2400" dirty="0"/>
          </a:p>
          <a:p>
            <a:r>
              <a:rPr lang="en-US" altLang="zh-CN" sz="2400" dirty="0"/>
              <a:t>3</a:t>
            </a:r>
            <a:r>
              <a:rPr lang="zh-CN" altLang="zh-CN" sz="2400" dirty="0"/>
              <a:t>）更好地利用训练数据，如果是</a:t>
            </a:r>
            <a:r>
              <a:rPr lang="en-US" altLang="zh-CN" sz="2400" dirty="0"/>
              <a:t>5</a:t>
            </a:r>
            <a:r>
              <a:rPr lang="zh-CN" altLang="zh-CN" sz="2400" dirty="0"/>
              <a:t>折交叉验证，那么训练量占了</a:t>
            </a:r>
            <a:r>
              <a:rPr lang="en-US" altLang="zh-CN" sz="2400" dirty="0"/>
              <a:t>80%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中，要获得或创建样本数据，有</a:t>
            </a: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种方法：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自带的样本数据集</a:t>
            </a:r>
            <a:endParaRPr lang="en-US" altLang="zh-CN" sz="24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生成随机的数据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</a:t>
            </a:r>
            <a:endParaRPr lang="en-US" altLang="zh-CN" sz="24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读入自己创建的数据集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datasets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中提供的样本数据集：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自带的样本数据集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80505" y="1338072"/>
          <a:ext cx="8192135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7975"/>
                <a:gridCol w="2743200"/>
                <a:gridCol w="792480"/>
                <a:gridCol w="1554480"/>
                <a:gridCol w="504000"/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数据集名称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调用函数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适</a:t>
                      </a:r>
                      <a:r>
                        <a:rPr lang="zh-CN" sz="2400" kern="100" dirty="0" smtClean="0">
                          <a:effectLst/>
                        </a:rPr>
                        <a:t>用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数据规模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波士顿房价数据集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load_boston()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回归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506</a:t>
                      </a:r>
                      <a:r>
                        <a:rPr lang="zh-CN" sz="2400" kern="100" dirty="0">
                          <a:effectLst/>
                        </a:rPr>
                        <a:t>行</a:t>
                      </a:r>
                      <a:r>
                        <a:rPr lang="en-US" sz="2400" kern="100" dirty="0">
                          <a:effectLst/>
                        </a:rPr>
                        <a:t>*</a:t>
                      </a:r>
                      <a:r>
                        <a:rPr lang="en-US" sz="2400" kern="100" dirty="0" smtClean="0">
                          <a:effectLst/>
                        </a:rPr>
                        <a:t>13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鸢尾花数据集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load_iris()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分类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150*4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糖尿病数据集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load_diabetes()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回归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442*10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体能训练数据集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load_linnerud()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手写数字图像数据集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load_digits()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分类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5620*64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小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 smtClean="0">
                          <a:effectLst/>
                        </a:rPr>
                        <a:t>脸</a:t>
                      </a:r>
                      <a:r>
                        <a:rPr lang="zh-CN" sz="2400" kern="100" dirty="0">
                          <a:effectLst/>
                        </a:rPr>
                        <a:t>部图像数据集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fetch_olivetti_faces()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降维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400*64*64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大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新闻分类数据集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fetch_20newsgroups()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分类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大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带标</a:t>
                      </a:r>
                      <a:r>
                        <a:rPr lang="zh-CN" sz="2400" kern="100" dirty="0" smtClean="0">
                          <a:effectLst/>
                        </a:rPr>
                        <a:t>签人</a:t>
                      </a:r>
                      <a:r>
                        <a:rPr lang="zh-CN" sz="2400" kern="100" dirty="0">
                          <a:effectLst/>
                        </a:rPr>
                        <a:t>脸数据集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fetch_lfw_people()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分类、降维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 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大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路透社新闻语料数据集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fetch_rcv1()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分类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804414*47236</a:t>
                      </a:r>
                      <a:endParaRPr lang="zh-CN" sz="24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大</a:t>
                      </a:r>
                      <a:endParaRPr lang="zh-CN" sz="24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自带的样本数据集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890673" y="1424044"/>
            <a:ext cx="3190175" cy="3046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特征属性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'sepal length (cm)', 'sepal width (cm)', 'petal length (cm)', 'petal width (cm)']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类别属性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'setosa' 'versicolor' 'virginica']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5563" y="1835223"/>
            <a:ext cx="680483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sklearn.datasets import load_iris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 #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导入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dataSet['data']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= dataSet['target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    #label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标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= dataSet['feature_names']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= dataSet['target_names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print('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特征属性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feature , '\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类别属性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target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4259" y="849242"/>
            <a:ext cx="4448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2-26]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iris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43475" y="86900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84259" y="5035786"/>
            <a:ext cx="8378741" cy="1075454"/>
            <a:chOff x="6339097" y="1573726"/>
            <a:chExt cx="3744416" cy="887823"/>
          </a:xfrm>
        </p:grpSpPr>
        <p:sp>
          <p:nvSpPr>
            <p:cNvPr id="11" name="圆角矩形 10"/>
            <p:cNvSpPr/>
            <p:nvPr/>
          </p:nvSpPr>
          <p:spPr>
            <a:xfrm>
              <a:off x="6339097" y="1573726"/>
              <a:ext cx="3744416" cy="45672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399543" y="1599350"/>
              <a:ext cx="3683970" cy="862199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可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见</a:t>
              </a:r>
              <a:r>
                <a:rPr lang="en-US" altLang="zh-CN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iris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数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据集是一个有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个特征属性的三分类问题的数据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集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make_&lt;name</a:t>
            </a: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函数：用来生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成具有各种形状分布的数据集，这些函数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可无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中生有的生成随机数据：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make_circles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：生成环形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make_moons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：生成月亮形（半环形）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make_blobs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：生成球型数据，多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类单标签数据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make_classification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：多类单标签数据集，为每个类分配一个或多个正态分布的点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make_gaussian_quantiles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：将一个单高斯分布的点集划分为两个数量均等的点集，作为两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indent="247650" defTabSz="913765">
              <a:lnSpc>
                <a:spcPct val="120000"/>
              </a:lnSpc>
            </a:pPr>
            <a:r>
              <a:rPr lang="en-US" altLang="zh-CN" sz="24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make_hastie-10-2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：产生一个相似的二元分类数据集，有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个维</a:t>
            </a:r>
            <a:r>
              <a:rPr lang="zh-CN" altLang="en-US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度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705" y="1622858"/>
            <a:ext cx="4461010" cy="1487004"/>
          </a:xfrm>
          <a:prstGeom prst="rect">
            <a:avLst/>
          </a:prstGeom>
        </p:spPr>
      </p:pic>
      <p:sp>
        <p:nvSpPr>
          <p:cNvPr id="2" name="文本框 2"/>
          <p:cNvSpPr txBox="1"/>
          <p:nvPr/>
        </p:nvSpPr>
        <p:spPr>
          <a:xfrm>
            <a:off x="0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生成随机数据集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-231048" y="1559686"/>
            <a:ext cx="766157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sklearn.datasets import </a:t>
            </a:r>
            <a:r>
              <a: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make_circles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sklearn.datasets import </a:t>
            </a:r>
            <a:r>
              <a: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make_moons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sklearn.datasets import </a:t>
            </a:r>
            <a:r>
              <a: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make_blobs</a:t>
            </a:r>
            <a:endParaRPr lang="zh-CN" altLang="zh-CN" sz="20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matplotlib.pyplot as plt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=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=(12, 4))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(1, 3, 1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x1, y1 =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make_circles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=1000, factor=0.5, noise=0.1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plt.scatter(x1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[:,0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x1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[:,1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marker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='o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c=y1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(1, 3, 2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y1 =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make_moons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=1000, noise=0.1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plt.scatter(x1[:,0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x1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[:,1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marker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='o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c=y1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(1, 3, 3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x1, y1 =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make_blobs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n_samples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=100,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n_features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=2, centers=3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plt.scatter(x1[:,0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x1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[:,1], marker='o', c=y1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plt.show()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4259" y="849242"/>
            <a:ext cx="4623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2-27]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成随机数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43475" y="86900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：将数据保存到数组中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 = [[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123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45],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55],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87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23],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102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34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]]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target = [[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], [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220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]]</a:t>
            </a:r>
            <a:endParaRPr lang="en-US" altLang="zh-CN" sz="2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法</a:t>
            </a: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将数据保存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到文本文件中</a:t>
            </a:r>
            <a:endParaRPr lang="en-US" altLang="zh-CN" sz="26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def loadDataSet():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dataMat = []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labelMat = []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fr = open('C:\\lr2.txt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')    #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文本文件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lr2.txt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line in </a:t>
            </a:r>
            <a:r>
              <a:rPr lang="en-US" altLang="zh-CN" sz="2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fr.readlines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():    #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依次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读取文本文件中的一行</a:t>
            </a:r>
            <a:endParaRPr lang="zh-CN" altLang="en-US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lineArr = line.strip().split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    #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空格分</a:t>
            </a:r>
            <a:r>
              <a:rPr lang="zh-CN" altLang="en-US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割</a:t>
            </a:r>
            <a:endParaRPr lang="zh-CN" altLang="en-US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zh-CN" altLang="en-US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dataMat.append([float(</a:t>
            </a:r>
            <a:r>
              <a:rPr lang="en-US" altLang="zh-CN" sz="22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lineArr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[0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]), float(</a:t>
            </a:r>
            <a:r>
              <a:rPr lang="en-US" altLang="zh-CN" sz="22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lineArr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[1</a:t>
            </a: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])])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labelMat.append(int(lineArr[2]))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7150" indent="0" defTabSz="913765">
              <a:buNone/>
            </a:pPr>
            <a:r>
              <a:rPr lang="en-US" altLang="zh-CN" sz="22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22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dataMat</a:t>
            </a:r>
            <a:r>
              <a:rPr lang="en-US" altLang="zh-CN" sz="2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labelMat</a:t>
            </a:r>
            <a:endParaRPr lang="en-US" altLang="zh-CN" sz="2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读入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自己创建的数据集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0" y="942008"/>
            <a:ext cx="829056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765">
              <a:lnSpc>
                <a:spcPct val="15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  <a:r>
              <a:rPr lang="en-US" altLang="zh-CN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：用</a:t>
            </a:r>
            <a:r>
              <a:rPr lang="en-US" altLang="zh-CN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pandas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读取</a:t>
            </a:r>
            <a:r>
              <a:rPr lang="en-US" altLang="zh-CN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excel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等其他数据文件</a:t>
            </a:r>
            <a:endParaRPr lang="en-US" altLang="zh-CN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7150" indent="0" defTabSz="913765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import pandas as pd          #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导入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pandas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库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7150" indent="0" defTabSz="913765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data=pd.read_excel('D:\\18ds.xlsx') 	</a:t>
            </a: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读取</a:t>
            </a: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excel</a:t>
            </a:r>
            <a:r>
              <a:rPr lang="zh-CN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</a:t>
            </a:r>
            <a:endParaRPr lang="zh-CN" altLang="en-US" sz="2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7150" indent="0" defTabSz="913765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data2=pd.read_csv('C:\\lr2.csv') 	</a:t>
            </a:r>
            <a:endParaRPr lang="zh-CN" altLang="en-US" sz="2400" dirty="0" smtClean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57150" indent="0" defTabSz="913765">
              <a:lnSpc>
                <a:spcPct val="150000"/>
              </a:lnSpc>
              <a:buNone/>
            </a:pPr>
            <a:r>
              <a:rPr lang="en-US" altLang="zh-CN" sz="2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print(data)</a:t>
            </a:r>
            <a:endParaRPr lang="en-US" altLang="zh-CN" sz="24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2.5.2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导入或创建数据集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读入自己创建的数据集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400" y="4121557"/>
            <a:ext cx="8168640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Pandas</a:t>
            </a:r>
            <a:r>
              <a:rPr lang="zh-CN" altLang="zh-CN" sz="2400" dirty="0" smtClean="0"/>
              <a:t>是一</a:t>
            </a:r>
            <a:r>
              <a:rPr lang="zh-CN" altLang="zh-CN" sz="2400" dirty="0"/>
              <a:t>个数据分析包</a:t>
            </a:r>
            <a:r>
              <a:rPr lang="zh-CN" altLang="zh-CN" sz="2400" dirty="0" smtClean="0"/>
              <a:t>，提</a:t>
            </a:r>
            <a:r>
              <a:rPr lang="zh-CN" altLang="zh-CN" sz="2400" dirty="0"/>
              <a:t>供了</a:t>
            </a:r>
            <a:r>
              <a:rPr lang="zh-CN" altLang="zh-CN" sz="2400" dirty="0" smtClean="0"/>
              <a:t>读写文</a:t>
            </a:r>
            <a:r>
              <a:rPr lang="zh-CN" altLang="zh-CN" sz="2400" dirty="0"/>
              <a:t>件的功能。使用</a:t>
            </a:r>
            <a:r>
              <a:rPr lang="en-US" altLang="zh-CN" sz="2400" dirty="0"/>
              <a:t>pandas</a:t>
            </a:r>
            <a:r>
              <a:rPr lang="zh-CN" altLang="zh-CN" sz="2400" dirty="0"/>
              <a:t>可以读取表格型数据，包括</a:t>
            </a:r>
            <a:r>
              <a:rPr lang="en-US" altLang="zh-CN" sz="2400" dirty="0"/>
              <a:t>Excel</a:t>
            </a:r>
            <a:r>
              <a:rPr lang="zh-CN" altLang="zh-CN" sz="2400" dirty="0"/>
              <a:t>文件、</a:t>
            </a:r>
            <a:r>
              <a:rPr lang="en-US" altLang="zh-CN" sz="2400" dirty="0"/>
              <a:t>csv</a:t>
            </a:r>
            <a:r>
              <a:rPr lang="zh-CN" altLang="zh-CN" sz="2400" dirty="0"/>
              <a:t>文件或</a:t>
            </a:r>
            <a:r>
              <a:rPr lang="en-US" altLang="zh-CN" sz="2400" dirty="0"/>
              <a:t>txt</a:t>
            </a:r>
            <a:r>
              <a:rPr lang="zh-CN" altLang="zh-CN" sz="2400" dirty="0"/>
              <a:t>文件等，并转成</a:t>
            </a:r>
            <a:r>
              <a:rPr lang="en-US" altLang="zh-CN" sz="2400" dirty="0"/>
              <a:t>DataFrame</a:t>
            </a:r>
            <a:r>
              <a:rPr lang="zh-CN" altLang="zh-CN" sz="2400" dirty="0"/>
              <a:t>类型的数据结构，然后就可以通过操作</a:t>
            </a:r>
            <a:r>
              <a:rPr lang="en-US" altLang="zh-CN" sz="2400" dirty="0"/>
              <a:t>DataFrame</a:t>
            </a:r>
            <a:r>
              <a:rPr lang="zh-CN" altLang="zh-CN" sz="2400" dirty="0"/>
              <a:t>进行数据分析，以及行和列等操作。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归一化函数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MinMaxScaler()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数据归一化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708235" y="1984180"/>
            <a:ext cx="2222469" cy="3046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大值为：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18.]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小值为：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[[0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0.25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	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0.]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[0.5 0.5]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1.]]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419" y="1945910"/>
            <a:ext cx="694199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sklearn.preprocessing import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MinMaxScaler</a:t>
            </a:r>
            <a:endParaRPr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[[-1, 6], [-0.5, 2], [0, 10], [1, 18]]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= MinMaxScaler()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scaler.fit(data)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MinMaxScaler(copy=True, feature_range=(0, 1))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'range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大值为：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scaler.data_max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(‘range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小值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scaler.data_min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print(scaler.transform(data))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4259" y="1402926"/>
            <a:ext cx="4982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2-29]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阵的归一化举例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3475" y="142269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7805" y="5438065"/>
            <a:ext cx="7914390" cy="892789"/>
            <a:chOff x="6339097" y="1573726"/>
            <a:chExt cx="3744416" cy="737027"/>
          </a:xfrm>
        </p:grpSpPr>
        <p:sp>
          <p:nvSpPr>
            <p:cNvPr id="9" name="圆角矩形 8"/>
            <p:cNvSpPr/>
            <p:nvPr/>
          </p:nvSpPr>
          <p:spPr>
            <a:xfrm>
              <a:off x="6339097" y="1573726"/>
              <a:ext cx="3744416" cy="73702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9543" y="1599350"/>
              <a:ext cx="3683970" cy="711403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scaler.fit(data)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data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的最小值和最大值，返回一个对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象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z-score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标准化函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StandardScaler()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中数据标准化函数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062466" y="1984180"/>
            <a:ext cx="1620957" cy="26776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[0.5 0.5]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[0.25 0.25]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[[-1. -1.]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[-1. -1.]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[1. 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[1.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1.]]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[[3. 3.]]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7745" y="2154976"/>
            <a:ext cx="8052376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sklearn.preprocessing import </a:t>
            </a:r>
            <a:r>
              <a: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StandardScaler</a:t>
            </a:r>
            <a:endParaRPr lang="en-US" altLang="zh-CN" sz="20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[[0, 0], [0, 0], [1, 1], [1, 1]]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= StandardScaler()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scaler.fit(data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StandardScaler(copy=True, with_mean=True, with_std=True)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print(scaler.mean_) 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print(scaler.var_)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print(scaler.transform(data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print(scaler.transform([[2, 2]]))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4259" y="1402926"/>
            <a:ext cx="55642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2-30]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z-score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3475" y="142269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标准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化：样本数据的分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布要求服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从正态分布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457200" lvl="1" indent="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归一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化的</a:t>
            </a: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缺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点：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离群值（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outlier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）很敏感，因为离群点会影响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值；其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次，当有新数据加入时，可能导致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值发生较大变化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defTabSz="913765">
              <a:lnSpc>
                <a:spcPct val="150000"/>
              </a:lnSpc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在标准化方法中，新数据加入对标准差和均值的影响并不大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defTabSz="913765">
              <a:lnSpc>
                <a:spcPct val="150000"/>
              </a:lnSpc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一化会改变数据的原始距离、分布，使得归一化后的数据分布呈现类圆形。优点是数据归一化后，最优解的寻找过程会变得更平缓，更容易正确地收敛到最优解。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和归一化的选择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二值化函数</a:t>
            </a:r>
            <a:r>
              <a:rPr lang="en-US" altLang="zh-CN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binarizer()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数据二值化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636194" y="2116227"/>
            <a:ext cx="1435517" cy="12003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[[1. 0. 1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.]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1. 0.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0.]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0. 1. 0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.]]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5562" y="1962339"/>
            <a:ext cx="6012357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sklearn.preprocessing import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Binarizer</a:t>
            </a:r>
            <a:endParaRPr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[[ 1., -1.,2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.], [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2.,0.,0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.], [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0.,1.,-1.]]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= Binarizer()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binary.fit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transformer.transform(X)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Binarizer(copy=True, threshold=0.0)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print(transformer.transform(X))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4259" y="1402926"/>
            <a:ext cx="4982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2-28]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阵的二值化举例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3475" y="142269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2924" y="4973302"/>
            <a:ext cx="8378741" cy="892790"/>
            <a:chOff x="6339097" y="1573725"/>
            <a:chExt cx="3744416" cy="737028"/>
          </a:xfrm>
        </p:grpSpPr>
        <p:sp>
          <p:nvSpPr>
            <p:cNvPr id="9" name="圆角矩形 8"/>
            <p:cNvSpPr/>
            <p:nvPr/>
          </p:nvSpPr>
          <p:spPr>
            <a:xfrm>
              <a:off x="6339097" y="1573725"/>
              <a:ext cx="3744416" cy="73702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9543" y="1599350"/>
              <a:ext cx="3683970" cy="711403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transformer =binary.fit(X)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使用这个二值化对象的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fit()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方法去拟合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，返回一个二值化类的实例化对象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681693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正则化函数</a:t>
            </a:r>
            <a:r>
              <a:rPr lang="en-US" altLang="zh-CN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Normalizer()</a:t>
            </a:r>
            <a:r>
              <a:rPr lang="zh-CN" altLang="en-US" sz="26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endParaRPr lang="en-US" altLang="zh-CN" sz="2600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2.5.3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数据正则化函数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543475" y="1984180"/>
            <a:ext cx="2222469" cy="12003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[[0.8 0.2 0.4 0.4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[0.1 0.3 0.9 0.3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 0.7 0.5 0.1]]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419" y="2001754"/>
            <a:ext cx="63249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sklearn.preprocessing import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Normalizer</a:t>
            </a:r>
            <a:endParaRPr lang="en-US" altLang="zh-CN" sz="24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[[4, 1, 2, 2], [1, 3, 9, 3], [5, 7, 5, 1]]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= Normalizer().fit(X)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print(transformer.transform(X))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4259" y="1402926"/>
            <a:ext cx="4982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2-31]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阵的正则化举例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3475" y="142269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7805" y="4462705"/>
            <a:ext cx="8363860" cy="1262121"/>
            <a:chOff x="6339097" y="1573726"/>
            <a:chExt cx="3744416" cy="1041923"/>
          </a:xfrm>
        </p:grpSpPr>
        <p:sp>
          <p:nvSpPr>
            <p:cNvPr id="9" name="圆角矩形 8"/>
            <p:cNvSpPr/>
            <p:nvPr/>
          </p:nvSpPr>
          <p:spPr>
            <a:xfrm>
              <a:off x="6339097" y="1573726"/>
              <a:ext cx="3744416" cy="104192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99543" y="1599350"/>
              <a:ext cx="3683970" cy="1016299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正则化是将每个样本缩放到单位范数（每个样本的范数为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），如果后面要使用如二次型（点积）或者其它核方法计算两个样本之间的相似性时这个方法会很有用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成分分析（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Principal Component Analysis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）是最常用的一种降维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矩阵的主成分就是其协方差矩阵对应的特征向量，按照对应的特征值大小进行排序，最大的特征值就是第一主成分，其次是第二主成分，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以此类推</a:t>
            </a:r>
            <a:endParaRPr lang="zh-CN" altLang="en-US" sz="26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decomposition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模块中提供了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类，用来实现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主成分分析</a:t>
            </a:r>
            <a:endParaRPr lang="zh-CN" altLang="en-US" sz="26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2.5.4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主成分分析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2.5.4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数据降维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使用主成分分析降维举例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903" y="1221774"/>
            <a:ext cx="907166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9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sklearn.decomposition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altLang="zh-CN" sz="12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1200" dirty="0" err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load_iris</a:t>
            </a:r>
            <a:endParaRPr lang="en-US" altLang="zh-CN" sz="1200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=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load_iris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data.target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data.data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PCA(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n_components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=2)  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算法，设置降维后维度为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pca.fit_transform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  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对样本的特征属性集进行降维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red_x,red_y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[], []  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保存第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类样本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blue_x,blue_y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[], []  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保存第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类样本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green_x,green_y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[], []  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保存第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类样本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)):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y[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==0:  #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该数据集有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个类别，因此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]=0,1,2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red_x.append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red_y.append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== 1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blue_x.append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blue_y.append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green_x.append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][0])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green_y.append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reduced_x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][1])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red_x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='r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marker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='x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blue_x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='b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marker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='D')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green_x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green_y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='g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', marker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='.')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805" y="879706"/>
            <a:ext cx="6340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2-32]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对鸢尾花数据进行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PCA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降维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95187" y="154139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行结果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77805" y="5938777"/>
            <a:ext cx="7914390" cy="916456"/>
            <a:chOff x="6339097" y="1909890"/>
            <a:chExt cx="3744416" cy="756565"/>
          </a:xfrm>
        </p:grpSpPr>
        <p:sp>
          <p:nvSpPr>
            <p:cNvPr id="9" name="圆角矩形 8"/>
            <p:cNvSpPr/>
            <p:nvPr/>
          </p:nvSpPr>
          <p:spPr>
            <a:xfrm>
              <a:off x="6339097" y="1909890"/>
              <a:ext cx="3744416" cy="73702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7" tIns="60948" rIns="121897" bIns="60948" anchor="ctr"/>
            <a:lstStyle/>
            <a:p>
              <a:pPr algn="ctr" defTabSz="1218565">
                <a:defRPr/>
              </a:pPr>
              <a:endParaRPr lang="zh-CN" altLang="en-US" sz="3600" dirty="0">
                <a:solidFill>
                  <a:prstClr val="white"/>
                </a:solidFill>
                <a:latin typeface="Calibri" panose="020F0502020204030204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369320" y="1955052"/>
              <a:ext cx="3683970" cy="711403"/>
            </a:xfrm>
            <a:prstGeom prst="rect">
              <a:avLst/>
            </a:prstGeom>
          </p:spPr>
          <p:txBody>
            <a:bodyPr wrap="square" lIns="121897" tIns="60948" rIns="121897" bIns="60948">
              <a:spAutoFit/>
            </a:bodyPr>
            <a:lstStyle/>
            <a:p>
              <a:pPr defTabSz="1218565">
                <a:defRPr/>
              </a:pP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pca.fit_transform(x</a:t>
              </a:r>
              <a:r>
                <a:rPr lang="en-US" altLang="zh-CN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计算出数据变换的方式</a:t>
              </a:r>
              <a:r>
                <a:rPr lang="zh-CN" altLang="en-US" sz="2400" b="1" kern="1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，并返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回对输入数据</a:t>
              </a:r>
              <a:r>
                <a:rPr lang="en-US" altLang="zh-CN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</a:t>
              </a:r>
              <a:r>
                <a:rPr lang="zh-CN" altLang="en-US" sz="2400" b="1" kern="1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变换后的结果</a:t>
              </a:r>
              <a:endParaRPr lang="zh-CN" altLang="zh-CN" sz="2400" b="1" kern="1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9020" y="2064612"/>
            <a:ext cx="3709552" cy="278216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en-US" altLang="zh-CN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器学习库中的模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型种类：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归：梯度下降回归（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回归、岭回归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类：朴素贝叶斯、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近邻算法（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）、向量机（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）、决策树和随机森林、逻辑回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归等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聚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类：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）、层次聚类（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clustering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维：主成分分析（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）、线性判别分析（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LDA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457200" defTabSz="913765">
              <a:lnSpc>
                <a:spcPct val="150000"/>
              </a:lnSpc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实际上，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中的大部分方法都属于估计器或转换器调用的方法，估计器用于对数据的预测或回归，转换器用于对数据的处理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2.5.5 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用机器学习模型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估计器（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Estimator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）其实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就是模型，它用于对数据的预测或回归。估计器一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般具有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以下几个方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法：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fit(</a:t>
            </a:r>
            <a:r>
              <a:rPr lang="en-US" altLang="zh-CN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：传入数据（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）以及标签（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）即可训练模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型，对于无监督学习，调用方法是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fit(X) 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score(x,y)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：用于对模型的正确率进行评分（分数范围是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predict(x)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：用于对数据的预测，它接受输入，并输出预测标签，输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出结果的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格式为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数组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2.5.5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调用机器学习模型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估计器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Estimator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 txBox="1"/>
          <p:nvPr/>
        </p:nvSpPr>
        <p:spPr>
          <a:xfrm>
            <a:off x="411481" y="914400"/>
            <a:ext cx="8330184" cy="5541264"/>
          </a:xfrm>
          <a:prstGeom prst="rect">
            <a:avLst/>
          </a:prstGeom>
        </p:spPr>
        <p:txBody>
          <a:bodyPr vert="horz" lIns="91392" tIns="45696" rIns="91392" bIns="45696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defTabSz="913765">
              <a:lnSpc>
                <a:spcPct val="150000"/>
              </a:lnSpc>
              <a:buNone/>
            </a:pP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转化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器（</a:t>
            </a:r>
            <a:r>
              <a:rPr lang="en-US" altLang="zh-CN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）用于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对数据的处理，例如标准化、降维以及特征选择等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。转化器具有</a:t>
            </a:r>
            <a:r>
              <a:rPr lang="zh-CN" altLang="en-US" sz="26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zh-CN" altLang="en-US" sz="260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下方法：</a:t>
            </a:r>
            <a:endParaRPr lang="en-US" altLang="zh-CN" sz="2600" dirty="0" smtClean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fit(x,y)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：该方法接受输入和标签，计算出数据变换的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transform(x)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：根据已经计算出的变换方式，返回对输入数据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变换后的结果（不改变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3765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fit_transform(x,y) :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该方法在计算出数据变换方式之后对输入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就地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转换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4573" y="158473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65"/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2.5.5 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调用机器学习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转化器 </a:t>
            </a:r>
            <a:r>
              <a:rPr lang="en-US" altLang="zh-CN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(Transformer</a:t>
            </a:r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EMPLATE_TOPIC_ID" val="2869567"/>
  <p:tag name="KSO_WM_TEMPLATE_OUTLINE_ID" val="6"/>
  <p:tag name="KSO_WM_TEMPLATE_SCENE_ID" val="1"/>
  <p:tag name="KSO_WM_TEMPLATE_JOB_ID" val="6"/>
  <p:tag name="KSO_WM_TEMPLATE_TOPIC_DEFAULT" val="0"/>
</p:tagLst>
</file>

<file path=ppt/theme/theme1.xml><?xml version="1.0" encoding="utf-8"?>
<a:theme xmlns:a="http://schemas.openxmlformats.org/drawingml/2006/main" name="1_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11619</Words>
  <Application>WPS 演示</Application>
  <PresentationFormat>全屏显示(4:3)</PresentationFormat>
  <Paragraphs>1409</Paragraphs>
  <Slides>60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4" baseType="lpstr">
      <vt:lpstr>Arial</vt:lpstr>
      <vt:lpstr>宋体</vt:lpstr>
      <vt:lpstr>Wingdings</vt:lpstr>
      <vt:lpstr>微软雅黑</vt:lpstr>
      <vt:lpstr>楷体</vt:lpstr>
      <vt:lpstr>Calibri</vt:lpstr>
      <vt:lpstr>Arial Unicode MS</vt:lpstr>
      <vt:lpstr>Times New Roman</vt:lpstr>
      <vt:lpstr>Arial Unicode MS</vt:lpstr>
      <vt:lpstr>等线</vt:lpstr>
      <vt:lpstr>Calibri</vt:lpstr>
      <vt:lpstr>Times New Roman</vt:lpstr>
      <vt:lpstr>1_Office 主题​​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蓝色简约年度工作总结述职报告商务动态PPT模板35</dc:title>
  <dc:creator>WangHJ</dc:creator>
  <cp:lastModifiedBy>Administrator</cp:lastModifiedBy>
  <cp:revision>446</cp:revision>
  <dcterms:created xsi:type="dcterms:W3CDTF">2017-02-15T16:34:00Z</dcterms:created>
  <dcterms:modified xsi:type="dcterms:W3CDTF">2024-04-09T05:28:15Z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2052-11.8.2.8276</vt:lpwstr>
  </property>
</Properties>
</file>