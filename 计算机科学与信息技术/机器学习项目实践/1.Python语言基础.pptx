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14" r:id="rId3"/>
    <p:sldId id="418" r:id="rId5"/>
    <p:sldId id="269" r:id="rId6"/>
    <p:sldId id="314" r:id="rId7"/>
    <p:sldId id="316" r:id="rId8"/>
    <p:sldId id="317" r:id="rId9"/>
    <p:sldId id="318" r:id="rId10"/>
    <p:sldId id="319" r:id="rId11"/>
    <p:sldId id="322" r:id="rId12"/>
    <p:sldId id="320" r:id="rId13"/>
    <p:sldId id="324" r:id="rId14"/>
    <p:sldId id="321" r:id="rId15"/>
    <p:sldId id="325" r:id="rId16"/>
    <p:sldId id="326" r:id="rId17"/>
    <p:sldId id="329" r:id="rId18"/>
    <p:sldId id="330" r:id="rId19"/>
    <p:sldId id="333" r:id="rId20"/>
    <p:sldId id="331" r:id="rId21"/>
    <p:sldId id="332" r:id="rId22"/>
    <p:sldId id="334" r:id="rId23"/>
    <p:sldId id="335" r:id="rId24"/>
    <p:sldId id="419" r:id="rId25"/>
    <p:sldId id="416" r:id="rId26"/>
    <p:sldId id="336" r:id="rId27"/>
    <p:sldId id="337" r:id="rId28"/>
    <p:sldId id="420" r:id="rId29"/>
    <p:sldId id="292" r:id="rId30"/>
    <p:sldId id="338" r:id="rId31"/>
    <p:sldId id="293" r:id="rId32"/>
    <p:sldId id="339" r:id="rId33"/>
    <p:sldId id="310" r:id="rId34"/>
    <p:sldId id="340" r:id="rId35"/>
    <p:sldId id="294" r:id="rId36"/>
    <p:sldId id="341" r:id="rId37"/>
    <p:sldId id="343" r:id="rId38"/>
    <p:sldId id="295" r:id="rId39"/>
    <p:sldId id="297" r:id="rId40"/>
    <p:sldId id="344" r:id="rId41"/>
    <p:sldId id="298" r:id="rId42"/>
    <p:sldId id="346" r:id="rId43"/>
    <p:sldId id="345" r:id="rId44"/>
    <p:sldId id="299" r:id="rId45"/>
    <p:sldId id="347" r:id="rId46"/>
    <p:sldId id="348" r:id="rId47"/>
    <p:sldId id="349" r:id="rId48"/>
    <p:sldId id="300" r:id="rId49"/>
    <p:sldId id="311" r:id="rId50"/>
    <p:sldId id="350" r:id="rId51"/>
    <p:sldId id="351" r:id="rId52"/>
    <p:sldId id="352" r:id="rId53"/>
    <p:sldId id="353" r:id="rId54"/>
    <p:sldId id="354" r:id="rId55"/>
    <p:sldId id="417" r:id="rId56"/>
    <p:sldId id="301" r:id="rId57"/>
    <p:sldId id="356" r:id="rId58"/>
    <p:sldId id="312" r:id="rId59"/>
    <p:sldId id="357" r:id="rId6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A6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autoAdjust="0"/>
  </p:normalViewPr>
  <p:slideViewPr>
    <p:cSldViewPr snapToGrid="0" showGuides="1">
      <p:cViewPr varScale="1">
        <p:scale>
          <a:sx n="116" d="100"/>
          <a:sy n="116" d="100"/>
        </p:scale>
        <p:origin x="138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B0B0A-7FB2-412B-859F-EC3A8F9B9D1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F3F2CE-909D-4581-8BA8-8DCD318820E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11095" y="693329"/>
            <a:ext cx="8930355" cy="0"/>
          </a:xfrm>
          <a:prstGeom prst="line">
            <a:avLst/>
          </a:prstGeom>
          <a:ln w="25400">
            <a:solidFill>
              <a:srgbClr val="F5A60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4639"/>
            <a:ext cx="8229600" cy="1143000"/>
          </a:xfrm>
          <a:prstGeom prst="rect">
            <a:avLst/>
          </a:prstGeom>
        </p:spPr>
        <p:txBody>
          <a:bodyPr lIns="121963" tIns="60981" rIns="121963" bIns="60981"/>
          <a:lstStyle/>
          <a:p>
            <a:r>
              <a:rPr lang="zh-CN" altLang="en-US"/>
              <a:t>单击此处编辑母版标题样式</a:t>
            </a:r>
            <a:endParaRPr lang="zh-CN" altLang="en-US"/>
          </a:p>
        </p:txBody>
      </p:sp>
      <p:sp>
        <p:nvSpPr>
          <p:cNvPr id="3" name="日期占位符 2"/>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1"/>
          </a:xfrm>
          <a:prstGeom prst="rect">
            <a:avLst/>
          </a:prstGeom>
        </p:spPr>
        <p:txBody>
          <a:bodyPr lIns="121963" tIns="60981" rIns="121963" bIns="60981" anchor="b"/>
          <a:lstStyle>
            <a:lvl1pPr algn="l">
              <a:defRPr sz="27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1"/>
            <a:ext cx="5111750" cy="5853114"/>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435103"/>
            <a:ext cx="3008313" cy="4691063"/>
          </a:xfrm>
          <a:prstGeom prst="rect">
            <a:avLst/>
          </a:prstGeom>
        </p:spPr>
        <p:txBody>
          <a:bodyPr lIns="121963" tIns="60981" rIns="121963" bIns="60981"/>
          <a:lstStyle>
            <a:lvl1pPr marL="0" indent="0">
              <a:buNone/>
              <a:defRPr sz="1900"/>
            </a:lvl1pPr>
            <a:lvl2pPr marL="609600" indent="0">
              <a:buNone/>
              <a:defRPr sz="1600"/>
            </a:lvl2pPr>
            <a:lvl3pPr marL="1219200" indent="0">
              <a:buNone/>
              <a:defRPr sz="1300"/>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a:prstGeom prst="rect">
            <a:avLst/>
          </a:prstGeom>
        </p:spPr>
        <p:txBody>
          <a:bodyPr lIns="121963" tIns="60981" rIns="121963" bIns="60981" anchor="b"/>
          <a:lstStyle>
            <a:lvl1pPr algn="l">
              <a:defRPr sz="27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lIns="121963" tIns="60981" rIns="121963" bIns="60981"/>
          <a:lstStyle>
            <a:lvl1pPr marL="0" indent="0">
              <a:buNone/>
              <a:defRPr sz="4300"/>
            </a:lvl1pPr>
            <a:lvl2pPr marL="609600" indent="0">
              <a:buNone/>
              <a:defRPr sz="3700"/>
            </a:lvl2pPr>
            <a:lvl3pPr marL="1219200" indent="0">
              <a:buNone/>
              <a:defRPr sz="3200"/>
            </a:lvl3pPr>
            <a:lvl4pPr marL="1828800" indent="0">
              <a:buNone/>
              <a:defRPr sz="2700"/>
            </a:lvl4pPr>
            <a:lvl5pPr marL="2437765" indent="0">
              <a:buNone/>
              <a:defRPr sz="2700"/>
            </a:lvl5pPr>
            <a:lvl6pPr marL="3047365" indent="0">
              <a:buNone/>
              <a:defRPr sz="2700"/>
            </a:lvl6pPr>
            <a:lvl7pPr marL="3656965" indent="0">
              <a:buNone/>
              <a:defRPr sz="2700"/>
            </a:lvl7pPr>
            <a:lvl8pPr marL="4266565" indent="0">
              <a:buNone/>
              <a:defRPr sz="2700"/>
            </a:lvl8pPr>
            <a:lvl9pPr marL="4876165" indent="0">
              <a:buNone/>
              <a:defRPr sz="2700"/>
            </a:lvl9pPr>
          </a:lstStyle>
          <a:p>
            <a:endParaRPr lang="zh-CN" altLang="en-US"/>
          </a:p>
        </p:txBody>
      </p:sp>
      <p:sp>
        <p:nvSpPr>
          <p:cNvPr id="4" name="文本占位符 3"/>
          <p:cNvSpPr>
            <a:spLocks noGrp="1"/>
          </p:cNvSpPr>
          <p:nvPr>
            <p:ph type="body" sz="half" idx="2"/>
          </p:nvPr>
        </p:nvSpPr>
        <p:spPr>
          <a:xfrm>
            <a:off x="1792288" y="5367339"/>
            <a:ext cx="5486400" cy="804863"/>
          </a:xfrm>
          <a:prstGeom prst="rect">
            <a:avLst/>
          </a:prstGeom>
        </p:spPr>
        <p:txBody>
          <a:bodyPr lIns="121963" tIns="60981" rIns="121963" bIns="60981"/>
          <a:lstStyle>
            <a:lvl1pPr marL="0" indent="0">
              <a:buNone/>
              <a:defRPr sz="1900"/>
            </a:lvl1pPr>
            <a:lvl2pPr marL="609600" indent="0">
              <a:buNone/>
              <a:defRPr sz="1600"/>
            </a:lvl2pPr>
            <a:lvl3pPr marL="1219200" indent="0">
              <a:buNone/>
              <a:defRPr sz="1300"/>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1" y="274639"/>
            <a:ext cx="8229600" cy="1143000"/>
          </a:xfrm>
          <a:prstGeom prst="rect">
            <a:avLst/>
          </a:prstGeom>
        </p:spPr>
        <p:txBody>
          <a:bodyPr lIns="121963" tIns="60981" rIns="121963" bIns="60981"/>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1" y="1600203"/>
            <a:ext cx="8229600" cy="4525963"/>
          </a:xfrm>
          <a:prstGeom prst="rect">
            <a:avLst/>
          </a:prstGeom>
        </p:spPr>
        <p:txBody>
          <a:bodyPr vert="eaVert" lIns="121963" tIns="60981" rIns="121963" bIns="6098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1" y="206376"/>
            <a:ext cx="2057400" cy="4387851"/>
          </a:xfrm>
          <a:prstGeom prst="rect">
            <a:avLst/>
          </a:prstGeom>
        </p:spPr>
        <p:txBody>
          <a:bodyPr vert="eaVert" lIns="121963" tIns="60981" rIns="121963" bIns="60981"/>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6376"/>
            <a:ext cx="6019800" cy="4387851"/>
          </a:xfrm>
          <a:prstGeom prst="rect">
            <a:avLst/>
          </a:prstGeom>
        </p:spPr>
        <p:txBody>
          <a:bodyPr vert="eaVert" lIns="121963" tIns="60981" rIns="121963" bIns="6098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8" name="Picture 2" descr="F:\桌面文件\ppt底图.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279" y="3177"/>
            <a:ext cx="9228378" cy="6854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14521" y="0"/>
            <a:ext cx="9228619" cy="6858000"/>
          </a:xfrm>
          <a:prstGeom prst="rect">
            <a:avLst/>
          </a:prstGeom>
          <a:gradFill flip="none" rotWithShape="1">
            <a:gsLst>
              <a:gs pos="0">
                <a:schemeClr val="bg1">
                  <a:alpha val="0"/>
                </a:schemeClr>
              </a:gs>
              <a:gs pos="30000">
                <a:schemeClr val="bg1">
                  <a:alpha val="0"/>
                </a:schemeClr>
              </a:gs>
              <a:gs pos="98000">
                <a:schemeClr val="tx1">
                  <a:alpha val="7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388" tIns="45693" rIns="91388" bIns="45693" anchor="ctr"/>
          <a:lstStyle/>
          <a:p>
            <a:pPr algn="ctr" eaLnBrk="0" hangingPunct="0">
              <a:defRPr/>
            </a:pPr>
            <a:endParaRPr lang="zh-CN" altLang="en-US" sz="180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iming>
    <p:tnLst>
      <p:par>
        <p:cTn id="1" dur="indefinite" restart="never" nodeType="tmRoot"/>
      </p:par>
    </p:tnLst>
  </p:timing>
  <p:txStyles>
    <p:titleStyle>
      <a:lvl1pPr algn="ctr" defTabSz="1218565" rtl="0" eaLnBrk="1" latinLnBrk="0" hangingPunct="1">
        <a:spcBef>
          <a:spcPct val="0"/>
        </a:spcBef>
        <a:buNone/>
        <a:defRPr sz="589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1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7365" algn="l" defTabSz="1218565" rtl="0" eaLnBrk="1" latinLnBrk="0" hangingPunct="1">
        <a:defRPr sz="2400" kern="1200">
          <a:solidFill>
            <a:schemeClr val="tx1"/>
          </a:solidFill>
          <a:latin typeface="+mn-lt"/>
          <a:ea typeface="+mn-ea"/>
          <a:cs typeface="+mn-cs"/>
        </a:defRPr>
      </a:lvl6pPr>
      <a:lvl7pPr marL="3656965"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473890" y="4793695"/>
            <a:ext cx="8259053" cy="0"/>
          </a:xfrm>
          <a:prstGeom prst="line">
            <a:avLst/>
          </a:prstGeom>
          <a:ln w="38100">
            <a:solidFill>
              <a:srgbClr val="F5A609"/>
            </a:solidFill>
          </a:ln>
        </p:spPr>
        <p:style>
          <a:lnRef idx="1">
            <a:schemeClr val="accent1"/>
          </a:lnRef>
          <a:fillRef idx="0">
            <a:schemeClr val="accent1"/>
          </a:fillRef>
          <a:effectRef idx="0">
            <a:schemeClr val="accent1"/>
          </a:effectRef>
          <a:fontRef idx="minor">
            <a:schemeClr val="tx1"/>
          </a:fontRef>
        </p:style>
      </p:cxnSp>
      <p:sp>
        <p:nvSpPr>
          <p:cNvPr id="6" name="TextBox 23"/>
          <p:cNvSpPr txBox="1"/>
          <p:nvPr/>
        </p:nvSpPr>
        <p:spPr>
          <a:xfrm>
            <a:off x="1225042" y="693010"/>
            <a:ext cx="6770189" cy="861706"/>
          </a:xfrm>
          <a:prstGeom prst="rect">
            <a:avLst/>
          </a:prstGeom>
          <a:noFill/>
        </p:spPr>
        <p:txBody>
          <a:bodyPr wrap="square" lIns="121854" tIns="60926" rIns="121854" bIns="60926" rtlCol="0">
            <a:spAutoFit/>
          </a:bodyPr>
          <a:lstStyle/>
          <a:p>
            <a:pPr algn="ctr" defTabSz="1218565"/>
            <a:r>
              <a:rPr lang="zh-CN" altLang="en-US" sz="4800" b="1" dirty="0">
                <a:solidFill>
                  <a:srgbClr val="0070C0"/>
                </a:solidFill>
                <a:latin typeface="微软雅黑" panose="020B0503020204020204" pitchFamily="34" charset="-122"/>
                <a:ea typeface="微软雅黑" panose="020B0503020204020204" pitchFamily="34" charset="-122"/>
              </a:rPr>
              <a:t>第</a:t>
            </a:r>
            <a:r>
              <a:rPr lang="en-US" altLang="zh-CN" sz="4800" b="1" dirty="0">
                <a:solidFill>
                  <a:srgbClr val="0070C0"/>
                </a:solidFill>
                <a:latin typeface="微软雅黑" panose="020B0503020204020204" pitchFamily="34" charset="-122"/>
                <a:ea typeface="微软雅黑" panose="020B0503020204020204" pitchFamily="34" charset="-122"/>
              </a:rPr>
              <a:t>1</a:t>
            </a:r>
            <a:r>
              <a:rPr lang="zh-CN" altLang="en-US" sz="4800" b="1" dirty="0">
                <a:solidFill>
                  <a:srgbClr val="0070C0"/>
                </a:solidFill>
                <a:latin typeface="微软雅黑" panose="020B0503020204020204" pitchFamily="34" charset="-122"/>
                <a:ea typeface="微软雅黑" panose="020B0503020204020204" pitchFamily="34" charset="-122"/>
              </a:rPr>
              <a:t>章 </a:t>
            </a:r>
            <a:r>
              <a:rPr lang="en-US" altLang="zh-CN" sz="4800" b="1" dirty="0">
                <a:solidFill>
                  <a:srgbClr val="0070C0"/>
                </a:solidFill>
                <a:latin typeface="微软雅黑" panose="020B0503020204020204" pitchFamily="34" charset="-122"/>
                <a:ea typeface="微软雅黑" panose="020B0503020204020204" pitchFamily="34" charset="-122"/>
              </a:rPr>
              <a:t>Python</a:t>
            </a:r>
            <a:r>
              <a:rPr lang="zh-CN" altLang="en-US" sz="4800" b="1" dirty="0">
                <a:solidFill>
                  <a:srgbClr val="0070C0"/>
                </a:solidFill>
                <a:latin typeface="微软雅黑" panose="020B0503020204020204" pitchFamily="34" charset="-122"/>
                <a:ea typeface="微软雅黑" panose="020B0503020204020204" pitchFamily="34" charset="-122"/>
              </a:rPr>
              <a:t>语言基础</a:t>
            </a:r>
            <a:endParaRPr lang="zh-CN" altLang="en-US" sz="4800" b="1" dirty="0">
              <a:solidFill>
                <a:srgbClr val="0070C0"/>
              </a:solidFill>
              <a:latin typeface="微软雅黑" panose="020B0503020204020204" pitchFamily="34" charset="-122"/>
              <a:ea typeface="微软雅黑" panose="020B0503020204020204" pitchFamily="34" charset="-122"/>
            </a:endParaRPr>
          </a:p>
        </p:txBody>
      </p:sp>
      <p:sp>
        <p:nvSpPr>
          <p:cNvPr id="7" name="TextBox 23"/>
          <p:cNvSpPr txBox="1"/>
          <p:nvPr/>
        </p:nvSpPr>
        <p:spPr>
          <a:xfrm>
            <a:off x="1659890" y="5321935"/>
            <a:ext cx="5824220" cy="612775"/>
          </a:xfrm>
          <a:prstGeom prst="rect">
            <a:avLst/>
          </a:prstGeom>
          <a:noFill/>
        </p:spPr>
        <p:txBody>
          <a:bodyPr wrap="square" lIns="121854" tIns="60926" rIns="121854" bIns="60926" rtlCol="0">
            <a:spAutoFit/>
            <a:scene3d>
              <a:camera prst="orthographicFront"/>
              <a:lightRig rig="threePt" dir="t"/>
            </a:scene3d>
          </a:bodyPr>
          <a:lstStyle/>
          <a:p>
            <a:pPr algn="ctr" defTabSz="1218565"/>
            <a:r>
              <a:rPr lang="zh-CN" alt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pitchFamily="34" charset="-122"/>
                <a:ea typeface="微软雅黑" panose="020B0503020204020204" pitchFamily="34" charset="-122"/>
              </a:rPr>
              <a:t>周维达 方</a:t>
            </a:r>
            <a:r>
              <a:rPr lang="zh-CN" altLang="en-US" sz="32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pitchFamily="34" charset="-122"/>
                <a:ea typeface="微软雅黑" panose="020B0503020204020204" pitchFamily="34" charset="-122"/>
              </a:rPr>
              <a:t>贤  主讲</a:t>
            </a:r>
            <a:endParaRPr lang="zh-CN" alt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楷体" panose="02010609060101010101" pitchFamily="49" charset="-122"/>
              <a:ea typeface="楷体" panose="02010609060101010101" pitchFamily="49" charset="-122"/>
            </a:endParaRPr>
          </a:p>
        </p:txBody>
      </p:sp>
      <p:pic>
        <p:nvPicPr>
          <p:cNvPr id="8" name="Picture 2" descr="C:\Users\Shinelon\Desktop\29462079-1_w_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05125" y="1723220"/>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
                                        </p:tgtEl>
                                      </p:cBhvr>
                                    </p:animEffect>
                                  </p:childTnLst>
                                </p:cTn>
                              </p:par>
                            </p:childTnLst>
                          </p:cTn>
                        </p:par>
                        <p:par>
                          <p:cTn id="12" fill="hold">
                            <p:stCondLst>
                              <p:cond delay="1149"/>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7"/>
                                        </p:tgtEl>
                                        <p:attrNameLst>
                                          <p:attrName>ppt_y</p:attrName>
                                        </p:attrNameLst>
                                      </p:cBhvr>
                                      <p:tavLst>
                                        <p:tav tm="0">
                                          <p:val>
                                            <p:strVal val="#ppt_y"/>
                                          </p:val>
                                        </p:tav>
                                        <p:tav tm="100000">
                                          <p:val>
                                            <p:strVal val="#ppt_y"/>
                                          </p:val>
                                        </p:tav>
                                      </p:tavLst>
                                    </p:anim>
                                    <p:anim calcmode="lin" valueType="num">
                                      <p:cBhvr>
                                        <p:cTn id="17"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754007" y="3336319"/>
              <a:ext cx="3329507" cy="431087"/>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NumPy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54007" y="4221882"/>
              <a:ext cx="3166169" cy="431088"/>
            </a:xfrm>
            <a:prstGeom prst="rect">
              <a:avLst/>
            </a:prstGeom>
          </p:spPr>
          <p:txBody>
            <a:bodyPr wrap="square" lIns="121897" tIns="60948" rIns="121897" bIns="60948">
              <a:spAutoFit/>
            </a:bodyPr>
            <a:lstStyle/>
            <a:p>
              <a:pPr defTabSz="1218565">
                <a:defRPr/>
              </a:pPr>
              <a:r>
                <a:rPr lang="en-US" altLang="zh-CN" sz="2000" b="1" kern="100" dirty="0" err="1">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主  要</a:t>
            </a:r>
            <a:endParaRPr lang="en-US" altLang="zh-CN" sz="4800" b="1" spc="200" dirty="0" smtClean="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smtClean="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52412" y="4221882"/>
              <a:ext cx="3167764" cy="431088"/>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 name="下箭头 23"/>
          <p:cNvSpPr/>
          <p:nvPr/>
        </p:nvSpPr>
        <p:spPr>
          <a:xfrm rot="16200000">
            <a:off x="3031835" y="1391207"/>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80">
                                          <p:stCondLst>
                                            <p:cond delay="0"/>
                                          </p:stCondLst>
                                        </p:cTn>
                                        <p:tgtEl>
                                          <p:spTgt spid="24"/>
                                        </p:tgtEl>
                                      </p:cBhvr>
                                    </p:animEffect>
                                    <p:anim calcmode="lin" valueType="num">
                                      <p:cBhvr>
                                        <p:cTn id="8"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3" dur="26">
                                          <p:stCondLst>
                                            <p:cond delay="650"/>
                                          </p:stCondLst>
                                        </p:cTn>
                                        <p:tgtEl>
                                          <p:spTgt spid="24"/>
                                        </p:tgtEl>
                                      </p:cBhvr>
                                      <p:to x="100000" y="60000"/>
                                    </p:animScale>
                                    <p:animScale>
                                      <p:cBhvr>
                                        <p:cTn id="14" dur="166" decel="50000">
                                          <p:stCondLst>
                                            <p:cond delay="676"/>
                                          </p:stCondLst>
                                        </p:cTn>
                                        <p:tgtEl>
                                          <p:spTgt spid="24"/>
                                        </p:tgtEl>
                                      </p:cBhvr>
                                      <p:to x="100000" y="100000"/>
                                    </p:animScale>
                                    <p:animScale>
                                      <p:cBhvr>
                                        <p:cTn id="15" dur="26">
                                          <p:stCondLst>
                                            <p:cond delay="1312"/>
                                          </p:stCondLst>
                                        </p:cTn>
                                        <p:tgtEl>
                                          <p:spTgt spid="24"/>
                                        </p:tgtEl>
                                      </p:cBhvr>
                                      <p:to x="100000" y="80000"/>
                                    </p:animScale>
                                    <p:animScale>
                                      <p:cBhvr>
                                        <p:cTn id="16" dur="166" decel="50000">
                                          <p:stCondLst>
                                            <p:cond delay="1338"/>
                                          </p:stCondLst>
                                        </p:cTn>
                                        <p:tgtEl>
                                          <p:spTgt spid="24"/>
                                        </p:tgtEl>
                                      </p:cBhvr>
                                      <p:to x="100000" y="100000"/>
                                    </p:animScale>
                                    <p:animScale>
                                      <p:cBhvr>
                                        <p:cTn id="17" dur="26">
                                          <p:stCondLst>
                                            <p:cond delay="1642"/>
                                          </p:stCondLst>
                                        </p:cTn>
                                        <p:tgtEl>
                                          <p:spTgt spid="24"/>
                                        </p:tgtEl>
                                      </p:cBhvr>
                                      <p:to x="100000" y="90000"/>
                                    </p:animScale>
                                    <p:animScale>
                                      <p:cBhvr>
                                        <p:cTn id="18" dur="166" decel="50000">
                                          <p:stCondLst>
                                            <p:cond delay="1668"/>
                                          </p:stCondLst>
                                        </p:cTn>
                                        <p:tgtEl>
                                          <p:spTgt spid="24"/>
                                        </p:tgtEl>
                                      </p:cBhvr>
                                      <p:to x="100000" y="100000"/>
                                    </p:animScale>
                                    <p:animScale>
                                      <p:cBhvr>
                                        <p:cTn id="19" dur="26">
                                          <p:stCondLst>
                                            <p:cond delay="1808"/>
                                          </p:stCondLst>
                                        </p:cTn>
                                        <p:tgtEl>
                                          <p:spTgt spid="24"/>
                                        </p:tgtEl>
                                      </p:cBhvr>
                                      <p:to x="100000" y="95000"/>
                                    </p:animScale>
                                    <p:animScale>
                                      <p:cBhvr>
                                        <p:cTn id="20"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语言的特点</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defTabSz="913765">
              <a:lnSpc>
                <a:spcPct val="150000"/>
              </a:lnSpc>
              <a:buFont typeface="Wingdings" panose="05000000000000000000" pitchFamily="2" charset="2"/>
              <a:buChar char="Ø"/>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是一种跨平台、开源的解释型高级动态编程语言</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defTabSz="913765">
              <a:lnSpc>
                <a:spcPct val="150000"/>
              </a:lnSpc>
              <a:buFont typeface="Wingdings" panose="05000000000000000000" pitchFamily="2" charset="2"/>
              <a:buChar char="Ø"/>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拥</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有大量的库，可以高效地开发各种</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应用程序</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defTabSz="913765">
              <a:lnSpc>
                <a:spcPct val="150000"/>
              </a:lnSpc>
              <a:buFont typeface="Wingdings" panose="05000000000000000000" pitchFamily="2" charset="2"/>
              <a:buChar char="Ø"/>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的应用领域也非常广泛，既适用于</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Web</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编程、网络爬虫这些互联网相关的应用，也适用于数据分析、机器学习这些与大数据、人工智能相关的</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领域</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的版本</a:t>
            </a:r>
            <a:endParaRPr lang="en-US" altLang="zh-CN"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defTabSz="913765">
              <a:lnSpc>
                <a:spcPct val="150000"/>
              </a:lnSpc>
              <a:buFont typeface="Wingdings" panose="05000000000000000000" pitchFamily="2" charset="2"/>
              <a:buChar char="Ø"/>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有两个版本，一种是</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2.x</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版，一种是</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3.x</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版（本课程采用</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3.7</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版）</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 Python</a:t>
            </a:r>
            <a:r>
              <a:rPr lang="zh-CN" altLang="en-US" sz="2800" b="1" dirty="0" smtClean="0">
                <a:solidFill>
                  <a:srgbClr val="0070C0"/>
                </a:solidFill>
                <a:latin typeface="微软雅黑" panose="020B0503020204020204" pitchFamily="34" charset="-122"/>
                <a:ea typeface="微软雅黑" panose="020B0503020204020204" pitchFamily="34" charset="-122"/>
              </a:rPr>
              <a:t>程序入门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842002" y="1865590"/>
            <a:ext cx="1710725" cy="2677656"/>
          </a:xfrm>
          <a:prstGeom prst="rect">
            <a:avLst/>
          </a:prstGeom>
          <a:solidFill>
            <a:schemeClr val="bg2"/>
          </a:solidFill>
          <a:ln>
            <a:noFill/>
          </a:ln>
        </p:spPr>
        <p:txBody>
          <a:bodyPr vert="horz" wrap="none" lIns="91440" tIns="45720" rIns="91440" bIns="45720" numCol="1" anchor="t"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0 </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1 1 </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2 2 2 </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3 3 3 3 </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4 4 4 4 4 </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5 5 5 5 5 5</a:t>
            </a:r>
            <a:endParaRPr kumimoji="0" lang="zh-CN" altLang="zh-CN" sz="5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 name="Rectangle 4"/>
          <p:cNvSpPr>
            <a:spLocks noChangeArrowheads="1"/>
          </p:cNvSpPr>
          <p:nvPr/>
        </p:nvSpPr>
        <p:spPr bwMode="auto">
          <a:xfrm>
            <a:off x="609600" y="1874772"/>
            <a:ext cx="420624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R="0" lvl="0" indent="0" algn="l" defTabSz="914400" rtl="0" eaLnBrk="1" fontAlgn="base" latinLnBrk="0" hangingPunct="1">
              <a:lnSpc>
                <a:spcPct val="100000"/>
              </a:lnSpc>
              <a:spcBef>
                <a:spcPct val="0"/>
              </a:spcBef>
              <a:spcAft>
                <a:spcPct val="0"/>
              </a:spcAft>
              <a:buClrTx/>
              <a:buSzTx/>
              <a:buFontTx/>
              <a:buNone/>
            </a:pPr>
            <a:r>
              <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 i in range(6):</a:t>
            </a:r>
            <a:endParaRPr kumimoji="0" lang="en-US"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R="0" lvl="0" indent="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for j in range(-1, </a:t>
            </a:r>
            <a:r>
              <a:rPr kumimoji="0" lang="en-US" altLang="zh-CN" sz="32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R="0" lvl="0" indent="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print(</a:t>
            </a:r>
            <a:r>
              <a:rPr kumimoji="0" lang="en-US" altLang="zh-CN" sz="32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end=' ')</a:t>
            </a:r>
            <a:endPar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R="0" lvl="0" indent="0" algn="l" defTabSz="914400" rtl="0" eaLnBrk="0" fontAlgn="base" latinLnBrk="0" hangingPunct="0">
              <a:lnSpc>
                <a:spcPct val="100000"/>
              </a:lnSpc>
              <a:spcBef>
                <a:spcPct val="0"/>
              </a:spcBef>
              <a:spcAft>
                <a:spcPct val="0"/>
              </a:spcAft>
              <a:buClrTx/>
              <a:buSzTx/>
              <a:buFontTx/>
              <a:buNone/>
            </a:pPr>
            <a:r>
              <a:rPr lang="en-US" altLang="zh-CN" sz="3200" dirty="0" smtClean="0">
                <a:latin typeface="Times New Roman" panose="02020603050405020304" pitchFamily="18" charset="0"/>
                <a:cs typeface="Times New Roman" panose="02020603050405020304" pitchFamily="18" charset="0"/>
              </a:rPr>
              <a:t>    print()</a:t>
            </a:r>
            <a:endParaRPr kumimoji="0"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609600" y="1071324"/>
            <a:ext cx="3432350"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1-1</a:t>
            </a:r>
            <a:r>
              <a:rPr lang="en-US" altLang="zh-CN" sz="2800" b="1" dirty="0">
                <a:solidFill>
                  <a:srgbClr val="0070C0"/>
                </a:solidFill>
                <a:latin typeface="微软雅黑" panose="020B0503020204020204" pitchFamily="34" charset="-122"/>
                <a:ea typeface="微软雅黑" panose="020B0503020204020204" pitchFamily="34" charset="-122"/>
              </a:rPr>
              <a:t>]  </a:t>
            </a:r>
            <a:r>
              <a:rPr lang="zh-CN" altLang="zh-CN" sz="2800" b="1" dirty="0">
                <a:solidFill>
                  <a:srgbClr val="0070C0"/>
                </a:solidFill>
                <a:latin typeface="微软雅黑" panose="020B0503020204020204" pitchFamily="34" charset="-122"/>
                <a:ea typeface="微软雅黑" panose="020B0503020204020204" pitchFamily="34" charset="-122"/>
              </a:rPr>
              <a:t>画金字塔</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609600" y="4413994"/>
            <a:ext cx="3459941" cy="523196"/>
            <a:chOff x="6339097" y="1568270"/>
            <a:chExt cx="3744416" cy="523468"/>
          </a:xfrm>
        </p:grpSpPr>
        <p:sp>
          <p:nvSpPr>
            <p:cNvPr id="16" name="圆角矩形 15"/>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7" name="矩形 16"/>
            <p:cNvSpPr/>
            <p:nvPr/>
          </p:nvSpPr>
          <p:spPr>
            <a:xfrm>
              <a:off x="6723349" y="1568270"/>
              <a:ext cx="3196827" cy="523468"/>
            </a:xfrm>
            <a:prstGeom prst="rect">
              <a:avLst/>
            </a:prstGeom>
          </p:spPr>
          <p:txBody>
            <a:bodyPr wrap="square" lIns="121897" tIns="60948" rIns="121897" bIns="60948">
              <a:spAutoFit/>
            </a:bodyPr>
            <a:lstStyle/>
            <a:p>
              <a:pPr defTabSz="1218565">
                <a:defRPr/>
              </a:pPr>
              <a:r>
                <a:rPr lang="zh-CN" altLang="en-US"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缩进具有语法含义</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8" name="组合 17"/>
          <p:cNvGrpSpPr/>
          <p:nvPr/>
        </p:nvGrpSpPr>
        <p:grpSpPr>
          <a:xfrm>
            <a:off x="609600" y="5191234"/>
            <a:ext cx="5791200" cy="523196"/>
            <a:chOff x="6339097" y="1568270"/>
            <a:chExt cx="3744416" cy="523468"/>
          </a:xfrm>
        </p:grpSpPr>
        <p:sp>
          <p:nvSpPr>
            <p:cNvPr id="19" name="圆角矩形 1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0" name="矩形 19"/>
            <p:cNvSpPr/>
            <p:nvPr/>
          </p:nvSpPr>
          <p:spPr>
            <a:xfrm>
              <a:off x="6467195" y="1568270"/>
              <a:ext cx="3452980" cy="523468"/>
            </a:xfrm>
            <a:prstGeom prst="rect">
              <a:avLst/>
            </a:prstGeom>
          </p:spPr>
          <p:txBody>
            <a:bodyPr wrap="square" lIns="121897" tIns="60948" rIns="121897" bIns="60948">
              <a:spAutoFit/>
            </a:bodyPr>
            <a:lstStyle/>
            <a:p>
              <a:pPr defTabSz="1218565">
                <a:defRPr/>
              </a:pPr>
              <a:r>
                <a:rPr lang="en-US" altLang="zh-CN"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range(6)</a:t>
              </a:r>
              <a:r>
                <a:rPr lang="zh-CN" altLang="en-US"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产生数字序列</a:t>
              </a:r>
              <a:r>
                <a:rPr lang="en-US" altLang="zh-CN"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0,1,2,3,4,5</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1" name="组合 20"/>
          <p:cNvGrpSpPr/>
          <p:nvPr/>
        </p:nvGrpSpPr>
        <p:grpSpPr>
          <a:xfrm>
            <a:off x="609600" y="5968474"/>
            <a:ext cx="3962400" cy="923305"/>
            <a:chOff x="6339097" y="1568270"/>
            <a:chExt cx="3744416" cy="923785"/>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723349" y="1568270"/>
              <a:ext cx="3196827" cy="923785"/>
            </a:xfrm>
            <a:prstGeom prst="rect">
              <a:avLst/>
            </a:prstGeom>
          </p:spPr>
          <p:txBody>
            <a:bodyPr wrap="square" lIns="121897" tIns="60948" rIns="121897" bIns="60948">
              <a:spAutoFit/>
            </a:bodyPr>
            <a:lstStyle/>
            <a:p>
              <a:pPr defTabSz="1218565">
                <a:defRPr/>
              </a:pP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print</a:t>
              </a:r>
              <a:r>
                <a:rPr lang="en-US" altLang="zh-CN"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默认会换行</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6" name="矩形 25"/>
          <p:cNvSpPr/>
          <p:nvPr/>
        </p:nvSpPr>
        <p:spPr>
          <a:xfrm>
            <a:off x="5925064" y="5762277"/>
            <a:ext cx="2857781" cy="954107"/>
          </a:xfrm>
          <a:prstGeom prst="rect">
            <a:avLst/>
          </a:prstGeom>
        </p:spPr>
        <p:txBody>
          <a:bodyPr wrap="square">
            <a:spAutoFit/>
          </a:bodyPr>
          <a:lstStyle/>
          <a:p>
            <a:r>
              <a:rPr lang="en-US" altLang="zh-CN" sz="2800" dirty="0">
                <a:latin typeface="Times New Roman" panose="02020603050405020304" pitchFamily="18" charset="0"/>
                <a:cs typeface="Times New Roman" panose="02020603050405020304" pitchFamily="18" charset="0"/>
              </a:rPr>
              <a:t>for i in range(6):</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print("*  "*</a:t>
            </a:r>
            <a:r>
              <a:rPr lang="en-US" altLang="zh-CN" sz="2800" dirty="0" err="1">
                <a:latin typeface="Times New Roman" panose="02020603050405020304" pitchFamily="18" charset="0"/>
                <a:cs typeface="Times New Roman" panose="02020603050405020304" pitchFamily="18" charset="0"/>
              </a:rPr>
              <a:t>i</a:t>
            </a:r>
            <a:r>
              <a:rPr lang="en-US" altLang="zh-CN" sz="2800" dirty="0" smtClean="0">
                <a:latin typeface="Times New Roman" panose="02020603050405020304" pitchFamily="18" charset="0"/>
                <a:cs typeface="Times New Roman" panose="02020603050405020304" pitchFamily="18" charset="0"/>
              </a:rPr>
              <a:t>)</a:t>
            </a:r>
            <a:endParaRPr lang="en-US" altLang="zh-C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609601" y="1834293"/>
            <a:ext cx="46177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2800" dirty="0" smtClean="0">
                <a:latin typeface="Times New Roman" panose="02020603050405020304" pitchFamily="18" charset="0"/>
                <a:cs typeface="Times New Roman" panose="02020603050405020304" pitchFamily="18" charset="0"/>
              </a:rPr>
              <a:t>a = </a:t>
            </a:r>
            <a:r>
              <a:rPr lang="en-US" altLang="zh-CN" sz="2800" dirty="0" err="1" smtClean="0">
                <a:latin typeface="Times New Roman" panose="02020603050405020304" pitchFamily="18" charset="0"/>
                <a:cs typeface="Times New Roman" panose="02020603050405020304" pitchFamily="18" charset="0"/>
              </a:rPr>
              <a:t>int</a:t>
            </a:r>
            <a:r>
              <a:rPr lang="en-US" altLang="zh-CN" sz="2800" dirty="0" smtClean="0">
                <a:latin typeface="Times New Roman" panose="02020603050405020304" pitchFamily="18" charset="0"/>
                <a:cs typeface="Times New Roman" panose="02020603050405020304" pitchFamily="18" charset="0"/>
              </a:rPr>
              <a:t>(input</a:t>
            </a:r>
            <a:r>
              <a:rPr lang="en-US" altLang="zh-CN" sz="2800" dirty="0">
                <a:latin typeface="Times New Roman" panose="02020603050405020304" pitchFamily="18" charset="0"/>
                <a:cs typeface="Times New Roman" panose="02020603050405020304" pitchFamily="18" charset="0"/>
              </a:rPr>
              <a:t>('</a:t>
            </a:r>
            <a:r>
              <a:rPr lang="zh-CN" altLang="en-US" sz="2800" dirty="0" smtClean="0">
                <a:latin typeface="Times New Roman" panose="02020603050405020304" pitchFamily="18" charset="0"/>
                <a:cs typeface="Times New Roman" panose="02020603050405020304" pitchFamily="18" charset="0"/>
              </a:rPr>
              <a:t>输入正</a:t>
            </a:r>
            <a:r>
              <a:rPr lang="zh-CN" altLang="en-US" sz="2800" dirty="0">
                <a:latin typeface="Times New Roman" panose="02020603050405020304" pitchFamily="18" charset="0"/>
                <a:cs typeface="Times New Roman" panose="02020603050405020304" pitchFamily="18" charset="0"/>
              </a:rPr>
              <a:t>整</a:t>
            </a:r>
            <a:r>
              <a:rPr lang="zh-CN" altLang="en-US" sz="2800" dirty="0" smtClean="0">
                <a:latin typeface="Times New Roman" panose="02020603050405020304" pitchFamily="18" charset="0"/>
                <a:cs typeface="Times New Roman" panose="02020603050405020304" pitchFamily="18" charset="0"/>
              </a:rPr>
              <a:t>数</a:t>
            </a:r>
            <a:r>
              <a:rPr lang="en-US" altLang="zh-CN" sz="2800" dirty="0" smtClean="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if a&gt;6:</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print(a</a:t>
            </a:r>
            <a:r>
              <a:rPr lang="en-US" altLang="zh-CN" sz="2800" dirty="0" smtClean="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大于</a:t>
            </a:r>
            <a:r>
              <a:rPr lang="en-US" altLang="zh-CN" sz="2800" dirty="0">
                <a:latin typeface="Times New Roman" panose="02020603050405020304" pitchFamily="18" charset="0"/>
                <a:cs typeface="Times New Roman" panose="02020603050405020304" pitchFamily="18" charset="0"/>
              </a:rPr>
              <a:t>6")</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elif a==6:</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print(a</a:t>
            </a:r>
            <a:r>
              <a:rPr lang="en-US" altLang="zh-CN" sz="2800" dirty="0" smtClean="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等于</a:t>
            </a:r>
            <a:r>
              <a:rPr lang="en-US" altLang="zh-CN" sz="2800" dirty="0">
                <a:latin typeface="Times New Roman" panose="02020603050405020304" pitchFamily="18" charset="0"/>
                <a:cs typeface="Times New Roman" panose="02020603050405020304" pitchFamily="18" charset="0"/>
              </a:rPr>
              <a:t>6")    </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else:</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print(a</a:t>
            </a:r>
            <a:r>
              <a:rPr lang="en-US" altLang="zh-CN" sz="2800" dirty="0" smtClean="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小于</a:t>
            </a:r>
            <a:r>
              <a:rPr lang="en-US" altLang="zh-CN" sz="2800" dirty="0">
                <a:latin typeface="Times New Roman" panose="02020603050405020304" pitchFamily="18" charset="0"/>
                <a:cs typeface="Times New Roman" panose="02020603050405020304" pitchFamily="18" charset="0"/>
              </a:rPr>
              <a:t>6</a:t>
            </a:r>
            <a:r>
              <a:rPr lang="en-US" altLang="zh-CN" sz="2800" dirty="0" smtClean="0">
                <a:latin typeface="Times New Roman" panose="02020603050405020304" pitchFamily="18" charset="0"/>
                <a:cs typeface="Times New Roman" panose="02020603050405020304" pitchFamily="18" charset="0"/>
              </a:rPr>
              <a:t>")</a:t>
            </a:r>
            <a:endParaRPr lang="en-US" altLang="zh-CN" sz="2800" dirty="0" smtClean="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3791423"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1-2]  </a:t>
            </a:r>
            <a:r>
              <a:rPr lang="zh-CN" altLang="en-US" sz="2800" b="1" dirty="0" smtClean="0">
                <a:solidFill>
                  <a:srgbClr val="0070C0"/>
                </a:solidFill>
                <a:latin typeface="微软雅黑" panose="020B0503020204020204" pitchFamily="34" charset="-122"/>
                <a:ea typeface="微软雅黑" panose="020B0503020204020204" pitchFamily="34" charset="-122"/>
              </a:rPr>
              <a:t>输入并判断</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628116" y="4449468"/>
            <a:ext cx="5058681" cy="542942"/>
            <a:chOff x="8200493" y="145705"/>
            <a:chExt cx="3288667" cy="543224"/>
          </a:xfrm>
        </p:grpSpPr>
        <p:sp>
          <p:nvSpPr>
            <p:cNvPr id="16" name="圆角矩形 15"/>
            <p:cNvSpPr/>
            <p:nvPr/>
          </p:nvSpPr>
          <p:spPr>
            <a:xfrm>
              <a:off x="8200493" y="145705"/>
              <a:ext cx="3288667"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7" name="矩形 16"/>
            <p:cNvSpPr/>
            <p:nvPr/>
          </p:nvSpPr>
          <p:spPr>
            <a:xfrm>
              <a:off x="8246412" y="165461"/>
              <a:ext cx="3196827" cy="523468"/>
            </a:xfrm>
            <a:prstGeom prst="rect">
              <a:avLst/>
            </a:prstGeom>
          </p:spPr>
          <p:txBody>
            <a:bodyPr wrap="square" lIns="121897" tIns="60948" rIns="121897" bIns="60948">
              <a:spAutoFit/>
            </a:bodyPr>
            <a:lstStyle/>
            <a:p>
              <a:pPr defTabSz="1218565">
                <a:defRPr/>
              </a:pPr>
              <a:r>
                <a:rPr lang="en-US" altLang="zh-CN"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input()</a:t>
              </a:r>
              <a:r>
                <a:rPr lang="zh-CN" altLang="en-US" sz="26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函数用来接收用户输入</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8" name="组合 17"/>
          <p:cNvGrpSpPr/>
          <p:nvPr/>
        </p:nvGrpSpPr>
        <p:grpSpPr>
          <a:xfrm>
            <a:off x="4937757" y="5248013"/>
            <a:ext cx="3749040" cy="523196"/>
            <a:chOff x="6339097" y="1568270"/>
            <a:chExt cx="4098710" cy="523468"/>
          </a:xfrm>
        </p:grpSpPr>
        <p:sp>
          <p:nvSpPr>
            <p:cNvPr id="19" name="圆角矩形 18"/>
            <p:cNvSpPr/>
            <p:nvPr/>
          </p:nvSpPr>
          <p:spPr>
            <a:xfrm>
              <a:off x="6339097" y="1573726"/>
              <a:ext cx="4098710"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0" name="矩形 19"/>
            <p:cNvSpPr/>
            <p:nvPr/>
          </p:nvSpPr>
          <p:spPr>
            <a:xfrm>
              <a:off x="6467195" y="1568270"/>
              <a:ext cx="3893386" cy="523468"/>
            </a:xfrm>
            <a:prstGeom prst="rect">
              <a:avLst/>
            </a:prstGeom>
          </p:spPr>
          <p:txBody>
            <a:bodyPr wrap="square" lIns="121897" tIns="60948" rIns="121897" bIns="60948">
              <a:spAutoFit/>
            </a:bodyPr>
            <a:lstStyle/>
            <a:p>
              <a:pPr defTabSz="1218565">
                <a:defRPr/>
              </a:pP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是强制类型转换</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1" name="组合 20"/>
          <p:cNvGrpSpPr/>
          <p:nvPr/>
        </p:nvGrpSpPr>
        <p:grpSpPr>
          <a:xfrm>
            <a:off x="2179318" y="5986027"/>
            <a:ext cx="6634335" cy="527061"/>
            <a:chOff x="9525015" y="2186676"/>
            <a:chExt cx="3817409" cy="527335"/>
          </a:xfrm>
        </p:grpSpPr>
        <p:sp>
          <p:nvSpPr>
            <p:cNvPr id="22" name="圆角矩形 21"/>
            <p:cNvSpPr/>
            <p:nvPr/>
          </p:nvSpPr>
          <p:spPr>
            <a:xfrm>
              <a:off x="9525015" y="220250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9554163" y="2186676"/>
              <a:ext cx="3788261" cy="523468"/>
            </a:xfrm>
            <a:prstGeom prst="rect">
              <a:avLst/>
            </a:prstGeom>
          </p:spPr>
          <p:txBody>
            <a:bodyPr wrap="square" lIns="121897" tIns="60948" rIns="121897" bIns="60948">
              <a:spAutoFit/>
            </a:bodyPr>
            <a:lstStyle/>
            <a:p>
              <a:pPr defTabSz="1218565">
                <a:defRPr/>
              </a:pP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字符串常量用双引号</a:t>
              </a: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或单引号</a:t>
              </a: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括起来</a:t>
              </a:r>
              <a:endPar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 name="Text Box 2"/>
          <p:cNvSpPr txBox="1">
            <a:spLocks noChangeArrowheads="1"/>
          </p:cNvSpPr>
          <p:nvPr/>
        </p:nvSpPr>
        <p:spPr bwMode="auto">
          <a:xfrm>
            <a:off x="5626721" y="1996440"/>
            <a:ext cx="2518638" cy="954107"/>
          </a:xfrm>
          <a:prstGeom prst="rect">
            <a:avLst/>
          </a:prstGeom>
          <a:solidFill>
            <a:schemeClr val="bg2"/>
          </a:solidFill>
          <a:ln>
            <a:noFill/>
          </a:ln>
        </p:spPr>
        <p:txBody>
          <a:bodyPr vert="horz" wrap="none" lIns="91440" tIns="45720" rIns="91440" bIns="45720" numCol="1" anchor="t" anchorCtr="0" compatLnSpc="1">
            <a:spAutoFit/>
          </a:bodyPr>
          <a:lstStyle/>
          <a:p>
            <a:pPr lvl="0" algn="just" fontAlgn="base">
              <a:spcBef>
                <a:spcPct val="0"/>
              </a:spcBef>
              <a:spcAft>
                <a:spcPct val="0"/>
              </a:spcAft>
            </a:pPr>
            <a:r>
              <a:rPr lang="zh-CN" altLang="en-US" sz="2800" dirty="0">
                <a:latin typeface="Times New Roman" panose="02020603050405020304" pitchFamily="18" charset="0"/>
                <a:cs typeface="Times New Roman" panose="02020603050405020304" pitchFamily="18" charset="0"/>
              </a:rPr>
              <a:t>输入正整数</a:t>
            </a:r>
            <a:r>
              <a:rPr lang="zh-CN" altLang="en-US" sz="2800" dirty="0" smtClean="0">
                <a:latin typeface="Times New Roman" panose="02020603050405020304" pitchFamily="18" charset="0"/>
                <a:cs typeface="Times New Roman" panose="02020603050405020304" pitchFamily="18" charset="0"/>
              </a:rPr>
              <a:t>：</a:t>
            </a:r>
            <a:r>
              <a:rPr lang="en-US" altLang="zh-CN" sz="2800" dirty="0" smtClean="0">
                <a:latin typeface="Times New Roman" panose="02020603050405020304" pitchFamily="18" charset="0"/>
                <a:cs typeface="Times New Roman" panose="02020603050405020304" pitchFamily="18" charset="0"/>
              </a:rPr>
              <a:t>5</a:t>
            </a:r>
            <a:endParaRPr lang="en-US" altLang="zh-CN" sz="2800" dirty="0" smtClean="0">
              <a:latin typeface="Times New Roman" panose="02020603050405020304" pitchFamily="18" charset="0"/>
              <a:cs typeface="Times New Roman" panose="02020603050405020304" pitchFamily="18" charset="0"/>
            </a:endParaRPr>
          </a:p>
          <a:p>
            <a:pPr lvl="0" algn="just" fontAlgn="base">
              <a:spcBef>
                <a:spcPct val="0"/>
              </a:spcBef>
              <a:spcAft>
                <a:spcPct val="0"/>
              </a:spcAft>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5</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小于</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6</a:t>
            </a:r>
            <a:r>
              <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 </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851346" y="1855530"/>
            <a:ext cx="3185487" cy="1569660"/>
          </a:xfrm>
          <a:prstGeom prst="rect">
            <a:avLst/>
          </a:prstGeom>
          <a:solidFill>
            <a:schemeClr val="bg2"/>
          </a:solidFill>
          <a:ln>
            <a:noFill/>
          </a:ln>
        </p:spPr>
        <p:txBody>
          <a:bodyPr vert="horz" wrap="none" lIns="91440" tIns="45720" rIns="91440" bIns="45720" numCol="1" anchor="t" anchorCtr="0" compatLnSpc="1">
            <a:spAutoFit/>
          </a:bodyPr>
          <a:lstStyle/>
          <a:p>
            <a:r>
              <a:rPr lang="zh-CN" altLang="zh-CN" sz="2400" dirty="0">
                <a:latin typeface="Times New Roman" panose="02020603050405020304" pitchFamily="18" charset="0"/>
                <a:cs typeface="Times New Roman" panose="02020603050405020304" pitchFamily="18" charset="0"/>
              </a:rPr>
              <a:t>小鸡</a:t>
            </a:r>
            <a:r>
              <a:rPr lang="en-US" altLang="zh-CN" sz="2400" dirty="0">
                <a:latin typeface="Times New Roman" panose="02020603050405020304" pitchFamily="18" charset="0"/>
                <a:cs typeface="Times New Roman" panose="02020603050405020304" pitchFamily="18" charset="0"/>
              </a:rPr>
              <a:t> 75 </a:t>
            </a:r>
            <a:r>
              <a:rPr lang="zh-CN" altLang="zh-CN" sz="2400" dirty="0">
                <a:latin typeface="Times New Roman" panose="02020603050405020304" pitchFamily="18" charset="0"/>
                <a:cs typeface="Times New Roman" panose="02020603050405020304" pitchFamily="18" charset="0"/>
              </a:rPr>
              <a:t>母鸡</a:t>
            </a:r>
            <a:r>
              <a:rPr lang="en-US" altLang="zh-CN" sz="2400" dirty="0">
                <a:latin typeface="Times New Roman" panose="02020603050405020304" pitchFamily="18" charset="0"/>
                <a:cs typeface="Times New Roman" panose="02020603050405020304" pitchFamily="18" charset="0"/>
              </a:rPr>
              <a:t> 25 </a:t>
            </a:r>
            <a:r>
              <a:rPr lang="zh-CN" altLang="zh-CN" sz="2400" dirty="0">
                <a:latin typeface="Times New Roman" panose="02020603050405020304" pitchFamily="18" charset="0"/>
                <a:cs typeface="Times New Roman" panose="02020603050405020304" pitchFamily="18" charset="0"/>
              </a:rPr>
              <a:t>公鸡</a:t>
            </a:r>
            <a:r>
              <a:rPr lang="en-US" altLang="zh-CN" sz="2400" dirty="0">
                <a:latin typeface="Times New Roman" panose="02020603050405020304" pitchFamily="18" charset="0"/>
                <a:cs typeface="Times New Roman" panose="02020603050405020304" pitchFamily="18" charset="0"/>
              </a:rPr>
              <a:t> 0</a:t>
            </a:r>
            <a:endParaRPr lang="zh-CN" altLang="zh-CN" sz="2400" dirty="0">
              <a:latin typeface="Times New Roman" panose="02020603050405020304" pitchFamily="18" charset="0"/>
              <a:cs typeface="Times New Roman" panose="02020603050405020304" pitchFamily="18" charset="0"/>
            </a:endParaRPr>
          </a:p>
          <a:p>
            <a:r>
              <a:rPr lang="zh-CN" altLang="zh-CN" sz="2400" dirty="0">
                <a:latin typeface="Times New Roman" panose="02020603050405020304" pitchFamily="18" charset="0"/>
                <a:cs typeface="Times New Roman" panose="02020603050405020304" pitchFamily="18" charset="0"/>
              </a:rPr>
              <a:t>小鸡</a:t>
            </a:r>
            <a:r>
              <a:rPr lang="en-US" altLang="zh-CN" sz="2400" dirty="0">
                <a:latin typeface="Times New Roman" panose="02020603050405020304" pitchFamily="18" charset="0"/>
                <a:cs typeface="Times New Roman" panose="02020603050405020304" pitchFamily="18" charset="0"/>
              </a:rPr>
              <a:t> 78 </a:t>
            </a:r>
            <a:r>
              <a:rPr lang="zh-CN" altLang="zh-CN" sz="2400" dirty="0">
                <a:latin typeface="Times New Roman" panose="02020603050405020304" pitchFamily="18" charset="0"/>
                <a:cs typeface="Times New Roman" panose="02020603050405020304" pitchFamily="18" charset="0"/>
              </a:rPr>
              <a:t>母鸡</a:t>
            </a:r>
            <a:r>
              <a:rPr lang="en-US" altLang="zh-CN" sz="2400" dirty="0">
                <a:latin typeface="Times New Roman" panose="02020603050405020304" pitchFamily="18" charset="0"/>
                <a:cs typeface="Times New Roman" panose="02020603050405020304" pitchFamily="18" charset="0"/>
              </a:rPr>
              <a:t> 18 </a:t>
            </a:r>
            <a:r>
              <a:rPr lang="zh-CN" altLang="zh-CN" sz="2400" dirty="0">
                <a:latin typeface="Times New Roman" panose="02020603050405020304" pitchFamily="18" charset="0"/>
                <a:cs typeface="Times New Roman" panose="02020603050405020304" pitchFamily="18" charset="0"/>
              </a:rPr>
              <a:t>公鸡</a:t>
            </a:r>
            <a:r>
              <a:rPr lang="en-US" altLang="zh-CN" sz="2400" dirty="0">
                <a:latin typeface="Times New Roman" panose="02020603050405020304" pitchFamily="18" charset="0"/>
                <a:cs typeface="Times New Roman" panose="02020603050405020304" pitchFamily="18" charset="0"/>
              </a:rPr>
              <a:t> 4</a:t>
            </a:r>
            <a:endParaRPr lang="zh-CN" altLang="zh-CN" sz="2400" dirty="0">
              <a:latin typeface="Times New Roman" panose="02020603050405020304" pitchFamily="18" charset="0"/>
              <a:cs typeface="Times New Roman" panose="02020603050405020304" pitchFamily="18" charset="0"/>
            </a:endParaRPr>
          </a:p>
          <a:p>
            <a:r>
              <a:rPr lang="zh-CN" altLang="zh-CN" sz="2400" dirty="0">
                <a:latin typeface="Times New Roman" panose="02020603050405020304" pitchFamily="18" charset="0"/>
                <a:cs typeface="Times New Roman" panose="02020603050405020304" pitchFamily="18" charset="0"/>
              </a:rPr>
              <a:t>小鸡</a:t>
            </a:r>
            <a:r>
              <a:rPr lang="en-US" altLang="zh-CN" sz="2400" dirty="0">
                <a:latin typeface="Times New Roman" panose="02020603050405020304" pitchFamily="18" charset="0"/>
                <a:cs typeface="Times New Roman" panose="02020603050405020304" pitchFamily="18" charset="0"/>
              </a:rPr>
              <a:t> 81 </a:t>
            </a:r>
            <a:r>
              <a:rPr lang="zh-CN" altLang="zh-CN" sz="2400" dirty="0">
                <a:latin typeface="Times New Roman" panose="02020603050405020304" pitchFamily="18" charset="0"/>
                <a:cs typeface="Times New Roman" panose="02020603050405020304" pitchFamily="18" charset="0"/>
              </a:rPr>
              <a:t>母鸡</a:t>
            </a:r>
            <a:r>
              <a:rPr lang="en-US" altLang="zh-CN" sz="2400" dirty="0">
                <a:latin typeface="Times New Roman" panose="02020603050405020304" pitchFamily="18" charset="0"/>
                <a:cs typeface="Times New Roman" panose="02020603050405020304" pitchFamily="18" charset="0"/>
              </a:rPr>
              <a:t> 11 </a:t>
            </a:r>
            <a:r>
              <a:rPr lang="zh-CN" altLang="zh-CN" sz="2400" dirty="0">
                <a:latin typeface="Times New Roman" panose="02020603050405020304" pitchFamily="18" charset="0"/>
                <a:cs typeface="Times New Roman" panose="02020603050405020304" pitchFamily="18" charset="0"/>
              </a:rPr>
              <a:t>公鸡</a:t>
            </a:r>
            <a:r>
              <a:rPr lang="en-US" altLang="zh-CN" sz="2400" dirty="0">
                <a:latin typeface="Times New Roman" panose="02020603050405020304" pitchFamily="18" charset="0"/>
                <a:cs typeface="Times New Roman" panose="02020603050405020304" pitchFamily="18" charset="0"/>
              </a:rPr>
              <a:t> 8</a:t>
            </a:r>
            <a:endParaRPr lang="zh-CN" altLang="zh-CN" sz="2400" dirty="0">
              <a:latin typeface="Times New Roman" panose="02020603050405020304" pitchFamily="18" charset="0"/>
              <a:cs typeface="Times New Roman" panose="02020603050405020304" pitchFamily="18" charset="0"/>
            </a:endParaRPr>
          </a:p>
          <a:p>
            <a:r>
              <a:rPr lang="zh-CN" altLang="zh-CN" sz="2400" dirty="0">
                <a:latin typeface="Times New Roman" panose="02020603050405020304" pitchFamily="18" charset="0"/>
                <a:cs typeface="Times New Roman" panose="02020603050405020304" pitchFamily="18" charset="0"/>
              </a:rPr>
              <a:t>小鸡</a:t>
            </a:r>
            <a:r>
              <a:rPr lang="en-US" altLang="zh-CN" sz="2400" dirty="0">
                <a:latin typeface="Times New Roman" panose="02020603050405020304" pitchFamily="18" charset="0"/>
                <a:cs typeface="Times New Roman" panose="02020603050405020304" pitchFamily="18" charset="0"/>
              </a:rPr>
              <a:t> 84 </a:t>
            </a:r>
            <a:r>
              <a:rPr lang="zh-CN" altLang="zh-CN" sz="2400" dirty="0">
                <a:latin typeface="Times New Roman" panose="02020603050405020304" pitchFamily="18" charset="0"/>
                <a:cs typeface="Times New Roman" panose="02020603050405020304" pitchFamily="18" charset="0"/>
              </a:rPr>
              <a:t>母鸡</a:t>
            </a:r>
            <a:r>
              <a:rPr lang="en-US" altLang="zh-CN" sz="2400" dirty="0">
                <a:latin typeface="Times New Roman" panose="02020603050405020304" pitchFamily="18" charset="0"/>
                <a:cs typeface="Times New Roman" panose="02020603050405020304" pitchFamily="18" charset="0"/>
              </a:rPr>
              <a:t> 4 </a:t>
            </a:r>
            <a:r>
              <a:rPr lang="zh-CN" altLang="zh-CN" sz="2400" dirty="0">
                <a:latin typeface="Times New Roman" panose="02020603050405020304" pitchFamily="18" charset="0"/>
                <a:cs typeface="Times New Roman" panose="02020603050405020304" pitchFamily="18" charset="0"/>
              </a:rPr>
              <a:t>公鸡</a:t>
            </a:r>
            <a:r>
              <a:rPr lang="en-US" altLang="zh-CN" sz="2400" dirty="0">
                <a:latin typeface="Times New Roman" panose="02020603050405020304" pitchFamily="18" charset="0"/>
                <a:cs typeface="Times New Roman" panose="02020603050405020304" pitchFamily="18" charset="0"/>
              </a:rPr>
              <a:t> 12</a:t>
            </a:r>
            <a:endParaRPr lang="zh-CN" altLang="zh-CN" sz="24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356977" y="1616968"/>
            <a:ext cx="668390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2600" dirty="0">
                <a:latin typeface="Times New Roman" panose="02020603050405020304" pitchFamily="18" charset="0"/>
                <a:cs typeface="Times New Roman" panose="02020603050405020304" pitchFamily="18" charset="0"/>
              </a:rPr>
              <a:t>xj = 1    </a:t>
            </a:r>
            <a:r>
              <a:rPr lang="en-US" altLang="zh-CN" sz="2600" dirty="0" smtClean="0">
                <a:latin typeface="Times New Roman" panose="02020603050405020304" pitchFamily="18" charset="0"/>
                <a:cs typeface="Times New Roman" panose="02020603050405020304" pitchFamily="18" charset="0"/>
              </a:rPr>
              <a:t>#</a:t>
            </a:r>
            <a:r>
              <a:rPr lang="en-US" altLang="zh-CN" sz="2600" dirty="0" err="1" smtClean="0">
                <a:latin typeface="Times New Roman" panose="02020603050405020304" pitchFamily="18" charset="0"/>
                <a:cs typeface="Times New Roman" panose="02020603050405020304" pitchFamily="18" charset="0"/>
              </a:rPr>
              <a:t>xj</a:t>
            </a:r>
            <a:r>
              <a:rPr lang="zh-CN" altLang="en-US" sz="2600" dirty="0">
                <a:latin typeface="Times New Roman" panose="02020603050405020304" pitchFamily="18" charset="0"/>
                <a:cs typeface="Times New Roman" panose="02020603050405020304" pitchFamily="18" charset="0"/>
              </a:rPr>
              <a:t>代表小鸡</a:t>
            </a:r>
            <a:endParaRPr lang="zh-CN" altLang="en-US"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while xj &lt;= 100:</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mj = 1   </a:t>
            </a:r>
            <a:r>
              <a:rPr lang="en-US" altLang="zh-CN" sz="2600" dirty="0" smtClean="0">
                <a:latin typeface="Times New Roman" panose="02020603050405020304" pitchFamily="18" charset="0"/>
                <a:cs typeface="Times New Roman" panose="02020603050405020304" pitchFamily="18" charset="0"/>
              </a:rPr>
              <a:t> #</a:t>
            </a:r>
            <a:r>
              <a:rPr lang="en-US" altLang="zh-CN" sz="2600" dirty="0" err="1" smtClean="0">
                <a:latin typeface="Times New Roman" panose="02020603050405020304" pitchFamily="18" charset="0"/>
                <a:cs typeface="Times New Roman" panose="02020603050405020304" pitchFamily="18" charset="0"/>
              </a:rPr>
              <a:t>mj</a:t>
            </a:r>
            <a:r>
              <a:rPr lang="zh-CN" altLang="en-US" sz="2600" dirty="0">
                <a:latin typeface="Times New Roman" panose="02020603050405020304" pitchFamily="18" charset="0"/>
                <a:cs typeface="Times New Roman" panose="02020603050405020304" pitchFamily="18" charset="0"/>
              </a:rPr>
              <a:t>代表母鸡</a:t>
            </a:r>
            <a:endParaRPr lang="zh-CN" altLang="en-US" sz="2600" dirty="0">
              <a:latin typeface="Times New Roman" panose="02020603050405020304" pitchFamily="18" charset="0"/>
              <a:cs typeface="Times New Roman" panose="02020603050405020304" pitchFamily="18" charset="0"/>
            </a:endParaRPr>
          </a:p>
          <a:p>
            <a:pPr lvl="0" indent="0"/>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while mj &lt;= 100:</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gj = </a:t>
            </a:r>
            <a:r>
              <a:rPr lang="en-US" altLang="zh-CN" sz="2600" dirty="0" smtClean="0">
                <a:latin typeface="Times New Roman" panose="02020603050405020304" pitchFamily="18" charset="0"/>
                <a:cs typeface="Times New Roman" panose="02020603050405020304" pitchFamily="18" charset="0"/>
              </a:rPr>
              <a:t>100 - </a:t>
            </a:r>
            <a:r>
              <a:rPr lang="en-US" altLang="zh-CN" sz="2600" dirty="0" err="1" smtClean="0">
                <a:latin typeface="Times New Roman" panose="02020603050405020304" pitchFamily="18" charset="0"/>
                <a:cs typeface="Times New Roman" panose="02020603050405020304" pitchFamily="18" charset="0"/>
              </a:rPr>
              <a:t>xj</a:t>
            </a:r>
            <a:r>
              <a:rPr lang="en-US" altLang="zh-CN" sz="2600" dirty="0" smtClean="0">
                <a:latin typeface="Times New Roman" panose="02020603050405020304" pitchFamily="18" charset="0"/>
                <a:cs typeface="Times New Roman" panose="02020603050405020304" pitchFamily="18" charset="0"/>
              </a:rPr>
              <a:t> - </a:t>
            </a:r>
            <a:r>
              <a:rPr lang="en-US" altLang="zh-CN" sz="2600" dirty="0" err="1" smtClean="0">
                <a:latin typeface="Times New Roman" panose="02020603050405020304" pitchFamily="18" charset="0"/>
                <a:cs typeface="Times New Roman" panose="02020603050405020304" pitchFamily="18" charset="0"/>
              </a:rPr>
              <a:t>mj</a:t>
            </a:r>
            <a:r>
              <a:rPr lang="en-US" altLang="zh-CN" sz="2600" dirty="0" smtClean="0">
                <a:latin typeface="Times New Roman" panose="02020603050405020304" pitchFamily="18" charset="0"/>
                <a:cs typeface="Times New Roman" panose="02020603050405020304" pitchFamily="18" charset="0"/>
              </a:rPr>
              <a:t>    #</a:t>
            </a:r>
            <a:r>
              <a:rPr lang="en-US" altLang="zh-CN" sz="2600" dirty="0" err="1" smtClean="0">
                <a:latin typeface="Times New Roman" panose="02020603050405020304" pitchFamily="18" charset="0"/>
                <a:cs typeface="Times New Roman" panose="02020603050405020304" pitchFamily="18" charset="0"/>
              </a:rPr>
              <a:t>mj</a:t>
            </a:r>
            <a:r>
              <a:rPr lang="zh-CN" altLang="en-US" sz="2600" dirty="0" smtClean="0">
                <a:latin typeface="Times New Roman" panose="02020603050405020304" pitchFamily="18" charset="0"/>
                <a:cs typeface="Times New Roman" panose="02020603050405020304" pitchFamily="18" charset="0"/>
              </a:rPr>
              <a:t>代表公鸡</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if </a:t>
            </a:r>
            <a:r>
              <a:rPr lang="en-US" altLang="zh-CN" sz="2600" dirty="0" err="1" smtClean="0">
                <a:latin typeface="Times New Roman" panose="02020603050405020304" pitchFamily="18" charset="0"/>
                <a:cs typeface="Times New Roman" panose="02020603050405020304" pitchFamily="18" charset="0"/>
              </a:rPr>
              <a:t>xj</a:t>
            </a:r>
            <a:r>
              <a:rPr lang="en-US" altLang="zh-CN" sz="2600" dirty="0" smtClean="0">
                <a:latin typeface="Times New Roman" panose="02020603050405020304" pitchFamily="18" charset="0"/>
                <a:cs typeface="Times New Roman" panose="02020603050405020304" pitchFamily="18" charset="0"/>
              </a:rPr>
              <a:t>/3 </a:t>
            </a:r>
            <a:r>
              <a:rPr lang="en-US" altLang="zh-CN" sz="2600" dirty="0">
                <a:latin typeface="Times New Roman" panose="02020603050405020304" pitchFamily="18" charset="0"/>
                <a:cs typeface="Times New Roman" panose="02020603050405020304" pitchFamily="18" charset="0"/>
              </a:rPr>
              <a:t>+ </a:t>
            </a:r>
            <a:r>
              <a:rPr lang="en-US" altLang="zh-CN" sz="2600" dirty="0" err="1" smtClean="0">
                <a:latin typeface="Times New Roman" panose="02020603050405020304" pitchFamily="18" charset="0"/>
                <a:cs typeface="Times New Roman" panose="02020603050405020304" pitchFamily="18" charset="0"/>
              </a:rPr>
              <a:t>mj</a:t>
            </a:r>
            <a:r>
              <a:rPr lang="en-US" altLang="zh-CN" sz="2600" dirty="0" smtClean="0">
                <a:latin typeface="Times New Roman" panose="02020603050405020304" pitchFamily="18" charset="0"/>
                <a:cs typeface="Times New Roman" panose="02020603050405020304" pitchFamily="18" charset="0"/>
              </a:rPr>
              <a:t>*3 </a:t>
            </a:r>
            <a:r>
              <a:rPr lang="en-US" altLang="zh-CN" sz="2600" dirty="0">
                <a:latin typeface="Times New Roman" panose="02020603050405020304" pitchFamily="18" charset="0"/>
                <a:cs typeface="Times New Roman" panose="02020603050405020304" pitchFamily="18" charset="0"/>
              </a:rPr>
              <a:t>+ </a:t>
            </a:r>
            <a:r>
              <a:rPr lang="en-US" altLang="zh-CN" sz="2600" dirty="0" err="1" smtClean="0">
                <a:latin typeface="Times New Roman" panose="02020603050405020304" pitchFamily="18" charset="0"/>
                <a:cs typeface="Times New Roman" panose="02020603050405020304" pitchFamily="18" charset="0"/>
              </a:rPr>
              <a:t>gj</a:t>
            </a:r>
            <a:r>
              <a:rPr lang="en-US" altLang="zh-CN" sz="2600" dirty="0" smtClean="0">
                <a:latin typeface="Times New Roman" panose="02020603050405020304" pitchFamily="18" charset="0"/>
                <a:cs typeface="Times New Roman" panose="02020603050405020304" pitchFamily="18" charset="0"/>
              </a:rPr>
              <a:t>*5 </a:t>
            </a:r>
            <a:r>
              <a:rPr lang="en-US" altLang="zh-CN" sz="2600" dirty="0">
                <a:latin typeface="Times New Roman" panose="02020603050405020304" pitchFamily="18" charset="0"/>
                <a:cs typeface="Times New Roman" panose="02020603050405020304" pitchFamily="18" charset="0"/>
              </a:rPr>
              <a:t>== 100 and gj&gt;=0:</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print('</a:t>
            </a:r>
            <a:r>
              <a:rPr lang="zh-CN" altLang="en-US" sz="2600" dirty="0">
                <a:latin typeface="Times New Roman" panose="02020603050405020304" pitchFamily="18" charset="0"/>
                <a:cs typeface="Times New Roman" panose="02020603050405020304" pitchFamily="18" charset="0"/>
              </a:rPr>
              <a:t>小鸡</a:t>
            </a:r>
            <a:r>
              <a:rPr lang="en-US" altLang="zh-CN" sz="2600" dirty="0" smtClean="0">
                <a:latin typeface="Times New Roman" panose="02020603050405020304" pitchFamily="18" charset="0"/>
                <a:cs typeface="Times New Roman" panose="02020603050405020304" pitchFamily="18" charset="0"/>
              </a:rPr>
              <a:t>', </a:t>
            </a:r>
            <a:r>
              <a:rPr lang="en-US" altLang="zh-CN" sz="2600" dirty="0" err="1">
                <a:latin typeface="Times New Roman" panose="02020603050405020304" pitchFamily="18" charset="0"/>
                <a:cs typeface="Times New Roman" panose="02020603050405020304" pitchFamily="18" charset="0"/>
              </a:rPr>
              <a:t>xj</a:t>
            </a:r>
            <a:r>
              <a:rPr lang="en-US" altLang="zh-CN" sz="2600" dirty="0" smtClean="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a:t>
            </a:r>
            <a:r>
              <a:rPr lang="zh-CN" altLang="en-US" sz="2600" dirty="0">
                <a:latin typeface="Times New Roman" panose="02020603050405020304" pitchFamily="18" charset="0"/>
                <a:cs typeface="Times New Roman" panose="02020603050405020304" pitchFamily="18" charset="0"/>
              </a:rPr>
              <a:t>母鸡</a:t>
            </a:r>
            <a:r>
              <a:rPr lang="en-US" altLang="zh-CN" sz="2600" dirty="0">
                <a:latin typeface="Times New Roman" panose="02020603050405020304" pitchFamily="18" charset="0"/>
                <a:cs typeface="Times New Roman" panose="02020603050405020304" pitchFamily="18" charset="0"/>
              </a:rPr>
              <a:t>', </a:t>
            </a:r>
            <a:r>
              <a:rPr lang="en-US" altLang="zh-CN" sz="2600" dirty="0" err="1" smtClean="0">
                <a:latin typeface="Times New Roman" panose="02020603050405020304" pitchFamily="18" charset="0"/>
                <a:cs typeface="Times New Roman" panose="02020603050405020304" pitchFamily="18" charset="0"/>
              </a:rPr>
              <a:t>mj</a:t>
            </a: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公鸡</a:t>
            </a:r>
            <a:r>
              <a:rPr lang="en-US" altLang="zh-CN" sz="2600" dirty="0">
                <a:latin typeface="Times New Roman" panose="02020603050405020304" pitchFamily="18" charset="0"/>
                <a:cs typeface="Times New Roman" panose="02020603050405020304" pitchFamily="18" charset="0"/>
              </a:rPr>
              <a:t>', gj)</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mj += 1</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xj += </a:t>
            </a:r>
            <a:r>
              <a:rPr lang="en-US" altLang="zh-CN" sz="2600" dirty="0" smtClean="0">
                <a:latin typeface="Times New Roman" panose="02020603050405020304" pitchFamily="18" charset="0"/>
                <a:cs typeface="Times New Roman" panose="02020603050405020304" pitchFamily="18" charset="0"/>
              </a:rPr>
              <a:t>1</a:t>
            </a:r>
            <a:endParaRPr lang="en-US" altLang="zh-CN" sz="26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3684022"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1-3] </a:t>
            </a:r>
            <a:r>
              <a:rPr lang="zh-CN" altLang="en-US" sz="2800" b="1" dirty="0" smtClean="0">
                <a:solidFill>
                  <a:srgbClr val="0070C0"/>
                </a:solidFill>
                <a:latin typeface="微软雅黑" panose="020B0503020204020204" pitchFamily="34" charset="-122"/>
                <a:ea typeface="微软雅黑" panose="020B0503020204020204" pitchFamily="34" charset="-122"/>
              </a:rPr>
              <a:t>百</a:t>
            </a:r>
            <a:r>
              <a:rPr lang="zh-CN" altLang="en-US" sz="2800" b="1" dirty="0">
                <a:solidFill>
                  <a:srgbClr val="0070C0"/>
                </a:solidFill>
                <a:latin typeface="微软雅黑" panose="020B0503020204020204" pitchFamily="34" charset="-122"/>
                <a:ea typeface="微软雅黑" panose="020B0503020204020204" pitchFamily="34" charset="-122"/>
              </a:rPr>
              <a:t>钱买百鸡</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395987" y="5311693"/>
            <a:ext cx="8367013" cy="887361"/>
            <a:chOff x="6339097" y="1573726"/>
            <a:chExt cx="3744416" cy="887823"/>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862199"/>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单行注释符是“</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号</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多</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行注释符是一对三引号，</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7" y="5970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只有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while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循环，而没有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Do…while…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循环</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974080" y="1882260"/>
            <a:ext cx="1415772" cy="1569660"/>
          </a:xfrm>
          <a:prstGeom prst="rect">
            <a:avLst/>
          </a:prstGeom>
          <a:solidFill>
            <a:schemeClr val="bg2"/>
          </a:solidFill>
          <a:ln>
            <a:noFill/>
          </a:ln>
        </p:spPr>
        <p:txBody>
          <a:bodyPr vert="horz" wrap="none" lIns="91440" tIns="45720" rIns="91440" bIns="45720" numCol="1" anchor="t" anchorCtr="0" compatLnSpc="1">
            <a:spAutoFit/>
          </a:bodyPr>
          <a:lstStyle/>
          <a:p>
            <a:r>
              <a:rPr lang="zh-CN" altLang="en-US" sz="2400" dirty="0">
                <a:latin typeface="Times New Roman" panose="02020603050405020304" pitchFamily="18" charset="0"/>
                <a:cs typeface="Times New Roman" panose="02020603050405020304" pitchFamily="18" charset="0"/>
              </a:rPr>
              <a:t>还剩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秒</a:t>
            </a:r>
            <a:endParaRPr lang="zh-CN" altLang="en-US"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还剩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秒</a:t>
            </a:r>
            <a:endParaRPr lang="zh-CN" altLang="en-US"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还剩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秒</a:t>
            </a:r>
            <a:endParaRPr lang="zh-CN" altLang="en-US" sz="2400" dirty="0">
              <a:latin typeface="Times New Roman" panose="02020603050405020304" pitchFamily="18" charset="0"/>
              <a:cs typeface="Times New Roman" panose="02020603050405020304" pitchFamily="18" charset="0"/>
            </a:endParaRPr>
          </a:p>
          <a:p>
            <a:r>
              <a:rPr lang="zh-CN" altLang="en-US" sz="2400" dirty="0" smtClean="0">
                <a:latin typeface="Times New Roman" panose="02020603050405020304" pitchFamily="18" charset="0"/>
                <a:cs typeface="Times New Roman" panose="02020603050405020304" pitchFamily="18" charset="0"/>
              </a:rPr>
              <a:t>发射！</a:t>
            </a:r>
            <a:endParaRPr lang="zh-CN" altLang="zh-CN" sz="24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531055" y="1614308"/>
            <a:ext cx="544302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2600" dirty="0">
                <a:latin typeface="Times New Roman" panose="02020603050405020304" pitchFamily="18" charset="0"/>
                <a:cs typeface="Times New Roman" panose="02020603050405020304" pitchFamily="18" charset="0"/>
              </a:rPr>
              <a:t>import time</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count = 0</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while count &lt; 3:	</a:t>
            </a:r>
            <a:endParaRPr lang="zh-CN" altLang="en-US" sz="2600" dirty="0">
              <a:latin typeface="Times New Roman" panose="02020603050405020304" pitchFamily="18" charset="0"/>
              <a:cs typeface="Times New Roman" panose="02020603050405020304" pitchFamily="18" charset="0"/>
            </a:endParaRPr>
          </a:p>
          <a:p>
            <a:pPr lvl="0" indent="0"/>
            <a:r>
              <a:rPr lang="zh-CN" altLang="en-US" sz="2600" dirty="0" smtClean="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print ("</a:t>
            </a:r>
            <a:r>
              <a:rPr lang="zh-CN" altLang="en-US" sz="2600" dirty="0">
                <a:latin typeface="Times New Roman" panose="02020603050405020304" pitchFamily="18" charset="0"/>
                <a:cs typeface="Times New Roman" panose="02020603050405020304" pitchFamily="18" charset="0"/>
              </a:rPr>
              <a:t>还</a:t>
            </a:r>
            <a:r>
              <a:rPr lang="zh-CN" altLang="en-US" sz="2600" dirty="0" smtClean="0">
                <a:latin typeface="Times New Roman" panose="02020603050405020304" pitchFamily="18" charset="0"/>
                <a:cs typeface="Times New Roman" panose="02020603050405020304" pitchFamily="18" charset="0"/>
              </a:rPr>
              <a:t>剩</a:t>
            </a:r>
            <a:r>
              <a:rPr lang="en-US" altLang="zh-CN" sz="2600" dirty="0" smtClean="0">
                <a:latin typeface="Times New Roman" panose="02020603050405020304" pitchFamily="18" charset="0"/>
                <a:cs typeface="Times New Roman" panose="02020603050405020304" pitchFamily="18" charset="0"/>
              </a:rPr>
              <a:t>%d</a:t>
            </a:r>
            <a:r>
              <a:rPr lang="zh-CN" altLang="en-US" sz="2600" dirty="0" smtClean="0">
                <a:latin typeface="Times New Roman" panose="02020603050405020304" pitchFamily="18" charset="0"/>
                <a:cs typeface="Times New Roman" panose="02020603050405020304" pitchFamily="18" charset="0"/>
              </a:rPr>
              <a:t>秒</a:t>
            </a:r>
            <a:r>
              <a:rPr lang="en-US" altLang="zh-CN" sz="2600" dirty="0">
                <a:latin typeface="Times New Roman" panose="02020603050405020304" pitchFamily="18" charset="0"/>
                <a:cs typeface="Times New Roman" panose="02020603050405020304" pitchFamily="18" charset="0"/>
              </a:rPr>
              <a:t>"%(3-count)) </a:t>
            </a:r>
            <a:endParaRPr lang="zh-CN" altLang="en-US" sz="2600" dirty="0">
              <a:latin typeface="Times New Roman" panose="02020603050405020304" pitchFamily="18" charset="0"/>
              <a:cs typeface="Times New Roman" panose="02020603050405020304" pitchFamily="18" charset="0"/>
            </a:endParaRPr>
          </a:p>
          <a:p>
            <a:pPr lvl="0" indent="0"/>
            <a:r>
              <a:rPr lang="zh-CN" altLang="en-US" sz="2600" dirty="0">
                <a:latin typeface="Times New Roman" panose="02020603050405020304" pitchFamily="18" charset="0"/>
                <a:cs typeface="Times New Roman" panose="02020603050405020304" pitchFamily="18" charset="0"/>
              </a:rPr>
              <a:t>   </a:t>
            </a:r>
            <a:r>
              <a:rPr lang="zh-CN" altLang="en-US" sz="2600" dirty="0" smtClean="0">
                <a:latin typeface="Times New Roman" panose="02020603050405020304" pitchFamily="18" charset="0"/>
                <a:cs typeface="Times New Roman" panose="02020603050405020304" pitchFamily="18" charset="0"/>
              </a:rPr>
              <a:t> </a:t>
            </a:r>
            <a:r>
              <a:rPr lang="en-US" altLang="zh-CN" sz="2600" dirty="0" smtClean="0">
                <a:latin typeface="Times New Roman" panose="02020603050405020304" pitchFamily="18" charset="0"/>
                <a:cs typeface="Times New Roman" panose="02020603050405020304" pitchFamily="18" charset="0"/>
              </a:rPr>
              <a:t>count </a:t>
            </a:r>
            <a:r>
              <a:rPr lang="en-US" altLang="zh-CN" sz="2600" dirty="0">
                <a:latin typeface="Times New Roman" panose="02020603050405020304" pitchFamily="18" charset="0"/>
                <a:cs typeface="Times New Roman" panose="02020603050405020304" pitchFamily="18" charset="0"/>
              </a:rPr>
              <a:t>= count + 1</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a:t>
            </a:r>
            <a:r>
              <a:rPr lang="en-US" altLang="zh-CN" sz="2600" dirty="0" smtClean="0">
                <a:latin typeface="Times New Roman" panose="02020603050405020304" pitchFamily="18" charset="0"/>
                <a:cs typeface="Times New Roman" panose="02020603050405020304" pitchFamily="18" charset="0"/>
              </a:rPr>
              <a:t> </a:t>
            </a:r>
            <a:r>
              <a:rPr lang="en-US" altLang="zh-CN" sz="2600" dirty="0" err="1" smtClean="0">
                <a:latin typeface="Times New Roman" panose="02020603050405020304" pitchFamily="18" charset="0"/>
                <a:cs typeface="Times New Roman" panose="02020603050405020304" pitchFamily="18" charset="0"/>
              </a:rPr>
              <a:t>time.sleep</a:t>
            </a:r>
            <a:r>
              <a:rPr lang="en-US" altLang="zh-CN" sz="2600" dirty="0" smtClean="0">
                <a:latin typeface="Times New Roman" panose="02020603050405020304" pitchFamily="18" charset="0"/>
                <a:cs typeface="Times New Roman" panose="02020603050405020304" pitchFamily="18" charset="0"/>
              </a:rPr>
              <a:t>(1)    #</a:t>
            </a:r>
            <a:r>
              <a:rPr lang="zh-CN" altLang="en-US" sz="2600" dirty="0" smtClean="0">
                <a:latin typeface="Times New Roman" panose="02020603050405020304" pitchFamily="18" charset="0"/>
                <a:cs typeface="Times New Roman" panose="02020603050405020304" pitchFamily="18" charset="0"/>
              </a:rPr>
              <a:t>延时</a:t>
            </a:r>
            <a:r>
              <a:rPr lang="en-US" altLang="zh-CN" sz="2600" dirty="0">
                <a:latin typeface="Times New Roman" panose="02020603050405020304" pitchFamily="18" charset="0"/>
                <a:cs typeface="Times New Roman" panose="02020603050405020304" pitchFamily="18" charset="0"/>
              </a:rPr>
              <a:t>1</a:t>
            </a:r>
            <a:r>
              <a:rPr lang="zh-CN" altLang="en-US" sz="2600" dirty="0">
                <a:latin typeface="Times New Roman" panose="02020603050405020304" pitchFamily="18" charset="0"/>
                <a:cs typeface="Times New Roman" panose="02020603050405020304" pitchFamily="18" charset="0"/>
              </a:rPr>
              <a:t>秒</a:t>
            </a:r>
            <a:endParaRPr lang="zh-CN" altLang="en-US"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else:</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   </a:t>
            </a:r>
            <a:r>
              <a:rPr lang="en-US" altLang="zh-CN" sz="2600" dirty="0" smtClean="0">
                <a:latin typeface="Times New Roman" panose="02020603050405020304" pitchFamily="18" charset="0"/>
                <a:cs typeface="Times New Roman" panose="02020603050405020304" pitchFamily="18" charset="0"/>
              </a:rPr>
              <a:t> print ("</a:t>
            </a:r>
            <a:r>
              <a:rPr lang="zh-CN" altLang="en-US" sz="2600" dirty="0" smtClean="0">
                <a:latin typeface="Times New Roman" panose="02020603050405020304" pitchFamily="18" charset="0"/>
                <a:cs typeface="Times New Roman" panose="02020603050405020304" pitchFamily="18" charset="0"/>
              </a:rPr>
              <a:t>发射</a:t>
            </a:r>
            <a:r>
              <a:rPr lang="zh-CN" altLang="en-US" sz="2600" dirty="0">
                <a:latin typeface="Times New Roman" panose="02020603050405020304" pitchFamily="18" charset="0"/>
                <a:cs typeface="Times New Roman" panose="02020603050405020304" pitchFamily="18" charset="0"/>
              </a:rPr>
              <a:t>！</a:t>
            </a:r>
            <a:r>
              <a:rPr lang="en-US" altLang="zh-CN" sz="2600" dirty="0" smtClean="0">
                <a:latin typeface="Times New Roman" panose="02020603050405020304" pitchFamily="18" charset="0"/>
                <a:cs typeface="Times New Roman" panose="02020603050405020304" pitchFamily="18" charset="0"/>
              </a:rPr>
              <a:t>")</a:t>
            </a:r>
            <a:endParaRPr kumimoji="0" lang="en-US" altLang="zh-CN" sz="2400" b="0" i="0" u="none" strike="noStrike" cap="none" normalizeH="0" baseline="0" dirty="0" smtClean="0">
              <a:ln>
                <a:noFill/>
              </a:ln>
              <a:solidFill>
                <a:schemeClr val="tx1"/>
              </a:solidFill>
              <a:effectLst/>
            </a:endParaRPr>
          </a:p>
        </p:txBody>
      </p:sp>
      <p:sp>
        <p:nvSpPr>
          <p:cNvPr id="7" name="矩形 6"/>
          <p:cNvSpPr/>
          <p:nvPr/>
        </p:nvSpPr>
        <p:spPr>
          <a:xfrm>
            <a:off x="609600" y="1071324"/>
            <a:ext cx="3684022"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1-4] </a:t>
            </a:r>
            <a:r>
              <a:rPr lang="zh-CN" altLang="en-US" sz="2800" b="1" dirty="0" smtClean="0">
                <a:solidFill>
                  <a:srgbClr val="0070C0"/>
                </a:solidFill>
                <a:latin typeface="微软雅黑" panose="020B0503020204020204" pitchFamily="34" charset="-122"/>
                <a:ea typeface="微软雅黑" panose="020B0503020204020204" pitchFamily="34" charset="-122"/>
              </a:rPr>
              <a:t>倒计时程序</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395986" y="4907517"/>
            <a:ext cx="8260333" cy="923772"/>
            <a:chOff x="6339097" y="1573726"/>
            <a:chExt cx="3744416" cy="511504"/>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477162"/>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也支持格式化输出，</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表示输出整数，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表示字符串，</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%f</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表示浮点数，格式字符串与值之间用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号连</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接</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7" y="5970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import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语句用于导入模块，导入模块时还可给模块取别名</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a:t>
            </a:r>
            <a:r>
              <a:rPr lang="zh-CN" altLang="en-US" sz="2800" b="1" dirty="0" smtClean="0">
                <a:solidFill>
                  <a:srgbClr val="0070C0"/>
                </a:solidFill>
                <a:latin typeface="微软雅黑" panose="020B0503020204020204" pitchFamily="34" charset="-122"/>
                <a:ea typeface="微软雅黑" panose="020B0503020204020204" pitchFamily="34" charset="-122"/>
              </a:rPr>
              <a:t>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7" name="矩形 6"/>
          <p:cNvSpPr/>
          <p:nvPr/>
        </p:nvSpPr>
        <p:spPr>
          <a:xfrm>
            <a:off x="788918" y="3174444"/>
            <a:ext cx="5360763" cy="523220"/>
          </a:xfrm>
          <a:prstGeom prst="rect">
            <a:avLst/>
          </a:prstGeom>
        </p:spPr>
        <p:txBody>
          <a:bodyPr wrap="none">
            <a:spAutoFit/>
          </a:bodyPr>
          <a:lstStyle/>
          <a:p>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列表   </a:t>
            </a:r>
            <a:r>
              <a:rPr lang="en-US" altLang="zh-CN" sz="2800" dirty="0" smtClean="0">
                <a:latin typeface="Times New Roman" panose="02020603050405020304" pitchFamily="18" charset="0"/>
                <a:cs typeface="Times New Roman" panose="02020603050405020304" pitchFamily="18" charset="0"/>
              </a:rPr>
              <a:t>list1 = ['</a:t>
            </a:r>
            <a:r>
              <a:rPr lang="zh-CN" altLang="zh-CN" sz="2800" dirty="0">
                <a:latin typeface="Times New Roman" panose="02020603050405020304" pitchFamily="18" charset="0"/>
                <a:cs typeface="Times New Roman" panose="02020603050405020304" pitchFamily="18" charset="0"/>
              </a:rPr>
              <a:t>西瓜</a:t>
            </a:r>
            <a:r>
              <a:rPr lang="en-US" altLang="zh-CN" sz="2800" dirty="0" smtClean="0">
                <a:latin typeface="Times New Roman" panose="02020603050405020304" pitchFamily="18" charset="0"/>
                <a:cs typeface="Times New Roman" panose="02020603050405020304" pitchFamily="18" charset="0"/>
              </a:rPr>
              <a:t>', '</a:t>
            </a:r>
            <a:r>
              <a:rPr lang="zh-CN" altLang="zh-CN" sz="2800" dirty="0">
                <a:latin typeface="Times New Roman" panose="02020603050405020304" pitchFamily="18" charset="0"/>
                <a:cs typeface="Times New Roman" panose="02020603050405020304" pitchFamily="18" charset="0"/>
              </a:rPr>
              <a:t>苹果</a:t>
            </a:r>
            <a:r>
              <a:rPr lang="en-US" altLang="zh-CN" sz="2800" dirty="0" smtClean="0">
                <a:latin typeface="Times New Roman" panose="02020603050405020304" pitchFamily="18" charset="0"/>
                <a:cs typeface="Times New Roman" panose="02020603050405020304" pitchFamily="18" charset="0"/>
              </a:rPr>
              <a:t>', 5.2, 8</a:t>
            </a:r>
            <a:r>
              <a:rPr lang="en-US" altLang="zh-CN" sz="2800" dirty="0">
                <a:latin typeface="Times New Roman" panose="02020603050405020304" pitchFamily="18" charset="0"/>
                <a:cs typeface="Times New Roman" panose="02020603050405020304" pitchFamily="18" charset="0"/>
              </a:rPr>
              <a:t>] </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50520" y="1219317"/>
            <a:ext cx="8244840" cy="1569660"/>
          </a:xfrm>
          <a:prstGeom prst="rect">
            <a:avLst/>
          </a:prstGeom>
        </p:spPr>
        <p:txBody>
          <a:bodyPr wrap="square">
            <a:spAutoFit/>
          </a:bodyPr>
          <a:lstStyle/>
          <a:p>
            <a:r>
              <a:rPr lang="zh-CN" altLang="en-US" sz="2400" dirty="0" smtClean="0">
                <a:latin typeface="Times New Roman" panose="02020603050405020304" pitchFamily="18" charset="0"/>
                <a:cs typeface="Times New Roman" panose="02020603050405020304" pitchFamily="18" charset="0"/>
              </a:rPr>
              <a:t>序列是</a:t>
            </a:r>
            <a:r>
              <a:rPr lang="en-US" altLang="zh-CN" sz="2400" dirty="0" smtClean="0">
                <a:latin typeface="Times New Roman" panose="02020603050405020304" pitchFamily="18" charset="0"/>
                <a:cs typeface="Times New Roman" panose="02020603050405020304" pitchFamily="18" charset="0"/>
              </a:rPr>
              <a:t>Python</a:t>
            </a:r>
            <a:r>
              <a:rPr lang="zh-CN" altLang="en-US" sz="2400" dirty="0" smtClean="0">
                <a:latin typeface="Times New Roman" panose="02020603050405020304" pitchFamily="18" charset="0"/>
                <a:cs typeface="Times New Roman" panose="02020603050405020304" pitchFamily="18" charset="0"/>
              </a:rPr>
              <a:t>中最基本的复合数据结构，</a:t>
            </a:r>
            <a:r>
              <a:rPr lang="en-US" altLang="zh-CN" sz="2400" dirty="0" smtClean="0">
                <a:latin typeface="Times New Roman" panose="02020603050405020304" pitchFamily="18" charset="0"/>
                <a:cs typeface="Times New Roman" panose="02020603050405020304" pitchFamily="18" charset="0"/>
              </a:rPr>
              <a:t>Python</a:t>
            </a:r>
            <a:r>
              <a:rPr lang="zh-CN" altLang="zh-CN" sz="2400" dirty="0">
                <a:latin typeface="Times New Roman" panose="02020603050405020304" pitchFamily="18" charset="0"/>
                <a:cs typeface="Times New Roman" panose="02020603050405020304" pitchFamily="18" charset="0"/>
              </a:rPr>
              <a:t>内置的序列数据结构最常见的有列表、元组和</a:t>
            </a:r>
            <a:r>
              <a:rPr lang="zh-CN" altLang="zh-CN" sz="2400" dirty="0" smtClean="0">
                <a:latin typeface="Times New Roman" panose="02020603050405020304" pitchFamily="18" charset="0"/>
                <a:cs typeface="Times New Roman" panose="02020603050405020304" pitchFamily="18" charset="0"/>
              </a:rPr>
              <a:t>字符串</a:t>
            </a:r>
            <a:r>
              <a:rPr lang="zh-CN" altLang="en-US" sz="2400" dirty="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另外，</a:t>
            </a:r>
            <a:r>
              <a:rPr lang="en-US" altLang="zh-CN" sz="2400" dirty="0" smtClean="0">
                <a:latin typeface="Times New Roman" panose="02020603050405020304" pitchFamily="18" charset="0"/>
                <a:cs typeface="Times New Roman" panose="02020603050405020304" pitchFamily="18" charset="0"/>
              </a:rPr>
              <a:t>Python</a:t>
            </a:r>
            <a:r>
              <a:rPr lang="zh-CN" altLang="zh-CN" sz="2400" dirty="0" smtClean="0">
                <a:latin typeface="Times New Roman" panose="02020603050405020304" pitchFamily="18" charset="0"/>
                <a:cs typeface="Times New Roman" panose="02020603050405020304" pitchFamily="18" charset="0"/>
              </a:rPr>
              <a:t>还</a:t>
            </a:r>
            <a:r>
              <a:rPr lang="zh-CN" altLang="zh-CN" sz="2400" dirty="0">
                <a:latin typeface="Times New Roman" panose="02020603050405020304" pitchFamily="18" charset="0"/>
                <a:cs typeface="Times New Roman" panose="02020603050405020304" pitchFamily="18" charset="0"/>
              </a:rPr>
              <a:t>提供了字典和集合这样的数据类型，它们属于无序的数据集合，不能通过位置索引来访问数据</a:t>
            </a:r>
            <a:r>
              <a:rPr lang="zh-CN" altLang="zh-CN" sz="2400" dirty="0" smtClean="0">
                <a:latin typeface="Times New Roman" panose="02020603050405020304" pitchFamily="18" charset="0"/>
                <a:cs typeface="Times New Roman" panose="02020603050405020304" pitchFamily="18" charset="0"/>
              </a:rPr>
              <a:t>元素</a:t>
            </a:r>
            <a:endParaRPr lang="zh-CN" altLang="en-US" sz="2400" dirty="0">
              <a:latin typeface="Times New Roman" panose="02020603050405020304" pitchFamily="18" charset="0"/>
              <a:cs typeface="Times New Roman" panose="02020603050405020304" pitchFamily="18" charset="0"/>
            </a:endParaRPr>
          </a:p>
        </p:txBody>
      </p:sp>
      <p:sp>
        <p:nvSpPr>
          <p:cNvPr id="14" name="矩形 13"/>
          <p:cNvSpPr/>
          <p:nvPr/>
        </p:nvSpPr>
        <p:spPr>
          <a:xfrm>
            <a:off x="788918" y="4043124"/>
            <a:ext cx="5291833" cy="523220"/>
          </a:xfrm>
          <a:prstGeom prst="rect">
            <a:avLst/>
          </a:prstGeom>
        </p:spPr>
        <p:txBody>
          <a:bodyPr wrap="none">
            <a:spAutoFit/>
          </a:bodyPr>
          <a:lstStyle/>
          <a:p>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元组   </a:t>
            </a:r>
            <a:r>
              <a:rPr lang="en-US" altLang="zh-CN" sz="2800" dirty="0" smtClean="0">
                <a:latin typeface="Times New Roman" panose="02020603050405020304" pitchFamily="18" charset="0"/>
                <a:cs typeface="Times New Roman" panose="02020603050405020304" pitchFamily="18" charset="0"/>
              </a:rPr>
              <a:t>tup1 = ('</a:t>
            </a:r>
            <a:r>
              <a:rPr lang="zh-CN" altLang="zh-CN" sz="2800" dirty="0">
                <a:latin typeface="Times New Roman" panose="02020603050405020304" pitchFamily="18" charset="0"/>
                <a:cs typeface="Times New Roman" panose="02020603050405020304" pitchFamily="18" charset="0"/>
              </a:rPr>
              <a:t>西瓜</a:t>
            </a:r>
            <a:r>
              <a:rPr lang="en-US" altLang="zh-CN" sz="2800" dirty="0" smtClean="0">
                <a:latin typeface="Times New Roman" panose="02020603050405020304" pitchFamily="18" charset="0"/>
                <a:cs typeface="Times New Roman" panose="02020603050405020304" pitchFamily="18" charset="0"/>
              </a:rPr>
              <a:t>', '</a:t>
            </a:r>
            <a:r>
              <a:rPr lang="zh-CN" altLang="zh-CN" sz="2800" dirty="0">
                <a:latin typeface="Times New Roman" panose="02020603050405020304" pitchFamily="18" charset="0"/>
                <a:cs typeface="Times New Roman" panose="02020603050405020304" pitchFamily="18" charset="0"/>
              </a:rPr>
              <a:t>苹果</a:t>
            </a:r>
            <a:r>
              <a:rPr lang="en-US" altLang="zh-CN" sz="2800" dirty="0" smtClean="0">
                <a:latin typeface="Times New Roman" panose="02020603050405020304" pitchFamily="18" charset="0"/>
                <a:cs typeface="Times New Roman" panose="02020603050405020304" pitchFamily="18" charset="0"/>
              </a:rPr>
              <a:t>', 5.2, 8</a:t>
            </a:r>
            <a:r>
              <a:rPr lang="en-US" altLang="zh-CN" sz="2800" dirty="0">
                <a:latin typeface="Times New Roman" panose="02020603050405020304" pitchFamily="18" charset="0"/>
                <a:cs typeface="Times New Roman" panose="02020603050405020304" pitchFamily="18" charset="0"/>
              </a:rPr>
              <a:t>)</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p:cNvSpPr/>
          <p:nvPr/>
        </p:nvSpPr>
        <p:spPr>
          <a:xfrm>
            <a:off x="788918" y="5003244"/>
            <a:ext cx="7169142" cy="523220"/>
          </a:xfrm>
          <a:prstGeom prst="rect">
            <a:avLst/>
          </a:prstGeom>
        </p:spPr>
        <p:txBody>
          <a:bodyPr wrap="none">
            <a:spAutoFit/>
          </a:bodyPr>
          <a:lstStyle/>
          <a:p>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字典   </a:t>
            </a:r>
            <a:r>
              <a:rPr lang="en-US" altLang="zh-CN" sz="2800" dirty="0" smtClean="0">
                <a:latin typeface="Times New Roman" panose="02020603050405020304" pitchFamily="18" charset="0"/>
                <a:cs typeface="Times New Roman" panose="02020603050405020304" pitchFamily="18" charset="0"/>
              </a:rPr>
              <a:t>dic1 = {'</a:t>
            </a:r>
            <a:r>
              <a:rPr lang="en-US" altLang="zh-CN" sz="2800" dirty="0" err="1" smtClean="0">
                <a:latin typeface="Times New Roman" panose="02020603050405020304" pitchFamily="18" charset="0"/>
                <a:cs typeface="Times New Roman" panose="02020603050405020304" pitchFamily="18" charset="0"/>
              </a:rPr>
              <a:t>name':'tang</a:t>
            </a:r>
            <a:r>
              <a:rPr lang="en-US" altLang="zh-CN" sz="2800" dirty="0" smtClean="0">
                <a:latin typeface="Times New Roman" panose="02020603050405020304" pitchFamily="18" charset="0"/>
                <a:cs typeface="Times New Roman" panose="02020603050405020304" pitchFamily="18" charset="0"/>
              </a:rPr>
              <a:t>', 'age</a:t>
            </a:r>
            <a:r>
              <a:rPr lang="en-US" altLang="zh-CN" sz="2800" dirty="0">
                <a:latin typeface="Times New Roman" panose="02020603050405020304" pitchFamily="18" charset="0"/>
                <a:cs typeface="Times New Roman" panose="02020603050405020304" pitchFamily="18" charset="0"/>
              </a:rPr>
              <a:t>':39</a:t>
            </a:r>
            <a:r>
              <a:rPr lang="en-US" altLang="zh-CN" sz="2800" dirty="0" smtClean="0">
                <a:latin typeface="Times New Roman" panose="02020603050405020304" pitchFamily="18" charset="0"/>
                <a:cs typeface="Times New Roman" panose="02020603050405020304" pitchFamily="18" charset="0"/>
              </a:rPr>
              <a:t>, '</a:t>
            </a:r>
            <a:r>
              <a:rPr lang="en-US" altLang="zh-CN" sz="2800" dirty="0" err="1" smtClean="0">
                <a:latin typeface="Times New Roman" panose="02020603050405020304" pitchFamily="18" charset="0"/>
                <a:cs typeface="Times New Roman" panose="02020603050405020304" pitchFamily="18" charset="0"/>
              </a:rPr>
              <a:t>sex</a:t>
            </a:r>
            <a:r>
              <a:rPr lang="en-US" altLang="zh-CN" sz="2800" dirty="0" err="1">
                <a:latin typeface="Times New Roman" panose="02020603050405020304" pitchFamily="18" charset="0"/>
                <a:cs typeface="Times New Roman" panose="02020603050405020304" pitchFamily="18" charset="0"/>
              </a:rPr>
              <a:t>':True</a:t>
            </a:r>
            <a:r>
              <a:rPr lang="en-US" altLang="zh-CN" sz="2800" dirty="0">
                <a:latin typeface="Times New Roman" panose="02020603050405020304" pitchFamily="18" charset="0"/>
                <a:cs typeface="Times New Roman" panose="02020603050405020304" pitchFamily="18" charset="0"/>
              </a:rPr>
              <a:t>}</a:t>
            </a:r>
            <a:r>
              <a:rPr lang="en-US" altLang="zh-CN" sz="2800" dirty="0" smtClean="0">
                <a:latin typeface="Times New Roman" panose="02020603050405020304" pitchFamily="18" charset="0"/>
                <a:cs typeface="Times New Roman" panose="02020603050405020304" pitchFamily="18" charset="0"/>
              </a:rPr>
              <a:t> </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矩形 15"/>
          <p:cNvSpPr/>
          <p:nvPr/>
        </p:nvSpPr>
        <p:spPr>
          <a:xfrm>
            <a:off x="788918" y="5841444"/>
            <a:ext cx="4591321" cy="523220"/>
          </a:xfrm>
          <a:prstGeom prst="rect">
            <a:avLst/>
          </a:prstGeom>
        </p:spPr>
        <p:txBody>
          <a:bodyPr wrap="none">
            <a:spAutoFit/>
          </a:bodyPr>
          <a:lstStyle/>
          <a:p>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集合   </a:t>
            </a:r>
            <a:r>
              <a:rPr lang="en-US" altLang="zh-CN" sz="2800" dirty="0" smtClean="0">
                <a:latin typeface="Times New Roman" panose="02020603050405020304" pitchFamily="18" charset="0"/>
                <a:cs typeface="Times New Roman" panose="02020603050405020304" pitchFamily="18" charset="0"/>
              </a:rPr>
              <a:t>p = {</a:t>
            </a:r>
            <a:r>
              <a:rPr lang="en-US" altLang="zh-CN" sz="2800" dirty="0">
                <a:latin typeface="Times New Roman" panose="02020603050405020304" pitchFamily="18" charset="0"/>
                <a:cs typeface="Times New Roman" panose="02020603050405020304" pitchFamily="18" charset="0"/>
              </a:rPr>
              <a:t>2.5</a:t>
            </a:r>
            <a:r>
              <a:rPr lang="en-US" altLang="zh-CN" sz="2800" dirty="0" smtClean="0">
                <a:latin typeface="Times New Roman" panose="02020603050405020304" pitchFamily="18" charset="0"/>
                <a:cs typeface="Times New Roman" panose="02020603050405020304" pitchFamily="18" charset="0"/>
              </a:rPr>
              <a:t>, 'tang', (</a:t>
            </a:r>
            <a:r>
              <a:rPr lang="en-US" altLang="zh-CN" sz="2800" dirty="0">
                <a:latin typeface="Times New Roman" panose="02020603050405020304" pitchFamily="18" charset="0"/>
                <a:cs typeface="Times New Roman" panose="02020603050405020304" pitchFamily="18" charset="0"/>
              </a:rPr>
              <a:t>1,2,3)}</a:t>
            </a:r>
            <a:endPar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a:t>
            </a:r>
            <a:r>
              <a:rPr lang="zh-CN" altLang="en-US" sz="2800" b="1" dirty="0" smtClean="0">
                <a:solidFill>
                  <a:srgbClr val="0070C0"/>
                </a:solidFill>
                <a:latin typeface="微软雅黑" panose="020B0503020204020204" pitchFamily="34" charset="-122"/>
                <a:ea typeface="微软雅黑" panose="020B0503020204020204" pitchFamily="34" charset="-122"/>
              </a:rPr>
              <a:t>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7" name="矩形 6"/>
          <p:cNvSpPr/>
          <p:nvPr/>
        </p:nvSpPr>
        <p:spPr>
          <a:xfrm>
            <a:off x="350520" y="2300460"/>
            <a:ext cx="6614311" cy="461665"/>
          </a:xfrm>
          <a:prstGeom prst="rect">
            <a:avLst/>
          </a:prstGeom>
        </p:spPr>
        <p:txBody>
          <a:bodyPr wrap="none">
            <a:spAutoFit/>
          </a:bodyPr>
          <a:lstStyle/>
          <a:p>
            <a:r>
              <a:rPr lang="zh-CN" altLang="en-US" sz="2400" b="1" dirty="0" smtClean="0">
                <a:solidFill>
                  <a:srgbClr val="0070C0"/>
                </a:solidFill>
                <a:latin typeface="微软雅黑" panose="020B0503020204020204" pitchFamily="34" charset="-122"/>
                <a:ea typeface="微软雅黑" panose="020B0503020204020204" pitchFamily="34" charset="-122"/>
              </a:rPr>
              <a:t>列表   </a:t>
            </a:r>
            <a:r>
              <a:rPr lang="zh-CN" altLang="en-US" sz="2400" dirty="0"/>
              <a:t>有序，可索引，可添加、删除、修改元素</a:t>
            </a:r>
            <a:endParaRPr lang="zh-CN" altLang="en-US" sz="2400" dirty="0"/>
          </a:p>
        </p:txBody>
      </p:sp>
      <p:sp>
        <p:nvSpPr>
          <p:cNvPr id="5" name="矩形 4"/>
          <p:cNvSpPr/>
          <p:nvPr/>
        </p:nvSpPr>
        <p:spPr>
          <a:xfrm>
            <a:off x="350520" y="1219317"/>
            <a:ext cx="8244840" cy="461665"/>
          </a:xfrm>
          <a:prstGeom prst="rect">
            <a:avLst/>
          </a:prstGeom>
        </p:spPr>
        <p:txBody>
          <a:bodyPr wrap="square">
            <a:spAutoFit/>
          </a:bodyPr>
          <a:lstStyle/>
          <a:p>
            <a:r>
              <a:rPr lang="en-US" altLang="zh-CN" sz="2400" dirty="0" smtClean="0">
                <a:latin typeface="Times New Roman" panose="02020603050405020304" pitchFamily="18" charset="0"/>
                <a:cs typeface="Times New Roman" panose="02020603050405020304" pitchFamily="18" charset="0"/>
              </a:rPr>
              <a:t>Python</a:t>
            </a:r>
            <a:r>
              <a:rPr lang="zh-CN" altLang="en-US" sz="2400" dirty="0" smtClean="0">
                <a:latin typeface="Times New Roman" panose="02020603050405020304" pitchFamily="18" charset="0"/>
                <a:cs typeface="Times New Roman" panose="02020603050405020304" pitchFamily="18" charset="0"/>
              </a:rPr>
              <a:t>几种序列数据结构的比较：</a:t>
            </a:r>
            <a:endParaRPr lang="zh-CN" altLang="en-US" sz="2400" dirty="0">
              <a:latin typeface="Times New Roman" panose="02020603050405020304" pitchFamily="18" charset="0"/>
              <a:cs typeface="Times New Roman" panose="02020603050405020304" pitchFamily="18" charset="0"/>
            </a:endParaRPr>
          </a:p>
        </p:txBody>
      </p:sp>
      <p:sp>
        <p:nvSpPr>
          <p:cNvPr id="14" name="矩形 13"/>
          <p:cNvSpPr/>
          <p:nvPr/>
        </p:nvSpPr>
        <p:spPr>
          <a:xfrm>
            <a:off x="350521" y="3153900"/>
            <a:ext cx="7961458" cy="461665"/>
          </a:xfrm>
          <a:prstGeom prst="rect">
            <a:avLst/>
          </a:prstGeom>
        </p:spPr>
        <p:txBody>
          <a:bodyPr wrap="square">
            <a:spAutoFit/>
          </a:bodyPr>
          <a:lstStyle/>
          <a:p>
            <a:r>
              <a:rPr lang="zh-CN" altLang="en-US" sz="2400" b="1" dirty="0" smtClean="0">
                <a:solidFill>
                  <a:srgbClr val="0070C0"/>
                </a:solidFill>
                <a:latin typeface="微软雅黑" panose="020B0503020204020204" pitchFamily="34" charset="-122"/>
                <a:ea typeface="微软雅黑" panose="020B0503020204020204" pitchFamily="34" charset="-122"/>
              </a:rPr>
              <a:t>元组   </a:t>
            </a:r>
            <a:r>
              <a:rPr lang="zh-CN" altLang="en-US" sz="2400" dirty="0"/>
              <a:t>有序，可索引，可添加、删除元素，不可修改元素</a:t>
            </a:r>
            <a:endParaRPr lang="zh-CN" altLang="en-US" sz="2400" dirty="0"/>
          </a:p>
        </p:txBody>
      </p:sp>
      <p:sp>
        <p:nvSpPr>
          <p:cNvPr id="15" name="矩形 14"/>
          <p:cNvSpPr/>
          <p:nvPr/>
        </p:nvSpPr>
        <p:spPr>
          <a:xfrm>
            <a:off x="350520" y="4007340"/>
            <a:ext cx="6375463" cy="461665"/>
          </a:xfrm>
          <a:prstGeom prst="rect">
            <a:avLst/>
          </a:prstGeom>
        </p:spPr>
        <p:txBody>
          <a:bodyPr wrap="none">
            <a:spAutoFit/>
          </a:bodyPr>
          <a:lstStyle/>
          <a:p>
            <a:r>
              <a:rPr lang="zh-CN" altLang="en-US" sz="2400" b="1" dirty="0" smtClean="0">
                <a:solidFill>
                  <a:srgbClr val="0070C0"/>
                </a:solidFill>
                <a:latin typeface="微软雅黑" panose="020B0503020204020204" pitchFamily="34" charset="-122"/>
                <a:ea typeface="微软雅黑" panose="020B0503020204020204" pitchFamily="34" charset="-122"/>
              </a:rPr>
              <a:t>字典   </a:t>
            </a:r>
            <a:r>
              <a:rPr lang="zh-CN" altLang="en-US" sz="2400" dirty="0"/>
              <a:t>无</a:t>
            </a:r>
            <a:r>
              <a:rPr lang="zh-CN" altLang="en-US" sz="2400" dirty="0" smtClean="0"/>
              <a:t>序，不可索引，每个元素都是</a:t>
            </a:r>
            <a:r>
              <a:rPr lang="zh-CN" altLang="en-US" sz="2400" dirty="0" smtClean="0">
                <a:solidFill>
                  <a:srgbClr val="FF0000"/>
                </a:solidFill>
              </a:rPr>
              <a:t>键值对</a:t>
            </a:r>
            <a:r>
              <a:rPr lang="en-US" altLang="zh-CN" sz="2400" dirty="0" smtClean="0"/>
              <a:t> </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sp>
        <p:nvSpPr>
          <p:cNvPr id="16" name="矩形 15"/>
          <p:cNvSpPr/>
          <p:nvPr/>
        </p:nvSpPr>
        <p:spPr>
          <a:xfrm>
            <a:off x="350520" y="4860780"/>
            <a:ext cx="5383205" cy="461665"/>
          </a:xfrm>
          <a:prstGeom prst="rect">
            <a:avLst/>
          </a:prstGeom>
        </p:spPr>
        <p:txBody>
          <a:bodyPr wrap="none">
            <a:spAutoFit/>
          </a:bodyPr>
          <a:lstStyle/>
          <a:p>
            <a:r>
              <a:rPr lang="zh-CN" altLang="en-US" sz="2400" b="1" dirty="0" smtClean="0">
                <a:solidFill>
                  <a:srgbClr val="0070C0"/>
                </a:solidFill>
                <a:latin typeface="微软雅黑" panose="020B0503020204020204" pitchFamily="34" charset="-122"/>
                <a:ea typeface="微软雅黑" panose="020B0503020204020204" pitchFamily="34" charset="-122"/>
              </a:rPr>
              <a:t>集合   </a:t>
            </a:r>
            <a:r>
              <a:rPr lang="zh-CN" altLang="en-US" sz="2400" dirty="0"/>
              <a:t>无序，不可索引，元素不可重复</a:t>
            </a:r>
            <a:endParaRPr lang="zh-CN"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a:t>
            </a:r>
            <a:r>
              <a:rPr lang="en-US" altLang="zh-CN" sz="2800" b="1" dirty="0" smtClean="0">
                <a:solidFill>
                  <a:srgbClr val="0070C0"/>
                </a:solidFill>
                <a:latin typeface="微软雅黑" panose="020B0503020204020204" pitchFamily="34" charset="-122"/>
                <a:ea typeface="微软雅黑" panose="020B0503020204020204" pitchFamily="34" charset="-122"/>
              </a:rPr>
              <a:t>.1.2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980661" y="1768079"/>
            <a:ext cx="1167307" cy="2554545"/>
          </a:xfrm>
          <a:prstGeom prst="rect">
            <a:avLst/>
          </a:prstGeom>
          <a:solidFill>
            <a:schemeClr val="bg2"/>
          </a:solidFill>
          <a:ln>
            <a:noFill/>
          </a:ln>
        </p:spPr>
        <p:txBody>
          <a:bodyPr vert="horz" wrap="none" lIns="91440" tIns="45720" rIns="91440" bIns="45720" numCol="1" anchor="t" anchorCtr="0" compatLnSpc="1">
            <a:spAutoFit/>
          </a:bodyPr>
          <a:lstStyle/>
          <a:p>
            <a:r>
              <a:rPr lang="en-US" altLang="zh-CN" sz="3200" dirty="0">
                <a:latin typeface="Times New Roman" panose="02020603050405020304" pitchFamily="18" charset="0"/>
                <a:cs typeface="Times New Roman" panose="02020603050405020304" pitchFamily="18" charset="0"/>
              </a:rPr>
              <a:t>0 -&gt; a</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1 -&gt; b</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2 -&gt; c</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3 -&gt; d</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4 -&gt; e</a:t>
            </a:r>
            <a:endParaRPr lang="zh-CN" altLang="zh-CN" sz="32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613513" y="1960246"/>
            <a:ext cx="446140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3200" dirty="0" err="1" smtClean="0">
                <a:latin typeface="Times New Roman" panose="02020603050405020304" pitchFamily="18" charset="0"/>
                <a:cs typeface="Times New Roman" panose="02020603050405020304" pitchFamily="18" charset="0"/>
              </a:rPr>
              <a:t>arr</a:t>
            </a:r>
            <a:r>
              <a:rPr lang="en-US" altLang="zh-CN" sz="3200" dirty="0" smtClean="0">
                <a:latin typeface="Times New Roman" panose="02020603050405020304" pitchFamily="18" charset="0"/>
                <a:cs typeface="Times New Roman" panose="02020603050405020304" pitchFamily="18" charset="0"/>
              </a:rPr>
              <a:t> = [</a:t>
            </a:r>
            <a:r>
              <a:rPr lang="en-US" altLang="zh-CN" sz="3200" dirty="0">
                <a:latin typeface="Times New Roman" panose="02020603050405020304" pitchFamily="18" charset="0"/>
                <a:cs typeface="Times New Roman" panose="02020603050405020304" pitchFamily="18" charset="0"/>
              </a:rPr>
              <a:t>'a</a:t>
            </a:r>
            <a:r>
              <a:rPr lang="en-US" altLang="zh-CN" sz="3200" dirty="0" smtClean="0">
                <a:latin typeface="Times New Roman" panose="02020603050405020304" pitchFamily="18" charset="0"/>
                <a:cs typeface="Times New Roman" panose="02020603050405020304" pitchFamily="18" charset="0"/>
              </a:rPr>
              <a:t>', 'b', 'c', 'd', 'e</a:t>
            </a:r>
            <a:r>
              <a:rPr lang="en-US" altLang="zh-CN"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for i in range(len(arr)):</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print(</a:t>
            </a:r>
            <a:r>
              <a:rPr lang="en-US" altLang="zh-CN" sz="3200" dirty="0" err="1">
                <a:latin typeface="Times New Roman" panose="02020603050405020304" pitchFamily="18" charset="0"/>
                <a:cs typeface="Times New Roman" panose="02020603050405020304" pitchFamily="18" charset="0"/>
              </a:rPr>
              <a:t>i</a:t>
            </a:r>
            <a:r>
              <a:rPr lang="en-US" altLang="zh-CN" sz="3200" dirty="0" smtClean="0">
                <a:latin typeface="Times New Roman" panose="02020603050405020304" pitchFamily="18" charset="0"/>
                <a:cs typeface="Times New Roman" panose="02020603050405020304" pitchFamily="18" charset="0"/>
              </a:rPr>
              <a:t>, '-&gt;', </a:t>
            </a:r>
            <a:r>
              <a:rPr lang="en-US" altLang="zh-CN" sz="3200" dirty="0" err="1" smtClean="0">
                <a:latin typeface="Times New Roman" panose="02020603050405020304" pitchFamily="18" charset="0"/>
                <a:cs typeface="Times New Roman" panose="02020603050405020304" pitchFamily="18" charset="0"/>
              </a:rPr>
              <a:t>arr</a:t>
            </a:r>
            <a:r>
              <a:rPr lang="en-US" altLang="zh-CN" sz="3200" dirty="0" smtClean="0">
                <a:latin typeface="Times New Roman" panose="02020603050405020304" pitchFamily="18" charset="0"/>
                <a:cs typeface="Times New Roman" panose="02020603050405020304" pitchFamily="18" charset="0"/>
              </a:rPr>
              <a:t>[</a:t>
            </a:r>
            <a:r>
              <a:rPr lang="en-US" altLang="zh-CN" sz="3200" dirty="0" err="1" smtClean="0">
                <a:latin typeface="Times New Roman" panose="02020603050405020304" pitchFamily="18" charset="0"/>
                <a:cs typeface="Times New Roman" panose="02020603050405020304" pitchFamily="18" charset="0"/>
              </a:rPr>
              <a:t>i</a:t>
            </a:r>
            <a:r>
              <a:rPr lang="en-US" altLang="zh-CN"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2725426"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 </a:t>
            </a:r>
            <a:r>
              <a:rPr lang="zh-CN" altLang="en-US" sz="2800" b="1" dirty="0" smtClean="0">
                <a:solidFill>
                  <a:srgbClr val="0070C0"/>
                </a:solidFill>
                <a:latin typeface="微软雅黑" panose="020B0503020204020204" pitchFamily="34" charset="-122"/>
                <a:ea typeface="微软雅黑" panose="020B0503020204020204" pitchFamily="34" charset="-122"/>
              </a:rPr>
              <a:t>遍历列表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395987" y="4906570"/>
            <a:ext cx="3855974" cy="594124"/>
            <a:chOff x="6339097" y="1573726"/>
            <a:chExt cx="3744416" cy="376351"/>
          </a:xfrm>
        </p:grpSpPr>
        <p:sp>
          <p:nvSpPr>
            <p:cNvPr id="22" name="圆角矩形 21"/>
            <p:cNvSpPr/>
            <p:nvPr/>
          </p:nvSpPr>
          <p:spPr>
            <a:xfrm>
              <a:off x="6339097" y="1573726"/>
              <a:ext cx="3744416" cy="376351"/>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27265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len()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函数获取列表长度</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8" y="5737235"/>
            <a:ext cx="6957968"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range</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函数生成从</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到列表长</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度的下标值</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529331" y="1886725"/>
            <a:ext cx="853048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3200" dirty="0" smtClean="0">
                <a:latin typeface="Times New Roman" panose="02020603050405020304" pitchFamily="18" charset="0"/>
                <a:cs typeface="Times New Roman" panose="02020603050405020304" pitchFamily="18" charset="0"/>
              </a:rPr>
              <a:t>s = {</a:t>
            </a:r>
            <a:r>
              <a:rPr lang="en-US" altLang="zh-CN" sz="3200" dirty="0">
                <a:latin typeface="Times New Roman" panose="02020603050405020304" pitchFamily="18" charset="0"/>
                <a:cs typeface="Times New Roman" panose="02020603050405020304" pitchFamily="18" charset="0"/>
              </a:rPr>
              <a:t>1,2,3</a:t>
            </a:r>
            <a:r>
              <a:rPr lang="en-US" altLang="zh-CN" sz="3200" dirty="0" smtClean="0">
                <a:latin typeface="Times New Roman" panose="02020603050405020304" pitchFamily="18" charset="0"/>
                <a:cs typeface="Times New Roman" panose="02020603050405020304" pitchFamily="18" charset="0"/>
              </a:rPr>
              <a:t>}    #</a:t>
            </a:r>
            <a:r>
              <a:rPr lang="zh-CN" altLang="zh-CN" sz="3200" dirty="0">
                <a:latin typeface="Times New Roman" panose="02020603050405020304" pitchFamily="18" charset="0"/>
                <a:cs typeface="Times New Roman" panose="02020603050405020304" pitchFamily="18" charset="0"/>
              </a:rPr>
              <a:t>整型集合</a:t>
            </a:r>
            <a:endParaRPr lang="zh-CN" altLang="zh-CN" sz="3200" dirty="0">
              <a:latin typeface="Times New Roman" panose="02020603050405020304" pitchFamily="18" charset="0"/>
              <a:cs typeface="Times New Roman" panose="02020603050405020304" pitchFamily="18" charset="0"/>
            </a:endParaRPr>
          </a:p>
          <a:p>
            <a:r>
              <a:rPr lang="en-US" altLang="zh-CN" sz="3200" dirty="0" smtClean="0">
                <a:latin typeface="Times New Roman" panose="02020603050405020304" pitchFamily="18" charset="0"/>
                <a:cs typeface="Times New Roman" panose="02020603050405020304" pitchFamily="18" charset="0"/>
              </a:rPr>
              <a:t>p = {</a:t>
            </a:r>
            <a:r>
              <a:rPr lang="en-US" altLang="zh-CN" sz="3200" dirty="0">
                <a:latin typeface="Times New Roman" panose="02020603050405020304" pitchFamily="18" charset="0"/>
                <a:cs typeface="Times New Roman" panose="02020603050405020304" pitchFamily="18" charset="0"/>
              </a:rPr>
              <a:t>2.5</a:t>
            </a:r>
            <a:r>
              <a:rPr lang="en-US" altLang="zh-CN" sz="3200" dirty="0" smtClean="0">
                <a:latin typeface="Times New Roman" panose="02020603050405020304" pitchFamily="18" charset="0"/>
                <a:cs typeface="Times New Roman" panose="02020603050405020304" pitchFamily="18" charset="0"/>
              </a:rPr>
              <a:t>, 'tang', (</a:t>
            </a:r>
            <a:r>
              <a:rPr lang="en-US" altLang="zh-CN" sz="3200" dirty="0">
                <a:latin typeface="Times New Roman" panose="02020603050405020304" pitchFamily="18" charset="0"/>
                <a:cs typeface="Times New Roman" panose="02020603050405020304" pitchFamily="18" charset="0"/>
              </a:rPr>
              <a:t>1,2,3</a:t>
            </a:r>
            <a:r>
              <a:rPr lang="en-US" altLang="zh-CN" sz="3200" dirty="0" smtClean="0">
                <a:latin typeface="Times New Roman" panose="02020603050405020304" pitchFamily="18" charset="0"/>
                <a:cs typeface="Times New Roman" panose="02020603050405020304" pitchFamily="18" charset="0"/>
              </a:rPr>
              <a:t>)}    #</a:t>
            </a:r>
            <a:r>
              <a:rPr lang="zh-CN" altLang="zh-CN" sz="3200" dirty="0">
                <a:latin typeface="Times New Roman" panose="02020603050405020304" pitchFamily="18" charset="0"/>
                <a:cs typeface="Times New Roman" panose="02020603050405020304" pitchFamily="18" charset="0"/>
              </a:rPr>
              <a:t>混合类型的集合</a:t>
            </a:r>
            <a:endParaRPr lang="zh-CN" altLang="zh-CN" sz="3200" dirty="0">
              <a:latin typeface="Times New Roman" panose="02020603050405020304" pitchFamily="18" charset="0"/>
              <a:cs typeface="Times New Roman" panose="02020603050405020304" pitchFamily="18" charset="0"/>
            </a:endParaRPr>
          </a:p>
          <a:p>
            <a:r>
              <a:rPr lang="en-US" altLang="zh-CN" sz="3200" dirty="0" smtClean="0">
                <a:latin typeface="Times New Roman" panose="02020603050405020304" pitchFamily="18" charset="0"/>
                <a:cs typeface="Times New Roman" panose="02020603050405020304" pitchFamily="18" charset="0"/>
              </a:rPr>
              <a:t>q = set</a:t>
            </a:r>
            <a:r>
              <a:rPr lang="en-US" altLang="zh-CN" sz="3200" dirty="0">
                <a:latin typeface="Times New Roman" panose="02020603050405020304" pitchFamily="18" charset="0"/>
                <a:cs typeface="Times New Roman" panose="02020603050405020304" pitchFamily="18" charset="0"/>
              </a:rPr>
              <a:t>(['six</a:t>
            </a:r>
            <a:r>
              <a:rPr lang="en-US" altLang="zh-CN" sz="3200" dirty="0" smtClean="0">
                <a:latin typeface="Times New Roman" panose="02020603050405020304" pitchFamily="18" charset="0"/>
                <a:cs typeface="Times New Roman" panose="02020603050405020304" pitchFamily="18" charset="0"/>
              </a:rPr>
              <a:t>', 'tang', 6])    #</a:t>
            </a:r>
            <a:r>
              <a:rPr lang="zh-CN" altLang="zh-CN" sz="3200" dirty="0">
                <a:latin typeface="Times New Roman" panose="02020603050405020304" pitchFamily="18" charset="0"/>
                <a:cs typeface="Times New Roman" panose="02020603050405020304" pitchFamily="18" charset="0"/>
              </a:rPr>
              <a:t>从列表创建集合</a:t>
            </a:r>
            <a:endParaRPr lang="zh-CN" altLang="zh-CN" sz="3200" dirty="0">
              <a:latin typeface="Times New Roman" panose="02020603050405020304" pitchFamily="18" charset="0"/>
              <a:cs typeface="Times New Roman" panose="02020603050405020304" pitchFamily="18" charset="0"/>
            </a:endParaRPr>
          </a:p>
          <a:p>
            <a:r>
              <a:rPr lang="en-US" altLang="zh-CN" sz="3200" dirty="0" smtClean="0">
                <a:latin typeface="Times New Roman" panose="02020603050405020304" pitchFamily="18" charset="0"/>
                <a:cs typeface="Times New Roman" panose="02020603050405020304" pitchFamily="18" charset="0"/>
              </a:rPr>
              <a:t>nu = set()    #</a:t>
            </a:r>
            <a:r>
              <a:rPr lang="zh-CN" altLang="zh-CN" sz="3200" dirty="0">
                <a:latin typeface="Times New Roman" panose="02020603050405020304" pitchFamily="18" charset="0"/>
                <a:cs typeface="Times New Roman" panose="02020603050405020304" pitchFamily="18" charset="0"/>
              </a:rPr>
              <a:t>空集合</a:t>
            </a:r>
            <a:endParaRPr lang="zh-CN" altLang="zh-CN" sz="3200" dirty="0">
              <a:latin typeface="Times New Roman" panose="02020603050405020304" pitchFamily="18" charset="0"/>
              <a:cs typeface="Times New Roman" panose="02020603050405020304" pitchFamily="18" charset="0"/>
            </a:endParaRPr>
          </a:p>
          <a:p>
            <a:r>
              <a:rPr lang="en-US" altLang="zh-CN" sz="3200" dirty="0" smtClean="0">
                <a:latin typeface="Times New Roman" panose="02020603050405020304" pitchFamily="18" charset="0"/>
                <a:cs typeface="Times New Roman" panose="02020603050405020304" pitchFamily="18" charset="0"/>
              </a:rPr>
              <a:t>d = {}    #</a:t>
            </a:r>
            <a:r>
              <a:rPr lang="zh-CN" altLang="zh-CN" sz="3200" dirty="0">
                <a:solidFill>
                  <a:srgbClr val="FF0000"/>
                </a:solidFill>
                <a:latin typeface="Times New Roman" panose="02020603050405020304" pitchFamily="18" charset="0"/>
                <a:cs typeface="Times New Roman" panose="02020603050405020304" pitchFamily="18" charset="0"/>
              </a:rPr>
              <a:t>空字典</a:t>
            </a:r>
            <a:r>
              <a:rPr lang="zh-CN" altLang="zh-CN" sz="3200" dirty="0">
                <a:latin typeface="Times New Roman" panose="02020603050405020304" pitchFamily="18" charset="0"/>
                <a:cs typeface="Times New Roman" panose="02020603050405020304" pitchFamily="18" charset="0"/>
              </a:rPr>
              <a:t>，不是集合</a:t>
            </a:r>
            <a:endParaRPr lang="zh-CN" altLang="zh-CN" sz="32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2725426"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 </a:t>
            </a:r>
            <a:r>
              <a:rPr lang="zh-CN" altLang="en-US" sz="2800" b="1" dirty="0" smtClean="0">
                <a:solidFill>
                  <a:srgbClr val="0070C0"/>
                </a:solidFill>
                <a:latin typeface="微软雅黑" panose="020B0503020204020204" pitchFamily="34" charset="-122"/>
                <a:ea typeface="微软雅黑" panose="020B0503020204020204" pitchFamily="34" charset="-122"/>
              </a:rPr>
              <a:t>创建集合</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395986" y="4907517"/>
            <a:ext cx="8260333" cy="923772"/>
            <a:chOff x="6339097" y="1573726"/>
            <a:chExt cx="3744416" cy="511504"/>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477162"/>
            </a:xfrm>
            <a:prstGeom prst="rect">
              <a:avLst/>
            </a:prstGeom>
          </p:spPr>
          <p:txBody>
            <a:bodyPr wrap="square" lIns="121897" tIns="60948" rIns="121897" bIns="60948">
              <a:spAutoFit/>
            </a:bodyPr>
            <a:lstStyle/>
            <a:p>
              <a:pPr defTabSz="1218565">
                <a:defRPr/>
              </a:pP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创建集合有两种方</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式</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：① 将</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所有的元素写在花括号</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内，在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里</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不能有字典、列</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表；② 用内</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置的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类型定</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义</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7" y="5970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要创建空集合，只能用</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，不能用</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059742" y="2072880"/>
            <a:ext cx="3703258" cy="1569660"/>
          </a:xfrm>
          <a:prstGeom prst="rect">
            <a:avLst/>
          </a:prstGeom>
          <a:solidFill>
            <a:schemeClr val="bg2"/>
          </a:solidFill>
          <a:ln>
            <a:noFill/>
          </a:ln>
        </p:spPr>
        <p:txBody>
          <a:bodyPr vert="horz" wrap="none" lIns="91440" tIns="45720" rIns="91440" bIns="45720" numCol="1" anchor="t" anchorCtr="0" compatLnSpc="1">
            <a:spAutoFit/>
          </a:bodyPr>
          <a:lstStyle/>
          <a:p>
            <a:r>
              <a:rPr lang="en-US" altLang="zh-CN" sz="3200" dirty="0">
                <a:latin typeface="Times New Roman" panose="02020603050405020304" pitchFamily="18" charset="0"/>
                <a:cs typeface="Times New Roman" panose="02020603050405020304" pitchFamily="18" charset="0"/>
              </a:rPr>
              <a:t>{'P', 'y', 'h', 't', 'o', 'n'}</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{'e', 'o', 'H', 'l'}</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True</a:t>
            </a:r>
            <a:endParaRPr lang="zh-CN" altLang="zh-CN" sz="32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531055" y="1814363"/>
            <a:ext cx="640520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2600" dirty="0" smtClean="0">
                <a:latin typeface="Times New Roman" panose="02020603050405020304" pitchFamily="18" charset="0"/>
                <a:cs typeface="Times New Roman" panose="02020603050405020304" pitchFamily="18" charset="0"/>
              </a:rPr>
              <a:t>s = set</a:t>
            </a:r>
            <a:r>
              <a:rPr lang="en-US" altLang="zh-CN" sz="2600" dirty="0">
                <a:latin typeface="Times New Roman" panose="02020603050405020304" pitchFamily="18" charset="0"/>
                <a:cs typeface="Times New Roman" panose="02020603050405020304" pitchFamily="18" charset="0"/>
              </a:rPr>
              <a:t>('Python')</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print(s)   </a:t>
            </a:r>
            <a:r>
              <a:rPr lang="en-US" altLang="zh-CN" sz="2600" dirty="0" smtClean="0">
                <a:latin typeface="Times New Roman" panose="02020603050405020304" pitchFamily="18" charset="0"/>
                <a:cs typeface="Times New Roman" panose="02020603050405020304" pitchFamily="18" charset="0"/>
              </a:rPr>
              <a:t> #</a:t>
            </a:r>
            <a:r>
              <a:rPr lang="zh-CN" altLang="en-US" sz="2600" dirty="0" smtClean="0">
                <a:latin typeface="Times New Roman" panose="02020603050405020304" pitchFamily="18" charset="0"/>
                <a:cs typeface="Times New Roman" panose="02020603050405020304" pitchFamily="18" charset="0"/>
              </a:rPr>
              <a:t>无序性</a:t>
            </a:r>
            <a:endParaRPr lang="en-US" altLang="zh-CN" sz="2600" dirty="0" smtClean="0">
              <a:latin typeface="Times New Roman" panose="02020603050405020304" pitchFamily="18" charset="0"/>
              <a:cs typeface="Times New Roman" panose="02020603050405020304" pitchFamily="18" charset="0"/>
            </a:endParaRPr>
          </a:p>
          <a:p>
            <a:pPr lvl="0" indent="0"/>
            <a:r>
              <a:rPr lang="en-US" altLang="zh-CN" sz="2600" dirty="0" smtClean="0">
                <a:latin typeface="Times New Roman" panose="02020603050405020304" pitchFamily="18" charset="0"/>
                <a:cs typeface="Times New Roman" panose="02020603050405020304" pitchFamily="18" charset="0"/>
              </a:rPr>
              <a:t>s = set('Hello')</a:t>
            </a:r>
            <a:endParaRPr lang="en-US" altLang="zh-CN" sz="2600" dirty="0" smtClean="0">
              <a:latin typeface="Times New Roman" panose="02020603050405020304" pitchFamily="18" charset="0"/>
              <a:cs typeface="Times New Roman" panose="02020603050405020304" pitchFamily="18" charset="0"/>
            </a:endParaRPr>
          </a:p>
          <a:p>
            <a:pPr lvl="0" indent="0"/>
            <a:r>
              <a:rPr lang="en-US" altLang="zh-CN" sz="2600" dirty="0" smtClean="0">
                <a:latin typeface="Times New Roman" panose="02020603050405020304" pitchFamily="18" charset="0"/>
                <a:cs typeface="Times New Roman" panose="02020603050405020304" pitchFamily="18" charset="0"/>
              </a:rPr>
              <a:t>print(s</a:t>
            </a:r>
            <a:r>
              <a:rPr lang="en-US" altLang="zh-CN" sz="2600" dirty="0">
                <a:latin typeface="Times New Roman" panose="02020603050405020304" pitchFamily="18" charset="0"/>
                <a:cs typeface="Times New Roman" panose="02020603050405020304" pitchFamily="18" charset="0"/>
              </a:rPr>
              <a:t>)  </a:t>
            </a:r>
            <a:r>
              <a:rPr lang="en-US" altLang="zh-CN" sz="2600" dirty="0" smtClean="0">
                <a:latin typeface="Times New Roman" panose="02020603050405020304" pitchFamily="18" charset="0"/>
                <a:cs typeface="Times New Roman" panose="02020603050405020304" pitchFamily="18" charset="0"/>
              </a:rPr>
              <a:t>  #</a:t>
            </a:r>
            <a:r>
              <a:rPr lang="zh-CN" altLang="en-US" sz="2600" dirty="0" smtClean="0">
                <a:latin typeface="Times New Roman" panose="02020603050405020304" pitchFamily="18" charset="0"/>
                <a:cs typeface="Times New Roman" panose="02020603050405020304" pitchFamily="18" charset="0"/>
              </a:rPr>
              <a:t>不</a:t>
            </a:r>
            <a:r>
              <a:rPr lang="zh-CN" altLang="en-US" sz="2600" dirty="0">
                <a:latin typeface="Times New Roman" panose="02020603050405020304" pitchFamily="18" charset="0"/>
                <a:cs typeface="Times New Roman" panose="02020603050405020304" pitchFamily="18" charset="0"/>
              </a:rPr>
              <a:t>重复</a:t>
            </a:r>
            <a:r>
              <a:rPr lang="zh-CN" altLang="en-US" sz="2600" dirty="0" smtClean="0">
                <a:latin typeface="Times New Roman" panose="02020603050405020304" pitchFamily="18" charset="0"/>
                <a:cs typeface="Times New Roman" panose="02020603050405020304" pitchFamily="18" charset="0"/>
              </a:rPr>
              <a:t>性</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smtClean="0">
                <a:latin typeface="Times New Roman" panose="02020603050405020304" pitchFamily="18" charset="0"/>
                <a:cs typeface="Times New Roman" panose="02020603050405020304" pitchFamily="18" charset="0"/>
              </a:rPr>
              <a:t>y = 'H</a:t>
            </a:r>
            <a:r>
              <a:rPr lang="en-US" altLang="zh-CN" sz="2600" dirty="0">
                <a:latin typeface="Times New Roman" panose="02020603050405020304" pitchFamily="18" charset="0"/>
                <a:cs typeface="Times New Roman" panose="02020603050405020304" pitchFamily="18" charset="0"/>
              </a:rPr>
              <a:t>' in s</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print(y)   </a:t>
            </a:r>
            <a:r>
              <a:rPr lang="en-US" altLang="zh-CN" sz="2600" dirty="0" smtClean="0">
                <a:latin typeface="Times New Roman" panose="02020603050405020304" pitchFamily="18" charset="0"/>
                <a:cs typeface="Times New Roman" panose="02020603050405020304" pitchFamily="18" charset="0"/>
              </a:rPr>
              <a:t> #</a:t>
            </a:r>
            <a:r>
              <a:rPr lang="zh-CN" altLang="en-US" sz="2600" dirty="0" smtClean="0">
                <a:latin typeface="Times New Roman" panose="02020603050405020304" pitchFamily="18" charset="0"/>
                <a:cs typeface="Times New Roman" panose="02020603050405020304" pitchFamily="18" charset="0"/>
              </a:rPr>
              <a:t>确定性</a:t>
            </a:r>
            <a:endParaRPr lang="en-US" altLang="zh-CN" sz="2600" dirty="0">
              <a:latin typeface="Times New Roman" panose="02020603050405020304" pitchFamily="18" charset="0"/>
              <a:cs typeface="Times New Roman" panose="02020603050405020304" pitchFamily="18" charset="0"/>
            </a:endParaRPr>
          </a:p>
          <a:p>
            <a:pPr lvl="0" indent="0"/>
            <a:r>
              <a:rPr lang="en-US" altLang="zh-CN" sz="2600" dirty="0">
                <a:latin typeface="Times New Roman" panose="02020603050405020304" pitchFamily="18" charset="0"/>
                <a:cs typeface="Times New Roman" panose="02020603050405020304" pitchFamily="18" charset="0"/>
              </a:rPr>
              <a:t>print(s[2</a:t>
            </a:r>
            <a:r>
              <a:rPr lang="en-US" altLang="zh-CN" sz="2600" dirty="0" smtClean="0">
                <a:latin typeface="Times New Roman" panose="02020603050405020304" pitchFamily="18" charset="0"/>
                <a:cs typeface="Times New Roman" panose="02020603050405020304" pitchFamily="18" charset="0"/>
              </a:rPr>
              <a:t>])    #</a:t>
            </a:r>
            <a:r>
              <a:rPr lang="zh-CN" altLang="en-US" sz="2600" dirty="0" smtClean="0">
                <a:latin typeface="Times New Roman" panose="02020603050405020304" pitchFamily="18" charset="0"/>
                <a:cs typeface="Times New Roman" panose="02020603050405020304" pitchFamily="18" charset="0"/>
              </a:rPr>
              <a:t>执行</a:t>
            </a:r>
            <a:r>
              <a:rPr lang="zh-CN" altLang="en-US" sz="2600" dirty="0">
                <a:latin typeface="Times New Roman" panose="02020603050405020304" pitchFamily="18" charset="0"/>
                <a:cs typeface="Times New Roman" panose="02020603050405020304" pitchFamily="18" charset="0"/>
              </a:rPr>
              <a:t>出错，集合不支持索引</a:t>
            </a:r>
            <a:endParaRPr lang="zh-CN" altLang="en-US" sz="26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3084499"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 </a:t>
            </a:r>
            <a:r>
              <a:rPr lang="zh-CN" altLang="en-US" sz="2800" b="1" dirty="0" smtClean="0">
                <a:solidFill>
                  <a:srgbClr val="0070C0"/>
                </a:solidFill>
                <a:latin typeface="微软雅黑" panose="020B0503020204020204" pitchFamily="34" charset="-122"/>
                <a:ea typeface="微软雅黑" panose="020B0503020204020204" pitchFamily="34" charset="-122"/>
              </a:rPr>
              <a:t>集合的性质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388493" y="5589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集合是无序的，所以无法使用索引访</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问集合中的元素</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1.1.3 </a:t>
            </a:r>
            <a:r>
              <a:rPr lang="zh-CN" altLang="en-US" sz="2800" b="1" dirty="0">
                <a:solidFill>
                  <a:srgbClr val="0070C0"/>
                </a:solidFill>
                <a:latin typeface="微软雅黑" panose="020B0503020204020204" pitchFamily="34" charset="-122"/>
                <a:ea typeface="微软雅黑" panose="020B0503020204020204" pitchFamily="34" charset="-122"/>
              </a:rPr>
              <a:t>序列处理</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r>
              <a:rPr lang="en-US" altLang="zh-CN" sz="2800" b="1" dirty="0" smtClean="0">
                <a:solidFill>
                  <a:srgbClr val="0070C0"/>
                </a:solidFill>
                <a:latin typeface="微软雅黑" panose="020B0503020204020204" pitchFamily="34" charset="-122"/>
                <a:ea typeface="微软雅黑" panose="020B0503020204020204" pitchFamily="34" charset="-122"/>
              </a:rPr>
              <a:t>——append()</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381783" y="2256055"/>
            <a:ext cx="853048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indent="0"/>
            <a:r>
              <a:rPr lang="en-US" altLang="zh-CN" sz="2800" dirty="0">
                <a:latin typeface="Times New Roman" panose="02020603050405020304" pitchFamily="18" charset="0"/>
                <a:cs typeface="Times New Roman" panose="02020603050405020304" pitchFamily="18" charset="0"/>
              </a:rPr>
              <a:t>aList = [123, 'xyz', 'abc</a:t>
            </a:r>
            <a:r>
              <a:rPr lang="en-US" altLang="zh-CN" sz="2800" dirty="0" smtClean="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indent="0"/>
            <a:r>
              <a:rPr lang="en-US" altLang="zh-CN" sz="2800" dirty="0" err="1" smtClean="0">
                <a:latin typeface="Times New Roman" panose="02020603050405020304" pitchFamily="18" charset="0"/>
                <a:cs typeface="Times New Roman" panose="02020603050405020304" pitchFamily="18" charset="0"/>
              </a:rPr>
              <a:t>aList.append</a:t>
            </a:r>
            <a:r>
              <a:rPr lang="en-US" altLang="zh-CN" sz="2800" dirty="0" smtClean="0">
                <a:latin typeface="Times New Roman" panose="02020603050405020304" pitchFamily="18" charset="0"/>
                <a:cs typeface="Times New Roman" panose="02020603050405020304" pitchFamily="18" charset="0"/>
              </a:rPr>
              <a:t>(2020)    #</a:t>
            </a:r>
            <a:r>
              <a:rPr lang="zh-CN" altLang="en-US" sz="2800" dirty="0">
                <a:latin typeface="Times New Roman" panose="02020603050405020304" pitchFamily="18" charset="0"/>
                <a:cs typeface="Times New Roman" panose="02020603050405020304" pitchFamily="18" charset="0"/>
              </a:rPr>
              <a:t>添</a:t>
            </a:r>
            <a:r>
              <a:rPr lang="zh-CN" altLang="en-US" sz="2800" dirty="0" smtClean="0">
                <a:latin typeface="Times New Roman" panose="02020603050405020304" pitchFamily="18" charset="0"/>
                <a:cs typeface="Times New Roman" panose="02020603050405020304" pitchFamily="18" charset="0"/>
              </a:rPr>
              <a:t>加数</a:t>
            </a:r>
            <a:r>
              <a:rPr lang="zh-CN" altLang="en-US" sz="2800" dirty="0">
                <a:latin typeface="Times New Roman" panose="02020603050405020304" pitchFamily="18" charset="0"/>
                <a:cs typeface="Times New Roman" panose="02020603050405020304" pitchFamily="18" charset="0"/>
              </a:rPr>
              <a:t>值元素</a:t>
            </a:r>
            <a:endParaRPr lang="zh-CN" altLang="en-US" sz="2800" dirty="0">
              <a:latin typeface="Times New Roman" panose="02020603050405020304" pitchFamily="18" charset="0"/>
              <a:cs typeface="Times New Roman" panose="02020603050405020304" pitchFamily="18" charset="0"/>
            </a:endParaRPr>
          </a:p>
          <a:p>
            <a:pPr indent="0"/>
            <a:r>
              <a:rPr lang="en-US" altLang="zh-CN" sz="2800" dirty="0" err="1">
                <a:latin typeface="Times New Roman" panose="02020603050405020304" pitchFamily="18" charset="0"/>
                <a:cs typeface="Times New Roman" panose="02020603050405020304" pitchFamily="18" charset="0"/>
              </a:rPr>
              <a:t>aList.append</a:t>
            </a:r>
            <a:r>
              <a:rPr lang="en-US" altLang="zh-CN" sz="2800" dirty="0" smtClean="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20, </a:t>
            </a:r>
            <a:r>
              <a:rPr lang="en-US" altLang="zh-CN" sz="2800" dirty="0" smtClean="0">
                <a:latin typeface="Times New Roman" panose="02020603050405020304" pitchFamily="18" charset="0"/>
                <a:cs typeface="Times New Roman" panose="02020603050405020304" pitchFamily="18" charset="0"/>
              </a:rPr>
              <a:t>'19'])    #</a:t>
            </a:r>
            <a:r>
              <a:rPr lang="zh-CN" altLang="en-US" sz="2800" dirty="0">
                <a:latin typeface="Times New Roman" panose="02020603050405020304" pitchFamily="18" charset="0"/>
                <a:cs typeface="Times New Roman" panose="02020603050405020304" pitchFamily="18" charset="0"/>
              </a:rPr>
              <a:t>添</a:t>
            </a:r>
            <a:r>
              <a:rPr lang="zh-CN" altLang="en-US" sz="2800" dirty="0" smtClean="0">
                <a:latin typeface="Times New Roman" panose="02020603050405020304" pitchFamily="18" charset="0"/>
                <a:cs typeface="Times New Roman" panose="02020603050405020304" pitchFamily="18" charset="0"/>
              </a:rPr>
              <a:t>加列</a:t>
            </a:r>
            <a:r>
              <a:rPr lang="zh-CN" altLang="en-US" sz="2800" dirty="0">
                <a:latin typeface="Times New Roman" panose="02020603050405020304" pitchFamily="18" charset="0"/>
                <a:cs typeface="Times New Roman" panose="02020603050405020304" pitchFamily="18" charset="0"/>
              </a:rPr>
              <a:t>表元素</a:t>
            </a:r>
            <a:endParaRPr lang="zh-CN" altLang="en-US" sz="2800" dirty="0">
              <a:latin typeface="Times New Roman" panose="02020603050405020304" pitchFamily="18" charset="0"/>
              <a:cs typeface="Times New Roman" panose="02020603050405020304" pitchFamily="18" charset="0"/>
            </a:endParaRPr>
          </a:p>
          <a:p>
            <a:pPr indent="0"/>
            <a:r>
              <a:rPr lang="en-US" altLang="zh-CN" sz="2800" dirty="0" smtClean="0">
                <a:latin typeface="Times New Roman" panose="02020603050405020304" pitchFamily="18" charset="0"/>
                <a:cs typeface="Times New Roman" panose="02020603050405020304" pitchFamily="18" charset="0"/>
              </a:rPr>
              <a:t>print(aList</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8153400" cy="954107"/>
          </a:xfrm>
          <a:prstGeom prst="rect">
            <a:avLst/>
          </a:prstGeom>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append()</a:t>
            </a:r>
            <a:r>
              <a:rPr lang="zh-CN" altLang="en-US" sz="2800" b="1" dirty="0">
                <a:solidFill>
                  <a:srgbClr val="0070C0"/>
                </a:solidFill>
                <a:latin typeface="微软雅黑" panose="020B0503020204020204" pitchFamily="34" charset="-122"/>
                <a:ea typeface="微软雅黑" panose="020B0503020204020204" pitchFamily="34" charset="-122"/>
              </a:rPr>
              <a:t>函数用于在列表末尾添加新的元素，每次只能添加一个</a:t>
            </a:r>
            <a:r>
              <a:rPr lang="zh-CN" altLang="en-US" sz="2800" b="1" dirty="0" smtClean="0">
                <a:solidFill>
                  <a:srgbClr val="0070C0"/>
                </a:solidFill>
                <a:latin typeface="微软雅黑" panose="020B0503020204020204" pitchFamily="34" charset="-122"/>
                <a:ea typeface="微软雅黑" panose="020B0503020204020204" pitchFamily="34" charset="-122"/>
              </a:rPr>
              <a:t>元素</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7" name="矩形 26"/>
          <p:cNvSpPr/>
          <p:nvPr/>
        </p:nvSpPr>
        <p:spPr>
          <a:xfrm>
            <a:off x="531056" y="5996248"/>
            <a:ext cx="8231945" cy="492417"/>
          </a:xfrm>
          <a:prstGeom prst="rect">
            <a:avLst/>
          </a:prstGeom>
        </p:spPr>
        <p:txBody>
          <a:bodyPr wrap="square" lIns="121897" tIns="60948" rIns="121897" bIns="60948">
            <a:spAutoFit/>
          </a:bodyPr>
          <a:lstStyle/>
          <a:p>
            <a:pPr defTabSz="1218565">
              <a:defRPr/>
            </a:pP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要创建空集合，只能用</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，不能用</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2"/>
          <p:cNvSpPr txBox="1">
            <a:spLocks noChangeArrowheads="1"/>
          </p:cNvSpPr>
          <p:nvPr/>
        </p:nvSpPr>
        <p:spPr bwMode="auto">
          <a:xfrm>
            <a:off x="609600" y="5211418"/>
            <a:ext cx="5618654" cy="584775"/>
          </a:xfrm>
          <a:prstGeom prst="rect">
            <a:avLst/>
          </a:prstGeom>
          <a:solidFill>
            <a:schemeClr val="bg2"/>
          </a:solidFill>
          <a:ln>
            <a:noFill/>
          </a:ln>
        </p:spPr>
        <p:txBody>
          <a:bodyPr vert="horz" wrap="none" lIns="91440" tIns="45720" rIns="91440" bIns="45720" numCol="1" anchor="t" anchorCtr="0" compatLnSpc="1">
            <a:spAutoFit/>
          </a:bodyPr>
          <a:lstStyle/>
          <a:p>
            <a:r>
              <a:rPr lang="en-US" altLang="zh-CN" sz="3200" dirty="0">
                <a:latin typeface="Times New Roman" panose="02020603050405020304" pitchFamily="18" charset="0"/>
                <a:cs typeface="Times New Roman" panose="02020603050405020304" pitchFamily="18" charset="0"/>
              </a:rPr>
              <a:t>[123, 'xyz', 'abc', 2020, [20, '19']]</a:t>
            </a:r>
            <a:endParaRPr lang="zh-CN" altLang="zh-CN" sz="3200" dirty="0">
              <a:latin typeface="Times New Roman" panose="02020603050405020304" pitchFamily="18" charset="0"/>
              <a:cs typeface="Times New Roman" panose="02020603050405020304" pitchFamily="18" charset="0"/>
            </a:endParaRPr>
          </a:p>
        </p:txBody>
      </p:sp>
      <p:sp>
        <p:nvSpPr>
          <p:cNvPr id="12" name="矩形 11"/>
          <p:cNvSpPr/>
          <p:nvPr/>
        </p:nvSpPr>
        <p:spPr>
          <a:xfrm>
            <a:off x="648355" y="446890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1.1.3 </a:t>
            </a:r>
            <a:r>
              <a:rPr lang="zh-CN" altLang="en-US" sz="2800" b="1" dirty="0">
                <a:solidFill>
                  <a:srgbClr val="0070C0"/>
                </a:solidFill>
                <a:latin typeface="微软雅黑" panose="020B0503020204020204" pitchFamily="34" charset="-122"/>
                <a:ea typeface="微软雅黑" panose="020B0503020204020204" pitchFamily="34" charset="-122"/>
              </a:rPr>
              <a:t>序列处理</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r>
              <a:rPr lang="en-US" altLang="zh-CN" sz="2800" b="1" dirty="0">
                <a:solidFill>
                  <a:srgbClr val="0070C0"/>
                </a:solidFill>
                <a:latin typeface="微软雅黑" panose="020B0503020204020204" pitchFamily="34" charset="-122"/>
                <a:ea typeface="微软雅黑" panose="020B0503020204020204" pitchFamily="34" charset="-122"/>
              </a:rPr>
              <a:t>——append()</a:t>
            </a:r>
            <a:r>
              <a:rPr lang="zh-CN" altLang="en-US" sz="2800" b="1" dirty="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4532520" y="2072880"/>
            <a:ext cx="4562052" cy="584775"/>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3200" dirty="0">
                <a:latin typeface="Times New Roman" panose="02020603050405020304" pitchFamily="18" charset="0"/>
                <a:cs typeface="Times New Roman" panose="02020603050405020304" pitchFamily="18" charset="0"/>
              </a:rPr>
              <a:t>[[0, 0, </a:t>
            </a:r>
            <a:r>
              <a:rPr lang="en-US" altLang="zh-CN" sz="3200" dirty="0" smtClean="0">
                <a:latin typeface="Times New Roman" panose="02020603050405020304" pitchFamily="18" charset="0"/>
                <a:cs typeface="Times New Roman" panose="02020603050405020304" pitchFamily="18" charset="0"/>
              </a:rPr>
              <a:t>0], </a:t>
            </a:r>
            <a:r>
              <a:rPr lang="en-US" altLang="zh-CN" sz="3200" dirty="0">
                <a:latin typeface="Times New Roman" panose="02020603050405020304" pitchFamily="18" charset="0"/>
                <a:cs typeface="Times New Roman" panose="02020603050405020304" pitchFamily="18" charset="0"/>
              </a:rPr>
              <a:t>[1, 1, </a:t>
            </a:r>
            <a:r>
              <a:rPr lang="en-US" altLang="zh-CN" sz="3200" dirty="0" smtClean="0">
                <a:latin typeface="Times New Roman" panose="02020603050405020304" pitchFamily="18" charset="0"/>
                <a:cs typeface="Times New Roman" panose="02020603050405020304" pitchFamily="18" charset="0"/>
              </a:rPr>
              <a:t>1], </a:t>
            </a:r>
            <a:r>
              <a:rPr lang="en-US" altLang="zh-CN" sz="3200" dirty="0">
                <a:latin typeface="Times New Roman" panose="02020603050405020304" pitchFamily="18" charset="0"/>
                <a:cs typeface="Times New Roman" panose="02020603050405020304" pitchFamily="18" charset="0"/>
              </a:rPr>
              <a:t>[2, 2, </a:t>
            </a:r>
            <a:r>
              <a:rPr lang="en-US" altLang="zh-CN" sz="3200" dirty="0" smtClean="0">
                <a:latin typeface="Times New Roman" panose="02020603050405020304" pitchFamily="18" charset="0"/>
                <a:cs typeface="Times New Roman" panose="02020603050405020304" pitchFamily="18" charset="0"/>
              </a:rPr>
              <a:t>2]</a:t>
            </a:r>
            <a:endParaRPr lang="zh-CN" altLang="zh-CN" sz="32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531055" y="1737419"/>
            <a:ext cx="340663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3200" dirty="0">
                <a:latin typeface="Times New Roman" panose="02020603050405020304" pitchFamily="18" charset="0"/>
                <a:cs typeface="Times New Roman" panose="02020603050405020304" pitchFamily="18" charset="0"/>
              </a:rPr>
              <a:t>a=[] </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for i in </a:t>
            </a:r>
            <a:r>
              <a:rPr lang="en-US" altLang="zh-CN" sz="3200" dirty="0" smtClean="0">
                <a:latin typeface="Times New Roman" panose="02020603050405020304" pitchFamily="18" charset="0"/>
                <a:cs typeface="Times New Roman" panose="02020603050405020304" pitchFamily="18" charset="0"/>
              </a:rPr>
              <a:t>range(3): </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a.append([])</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for j in </a:t>
            </a:r>
            <a:r>
              <a:rPr lang="en-US" altLang="zh-CN" sz="3200" dirty="0" smtClean="0">
                <a:latin typeface="Times New Roman" panose="02020603050405020304" pitchFamily="18" charset="0"/>
                <a:cs typeface="Times New Roman" panose="02020603050405020304" pitchFamily="18" charset="0"/>
              </a:rPr>
              <a:t>range(3):</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a[i].append(i)</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print(a</a:t>
            </a:r>
            <a:r>
              <a:rPr lang="en-US" altLang="zh-CN" sz="3200" dirty="0" smtClean="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4043094"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1-5] </a:t>
            </a:r>
            <a:r>
              <a:rPr lang="zh-CN" altLang="en-US" sz="2800" b="1" dirty="0" smtClean="0">
                <a:solidFill>
                  <a:srgbClr val="0070C0"/>
                </a:solidFill>
                <a:latin typeface="微软雅黑" panose="020B0503020204020204" pitchFamily="34" charset="-122"/>
                <a:ea typeface="微软雅黑" panose="020B0503020204020204" pitchFamily="34" charset="-122"/>
              </a:rPr>
              <a:t>生</a:t>
            </a:r>
            <a:r>
              <a:rPr lang="zh-CN" altLang="en-US" sz="2800" b="1" dirty="0">
                <a:solidFill>
                  <a:srgbClr val="0070C0"/>
                </a:solidFill>
                <a:latin typeface="微软雅黑" panose="020B0503020204020204" pitchFamily="34" charset="-122"/>
                <a:ea typeface="微软雅黑" panose="020B0503020204020204" pitchFamily="34" charset="-122"/>
              </a:rPr>
              <a:t>成二维列表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388493" y="5589638"/>
            <a:ext cx="7810627"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双重循环，先添加列表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，再往列表中添加元素</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1.1.3 </a:t>
            </a:r>
            <a:r>
              <a:rPr lang="zh-CN" altLang="en-US" sz="2800" b="1" dirty="0">
                <a:solidFill>
                  <a:srgbClr val="0070C0"/>
                </a:solidFill>
                <a:latin typeface="微软雅黑" panose="020B0503020204020204" pitchFamily="34" charset="-122"/>
                <a:ea typeface="微软雅黑" panose="020B0503020204020204" pitchFamily="34" charset="-122"/>
              </a:rPr>
              <a:t>序列处理</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r>
              <a:rPr lang="en-US" altLang="zh-CN" sz="2800" b="1" dirty="0" smtClean="0">
                <a:solidFill>
                  <a:srgbClr val="0070C0"/>
                </a:solidFill>
                <a:latin typeface="微软雅黑" panose="020B0503020204020204" pitchFamily="34" charset="-122"/>
                <a:ea typeface="微软雅黑" panose="020B0503020204020204" pitchFamily="34" charset="-122"/>
              </a:rPr>
              <a:t>——zip()</a:t>
            </a:r>
            <a:r>
              <a:rPr lang="zh-CN" altLang="en-US" sz="2800" b="1" dirty="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609600" y="2444493"/>
            <a:ext cx="3962400" cy="388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nSpc>
                <a:spcPct val="110000"/>
              </a:lnSpc>
            </a:pPr>
            <a:r>
              <a:rPr lang="en-US" altLang="zh-CN" sz="2800" dirty="0">
                <a:latin typeface="Times New Roman" panose="02020603050405020304" pitchFamily="18" charset="0"/>
                <a:cs typeface="Times New Roman" panose="02020603050405020304" pitchFamily="18" charset="0"/>
              </a:rPr>
              <a:t>a = [1</a:t>
            </a:r>
            <a:r>
              <a:rPr lang="en-US" altLang="zh-CN" sz="2800" dirty="0" smtClean="0">
                <a:latin typeface="Times New Roman" panose="02020603050405020304" pitchFamily="18" charset="0"/>
                <a:cs typeface="Times New Roman" panose="02020603050405020304" pitchFamily="18" charset="0"/>
              </a:rPr>
              <a:t>, 2, 3</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a:lnSpc>
                <a:spcPct val="110000"/>
              </a:lnSpc>
            </a:pPr>
            <a:r>
              <a:rPr lang="en-US" altLang="zh-CN" sz="2800" dirty="0">
                <a:latin typeface="Times New Roman" panose="02020603050405020304" pitchFamily="18" charset="0"/>
                <a:cs typeface="Times New Roman" panose="02020603050405020304" pitchFamily="18" charset="0"/>
              </a:rPr>
              <a:t>b = [4</a:t>
            </a:r>
            <a:r>
              <a:rPr lang="en-US" altLang="zh-CN" sz="2800" dirty="0" smtClean="0">
                <a:latin typeface="Times New Roman" panose="02020603050405020304" pitchFamily="18" charset="0"/>
                <a:cs typeface="Times New Roman" panose="02020603050405020304" pitchFamily="18" charset="0"/>
              </a:rPr>
              <a:t>, 5, 6</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a:lnSpc>
                <a:spcPct val="110000"/>
              </a:lnSpc>
            </a:pPr>
            <a:r>
              <a:rPr lang="en-US" altLang="zh-CN" sz="2800" dirty="0">
                <a:latin typeface="Times New Roman" panose="02020603050405020304" pitchFamily="18" charset="0"/>
                <a:cs typeface="Times New Roman" panose="02020603050405020304" pitchFamily="18" charset="0"/>
              </a:rPr>
              <a:t>c = [4</a:t>
            </a:r>
            <a:r>
              <a:rPr lang="en-US" altLang="zh-CN" sz="2800" dirty="0" smtClean="0">
                <a:latin typeface="Times New Roman" panose="02020603050405020304" pitchFamily="18" charset="0"/>
                <a:cs typeface="Times New Roman" panose="02020603050405020304" pitchFamily="18" charset="0"/>
              </a:rPr>
              <a:t>, 5, 6, 7, 8</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a:lnSpc>
                <a:spcPct val="110000"/>
              </a:lnSpc>
            </a:pPr>
            <a:r>
              <a:rPr lang="en-US" altLang="zh-CN" sz="2800" dirty="0">
                <a:latin typeface="Times New Roman" panose="02020603050405020304" pitchFamily="18" charset="0"/>
                <a:cs typeface="Times New Roman" panose="02020603050405020304" pitchFamily="18" charset="0"/>
              </a:rPr>
              <a:t>zipped = zip(a</a:t>
            </a:r>
            <a:r>
              <a:rPr lang="en-US" altLang="zh-CN" sz="2800" dirty="0" smtClean="0">
                <a:latin typeface="Times New Roman" panose="02020603050405020304" pitchFamily="18" charset="0"/>
                <a:cs typeface="Times New Roman" panose="02020603050405020304" pitchFamily="18" charset="0"/>
              </a:rPr>
              <a:t>, b</a:t>
            </a:r>
            <a:r>
              <a:rPr lang="en-US" altLang="zh-CN" sz="2800" dirty="0">
                <a:latin typeface="Times New Roman" panose="02020603050405020304" pitchFamily="18" charset="0"/>
                <a:cs typeface="Times New Roman" panose="02020603050405020304" pitchFamily="18" charset="0"/>
              </a:rPr>
              <a:t>) </a:t>
            </a:r>
            <a:r>
              <a:rPr lang="zh-CN" altLang="en-US" sz="2800" dirty="0" smtClean="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pPr>
              <a:lnSpc>
                <a:spcPct val="110000"/>
              </a:lnSpc>
            </a:pPr>
            <a:r>
              <a:rPr lang="en-US" altLang="zh-CN" sz="2800" dirty="0">
                <a:latin typeface="Times New Roman" panose="02020603050405020304" pitchFamily="18" charset="0"/>
                <a:cs typeface="Times New Roman" panose="02020603050405020304" pitchFamily="18" charset="0"/>
              </a:rPr>
              <a:t>print(list(zipped))</a:t>
            </a:r>
            <a:endParaRPr lang="en-US" altLang="zh-CN" sz="2800" dirty="0">
              <a:latin typeface="Times New Roman" panose="02020603050405020304" pitchFamily="18" charset="0"/>
              <a:cs typeface="Times New Roman" panose="02020603050405020304" pitchFamily="18" charset="0"/>
            </a:endParaRPr>
          </a:p>
          <a:p>
            <a:pPr>
              <a:lnSpc>
                <a:spcPct val="110000"/>
              </a:lnSpc>
            </a:pPr>
            <a:r>
              <a:rPr lang="en-US" altLang="zh-CN" sz="2800" dirty="0">
                <a:latin typeface="Times New Roman" panose="02020603050405020304" pitchFamily="18" charset="0"/>
                <a:cs typeface="Times New Roman" panose="02020603050405020304" pitchFamily="18" charset="0"/>
              </a:rPr>
              <a:t>zipped = zip(a</a:t>
            </a:r>
            <a:r>
              <a:rPr lang="en-US" altLang="zh-CN" sz="2800" dirty="0" smtClean="0">
                <a:latin typeface="Times New Roman" panose="02020603050405020304" pitchFamily="18" charset="0"/>
                <a:cs typeface="Times New Roman" panose="02020603050405020304" pitchFamily="18" charset="0"/>
              </a:rPr>
              <a:t>, b</a:t>
            </a:r>
            <a:r>
              <a:rPr lang="en-US" altLang="zh-CN" sz="2800" dirty="0">
                <a:latin typeface="Times New Roman" panose="02020603050405020304" pitchFamily="18" charset="0"/>
                <a:cs typeface="Times New Roman" panose="02020603050405020304" pitchFamily="18" charset="0"/>
              </a:rPr>
              <a:t>) </a:t>
            </a:r>
            <a:endParaRPr lang="en-US" altLang="zh-CN" sz="2800" dirty="0" smtClean="0">
              <a:latin typeface="Times New Roman" panose="02020603050405020304" pitchFamily="18" charset="0"/>
              <a:cs typeface="Times New Roman" panose="02020603050405020304" pitchFamily="18" charset="0"/>
            </a:endParaRPr>
          </a:p>
          <a:p>
            <a:pPr>
              <a:lnSpc>
                <a:spcPct val="110000"/>
              </a:lnSpc>
            </a:pPr>
            <a:r>
              <a:rPr lang="en-US" altLang="zh-CN" sz="2800" dirty="0" smtClean="0">
                <a:latin typeface="Times New Roman" panose="02020603050405020304" pitchFamily="18" charset="0"/>
                <a:cs typeface="Times New Roman" panose="02020603050405020304" pitchFamily="18" charset="0"/>
              </a:rPr>
              <a:t>print(list(zip</a:t>
            </a:r>
            <a:r>
              <a:rPr lang="en-US" altLang="zh-CN" sz="2800" dirty="0">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zipped))) </a:t>
            </a:r>
            <a:endParaRPr lang="en-US" altLang="zh-CN" sz="2800" dirty="0">
              <a:latin typeface="Times New Roman" panose="02020603050405020304" pitchFamily="18" charset="0"/>
              <a:cs typeface="Times New Roman" panose="02020603050405020304" pitchFamily="18" charset="0"/>
            </a:endParaRPr>
          </a:p>
          <a:p>
            <a:pPr>
              <a:lnSpc>
                <a:spcPct val="110000"/>
              </a:lnSpc>
            </a:pPr>
            <a:r>
              <a:rPr lang="en-US" altLang="zh-CN" sz="2800" dirty="0" smtClean="0">
                <a:latin typeface="Times New Roman" panose="02020603050405020304" pitchFamily="18" charset="0"/>
                <a:cs typeface="Times New Roman" panose="02020603050405020304" pitchFamily="18" charset="0"/>
              </a:rPr>
              <a:t>print(list(zip(a, c))) </a:t>
            </a:r>
            <a:endParaRPr lang="zh-CN"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801528"/>
            <a:ext cx="8153400" cy="954107"/>
          </a:xfrm>
          <a:prstGeom prst="rect">
            <a:avLst/>
          </a:prstGeom>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zip() </a:t>
            </a:r>
            <a:r>
              <a:rPr lang="zh-CN" altLang="en-US" sz="2800" b="1" dirty="0">
                <a:solidFill>
                  <a:srgbClr val="0070C0"/>
                </a:solidFill>
                <a:latin typeface="微软雅黑" panose="020B0503020204020204" pitchFamily="34" charset="-122"/>
                <a:ea typeface="微软雅黑" panose="020B0503020204020204" pitchFamily="34" charset="-122"/>
              </a:rPr>
              <a:t>函数用</a:t>
            </a:r>
            <a:r>
              <a:rPr lang="zh-CN" altLang="en-US" sz="2800" b="1" dirty="0" smtClean="0">
                <a:solidFill>
                  <a:srgbClr val="0070C0"/>
                </a:solidFill>
                <a:latin typeface="微软雅黑" panose="020B0503020204020204" pitchFamily="34" charset="-122"/>
                <a:ea typeface="微软雅黑" panose="020B0503020204020204" pitchFamily="34" charset="-122"/>
              </a:rPr>
              <a:t>于将</a:t>
            </a:r>
            <a:r>
              <a:rPr lang="zh-CN" altLang="en-US" sz="2800" b="1" dirty="0">
                <a:solidFill>
                  <a:srgbClr val="0070C0"/>
                </a:solidFill>
                <a:latin typeface="微软雅黑" panose="020B0503020204020204" pitchFamily="34" charset="-122"/>
                <a:ea typeface="微软雅黑" panose="020B0503020204020204" pitchFamily="34" charset="-122"/>
              </a:rPr>
              <a:t>对象中对应的元素打包成一个个元组，然后返回由这些元组组成的</a:t>
            </a:r>
            <a:r>
              <a:rPr lang="zh-CN" altLang="en-US" sz="2800" b="1" dirty="0" smtClean="0">
                <a:solidFill>
                  <a:srgbClr val="0070C0"/>
                </a:solidFill>
                <a:latin typeface="微软雅黑" panose="020B0503020204020204" pitchFamily="34" charset="-122"/>
                <a:ea typeface="微软雅黑" panose="020B0503020204020204" pitchFamily="34" charset="-122"/>
              </a:rPr>
              <a:t>列表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1" name="Text Box 2"/>
          <p:cNvSpPr txBox="1">
            <a:spLocks noChangeArrowheads="1"/>
          </p:cNvSpPr>
          <p:nvPr/>
        </p:nvSpPr>
        <p:spPr bwMode="auto">
          <a:xfrm>
            <a:off x="4793923" y="2812479"/>
            <a:ext cx="3935406" cy="1569660"/>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3200" dirty="0">
                <a:latin typeface="Times New Roman" panose="02020603050405020304" pitchFamily="18" charset="0"/>
                <a:cs typeface="Times New Roman" panose="02020603050405020304" pitchFamily="18" charset="0"/>
              </a:rPr>
              <a:t>[(1, 4), (2, 5), (3, 6)]</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[(1, 2, 3), (4, 5, 6)]</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[(1, 4), (2, 5), (3, 6)]</a:t>
            </a:r>
            <a:endParaRPr lang="zh-CN" altLang="zh-CN" sz="3200" dirty="0">
              <a:latin typeface="Times New Roman" panose="02020603050405020304" pitchFamily="18" charset="0"/>
              <a:cs typeface="Times New Roman" panose="02020603050405020304" pitchFamily="18" charset="0"/>
            </a:endParaRPr>
          </a:p>
        </p:txBody>
      </p:sp>
      <p:sp>
        <p:nvSpPr>
          <p:cNvPr id="12" name="矩形 11"/>
          <p:cNvSpPr/>
          <p:nvPr/>
        </p:nvSpPr>
        <p:spPr>
          <a:xfrm>
            <a:off x="5140669" y="227213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13666" y="1893074"/>
            <a:ext cx="3533340"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 zip()</a:t>
            </a:r>
            <a:r>
              <a:rPr lang="zh-CN" altLang="en-US" sz="2800" b="1" dirty="0" smtClean="0">
                <a:solidFill>
                  <a:srgbClr val="0070C0"/>
                </a:solidFill>
                <a:latin typeface="微软雅黑" panose="020B0503020204020204" pitchFamily="34" charset="-122"/>
                <a:ea typeface="微软雅黑" panose="020B0503020204020204" pitchFamily="34" charset="-122"/>
              </a:rPr>
              <a:t>函数示例</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2590800" y="6270150"/>
            <a:ext cx="6373133" cy="518028"/>
            <a:chOff x="6339097" y="1573726"/>
            <a:chExt cx="3744416" cy="518298"/>
          </a:xfrm>
        </p:grpSpPr>
        <p:sp>
          <p:nvSpPr>
            <p:cNvPr id="10" name="圆角矩形 9"/>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3" name="矩形 12"/>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利用 * 号操作符，可以将元组解压为列表</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4" name="组合 13"/>
          <p:cNvGrpSpPr/>
          <p:nvPr/>
        </p:nvGrpSpPr>
        <p:grpSpPr>
          <a:xfrm>
            <a:off x="4219743" y="4515965"/>
            <a:ext cx="4752176" cy="951947"/>
            <a:chOff x="6339097" y="1573726"/>
            <a:chExt cx="3744416" cy="511504"/>
          </a:xfrm>
        </p:grpSpPr>
        <p:sp>
          <p:nvSpPr>
            <p:cNvPr id="15" name="圆角矩形 1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6" name="矩形 15"/>
            <p:cNvSpPr/>
            <p:nvPr/>
          </p:nvSpPr>
          <p:spPr>
            <a:xfrm>
              <a:off x="6399543" y="1599350"/>
              <a:ext cx="3683970" cy="324822"/>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zip()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返回的是一个对象。如</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需打印列</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需先用 </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list()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转换</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a:t>
            </a:r>
            <a:r>
              <a:rPr lang="zh-CN" altLang="en-US" sz="2800" b="1" dirty="0" smtClean="0">
                <a:solidFill>
                  <a:srgbClr val="0070C0"/>
                </a:solidFill>
                <a:latin typeface="微软雅黑" panose="020B0503020204020204" pitchFamily="34" charset="-122"/>
                <a:ea typeface="微软雅黑" panose="020B0503020204020204" pitchFamily="34" charset="-122"/>
              </a:rPr>
              <a:t>类</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806916" y="1737419"/>
            <a:ext cx="1969605" cy="3046988"/>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3200" dirty="0">
                <a:latin typeface="Times New Roman" panose="02020603050405020304" pitchFamily="18" charset="0"/>
                <a:cs typeface="Times New Roman" panose="02020603050405020304" pitchFamily="18" charset="0"/>
              </a:rPr>
              <a:t>$ </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 </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 $ </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 $ $ </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 $ $ $ </a:t>
            </a:r>
            <a:endParaRPr lang="en-US"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 $ $ $ $ </a:t>
            </a:r>
            <a:endParaRPr lang="zh-CN" altLang="zh-CN" sz="32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531055" y="1737419"/>
            <a:ext cx="601242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3200" dirty="0">
                <a:solidFill>
                  <a:schemeClr val="accent1"/>
                </a:solidFill>
                <a:latin typeface="Times New Roman" panose="02020603050405020304" pitchFamily="18" charset="0"/>
                <a:cs typeface="Times New Roman" panose="02020603050405020304" pitchFamily="18" charset="0"/>
              </a:rPr>
              <a:t>def</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jzt</a:t>
            </a:r>
            <a:r>
              <a:rPr lang="en-US" altLang="zh-CN" sz="3200" dirty="0">
                <a:latin typeface="Times New Roman" panose="02020603050405020304" pitchFamily="18" charset="0"/>
                <a:cs typeface="Times New Roman" panose="02020603050405020304" pitchFamily="18" charset="0"/>
              </a:rPr>
              <a:t>(n</a:t>
            </a:r>
            <a:r>
              <a:rPr lang="en-US" altLang="zh-CN" sz="3200" dirty="0" smtClean="0">
                <a:latin typeface="Times New Roman" panose="02020603050405020304" pitchFamily="18" charset="0"/>
                <a:cs typeface="Times New Roman" panose="02020603050405020304" pitchFamily="18" charset="0"/>
              </a:rPr>
              <a:t>, shape):</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smtClean="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for i in range(n):</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a:t>
            </a:r>
            <a:r>
              <a:rPr lang="en-US" altLang="zh-CN" sz="3200" dirty="0" smtClean="0">
                <a:latin typeface="Times New Roman" panose="02020603050405020304" pitchFamily="18" charset="0"/>
                <a:cs typeface="Times New Roman" panose="02020603050405020304" pitchFamily="18" charset="0"/>
              </a:rPr>
              <a:t>    for </a:t>
            </a:r>
            <a:r>
              <a:rPr lang="en-US" altLang="zh-CN" sz="3200" dirty="0">
                <a:latin typeface="Times New Roman" panose="02020603050405020304" pitchFamily="18" charset="0"/>
                <a:cs typeface="Times New Roman" panose="02020603050405020304" pitchFamily="18" charset="0"/>
              </a:rPr>
              <a:t>j in range(-1,i):</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a:t>
            </a:r>
            <a:r>
              <a:rPr lang="en-US" altLang="zh-CN" sz="3200" dirty="0" smtClean="0">
                <a:latin typeface="Times New Roman" panose="02020603050405020304" pitchFamily="18" charset="0"/>
                <a:cs typeface="Times New Roman" panose="02020603050405020304" pitchFamily="18" charset="0"/>
              </a:rPr>
              <a:t>    print(shape, end</a:t>
            </a:r>
            <a:r>
              <a:rPr lang="en-US" altLang="zh-CN" sz="3200" dirty="0">
                <a:latin typeface="Times New Roman" panose="02020603050405020304" pitchFamily="18" charset="0"/>
                <a:cs typeface="Times New Roman" panose="02020603050405020304" pitchFamily="18" charset="0"/>
              </a:rPr>
              <a:t>=' ')</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a:latin typeface="Times New Roman" panose="02020603050405020304" pitchFamily="18" charset="0"/>
                <a:cs typeface="Times New Roman" panose="02020603050405020304" pitchFamily="18" charset="0"/>
              </a:rPr>
              <a:t>    </a:t>
            </a:r>
            <a:r>
              <a:rPr lang="en-US" altLang="zh-CN" sz="3200" dirty="0" smtClean="0">
                <a:latin typeface="Times New Roman" panose="02020603050405020304" pitchFamily="18" charset="0"/>
                <a:cs typeface="Times New Roman" panose="02020603050405020304" pitchFamily="18" charset="0"/>
              </a:rPr>
              <a:t>    print</a:t>
            </a:r>
            <a:r>
              <a:rPr lang="en-US" altLang="zh-CN"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cs typeface="Times New Roman" panose="02020603050405020304" pitchFamily="18" charset="0"/>
            </a:endParaRPr>
          </a:p>
          <a:p>
            <a:pPr lvl="0" indent="0"/>
            <a:r>
              <a:rPr lang="en-US" altLang="zh-CN" sz="3200" dirty="0" err="1">
                <a:latin typeface="Times New Roman" panose="02020603050405020304" pitchFamily="18" charset="0"/>
                <a:cs typeface="Times New Roman" panose="02020603050405020304" pitchFamily="18" charset="0"/>
              </a:rPr>
              <a:t>jzt</a:t>
            </a:r>
            <a:r>
              <a:rPr lang="en-US" altLang="zh-CN" sz="3200" dirty="0">
                <a:latin typeface="Times New Roman" panose="02020603050405020304" pitchFamily="18" charset="0"/>
                <a:cs typeface="Times New Roman" panose="02020603050405020304" pitchFamily="18" charset="0"/>
              </a:rPr>
              <a:t>(6</a:t>
            </a:r>
            <a:r>
              <a:rPr lang="en-US" altLang="zh-CN" sz="3200" dirty="0" smtClean="0">
                <a:latin typeface="Times New Roman" panose="02020603050405020304" pitchFamily="18" charset="0"/>
                <a:cs typeface="Times New Roman" panose="02020603050405020304" pitchFamily="18" charset="0"/>
              </a:rPr>
              <a:t>, '$')</a:t>
            </a:r>
            <a:endParaRPr lang="en-US" altLang="zh-CN" sz="32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4788490"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1-6] </a:t>
            </a:r>
            <a:r>
              <a:rPr lang="zh-CN" altLang="en-US" sz="2800" b="1" dirty="0" smtClean="0">
                <a:solidFill>
                  <a:srgbClr val="0070C0"/>
                </a:solidFill>
                <a:latin typeface="微软雅黑" panose="020B0503020204020204" pitchFamily="34" charset="-122"/>
                <a:ea typeface="微软雅黑" panose="020B0503020204020204" pitchFamily="34" charset="-122"/>
              </a:rPr>
              <a:t>画金字塔 </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函数版</a:t>
            </a:r>
            <a:r>
              <a:rPr lang="en-US" altLang="zh-CN" sz="2800" b="1" dirty="0" smtClean="0">
                <a:solidFill>
                  <a:srgbClr val="0070C0"/>
                </a:solidFill>
                <a:latin typeface="微软雅黑" panose="020B0503020204020204" pitchFamily="34" charset="-122"/>
                <a:ea typeface="微软雅黑" panose="020B0503020204020204" pitchFamily="34" charset="-122"/>
              </a:rPr>
              <a:t>)</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388493" y="5589638"/>
            <a:ext cx="7810627"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本例</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中函</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数只有输入，没有输出，所以没有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return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a:t>
            </a:r>
            <a:r>
              <a:rPr lang="zh-CN" altLang="en-US" sz="2800" b="1" dirty="0" smtClean="0">
                <a:solidFill>
                  <a:srgbClr val="0070C0"/>
                </a:solidFill>
                <a:latin typeface="微软雅黑" panose="020B0503020204020204" pitchFamily="34" charset="-122"/>
                <a:ea typeface="微软雅黑" panose="020B0503020204020204" pitchFamily="34" charset="-122"/>
              </a:rPr>
              <a:t>类</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570890" y="2027038"/>
            <a:ext cx="3420710" cy="523220"/>
          </a:xfrm>
          <a:prstGeom prst="rect">
            <a:avLst/>
          </a:prstGeom>
          <a:solidFill>
            <a:schemeClr val="bg2"/>
          </a:solidFill>
          <a:ln>
            <a:noFill/>
          </a:ln>
        </p:spPr>
        <p:txBody>
          <a:bodyPr vert="horz" wrap="square" lIns="91440" tIns="45720" rIns="91440" bIns="45720" numCol="1" anchor="t" anchorCtr="0" compatLnSpc="1">
            <a:spAutoFit/>
          </a:bodyPr>
          <a:lstStyle/>
          <a:p>
            <a:r>
              <a:rPr lang="zh-CN" altLang="zh-CN" sz="2800" dirty="0">
                <a:latin typeface="Times New Roman" panose="02020603050405020304" pitchFamily="18" charset="0"/>
                <a:cs typeface="Times New Roman" panose="02020603050405020304" pitchFamily="18" charset="0"/>
              </a:rPr>
              <a:t>航空母舰已经下水…</a:t>
            </a:r>
            <a:endParaRPr lang="zh-CN" altLang="zh-CN" sz="28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514580" y="1821309"/>
            <a:ext cx="683937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lvl="0" indent="0"/>
            <a:r>
              <a:rPr lang="en-US" altLang="zh-CN" sz="2800" dirty="0">
                <a:latin typeface="Times New Roman" panose="02020603050405020304" pitchFamily="18" charset="0"/>
                <a:cs typeface="Times New Roman" panose="02020603050405020304" pitchFamily="18" charset="0"/>
              </a:rPr>
              <a:t>def Title(string</a:t>
            </a:r>
            <a:r>
              <a:rPr lang="en-US" altLang="zh-CN" sz="2800" dirty="0" smtClean="0">
                <a:latin typeface="Times New Roman" panose="02020603050405020304" pitchFamily="18" charset="0"/>
                <a:cs typeface="Times New Roman" panose="02020603050405020304" pitchFamily="18" charset="0"/>
              </a:rPr>
              <a:t>, n</a:t>
            </a: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 if </a:t>
            </a:r>
            <a:r>
              <a:rPr lang="en-US" altLang="zh-CN" sz="2800" dirty="0">
                <a:latin typeface="Times New Roman" panose="02020603050405020304" pitchFamily="18" charset="0"/>
                <a:cs typeface="Times New Roman" panose="02020603050405020304" pitchFamily="18" charset="0"/>
              </a:rPr>
              <a:t>len(string)&gt;n:</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return string[0:n</a:t>
            </a:r>
            <a:r>
              <a:rPr lang="en-US" altLang="zh-CN" sz="2800" dirty="0" smtClean="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 else</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    </a:t>
            </a:r>
            <a:r>
              <a:rPr lang="en-US" altLang="zh-CN" sz="2800" dirty="0">
                <a:solidFill>
                  <a:schemeClr val="accent1"/>
                </a:solidFill>
                <a:latin typeface="Times New Roman" panose="02020603050405020304" pitchFamily="18" charset="0"/>
                <a:cs typeface="Times New Roman" panose="02020603050405020304" pitchFamily="18" charset="0"/>
              </a:rPr>
              <a:t>return</a:t>
            </a:r>
            <a:r>
              <a:rPr lang="en-US" altLang="zh-CN" sz="2800" dirty="0">
                <a:latin typeface="Times New Roman" panose="02020603050405020304" pitchFamily="18" charset="0"/>
                <a:cs typeface="Times New Roman" panose="02020603050405020304" pitchFamily="18" charset="0"/>
              </a:rPr>
              <a:t> string</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smtClean="0">
                <a:latin typeface="Times New Roman" panose="02020603050405020304" pitchFamily="18" charset="0"/>
                <a:cs typeface="Times New Roman" panose="02020603050405020304" pitchFamily="18" charset="0"/>
              </a:rPr>
              <a:t>a = Title</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航空母舰已经下水入列！</a:t>
            </a:r>
            <a:r>
              <a:rPr lang="en-US" altLang="zh-CN" sz="2800" dirty="0" smtClean="0">
                <a:latin typeface="Times New Roman" panose="02020603050405020304" pitchFamily="18" charset="0"/>
                <a:cs typeface="Times New Roman" panose="02020603050405020304" pitchFamily="18" charset="0"/>
              </a:rPr>
              <a:t>', 8</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lvl="0" indent="0"/>
            <a:r>
              <a:rPr lang="en-US" altLang="zh-CN" sz="2800" dirty="0">
                <a:latin typeface="Times New Roman" panose="02020603050405020304" pitchFamily="18" charset="0"/>
                <a:cs typeface="Times New Roman" panose="02020603050405020304" pitchFamily="18" charset="0"/>
              </a:rPr>
              <a:t>print(a)</a:t>
            </a:r>
            <a:endParaRPr lang="en-US"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1071324"/>
            <a:ext cx="5352747"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1-7] </a:t>
            </a:r>
            <a:r>
              <a:rPr lang="zh-CN" altLang="en-US" sz="2800" b="1" dirty="0" smtClean="0">
                <a:solidFill>
                  <a:srgbClr val="0070C0"/>
                </a:solidFill>
                <a:latin typeface="微软雅黑" panose="020B0503020204020204" pitchFamily="34" charset="-122"/>
                <a:ea typeface="微软雅黑" panose="020B0503020204020204" pitchFamily="34" charset="-122"/>
              </a:rPr>
              <a:t>截取字符串前</a:t>
            </a:r>
            <a:r>
              <a:rPr lang="en-US" altLang="zh-CN" sz="2800" b="1" dirty="0" smtClean="0">
                <a:solidFill>
                  <a:srgbClr val="0070C0"/>
                </a:solidFill>
                <a:latin typeface="微软雅黑" panose="020B0503020204020204" pitchFamily="34" charset="-122"/>
                <a:ea typeface="微软雅黑" panose="020B0503020204020204" pitchFamily="34" charset="-122"/>
              </a:rPr>
              <a:t>n</a:t>
            </a:r>
            <a:r>
              <a:rPr lang="zh-CN" altLang="en-US" sz="2800" b="1" dirty="0" smtClean="0">
                <a:solidFill>
                  <a:srgbClr val="0070C0"/>
                </a:solidFill>
                <a:latin typeface="微软雅黑" panose="020B0503020204020204" pitchFamily="34" charset="-122"/>
                <a:ea typeface="微软雅黑" panose="020B0503020204020204" pitchFamily="34" charset="-122"/>
              </a:rPr>
              <a:t>个字符</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748592" y="1384467"/>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51537" y="5811203"/>
            <a:ext cx="6696024"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return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语句将返回一个值给函数的调用方</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1" name="组合 10"/>
          <p:cNvGrpSpPr/>
          <p:nvPr/>
        </p:nvGrpSpPr>
        <p:grpSpPr>
          <a:xfrm>
            <a:off x="451537" y="5049203"/>
            <a:ext cx="6696024" cy="518028"/>
            <a:chOff x="6339097" y="1573726"/>
            <a:chExt cx="3744416" cy="518298"/>
          </a:xfrm>
        </p:grpSpPr>
        <p:sp>
          <p:nvSpPr>
            <p:cNvPr id="12" name="圆角矩形 1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3" name="矩形 12"/>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由</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string[0:n]</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可见，字符串实际上是个列表</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a:t>
            </a:r>
            <a:r>
              <a:rPr lang="zh-CN" altLang="en-US" sz="2800" b="1" dirty="0" smtClean="0">
                <a:solidFill>
                  <a:srgbClr val="0070C0"/>
                </a:solidFill>
                <a:latin typeface="微软雅黑" panose="020B0503020204020204" pitchFamily="34" charset="-122"/>
                <a:ea typeface="微软雅黑" panose="020B0503020204020204" pitchFamily="34" charset="-122"/>
              </a:rPr>
              <a:t>类</a:t>
            </a:r>
            <a:r>
              <a:rPr lang="en-US" altLang="zh-CN" sz="2800" b="1" dirty="0" smtClean="0">
                <a:solidFill>
                  <a:srgbClr val="0070C0"/>
                </a:solidFill>
                <a:latin typeface="微软雅黑" panose="020B0503020204020204" pitchFamily="34" charset="-122"/>
                <a:ea typeface="微软雅黑" panose="020B0503020204020204" pitchFamily="34" charset="-122"/>
              </a:rPr>
              <a:t>——Lambda</a:t>
            </a:r>
            <a:r>
              <a:rPr lang="zh-CN" altLang="en-US" sz="2800" b="1" dirty="0" smtClean="0">
                <a:solidFill>
                  <a:srgbClr val="0070C0"/>
                </a:solidFill>
                <a:latin typeface="微软雅黑" panose="020B0503020204020204" pitchFamily="34" charset="-122"/>
                <a:ea typeface="微软雅黑" panose="020B0503020204020204" pitchFamily="34" charset="-122"/>
              </a:rPr>
              <a:t>表达式</a:t>
            </a:r>
            <a:endParaRPr lang="zh-CN" altLang="en-US" sz="2800" b="1" dirty="0" smtClean="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531056" y="3146402"/>
            <a:ext cx="419021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indent="0"/>
            <a:r>
              <a:rPr lang="en-US" altLang="zh-CN" sz="2800" dirty="0" smtClean="0">
                <a:latin typeface="Times New Roman" panose="02020603050405020304" pitchFamily="18" charset="0"/>
                <a:cs typeface="Times New Roman" panose="02020603050405020304" pitchFamily="18" charset="0"/>
              </a:rPr>
              <a:t>s = lambda </a:t>
            </a:r>
            <a:r>
              <a:rPr lang="en-US" altLang="zh-CN" sz="2800" dirty="0">
                <a:latin typeface="Times New Roman" panose="02020603050405020304" pitchFamily="18" charset="0"/>
                <a:cs typeface="Times New Roman" panose="02020603050405020304" pitchFamily="18" charset="0"/>
              </a:rPr>
              <a:t>x</a:t>
            </a:r>
            <a:r>
              <a:rPr lang="en-US" altLang="zh-CN" sz="2800" dirty="0" smtClean="0">
                <a:latin typeface="Times New Roman" panose="02020603050405020304" pitchFamily="18" charset="0"/>
                <a:cs typeface="Times New Roman" panose="02020603050405020304" pitchFamily="18" charset="0"/>
              </a:rPr>
              <a:t>, y, z : </a:t>
            </a:r>
            <a:r>
              <a:rPr lang="en-US" altLang="zh-CN" sz="2800" dirty="0" err="1" smtClean="0">
                <a:latin typeface="Times New Roman" panose="02020603050405020304" pitchFamily="18" charset="0"/>
                <a:cs typeface="Times New Roman" panose="02020603050405020304" pitchFamily="18" charset="0"/>
              </a:rPr>
              <a:t>x+y+z</a:t>
            </a:r>
            <a:endParaRPr lang="en-US" altLang="zh-CN" sz="2800" dirty="0">
              <a:latin typeface="Times New Roman" panose="02020603050405020304" pitchFamily="18" charset="0"/>
              <a:cs typeface="Times New Roman" panose="02020603050405020304" pitchFamily="18" charset="0"/>
            </a:endParaRPr>
          </a:p>
          <a:p>
            <a:pPr indent="0"/>
            <a:r>
              <a:rPr lang="en-US" altLang="zh-CN" sz="2800" dirty="0">
                <a:latin typeface="Times New Roman" panose="02020603050405020304" pitchFamily="18" charset="0"/>
                <a:cs typeface="Times New Roman" panose="02020603050405020304" pitchFamily="18" charset="0"/>
              </a:rPr>
              <a:t>print(s(1</a:t>
            </a:r>
            <a:r>
              <a:rPr lang="en-US" altLang="zh-CN" sz="2800" dirty="0" smtClean="0">
                <a:latin typeface="Times New Roman" panose="02020603050405020304" pitchFamily="18" charset="0"/>
                <a:cs typeface="Times New Roman" panose="02020603050405020304" pitchFamily="18" charset="0"/>
              </a:rPr>
              <a:t>, 2, 3</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570328" y="906064"/>
            <a:ext cx="8153400" cy="1384995"/>
          </a:xfrm>
          <a:prstGeom prst="rect">
            <a:avLst/>
          </a:prstGeom>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Lambda</a:t>
            </a:r>
            <a:r>
              <a:rPr lang="zh-CN" altLang="en-US" sz="2800" b="1" dirty="0">
                <a:solidFill>
                  <a:srgbClr val="0070C0"/>
                </a:solidFill>
                <a:latin typeface="微软雅黑" panose="020B0503020204020204" pitchFamily="34" charset="-122"/>
                <a:ea typeface="微软雅黑" panose="020B0503020204020204" pitchFamily="34" charset="-122"/>
              </a:rPr>
              <a:t>表达式实际上是定义了一个匿名函数</a:t>
            </a:r>
            <a:r>
              <a:rPr lang="zh-CN" altLang="en-US" sz="2800" b="1" dirty="0" smtClean="0">
                <a:solidFill>
                  <a:srgbClr val="0070C0"/>
                </a:solidFill>
                <a:latin typeface="微软雅黑" panose="020B0503020204020204" pitchFamily="34" charset="-122"/>
                <a:ea typeface="微软雅黑" panose="020B0503020204020204" pitchFamily="34" charset="-122"/>
              </a:rPr>
              <a:t>，它</a:t>
            </a:r>
            <a:r>
              <a:rPr lang="zh-CN" altLang="en-US" sz="2800" b="1" dirty="0">
                <a:solidFill>
                  <a:srgbClr val="0070C0"/>
                </a:solidFill>
                <a:latin typeface="微软雅黑" panose="020B0503020204020204" pitchFamily="34" charset="-122"/>
                <a:ea typeface="微软雅黑" panose="020B0503020204020204" pitchFamily="34" charset="-122"/>
              </a:rPr>
              <a:t>只可以包含一个表达式，且该表达式的计算结果为函数的返回值</a:t>
            </a:r>
            <a:r>
              <a:rPr lang="zh-CN" altLang="en-US" sz="2800" b="1" dirty="0" smtClean="0">
                <a:solidFill>
                  <a:srgbClr val="0070C0"/>
                </a:solidFill>
                <a:latin typeface="微软雅黑" panose="020B0503020204020204" pitchFamily="34" charset="-122"/>
                <a:ea typeface="微软雅黑" panose="020B0503020204020204" pitchFamily="34" charset="-122"/>
              </a:rPr>
              <a:t>，但</a:t>
            </a:r>
            <a:r>
              <a:rPr lang="zh-CN" altLang="en-US" sz="2800" b="1" dirty="0">
                <a:solidFill>
                  <a:srgbClr val="0070C0"/>
                </a:solidFill>
                <a:latin typeface="微软雅黑" panose="020B0503020204020204" pitchFamily="34" charset="-122"/>
                <a:ea typeface="微软雅黑" panose="020B0503020204020204" pitchFamily="34" charset="-122"/>
              </a:rPr>
              <a:t>可在表达式中调用其他</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7" name="矩形 26"/>
          <p:cNvSpPr/>
          <p:nvPr/>
        </p:nvSpPr>
        <p:spPr>
          <a:xfrm>
            <a:off x="531056" y="5996248"/>
            <a:ext cx="8231945" cy="492418"/>
          </a:xfrm>
          <a:prstGeom prst="rect">
            <a:avLst/>
          </a:prstGeom>
        </p:spPr>
        <p:txBody>
          <a:bodyPr wrap="square" lIns="121897" tIns="60948" rIns="121897" bIns="60948">
            <a:spAutoFit/>
          </a:bodyPr>
          <a:lstStyle/>
          <a:p>
            <a:pPr defTabSz="1218565">
              <a:defRPr/>
            </a:pPr>
            <a:r>
              <a:rPr lang="zh-CN" altLang="zh-CN" sz="2400" b="1" dirty="0" smtClean="0">
                <a:solidFill>
                  <a:schemeClr val="accent1"/>
                </a:solidFill>
              </a:rPr>
              <a:t>想</a:t>
            </a:r>
            <a:r>
              <a:rPr lang="zh-CN" altLang="zh-CN" sz="2400" b="1" dirty="0">
                <a:solidFill>
                  <a:schemeClr val="accent1"/>
                </a:solidFill>
              </a:rPr>
              <a:t>一想</a:t>
            </a:r>
            <a:r>
              <a:rPr lang="zh-CN" altLang="zh-CN" sz="2400" dirty="0"/>
              <a:t>：能否将求阶乘的函数改写成</a:t>
            </a:r>
            <a:r>
              <a:rPr lang="en-US" altLang="zh-CN" sz="2400" dirty="0"/>
              <a:t>Lambda</a:t>
            </a:r>
            <a:r>
              <a:rPr lang="zh-CN" altLang="zh-CN" sz="2400" dirty="0"/>
              <a:t>表达式的</a:t>
            </a:r>
            <a:r>
              <a:rPr lang="zh-CN" altLang="zh-CN" sz="2400" dirty="0" smtClean="0"/>
              <a:t>形式？</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2"/>
          <p:cNvSpPr txBox="1">
            <a:spLocks noChangeArrowheads="1"/>
          </p:cNvSpPr>
          <p:nvPr/>
        </p:nvSpPr>
        <p:spPr bwMode="auto">
          <a:xfrm>
            <a:off x="5895265" y="3165781"/>
            <a:ext cx="393056" cy="584775"/>
          </a:xfrm>
          <a:prstGeom prst="rect">
            <a:avLst/>
          </a:prstGeom>
          <a:solidFill>
            <a:schemeClr val="bg2"/>
          </a:solidFill>
          <a:ln>
            <a:noFill/>
          </a:ln>
        </p:spPr>
        <p:txBody>
          <a:bodyPr vert="horz" wrap="none" lIns="91440" tIns="45720" rIns="91440" bIns="45720" numCol="1" anchor="t" anchorCtr="0" compatLnSpc="1">
            <a:spAutoFit/>
          </a:bodyPr>
          <a:lstStyle/>
          <a:p>
            <a:r>
              <a:rPr lang="en-US" altLang="zh-CN" sz="3200" dirty="0" smtClean="0">
                <a:latin typeface="Times New Roman" panose="02020603050405020304" pitchFamily="18" charset="0"/>
                <a:cs typeface="Times New Roman" panose="02020603050405020304" pitchFamily="18" charset="0"/>
              </a:rPr>
              <a:t>6</a:t>
            </a:r>
            <a:endParaRPr lang="zh-CN" altLang="zh-CN" sz="3200" dirty="0">
              <a:latin typeface="Times New Roman" panose="02020603050405020304" pitchFamily="18" charset="0"/>
              <a:cs typeface="Times New Roman" panose="02020603050405020304" pitchFamily="18" charset="0"/>
            </a:endParaRPr>
          </a:p>
        </p:txBody>
      </p:sp>
      <p:sp>
        <p:nvSpPr>
          <p:cNvPr id="12" name="矩形 11"/>
          <p:cNvSpPr/>
          <p:nvPr/>
        </p:nvSpPr>
        <p:spPr>
          <a:xfrm>
            <a:off x="5281315" y="2457895"/>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456812" y="2457895"/>
            <a:ext cx="3305713"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 </a:t>
            </a:r>
            <a:r>
              <a:rPr lang="zh-CN" altLang="en-US" sz="2800" b="1" dirty="0" smtClean="0">
                <a:solidFill>
                  <a:srgbClr val="0070C0"/>
                </a:solidFill>
                <a:latin typeface="微软雅黑" panose="020B0503020204020204" pitchFamily="34" charset="-122"/>
                <a:ea typeface="微软雅黑" panose="020B0503020204020204" pitchFamily="34" charset="-122"/>
              </a:rPr>
              <a:t>求</a:t>
            </a:r>
            <a:r>
              <a:rPr lang="en-US" altLang="zh-CN" sz="2800" b="1" dirty="0" smtClean="0">
                <a:solidFill>
                  <a:srgbClr val="0070C0"/>
                </a:solidFill>
                <a:latin typeface="微软雅黑" panose="020B0503020204020204" pitchFamily="34" charset="-122"/>
                <a:ea typeface="微软雅黑" panose="020B0503020204020204" pitchFamily="34" charset="-122"/>
              </a:rPr>
              <a:t>3</a:t>
            </a:r>
            <a:r>
              <a:rPr lang="zh-CN" altLang="en-US" sz="2800" b="1" dirty="0" smtClean="0">
                <a:solidFill>
                  <a:srgbClr val="0070C0"/>
                </a:solidFill>
                <a:latin typeface="微软雅黑" panose="020B0503020204020204" pitchFamily="34" charset="-122"/>
                <a:ea typeface="微软雅黑" panose="020B0503020204020204" pitchFamily="34" charset="-122"/>
              </a:rPr>
              <a:t>个数的和</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434737" y="4645864"/>
            <a:ext cx="8192673" cy="951947"/>
            <a:chOff x="6339097" y="1573726"/>
            <a:chExt cx="3744416" cy="511504"/>
          </a:xfrm>
        </p:grpSpPr>
        <p:sp>
          <p:nvSpPr>
            <p:cNvPr id="10" name="圆角矩形 9"/>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3" name="矩形 12"/>
            <p:cNvSpPr/>
            <p:nvPr/>
          </p:nvSpPr>
          <p:spPr>
            <a:xfrm>
              <a:off x="6399543" y="1599350"/>
              <a:ext cx="3683970" cy="463039"/>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表达式冒号前的部分相当于函数的参数（输入），冒号后的部分相当于函数的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return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语句（输出）</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函数和类</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类</a:t>
            </a:r>
            <a:r>
              <a:rPr lang="zh-CN" altLang="en-US" sz="2800" b="1" dirty="0">
                <a:solidFill>
                  <a:srgbClr val="0070C0"/>
                </a:solidFill>
                <a:latin typeface="微软雅黑" panose="020B0503020204020204" pitchFamily="34" charset="-122"/>
                <a:ea typeface="微软雅黑" panose="020B0503020204020204" pitchFamily="34" charset="-122"/>
              </a:rPr>
              <a:t>的声明和</a:t>
            </a:r>
            <a:r>
              <a:rPr lang="zh-CN" altLang="en-US" sz="2800" b="1" dirty="0" smtClean="0">
                <a:solidFill>
                  <a:srgbClr val="0070C0"/>
                </a:solidFill>
                <a:latin typeface="微软雅黑" panose="020B0503020204020204" pitchFamily="34" charset="-122"/>
                <a:ea typeface="微软雅黑" panose="020B0503020204020204" pitchFamily="34" charset="-122"/>
              </a:rPr>
              <a:t>调用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6389107" y="1794598"/>
            <a:ext cx="1929695" cy="2246769"/>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 </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 % </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5</a:t>
            </a:r>
            <a:endParaRPr lang="zh-CN" altLang="zh-CN" sz="28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393895" y="1594544"/>
            <a:ext cx="5339103"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class </a:t>
            </a:r>
            <a:r>
              <a:rPr lang="en-US" altLang="zh-CN" sz="2400" dirty="0" err="1">
                <a:latin typeface="Times New Roman" panose="02020603050405020304" pitchFamily="18" charset="0"/>
                <a:cs typeface="Times New Roman" panose="02020603050405020304" pitchFamily="18" charset="0"/>
              </a:rPr>
              <a:t>Jzt</a:t>
            </a:r>
            <a:r>
              <a:rPr lang="en-US" altLang="zh-CN" sz="2400" dirty="0" smtClean="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定义</a:t>
            </a:r>
            <a:r>
              <a:rPr lang="en-US" altLang="zh-CN" sz="2400" dirty="0">
                <a:latin typeface="Times New Roman" panose="02020603050405020304" pitchFamily="18" charset="0"/>
                <a:cs typeface="Times New Roman" panose="02020603050405020304" pitchFamily="18" charset="0"/>
              </a:rPr>
              <a:t>Jzt</a:t>
            </a:r>
            <a:r>
              <a:rPr lang="zh-CN" altLang="zh-CN" sz="2400" dirty="0">
                <a:latin typeface="Times New Roman" panose="02020603050405020304" pitchFamily="18" charset="0"/>
                <a:cs typeface="Times New Roman" panose="02020603050405020304" pitchFamily="18" charset="0"/>
              </a:rPr>
              <a:t>类</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shape = "*"    #</a:t>
            </a:r>
            <a:r>
              <a:rPr lang="zh-CN" altLang="zh-CN" sz="2400" dirty="0">
                <a:latin typeface="Times New Roman" panose="02020603050405020304" pitchFamily="18" charset="0"/>
                <a:cs typeface="Times New Roman" panose="02020603050405020304" pitchFamily="18" charset="0"/>
              </a:rPr>
              <a:t>成员变</a:t>
            </a:r>
            <a:r>
              <a:rPr lang="zh-CN" altLang="zh-CN" sz="2400" dirty="0" smtClean="0">
                <a:latin typeface="Times New Roman" panose="02020603050405020304" pitchFamily="18" charset="0"/>
                <a:cs typeface="Times New Roman" panose="02020603050405020304" pitchFamily="18" charset="0"/>
              </a:rPr>
              <a:t>量</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row = 5</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def draw(</a:t>
            </a:r>
            <a:r>
              <a:rPr lang="en-US" altLang="zh-CN" sz="2400" dirty="0">
                <a:solidFill>
                  <a:schemeClr val="accent1"/>
                </a:solidFill>
                <a:latin typeface="Times New Roman" panose="02020603050405020304" pitchFamily="18" charset="0"/>
                <a:cs typeface="Times New Roman" panose="02020603050405020304" pitchFamily="18" charset="0"/>
              </a:rPr>
              <a:t>self</a:t>
            </a:r>
            <a:r>
              <a:rPr lang="en-US" altLang="zh-CN" sz="2400" dirty="0" smtClean="0">
                <a:latin typeface="Times New Roman" panose="02020603050405020304" pitchFamily="18" charset="0"/>
                <a:cs typeface="Times New Roman" panose="02020603050405020304" pitchFamily="18" charset="0"/>
              </a:rPr>
              <a:t>, row, shape</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i in range(row):</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j in range(-1</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print(shape</a:t>
            </a:r>
            <a:r>
              <a:rPr lang="en-US" altLang="zh-CN" sz="2400" dirty="0" smtClean="0">
                <a:latin typeface="Times New Roman" panose="02020603050405020304" pitchFamily="18" charset="0"/>
                <a:cs typeface="Times New Roman" panose="02020603050405020304" pitchFamily="18" charset="0"/>
              </a:rPr>
              <a:t>, end</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   </a:t>
            </a:r>
            <a:endParaRPr lang="zh-CN"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p = </a:t>
            </a:r>
            <a:r>
              <a:rPr lang="en-US" altLang="zh-CN" sz="2400" dirty="0" err="1" smtClean="0">
                <a:latin typeface="Times New Roman" panose="02020603050405020304" pitchFamily="18" charset="0"/>
                <a:cs typeface="Times New Roman" panose="02020603050405020304" pitchFamily="18" charset="0"/>
              </a:rPr>
              <a:t>Jzt</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shape = "%"</a:t>
            </a:r>
            <a:endParaRPr lang="zh-CN"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row = 4</a:t>
            </a:r>
            <a:endParaRPr lang="zh-CN"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p.draw</a:t>
            </a:r>
            <a:r>
              <a:rPr lang="en-US" altLang="zh-CN" sz="2400" dirty="0">
                <a:latin typeface="Times New Roman" panose="02020603050405020304" pitchFamily="18" charset="0"/>
                <a:cs typeface="Times New Roman" panose="02020603050405020304" pitchFamily="18" charset="0"/>
              </a:rPr>
              <a:t>(row</a:t>
            </a:r>
            <a:r>
              <a:rPr lang="en-US" altLang="zh-CN" sz="2400" dirty="0" smtClean="0">
                <a:latin typeface="Times New Roman" panose="02020603050405020304" pitchFamily="18" charset="0"/>
                <a:cs typeface="Times New Roman" panose="02020603050405020304" pitchFamily="18" charset="0"/>
              </a:rPr>
              <a:t>, shape)    </a:t>
            </a:r>
            <a:r>
              <a:rPr lang="en-US" altLang="zh-CN"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调用类的方法</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a:t>
            </a:r>
            <a:r>
              <a:rPr lang="en-US" altLang="zh-CN" sz="2400" dirty="0" err="1">
                <a:latin typeface="Times New Roman" panose="02020603050405020304" pitchFamily="18" charset="0"/>
                <a:cs typeface="Times New Roman" panose="02020603050405020304" pitchFamily="18" charset="0"/>
              </a:rPr>
              <a:t>p.shape</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p.row</a:t>
            </a:r>
            <a:r>
              <a:rPr lang="en-US" altLang="zh-CN" sz="2400" dirty="0" smtClean="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调用类的属性</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1060608"/>
            <a:ext cx="5399235"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1-8] </a:t>
            </a:r>
            <a:r>
              <a:rPr lang="zh-CN" altLang="en-US" sz="2800" b="1" dirty="0" smtClean="0">
                <a:solidFill>
                  <a:srgbClr val="0070C0"/>
                </a:solidFill>
                <a:latin typeface="微软雅黑" panose="020B0503020204020204" pitchFamily="34" charset="-122"/>
                <a:ea typeface="微软雅黑" panose="020B0503020204020204" pitchFamily="34" charset="-122"/>
              </a:rPr>
              <a:t>画金字塔</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类和对象版</a:t>
            </a:r>
            <a:r>
              <a:rPr lang="en-US" altLang="zh-CN" sz="2800" b="1" dirty="0" smtClean="0">
                <a:solidFill>
                  <a:srgbClr val="0070C0"/>
                </a:solidFill>
                <a:latin typeface="微软雅黑" panose="020B0503020204020204" pitchFamily="34" charset="-122"/>
                <a:ea typeface="微软雅黑" panose="020B0503020204020204" pitchFamily="34" charset="-122"/>
              </a:rPr>
              <a:t>)</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6" y="1071324"/>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2604924" y="4355198"/>
            <a:ext cx="6256147" cy="1256692"/>
            <a:chOff x="6339097" y="1573726"/>
            <a:chExt cx="3744416" cy="1257347"/>
          </a:xfrm>
        </p:grpSpPr>
        <p:sp>
          <p:nvSpPr>
            <p:cNvPr id="25" name="圆角矩形 24"/>
            <p:cNvSpPr/>
            <p:nvPr/>
          </p:nvSpPr>
          <p:spPr>
            <a:xfrm>
              <a:off x="6339097" y="1573726"/>
              <a:ext cx="3744416" cy="125734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1231723"/>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规定类的成员函数中必须要有一个参数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self</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，而且位于参数列表的开头。这也是类的成员函数和普通函数的主要</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区别</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函数和类</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构造</a:t>
            </a:r>
            <a:r>
              <a:rPr lang="zh-CN" altLang="en-US" sz="2800" b="1" dirty="0">
                <a:solidFill>
                  <a:srgbClr val="0070C0"/>
                </a:solidFill>
                <a:latin typeface="微软雅黑" panose="020B0503020204020204" pitchFamily="34" charset="-122"/>
                <a:ea typeface="微软雅黑" panose="020B0503020204020204" pitchFamily="34" charset="-122"/>
              </a:rPr>
              <a:t>函数和析构</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6199632" y="2457475"/>
            <a:ext cx="2919651" cy="523220"/>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2800" dirty="0" smtClean="0">
                <a:latin typeface="Times New Roman" panose="02020603050405020304" pitchFamily="18" charset="0"/>
                <a:cs typeface="Times New Roman" panose="02020603050405020304" pitchFamily="18" charset="0"/>
              </a:rPr>
              <a:t>Fang</a:t>
            </a:r>
            <a:r>
              <a:rPr lang="zh-CN" altLang="en-US" sz="2800" dirty="0" smtClean="0">
                <a:latin typeface="Times New Roman" panose="02020603050405020304" pitchFamily="18" charset="0"/>
                <a:cs typeface="Times New Roman" panose="02020603050405020304" pitchFamily="18" charset="0"/>
              </a:rPr>
              <a:t>说</a:t>
            </a:r>
            <a:r>
              <a:rPr lang="en-US" altLang="zh-CN" sz="2800" dirty="0">
                <a:latin typeface="Times New Roman" panose="02020603050405020304" pitchFamily="18" charset="0"/>
                <a:cs typeface="Times New Roman" panose="02020603050405020304" pitchFamily="18" charset="0"/>
              </a:rPr>
              <a:t>: </a:t>
            </a:r>
            <a:r>
              <a:rPr lang="zh-CN" altLang="en-US" sz="2800" dirty="0" smtClean="0">
                <a:latin typeface="Times New Roman" panose="02020603050405020304" pitchFamily="18" charset="0"/>
                <a:cs typeface="Times New Roman" panose="02020603050405020304" pitchFamily="18" charset="0"/>
              </a:rPr>
              <a:t>我</a:t>
            </a:r>
            <a:r>
              <a:rPr lang="en-US" altLang="zh-CN" sz="2800" dirty="0" smtClean="0">
                <a:latin typeface="Times New Roman" panose="02020603050405020304" pitchFamily="18" charset="0"/>
                <a:cs typeface="Times New Roman" panose="02020603050405020304" pitchFamily="18" charset="0"/>
              </a:rPr>
              <a:t>30</a:t>
            </a:r>
            <a:r>
              <a:rPr lang="zh-CN" altLang="en-US" sz="2800" dirty="0" smtClean="0">
                <a:latin typeface="Times New Roman" panose="02020603050405020304" pitchFamily="18" charset="0"/>
                <a:cs typeface="Times New Roman" panose="02020603050405020304" pitchFamily="18" charset="0"/>
              </a:rPr>
              <a:t>岁</a:t>
            </a:r>
            <a:endParaRPr lang="zh-CN" altLang="zh-CN" sz="28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384260" y="2267818"/>
            <a:ext cx="735107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solidFill>
                  <a:schemeClr val="accent1"/>
                </a:solidFill>
                <a:latin typeface="Times New Roman" panose="02020603050405020304" pitchFamily="18" charset="0"/>
                <a:cs typeface="Times New Roman" panose="02020603050405020304" pitchFamily="18" charset="0"/>
              </a:rPr>
              <a:t>class</a:t>
            </a:r>
            <a:r>
              <a:rPr lang="en-US" altLang="zh-CN" sz="2400" dirty="0">
                <a:latin typeface="Times New Roman" panose="02020603050405020304" pitchFamily="18" charset="0"/>
                <a:cs typeface="Times New Roman" panose="02020603050405020304" pitchFamily="18" charset="0"/>
              </a:rPr>
              <a:t> people: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name =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age = 0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__weight = </a:t>
            </a:r>
            <a:r>
              <a:rPr lang="en-US" altLang="zh-CN" sz="2400" dirty="0" smtClean="0">
                <a:latin typeface="Times New Roman" panose="02020603050405020304" pitchFamily="18" charset="0"/>
                <a:cs typeface="Times New Roman" panose="02020603050405020304" pitchFamily="18" charset="0"/>
              </a:rPr>
              <a:t>0    #</a:t>
            </a:r>
            <a:r>
              <a:rPr lang="zh-CN" altLang="zh-CN" sz="2400" dirty="0">
                <a:latin typeface="Times New Roman" panose="02020603050405020304" pitchFamily="18" charset="0"/>
                <a:cs typeface="Times New Roman" panose="02020603050405020304" pitchFamily="18" charset="0"/>
              </a:rPr>
              <a:t>定义私有属</a:t>
            </a:r>
            <a:r>
              <a:rPr lang="zh-CN" altLang="zh-CN" sz="2400" dirty="0" smtClean="0">
                <a:latin typeface="Times New Roman" panose="02020603050405020304" pitchFamily="18" charset="0"/>
                <a:cs typeface="Times New Roman" panose="02020603050405020304" pitchFamily="18" charset="0"/>
              </a:rPr>
              <a:t>性</a:t>
            </a:r>
            <a:r>
              <a:rPr lang="en-US" altLang="zh-CN" sz="2400" dirty="0" smtClean="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def </a:t>
            </a:r>
            <a:r>
              <a:rPr lang="en-US" altLang="zh-CN" sz="2400" dirty="0" smtClean="0">
                <a:solidFill>
                  <a:schemeClr val="accent1"/>
                </a:solidFill>
                <a:latin typeface="Times New Roman" panose="02020603050405020304" pitchFamily="18" charset="0"/>
                <a:cs typeface="Times New Roman" panose="02020603050405020304" pitchFamily="18" charset="0"/>
              </a:rPr>
              <a:t>__init__(</a:t>
            </a:r>
            <a:r>
              <a:rPr lang="en-US" altLang="zh-CN" sz="2400" dirty="0" smtClean="0">
                <a:latin typeface="Times New Roman" panose="02020603050405020304" pitchFamily="18" charset="0"/>
                <a:cs typeface="Times New Roman" panose="02020603050405020304" pitchFamily="18" charset="0"/>
              </a:rPr>
              <a:t>self, n, a, w</a:t>
            </a:r>
            <a:r>
              <a:rPr lang="en-US" altLang="zh-CN" sz="2400" dirty="0">
                <a:solidFill>
                  <a:schemeClr val="accent1"/>
                </a:solidFill>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   #</a:t>
            </a:r>
            <a:r>
              <a:rPr lang="zh-CN" altLang="zh-CN" sz="2400" dirty="0" smtClean="0">
                <a:latin typeface="Times New Roman" panose="02020603050405020304" pitchFamily="18" charset="0"/>
                <a:cs typeface="Times New Roman" panose="02020603050405020304" pitchFamily="18" charset="0"/>
              </a:rPr>
              <a:t>构</a:t>
            </a:r>
            <a:r>
              <a:rPr lang="zh-CN" altLang="zh-CN" sz="2400" dirty="0">
                <a:latin typeface="Times New Roman" panose="02020603050405020304" pitchFamily="18" charset="0"/>
                <a:cs typeface="Times New Roman" panose="02020603050405020304" pitchFamily="18" charset="0"/>
              </a:rPr>
              <a:t>造函数</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self.name = </a:t>
            </a:r>
            <a:r>
              <a:rPr lang="en-US" altLang="zh-CN" sz="2400" dirty="0" smtClean="0">
                <a:latin typeface="Times New Roman" panose="02020603050405020304" pitchFamily="18" charset="0"/>
                <a:cs typeface="Times New Roman" panose="02020603050405020304" pitchFamily="18" charset="0"/>
              </a:rPr>
              <a:t>n    #</a:t>
            </a:r>
            <a:r>
              <a:rPr lang="zh-CN" altLang="zh-CN" sz="2400" dirty="0">
                <a:latin typeface="Times New Roman" panose="02020603050405020304" pitchFamily="18" charset="0"/>
                <a:cs typeface="Times New Roman" panose="02020603050405020304" pitchFamily="18" charset="0"/>
              </a:rPr>
              <a:t>姓名</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self.age = </a:t>
            </a:r>
            <a:r>
              <a:rPr lang="en-US" altLang="zh-CN" sz="2400" dirty="0" smtClean="0">
                <a:latin typeface="Times New Roman" panose="02020603050405020304" pitchFamily="18" charset="0"/>
                <a:cs typeface="Times New Roman" panose="02020603050405020304" pitchFamily="18" charset="0"/>
              </a:rPr>
              <a:t>a    #</a:t>
            </a:r>
            <a:r>
              <a:rPr lang="zh-CN" altLang="zh-CN" sz="2400" dirty="0">
                <a:latin typeface="Times New Roman" panose="02020603050405020304" pitchFamily="18" charset="0"/>
                <a:cs typeface="Times New Roman" panose="02020603050405020304" pitchFamily="18" charset="0"/>
              </a:rPr>
              <a:t>年龄</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self.__weight = </a:t>
            </a:r>
            <a:r>
              <a:rPr lang="en-US" altLang="zh-CN" sz="2400" dirty="0" smtClean="0">
                <a:latin typeface="Times New Roman" panose="02020603050405020304" pitchFamily="18" charset="0"/>
                <a:cs typeface="Times New Roman" panose="02020603050405020304" pitchFamily="18" charset="0"/>
              </a:rPr>
              <a:t>w</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def speak(self):</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a:t>
            </a:r>
            <a:r>
              <a:rPr lang="en-US" altLang="zh-CN" sz="2400" dirty="0" smtClean="0">
                <a:latin typeface="Times New Roman" panose="02020603050405020304" pitchFamily="18" charset="0"/>
                <a:cs typeface="Times New Roman" panose="02020603050405020304" pitchFamily="18" charset="0"/>
              </a:rPr>
              <a:t>s</a:t>
            </a:r>
            <a:r>
              <a:rPr lang="zh-CN" altLang="zh-CN" sz="2400" dirty="0" smtClean="0">
                <a:latin typeface="Times New Roman" panose="02020603050405020304" pitchFamily="18" charset="0"/>
                <a:cs typeface="Times New Roman" panose="02020603050405020304" pitchFamily="18" charset="0"/>
              </a:rPr>
              <a:t>说</a:t>
            </a:r>
            <a:r>
              <a:rPr lang="en-US" altLang="zh-CN" sz="2400" dirty="0">
                <a:latin typeface="Times New Roman" panose="02020603050405020304" pitchFamily="18" charset="0"/>
                <a:cs typeface="Times New Roman" panose="02020603050405020304" pitchFamily="18" charset="0"/>
              </a:rPr>
              <a:t>: </a:t>
            </a:r>
            <a:r>
              <a:rPr lang="zh-CN" altLang="zh-CN" sz="2400" dirty="0" smtClean="0">
                <a:latin typeface="Times New Roman" panose="02020603050405020304" pitchFamily="18" charset="0"/>
                <a:cs typeface="Times New Roman" panose="02020603050405020304" pitchFamily="18" charset="0"/>
              </a:rPr>
              <a:t>我</a:t>
            </a:r>
            <a:r>
              <a:rPr lang="en-US" altLang="zh-CN" sz="2400" dirty="0" smtClean="0">
                <a:latin typeface="Times New Roman" panose="02020603050405020304" pitchFamily="18" charset="0"/>
                <a:cs typeface="Times New Roman" panose="02020603050405020304" pitchFamily="18" charset="0"/>
              </a:rPr>
              <a:t>%d</a:t>
            </a:r>
            <a:r>
              <a:rPr lang="zh-CN" altLang="zh-CN" sz="2400" dirty="0" smtClean="0">
                <a:latin typeface="Times New Roman" panose="02020603050405020304" pitchFamily="18" charset="0"/>
                <a:cs typeface="Times New Roman" panose="02020603050405020304" pitchFamily="18" charset="0"/>
              </a:rPr>
              <a:t>岁</a:t>
            </a:r>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self.name</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self.age</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p </a:t>
            </a:r>
            <a:r>
              <a:rPr lang="en-US" altLang="zh-CN" sz="2400" dirty="0">
                <a:latin typeface="Times New Roman" panose="02020603050405020304" pitchFamily="18" charset="0"/>
                <a:cs typeface="Times New Roman" panose="02020603050405020304" pitchFamily="18" charset="0"/>
              </a:rPr>
              <a:t>= people('Fang</a:t>
            </a:r>
            <a:r>
              <a:rPr lang="en-US" altLang="zh-CN" sz="2400" dirty="0" smtClean="0">
                <a:latin typeface="Times New Roman" panose="02020603050405020304" pitchFamily="18" charset="0"/>
                <a:cs typeface="Times New Roman" panose="02020603050405020304" pitchFamily="18" charset="0"/>
              </a:rPr>
              <a:t>', 30, 100)</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p.speak() 	</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1735958"/>
            <a:ext cx="5120312"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zh-CN"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1-9] </a:t>
            </a:r>
            <a:r>
              <a:rPr lang="zh-CN" altLang="en-US" sz="2800" b="1" dirty="0" smtClean="0">
                <a:solidFill>
                  <a:srgbClr val="0070C0"/>
                </a:solidFill>
                <a:latin typeface="微软雅黑" panose="020B0503020204020204" pitchFamily="34" charset="-122"/>
                <a:ea typeface="微软雅黑" panose="020B0503020204020204" pitchFamily="34" charset="-122"/>
              </a:rPr>
              <a:t>用构造函数初始化类</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6" y="1746674"/>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5" name="矩形 4"/>
          <p:cNvSpPr/>
          <p:nvPr/>
        </p:nvSpPr>
        <p:spPr>
          <a:xfrm>
            <a:off x="384258" y="895522"/>
            <a:ext cx="8363501" cy="830997"/>
          </a:xfrm>
          <a:prstGeom prst="rect">
            <a:avLst/>
          </a:prstGeom>
          <a:solidFill>
            <a:schemeClr val="accent1">
              <a:lumMod val="20000"/>
              <a:lumOff val="80000"/>
            </a:schemeClr>
          </a:solidFill>
        </p:spPr>
        <p:txBody>
          <a:bodyPr wrap="square">
            <a:spAutoFit/>
          </a:bodyPr>
          <a:lstStyle/>
          <a:p>
            <a:r>
              <a:rPr lang="zh-CN" altLang="zh-CN" sz="2400" dirty="0">
                <a:solidFill>
                  <a:schemeClr val="accent1"/>
                </a:solidFill>
                <a:latin typeface="微软雅黑" panose="020B0503020204020204" pitchFamily="34" charset="-122"/>
                <a:ea typeface="微软雅黑" panose="020B0503020204020204" pitchFamily="34" charset="-122"/>
              </a:rPr>
              <a:t>构造函</a:t>
            </a:r>
            <a:r>
              <a:rPr lang="zh-CN" altLang="zh-CN" sz="2400" dirty="0" smtClean="0">
                <a:solidFill>
                  <a:schemeClr val="accent1"/>
                </a:solidFill>
                <a:latin typeface="微软雅黑" panose="020B0503020204020204" pitchFamily="34" charset="-122"/>
                <a:ea typeface="微软雅黑" panose="020B0503020204020204" pitchFamily="34" charset="-122"/>
              </a:rPr>
              <a:t>数</a:t>
            </a:r>
            <a:r>
              <a:rPr lang="zh-CN" altLang="en-US" sz="2400" dirty="0"/>
              <a:t>：</a:t>
            </a:r>
            <a:r>
              <a:rPr lang="zh-CN" altLang="zh-CN" sz="2400" dirty="0" smtClean="0"/>
              <a:t>用</a:t>
            </a:r>
            <a:r>
              <a:rPr lang="zh-CN" altLang="zh-CN" sz="2400" dirty="0"/>
              <a:t>来为对象的成员变量设置初始值，或进行其他必要的初始化工</a:t>
            </a:r>
            <a:r>
              <a:rPr lang="zh-CN" altLang="zh-CN" sz="2400" dirty="0" smtClean="0"/>
              <a:t>作</a:t>
            </a:r>
            <a:endParaRPr lang="zh-CN"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411481" y="755904"/>
            <a:ext cx="8330184" cy="567842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公有属性、私有属性</a:t>
            </a:r>
            <a:endPar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defTabSz="913765"/>
            <a:r>
              <a:rPr lang="zh-CN" altLang="en-US" sz="2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公</a:t>
            </a:r>
            <a:r>
              <a:rPr lang="zh-CN" altLang="en-US"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有属性</a:t>
            </a:r>
            <a:r>
              <a:rPr lang="en-US" altLang="zh-CN"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默认的都是公有属性</a:t>
            </a:r>
            <a:endParaRPr lang="en-US" altLang="zh-CN"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defTabSz="913765"/>
            <a:r>
              <a:rPr lang="zh-CN" altLang="en-US" sz="2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私</a:t>
            </a:r>
            <a:r>
              <a:rPr lang="zh-CN" altLang="en-US"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有属</a:t>
            </a:r>
            <a:r>
              <a:rPr lang="zh-CN" altLang="en-US" sz="2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性：属性名以两个下划线开头。私有属性在类的外部不能直接被访问，需要通过调用对象的公有成员方法来访问，或者通</a:t>
            </a:r>
            <a:r>
              <a:rPr lang="zh-CN" altLang="en-US"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过如下特</a:t>
            </a:r>
            <a:r>
              <a:rPr lang="zh-CN" altLang="en-US" sz="2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殊方法来</a:t>
            </a:r>
            <a:r>
              <a:rPr lang="zh-CN" altLang="en-US"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访问</a:t>
            </a:r>
            <a:endParaRPr lang="en-US" altLang="zh-CN" sz="26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457200" defTabSz="913765">
              <a:lnSpc>
                <a:spcPct val="150000"/>
              </a:lnSpc>
              <a:buNone/>
            </a:pPr>
            <a:r>
              <a:rPr lang="zh-CN" altLang="en-US" sz="2400" b="1" dirty="0">
                <a:solidFill>
                  <a:schemeClr val="accent1"/>
                </a:solidFill>
                <a:latin typeface="Times New Roman" panose="02020603050405020304" pitchFamily="18" charset="0"/>
                <a:cs typeface="Times New Roman" panose="02020603050405020304" pitchFamily="18" charset="0"/>
              </a:rPr>
              <a:t>对象名</a:t>
            </a:r>
            <a:r>
              <a:rPr lang="en-US" altLang="zh-CN" sz="2400" b="1" dirty="0">
                <a:solidFill>
                  <a:schemeClr val="accent1"/>
                </a:solidFill>
                <a:latin typeface="Times New Roman" panose="02020603050405020304" pitchFamily="18" charset="0"/>
                <a:cs typeface="Times New Roman" panose="02020603050405020304" pitchFamily="18" charset="0"/>
              </a:rPr>
              <a:t>._</a:t>
            </a:r>
            <a:r>
              <a:rPr lang="zh-CN" altLang="en-US" sz="2400" b="1" dirty="0">
                <a:solidFill>
                  <a:schemeClr val="accent1"/>
                </a:solidFill>
                <a:latin typeface="Times New Roman" panose="02020603050405020304" pitchFamily="18" charset="0"/>
                <a:cs typeface="Times New Roman" panose="02020603050405020304" pitchFamily="18" charset="0"/>
              </a:rPr>
              <a:t>类名</a:t>
            </a:r>
            <a:r>
              <a:rPr lang="en-US" altLang="zh-CN" sz="2400" b="1" dirty="0">
                <a:solidFill>
                  <a:schemeClr val="accent1"/>
                </a:solidFill>
                <a:latin typeface="Times New Roman" panose="02020603050405020304" pitchFamily="18" charset="0"/>
                <a:cs typeface="Times New Roman" panose="02020603050405020304" pitchFamily="18" charset="0"/>
              </a:rPr>
              <a:t>+</a:t>
            </a:r>
            <a:r>
              <a:rPr lang="zh-CN" altLang="en-US" sz="2400" b="1" dirty="0">
                <a:solidFill>
                  <a:schemeClr val="accent1"/>
                </a:solidFill>
                <a:latin typeface="Times New Roman" panose="02020603050405020304" pitchFamily="18" charset="0"/>
                <a:cs typeface="Times New Roman" panose="02020603050405020304" pitchFamily="18" charset="0"/>
              </a:rPr>
              <a:t>私有成</a:t>
            </a:r>
            <a:r>
              <a:rPr lang="zh-CN" altLang="en-US" sz="2400" b="1" dirty="0" smtClean="0">
                <a:solidFill>
                  <a:schemeClr val="accent1"/>
                </a:solidFill>
                <a:latin typeface="Times New Roman" panose="02020603050405020304" pitchFamily="18" charset="0"/>
                <a:cs typeface="Times New Roman" panose="02020603050405020304" pitchFamily="18" charset="0"/>
              </a:rPr>
              <a:t>员，例如</a:t>
            </a:r>
            <a:r>
              <a:rPr lang="en-US" altLang="zh-CN" sz="2400" b="1" dirty="0" smtClean="0">
                <a:solidFill>
                  <a:schemeClr val="accent1"/>
                </a:solidFill>
                <a:latin typeface="Times New Roman" panose="02020603050405020304" pitchFamily="18" charset="0"/>
                <a:cs typeface="Times New Roman" panose="02020603050405020304" pitchFamily="18" charset="0"/>
              </a:rPr>
              <a:t>:</a:t>
            </a:r>
            <a:r>
              <a:rPr lang="zh-CN" altLang="en-US" sz="2400" b="1" dirty="0" smtClean="0">
                <a:solidFill>
                  <a:schemeClr val="accent1"/>
                </a:solidFill>
                <a:latin typeface="Times New Roman" panose="02020603050405020304" pitchFamily="18" charset="0"/>
                <a:cs typeface="Times New Roman" panose="02020603050405020304" pitchFamily="18" charset="0"/>
              </a:rPr>
              <a:t>   </a:t>
            </a:r>
            <a:r>
              <a:rPr lang="en-US" altLang="zh-CN" sz="2400" b="1" dirty="0" smtClean="0">
                <a:solidFill>
                  <a:schemeClr val="accent1"/>
                </a:solidFill>
                <a:latin typeface="Times New Roman" panose="02020603050405020304" pitchFamily="18" charset="0"/>
                <a:cs typeface="Times New Roman" panose="02020603050405020304" pitchFamily="18" charset="0"/>
              </a:rPr>
              <a:t>car1</a:t>
            </a:r>
            <a:r>
              <a:rPr lang="en-US" altLang="zh-CN" sz="2400" b="1" dirty="0">
                <a:solidFill>
                  <a:schemeClr val="accent1"/>
                </a:solidFill>
                <a:latin typeface="Times New Roman" panose="02020603050405020304" pitchFamily="18" charset="0"/>
                <a:cs typeface="Times New Roman" panose="02020603050405020304" pitchFamily="18" charset="0"/>
              </a:rPr>
              <a:t>._Car. __</a:t>
            </a:r>
            <a:r>
              <a:rPr lang="en-US" altLang="zh-CN" sz="2400" b="1" dirty="0" smtClean="0">
                <a:solidFill>
                  <a:schemeClr val="accent1"/>
                </a:solidFill>
                <a:latin typeface="Times New Roman" panose="02020603050405020304" pitchFamily="18" charset="0"/>
                <a:cs typeface="Times New Roman" panose="02020603050405020304" pitchFamily="18" charset="0"/>
              </a:rPr>
              <a:t>price</a:t>
            </a:r>
            <a:endParaRPr lang="en-US" altLang="zh-CN" sz="2400" b="1" dirty="0" smtClean="0">
              <a:solidFill>
                <a:schemeClr val="accent1"/>
              </a:solidFill>
              <a:latin typeface="Times New Roman" panose="02020603050405020304" pitchFamily="18" charset="0"/>
              <a:cs typeface="Times New Roman" panose="02020603050405020304" pitchFamily="18" charset="0"/>
            </a:endParaRPr>
          </a:p>
          <a:p>
            <a:pPr marL="0" indent="0" defTabSz="913765">
              <a:lnSpc>
                <a:spcPct val="150000"/>
              </a:lnSpc>
              <a:buNone/>
            </a:pP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公有方法、私有方法、静态方法</a:t>
            </a:r>
            <a:endPar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buNone/>
            </a:pPr>
            <a:r>
              <a:rPr lang="zh-CN" altLang="en-US" sz="2600" b="1" dirty="0">
                <a:solidFill>
                  <a:schemeClr val="accent1"/>
                </a:solidFill>
                <a:latin typeface="Times New Roman" panose="02020603050405020304" pitchFamily="18" charset="0"/>
                <a:cs typeface="Times New Roman" panose="02020603050405020304" pitchFamily="18" charset="0"/>
              </a:rPr>
              <a:t>私有方法</a:t>
            </a:r>
            <a:r>
              <a:rPr lang="zh-CN" altLang="en-US" sz="2600" dirty="0">
                <a:solidFill>
                  <a:schemeClr val="tx1"/>
                </a:solidFill>
                <a:latin typeface="Times New Roman" panose="02020603050405020304" pitchFamily="18" charset="0"/>
                <a:cs typeface="Times New Roman" panose="02020603050405020304" pitchFamily="18" charset="0"/>
              </a:rPr>
              <a:t>的名字以两下划线开头</a:t>
            </a:r>
            <a:r>
              <a:rPr lang="zh-CN" altLang="en-US" sz="2600" dirty="0" smtClean="0">
                <a:solidFill>
                  <a:schemeClr val="tx1"/>
                </a:solidFill>
                <a:latin typeface="Times New Roman" panose="02020603050405020304" pitchFamily="18" charset="0"/>
                <a:cs typeface="Times New Roman" panose="02020603050405020304" pitchFamily="18" charset="0"/>
              </a:rPr>
              <a:t>。私</a:t>
            </a:r>
            <a:r>
              <a:rPr lang="zh-CN" altLang="en-US" sz="2600" dirty="0">
                <a:solidFill>
                  <a:schemeClr val="tx1"/>
                </a:solidFill>
                <a:latin typeface="Times New Roman" panose="02020603050405020304" pitchFamily="18" charset="0"/>
                <a:cs typeface="Times New Roman" panose="02020603050405020304" pitchFamily="18" charset="0"/>
              </a:rPr>
              <a:t>有方法不能通过对象名调用，只能在属于对象的方法中通过</a:t>
            </a:r>
            <a:r>
              <a:rPr lang="en-US" altLang="zh-CN" sz="2600" dirty="0">
                <a:solidFill>
                  <a:schemeClr val="tx1"/>
                </a:solidFill>
                <a:latin typeface="Times New Roman" panose="02020603050405020304" pitchFamily="18" charset="0"/>
                <a:cs typeface="Times New Roman" panose="02020603050405020304" pitchFamily="18" charset="0"/>
              </a:rPr>
              <a:t>self</a:t>
            </a:r>
            <a:r>
              <a:rPr lang="zh-CN" altLang="en-US" sz="2600" dirty="0" smtClean="0">
                <a:solidFill>
                  <a:schemeClr val="tx1"/>
                </a:solidFill>
                <a:latin typeface="Times New Roman" panose="02020603050405020304" pitchFamily="18" charset="0"/>
                <a:cs typeface="Times New Roman" panose="02020603050405020304" pitchFamily="18" charset="0"/>
              </a:rPr>
              <a:t>调用</a:t>
            </a:r>
            <a:endParaRPr lang="en-US" altLang="zh-CN" sz="2600" dirty="0" smtClean="0">
              <a:solidFill>
                <a:schemeClr val="tx1"/>
              </a:solidFill>
              <a:latin typeface="Times New Roman" panose="02020603050405020304" pitchFamily="18" charset="0"/>
              <a:cs typeface="Times New Roman" panose="02020603050405020304" pitchFamily="18" charset="0"/>
            </a:endParaRPr>
          </a:p>
          <a:p>
            <a:pPr marL="0" indent="457200" defTabSz="913765">
              <a:buNone/>
            </a:pPr>
            <a:r>
              <a:rPr lang="zh-CN" altLang="en-US" sz="2600" b="1" dirty="0">
                <a:solidFill>
                  <a:schemeClr val="accent1"/>
                </a:solidFill>
                <a:latin typeface="Times New Roman" panose="02020603050405020304" pitchFamily="18" charset="0"/>
                <a:cs typeface="Times New Roman" panose="02020603050405020304" pitchFamily="18" charset="0"/>
              </a:rPr>
              <a:t>静态方法</a:t>
            </a:r>
            <a:r>
              <a:rPr lang="zh-CN" altLang="en-US" sz="2600" dirty="0">
                <a:solidFill>
                  <a:schemeClr val="tx1"/>
                </a:solidFill>
                <a:latin typeface="Times New Roman" panose="02020603050405020304" pitchFamily="18" charset="0"/>
                <a:cs typeface="Times New Roman" panose="02020603050405020304" pitchFamily="18" charset="0"/>
              </a:rPr>
              <a:t>可以通过类名和对象名调用，但不能直接访问属于对象的成员，只能访问属于类的</a:t>
            </a:r>
            <a:r>
              <a:rPr lang="zh-CN" altLang="en-US" sz="2600" dirty="0" smtClean="0">
                <a:solidFill>
                  <a:schemeClr val="tx1"/>
                </a:solidFill>
                <a:latin typeface="Times New Roman" panose="02020603050405020304" pitchFamily="18" charset="0"/>
                <a:cs typeface="Times New Roman" panose="02020603050405020304" pitchFamily="18" charset="0"/>
              </a:rPr>
              <a:t>成员</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函数和类</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构造</a:t>
            </a:r>
            <a:r>
              <a:rPr lang="zh-CN" altLang="en-US" sz="2800" b="1" dirty="0">
                <a:solidFill>
                  <a:srgbClr val="0070C0"/>
                </a:solidFill>
                <a:latin typeface="微软雅黑" panose="020B0503020204020204" pitchFamily="34" charset="-122"/>
                <a:ea typeface="微软雅黑" panose="020B0503020204020204" pitchFamily="34" charset="-122"/>
              </a:rPr>
              <a:t>函数和析构</a:t>
            </a:r>
            <a:r>
              <a:rPr lang="zh-CN" altLang="en-US" sz="2800" b="1" dirty="0" smtClean="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754007" y="3336319"/>
              <a:ext cx="3329507" cy="431087"/>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NumPy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54007" y="4221882"/>
              <a:ext cx="3166169" cy="431088"/>
            </a:xfrm>
            <a:prstGeom prst="rect">
              <a:avLst/>
            </a:prstGeom>
          </p:spPr>
          <p:txBody>
            <a:bodyPr wrap="square" lIns="121897" tIns="60948" rIns="121897" bIns="60948">
              <a:spAutoFit/>
            </a:bodyPr>
            <a:lstStyle/>
            <a:p>
              <a:pPr defTabSz="1218565">
                <a:defRPr/>
              </a:pPr>
              <a:r>
                <a:rPr lang="en-US" altLang="zh-CN" sz="2000" b="1" kern="100" dirty="0" err="1">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主  要</a:t>
            </a:r>
            <a:endParaRPr lang="en-US" altLang="zh-CN" sz="4800" b="1" spc="200" dirty="0" smtClean="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smtClean="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52412" y="4221882"/>
              <a:ext cx="3167764" cy="431088"/>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9" name="下箭头 28"/>
          <p:cNvSpPr/>
          <p:nvPr/>
        </p:nvSpPr>
        <p:spPr>
          <a:xfrm rot="16200000">
            <a:off x="3156224" y="2258595"/>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80">
                                          <p:stCondLst>
                                            <p:cond delay="0"/>
                                          </p:stCondLst>
                                        </p:cTn>
                                        <p:tgtEl>
                                          <p:spTgt spid="29"/>
                                        </p:tgtEl>
                                      </p:cBhvr>
                                    </p:animEffect>
                                    <p:anim calcmode="lin" valueType="num">
                                      <p:cBhvr>
                                        <p:cTn id="8"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13" dur="26">
                                          <p:stCondLst>
                                            <p:cond delay="650"/>
                                          </p:stCondLst>
                                        </p:cTn>
                                        <p:tgtEl>
                                          <p:spTgt spid="29"/>
                                        </p:tgtEl>
                                      </p:cBhvr>
                                      <p:to x="100000" y="60000"/>
                                    </p:animScale>
                                    <p:animScale>
                                      <p:cBhvr>
                                        <p:cTn id="14" dur="166" decel="50000">
                                          <p:stCondLst>
                                            <p:cond delay="676"/>
                                          </p:stCondLst>
                                        </p:cTn>
                                        <p:tgtEl>
                                          <p:spTgt spid="29"/>
                                        </p:tgtEl>
                                      </p:cBhvr>
                                      <p:to x="100000" y="100000"/>
                                    </p:animScale>
                                    <p:animScale>
                                      <p:cBhvr>
                                        <p:cTn id="15" dur="26">
                                          <p:stCondLst>
                                            <p:cond delay="1312"/>
                                          </p:stCondLst>
                                        </p:cTn>
                                        <p:tgtEl>
                                          <p:spTgt spid="29"/>
                                        </p:tgtEl>
                                      </p:cBhvr>
                                      <p:to x="100000" y="80000"/>
                                    </p:animScale>
                                    <p:animScale>
                                      <p:cBhvr>
                                        <p:cTn id="16" dur="166" decel="50000">
                                          <p:stCondLst>
                                            <p:cond delay="1338"/>
                                          </p:stCondLst>
                                        </p:cTn>
                                        <p:tgtEl>
                                          <p:spTgt spid="29"/>
                                        </p:tgtEl>
                                      </p:cBhvr>
                                      <p:to x="100000" y="100000"/>
                                    </p:animScale>
                                    <p:animScale>
                                      <p:cBhvr>
                                        <p:cTn id="17" dur="26">
                                          <p:stCondLst>
                                            <p:cond delay="1642"/>
                                          </p:stCondLst>
                                        </p:cTn>
                                        <p:tgtEl>
                                          <p:spTgt spid="29"/>
                                        </p:tgtEl>
                                      </p:cBhvr>
                                      <p:to x="100000" y="90000"/>
                                    </p:animScale>
                                    <p:animScale>
                                      <p:cBhvr>
                                        <p:cTn id="18" dur="166" decel="50000">
                                          <p:stCondLst>
                                            <p:cond delay="1668"/>
                                          </p:stCondLst>
                                        </p:cTn>
                                        <p:tgtEl>
                                          <p:spTgt spid="29"/>
                                        </p:tgtEl>
                                      </p:cBhvr>
                                      <p:to x="100000" y="100000"/>
                                    </p:animScale>
                                    <p:animScale>
                                      <p:cBhvr>
                                        <p:cTn id="19" dur="26">
                                          <p:stCondLst>
                                            <p:cond delay="1808"/>
                                          </p:stCondLst>
                                        </p:cTn>
                                        <p:tgtEl>
                                          <p:spTgt spid="29"/>
                                        </p:tgtEl>
                                      </p:cBhvr>
                                      <p:to x="100000" y="95000"/>
                                    </p:animScale>
                                    <p:animScale>
                                      <p:cBhvr>
                                        <p:cTn id="20" dur="166" decel="50000">
                                          <p:stCondLst>
                                            <p:cond delay="1834"/>
                                          </p:stCondLst>
                                        </p:cTn>
                                        <p:tgtEl>
                                          <p:spTgt spid="2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06908" y="893064"/>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rPr>
              <a:t>集成开发环境介绍</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实现</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的强大功能的前提是，</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具有数量庞大且功能相对完善的标准库和第三方库，通过对这些库的引用，能够实现对不同领域业务的开发</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然而，由于库的数量庞大，因此管理这些库以及对库进行及时的升级维护成为重要且复杂度又高的事情</a:t>
            </a:r>
            <a:endParaRPr lang="en-US" altLang="zh-CN" sz="22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1.2 Python</a:t>
            </a:r>
            <a:r>
              <a:rPr lang="zh-CN" altLang="en-US" sz="2800" b="1" dirty="0" smtClean="0">
                <a:solidFill>
                  <a:srgbClr val="0070C0"/>
                </a:solidFill>
                <a:latin typeface="微软雅黑" panose="020B0503020204020204" pitchFamily="34" charset="-122"/>
                <a:ea typeface="微软雅黑" panose="020B0503020204020204" pitchFamily="34" charset="-122"/>
              </a:rPr>
              <a:t>集成开发环境</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399"/>
            <a:ext cx="8330184" cy="5824151"/>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Anaconda</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（一个开源的</a:t>
            </a: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发行版</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a:t>
            </a: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用于</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一</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次性地安装</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编译器和它大</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量的第三方库，以及</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的集成开</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发</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环境</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zh-CN" sz="2400" dirty="0" smtClean="0">
                <a:solidFill>
                  <a:schemeClr val="accent1"/>
                </a:solidFill>
                <a:latin typeface="Times New Roman" panose="02020603050405020304" pitchFamily="18" charset="0"/>
                <a:cs typeface="Times New Roman" panose="02020603050405020304" pitchFamily="18" charset="0"/>
              </a:rPr>
              <a:t>常</a:t>
            </a:r>
            <a:r>
              <a:rPr lang="zh-CN" altLang="zh-CN" sz="2400" dirty="0">
                <a:solidFill>
                  <a:schemeClr val="accent1"/>
                </a:solidFill>
                <a:latin typeface="Times New Roman" panose="02020603050405020304" pitchFamily="18" charset="0"/>
                <a:cs typeface="Times New Roman" panose="02020603050405020304" pitchFamily="18" charset="0"/>
              </a:rPr>
              <a:t>用扩展库有：</a:t>
            </a:r>
            <a:r>
              <a:rPr lang="en-US" altLang="zh-CN" sz="2400" dirty="0" smtClean="0">
                <a:solidFill>
                  <a:schemeClr val="accent1"/>
                </a:solidFill>
                <a:latin typeface="Times New Roman" panose="02020603050405020304" pitchFamily="18" charset="0"/>
                <a:cs typeface="Times New Roman" panose="02020603050405020304" pitchFamily="18" charset="0"/>
              </a:rPr>
              <a:t>openpyxl</a:t>
            </a:r>
            <a:r>
              <a:rPr lang="zh-CN" altLang="zh-CN" sz="2400" dirty="0" smtClean="0">
                <a:solidFill>
                  <a:schemeClr val="accent1"/>
                </a:solidFill>
                <a:latin typeface="Times New Roman" panose="02020603050405020304" pitchFamily="18" charset="0"/>
                <a:cs typeface="Times New Roman" panose="02020603050405020304" pitchFamily="18" charset="0"/>
              </a:rPr>
              <a:t>、</a:t>
            </a:r>
            <a:r>
              <a:rPr lang="en-US" altLang="zh-CN" sz="2400" dirty="0" smtClean="0">
                <a:solidFill>
                  <a:schemeClr val="accent1"/>
                </a:solidFill>
                <a:latin typeface="Times New Roman" panose="02020603050405020304" pitchFamily="18" charset="0"/>
                <a:cs typeface="Times New Roman" panose="02020603050405020304" pitchFamily="18" charset="0"/>
              </a:rPr>
              <a:t>python-docx</a:t>
            </a:r>
            <a:r>
              <a:rPr lang="zh-CN" altLang="zh-CN" sz="2400" dirty="0" smtClean="0">
                <a:solidFill>
                  <a:schemeClr val="accent1"/>
                </a:solidFill>
                <a:latin typeface="Times New Roman" panose="02020603050405020304" pitchFamily="18" charset="0"/>
                <a:cs typeface="Times New Roman" panose="02020603050405020304" pitchFamily="18" charset="0"/>
              </a:rPr>
              <a:t>、</a:t>
            </a:r>
            <a:r>
              <a:rPr lang="en-US" altLang="zh-CN" sz="2400" dirty="0">
                <a:solidFill>
                  <a:schemeClr val="accent1"/>
                </a:solidFill>
                <a:latin typeface="Times New Roman" panose="02020603050405020304" pitchFamily="18" charset="0"/>
                <a:cs typeface="Times New Roman" panose="02020603050405020304" pitchFamily="18" charset="0"/>
              </a:rPr>
              <a:t>pymssql</a:t>
            </a:r>
            <a:r>
              <a:rPr lang="zh-CN" altLang="zh-CN" sz="2400" dirty="0">
                <a:solidFill>
                  <a:schemeClr val="accent1"/>
                </a:solidFill>
                <a:latin typeface="Times New Roman" panose="02020603050405020304" pitchFamily="18" charset="0"/>
                <a:cs typeface="Times New Roman" panose="02020603050405020304" pitchFamily="18" charset="0"/>
              </a:rPr>
              <a:t>（用于操</a:t>
            </a:r>
            <a:r>
              <a:rPr lang="zh-CN" altLang="zh-CN" sz="2400" dirty="0" smtClean="0">
                <a:solidFill>
                  <a:schemeClr val="accent1"/>
                </a:solidFill>
                <a:latin typeface="Times New Roman" panose="02020603050405020304" pitchFamily="18" charset="0"/>
                <a:cs typeface="Times New Roman" panose="02020603050405020304" pitchFamily="18" charset="0"/>
              </a:rPr>
              <a:t>作</a:t>
            </a:r>
            <a:r>
              <a:rPr lang="en-US" altLang="zh-CN" sz="2400" dirty="0" smtClean="0">
                <a:solidFill>
                  <a:schemeClr val="accent1"/>
                </a:solidFill>
                <a:latin typeface="Times New Roman" panose="02020603050405020304" pitchFamily="18" charset="0"/>
                <a:cs typeface="Times New Roman" panose="02020603050405020304" pitchFamily="18" charset="0"/>
              </a:rPr>
              <a:t>SQLServer</a:t>
            </a:r>
            <a:r>
              <a:rPr lang="zh-CN" altLang="zh-CN" sz="2400" dirty="0" smtClean="0">
                <a:solidFill>
                  <a:schemeClr val="accent1"/>
                </a:solidFill>
                <a:latin typeface="Times New Roman" panose="02020603050405020304" pitchFamily="18" charset="0"/>
                <a:cs typeface="Times New Roman" panose="02020603050405020304" pitchFamily="18" charset="0"/>
              </a:rPr>
              <a:t>）、</a:t>
            </a:r>
            <a:r>
              <a:rPr lang="en-US" altLang="zh-CN" sz="2400" dirty="0" smtClean="0">
                <a:solidFill>
                  <a:schemeClr val="accent1"/>
                </a:solidFill>
                <a:latin typeface="Times New Roman" panose="02020603050405020304" pitchFamily="18" charset="0"/>
                <a:cs typeface="Times New Roman" panose="02020603050405020304" pitchFamily="18" charset="0"/>
              </a:rPr>
              <a:t>numpy</a:t>
            </a:r>
            <a:r>
              <a:rPr lang="zh-CN" altLang="zh-CN" sz="2400" dirty="0" smtClean="0">
                <a:solidFill>
                  <a:schemeClr val="accent1"/>
                </a:solidFill>
                <a:latin typeface="Times New Roman" panose="02020603050405020304" pitchFamily="18" charset="0"/>
                <a:cs typeface="Times New Roman" panose="02020603050405020304" pitchFamily="18" charset="0"/>
              </a:rPr>
              <a:t>、</a:t>
            </a:r>
            <a:r>
              <a:rPr lang="en-US" altLang="zh-CN" sz="2400" dirty="0" smtClean="0">
                <a:solidFill>
                  <a:schemeClr val="accent1"/>
                </a:solidFill>
                <a:latin typeface="Times New Roman" panose="02020603050405020304" pitchFamily="18" charset="0"/>
                <a:cs typeface="Times New Roman" panose="02020603050405020304" pitchFamily="18" charset="0"/>
              </a:rPr>
              <a:t>scipy</a:t>
            </a:r>
            <a:r>
              <a:rPr lang="zh-CN" altLang="zh-CN" sz="2400" dirty="0" smtClean="0">
                <a:solidFill>
                  <a:schemeClr val="accent1"/>
                </a:solidFill>
                <a:latin typeface="Times New Roman" panose="02020603050405020304" pitchFamily="18" charset="0"/>
                <a:cs typeface="Times New Roman" panose="02020603050405020304" pitchFamily="18" charset="0"/>
              </a:rPr>
              <a:t>、</a:t>
            </a:r>
            <a:r>
              <a:rPr lang="en-US" altLang="zh-CN" sz="2400" dirty="0">
                <a:solidFill>
                  <a:schemeClr val="accent1"/>
                </a:solidFill>
                <a:latin typeface="Times New Roman" panose="02020603050405020304" pitchFamily="18" charset="0"/>
                <a:cs typeface="Times New Roman" panose="02020603050405020304" pitchFamily="18" charset="0"/>
              </a:rPr>
              <a:t>pandas</a:t>
            </a:r>
            <a:r>
              <a:rPr lang="zh-CN" altLang="zh-CN" sz="2400" dirty="0">
                <a:solidFill>
                  <a:schemeClr val="accent1"/>
                </a:solidFill>
                <a:latin typeface="Times New Roman" panose="02020603050405020304" pitchFamily="18" charset="0"/>
                <a:cs typeface="Times New Roman" panose="02020603050405020304" pitchFamily="18" charset="0"/>
              </a:rPr>
              <a:t>（用于数据分析）、</a:t>
            </a:r>
            <a:r>
              <a:rPr lang="en-US" altLang="zh-CN" sz="2400" dirty="0">
                <a:solidFill>
                  <a:schemeClr val="accent1"/>
                </a:solidFill>
                <a:latin typeface="Times New Roman" panose="02020603050405020304" pitchFamily="18" charset="0"/>
                <a:cs typeface="Times New Roman" panose="02020603050405020304" pitchFamily="18" charset="0"/>
              </a:rPr>
              <a:t>matplotlib</a:t>
            </a:r>
            <a:r>
              <a:rPr lang="zh-CN" altLang="zh-CN" sz="2400" dirty="0">
                <a:solidFill>
                  <a:schemeClr val="accent1"/>
                </a:solidFill>
                <a:latin typeface="Times New Roman" panose="02020603050405020304" pitchFamily="18" charset="0"/>
                <a:cs typeface="Times New Roman" panose="02020603050405020304" pitchFamily="18" charset="0"/>
              </a:rPr>
              <a:t>（用于数据可视</a:t>
            </a:r>
            <a:r>
              <a:rPr lang="zh-CN" altLang="zh-CN" sz="2400" dirty="0" smtClean="0">
                <a:solidFill>
                  <a:schemeClr val="accent1"/>
                </a:solidFill>
                <a:latin typeface="Times New Roman" panose="02020603050405020304" pitchFamily="18" charset="0"/>
                <a:cs typeface="Times New Roman" panose="02020603050405020304" pitchFamily="18" charset="0"/>
              </a:rPr>
              <a:t>化）、</a:t>
            </a:r>
            <a:r>
              <a:rPr lang="en-US" altLang="zh-CN" sz="2400" dirty="0">
                <a:solidFill>
                  <a:schemeClr val="accent1"/>
                </a:solidFill>
                <a:latin typeface="Times New Roman" panose="02020603050405020304" pitchFamily="18" charset="0"/>
                <a:cs typeface="Times New Roman" panose="02020603050405020304" pitchFamily="18" charset="0"/>
              </a:rPr>
              <a:t>scrapy</a:t>
            </a:r>
            <a:r>
              <a:rPr lang="zh-CN" altLang="zh-CN" sz="2400" dirty="0">
                <a:solidFill>
                  <a:schemeClr val="accent1"/>
                </a:solidFill>
                <a:latin typeface="Times New Roman" panose="02020603050405020304" pitchFamily="18" charset="0"/>
                <a:cs typeface="Times New Roman" panose="02020603050405020304" pitchFamily="18" charset="0"/>
              </a:rPr>
              <a:t>（爬虫框架）、</a:t>
            </a:r>
            <a:r>
              <a:rPr lang="en-US" altLang="zh-CN" sz="2400" dirty="0">
                <a:solidFill>
                  <a:schemeClr val="accent1"/>
                </a:solidFill>
                <a:latin typeface="Times New Roman" panose="02020603050405020304" pitchFamily="18" charset="0"/>
                <a:cs typeface="Times New Roman" panose="02020603050405020304" pitchFamily="18" charset="0"/>
              </a:rPr>
              <a:t>sklearn</a:t>
            </a:r>
            <a:r>
              <a:rPr lang="zh-CN" altLang="zh-CN" sz="2400" dirty="0">
                <a:solidFill>
                  <a:schemeClr val="accent1"/>
                </a:solidFill>
                <a:latin typeface="Times New Roman" panose="02020603050405020304" pitchFamily="18" charset="0"/>
                <a:cs typeface="Times New Roman" panose="02020603050405020304" pitchFamily="18" charset="0"/>
              </a:rPr>
              <a:t>（用于机器学习）、</a:t>
            </a:r>
            <a:r>
              <a:rPr lang="en-US" altLang="zh-CN" sz="2400" dirty="0">
                <a:solidFill>
                  <a:schemeClr val="accent1"/>
                </a:solidFill>
                <a:latin typeface="Times New Roman" panose="02020603050405020304" pitchFamily="18" charset="0"/>
                <a:cs typeface="Times New Roman" panose="02020603050405020304" pitchFamily="18" charset="0"/>
              </a:rPr>
              <a:t>tensorflow</a:t>
            </a:r>
            <a:r>
              <a:rPr lang="zh-CN" altLang="zh-CN" sz="2400" dirty="0">
                <a:solidFill>
                  <a:schemeClr val="accent1"/>
                </a:solidFill>
                <a:latin typeface="Times New Roman" panose="02020603050405020304" pitchFamily="18" charset="0"/>
                <a:cs typeface="Times New Roman" panose="02020603050405020304" pitchFamily="18" charset="0"/>
              </a:rPr>
              <a:t>（用于深度学习</a:t>
            </a:r>
            <a:r>
              <a:rPr lang="zh-CN" altLang="zh-CN" sz="2400" dirty="0" smtClean="0">
                <a:solidFill>
                  <a:schemeClr val="accent1"/>
                </a:solidFill>
                <a:latin typeface="Times New Roman" panose="02020603050405020304" pitchFamily="18" charset="0"/>
                <a:cs typeface="Times New Roman" panose="02020603050405020304" pitchFamily="18" charset="0"/>
              </a:rPr>
              <a:t>）</a:t>
            </a:r>
            <a:endParaRPr lang="en-US" altLang="zh-CN" sz="2400" dirty="0" smtClean="0">
              <a:solidFill>
                <a:schemeClr val="accent1"/>
              </a:solidFill>
              <a:latin typeface="Times New Roman" panose="02020603050405020304" pitchFamily="18" charset="0"/>
              <a:cs typeface="Times New Roman" panose="02020603050405020304" pitchFamily="18" charset="0"/>
            </a:endParaRPr>
          </a:p>
          <a:p>
            <a:pPr marL="0" indent="457200" defTabSz="913765">
              <a:lnSpc>
                <a:spcPct val="150000"/>
              </a:lnSpc>
              <a:buNone/>
            </a:pPr>
            <a:r>
              <a:rPr lang="zh-CN" altLang="en-US"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其</a:t>
            </a:r>
            <a:r>
              <a:rPr lang="zh-CN" altLang="en-US" sz="2400" dirty="0"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他功能：</a:t>
            </a:r>
            <a:endParaRPr lang="en-US" altLang="zh-CN" sz="2400" dirty="0"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）提供了包管理功</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能</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）提供环境管理的功能</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决了多版本</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切</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换的</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问题</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1.2.1 Anaconda</a:t>
            </a:r>
            <a:r>
              <a:rPr lang="zh-CN" altLang="en-US" sz="2800" b="1" dirty="0" smtClean="0">
                <a:solidFill>
                  <a:srgbClr val="0070C0"/>
                </a:solidFill>
                <a:latin typeface="微软雅黑" panose="020B0503020204020204" pitchFamily="34" charset="-122"/>
                <a:ea typeface="微软雅黑" panose="020B0503020204020204" pitchFamily="34" charset="-122"/>
              </a:rPr>
              <a:t>的使用</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1.2.2 </a:t>
            </a:r>
            <a:r>
              <a:rPr lang="en-US" altLang="zh-CN" sz="2800" b="1" dirty="0">
                <a:solidFill>
                  <a:srgbClr val="0070C0"/>
                </a:solidFill>
                <a:latin typeface="微软雅黑" panose="020B0503020204020204" pitchFamily="34" charset="-122"/>
                <a:ea typeface="微软雅黑" panose="020B0503020204020204" pitchFamily="34" charset="-122"/>
              </a:rPr>
              <a:t>Spyder</a:t>
            </a:r>
            <a:r>
              <a:rPr lang="zh-CN" altLang="en-US" sz="2800" b="1" dirty="0">
                <a:solidFill>
                  <a:srgbClr val="0070C0"/>
                </a:solidFill>
                <a:latin typeface="微软雅黑" panose="020B0503020204020204" pitchFamily="34" charset="-122"/>
                <a:ea typeface="微软雅黑" panose="020B0503020204020204" pitchFamily="34" charset="-122"/>
              </a:rPr>
              <a:t>集成开发环</a:t>
            </a:r>
            <a:r>
              <a:rPr lang="zh-CN" altLang="en-US" sz="2800" b="1" dirty="0" smtClean="0">
                <a:solidFill>
                  <a:srgbClr val="0070C0"/>
                </a:solidFill>
                <a:latin typeface="微软雅黑" panose="020B0503020204020204" pitchFamily="34" charset="-122"/>
                <a:ea typeface="微软雅黑" panose="020B0503020204020204" pitchFamily="34" charset="-122"/>
              </a:rPr>
              <a:t>境</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pic>
        <p:nvPicPr>
          <p:cNvPr id="1026" name="Picture 2" descr="Spyde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2953" y="2087880"/>
            <a:ext cx="868210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02351" y="961907"/>
            <a:ext cx="8539298" cy="892552"/>
          </a:xfrm>
          <a:prstGeom prst="rect">
            <a:avLst/>
          </a:prstGeom>
          <a:solidFill>
            <a:schemeClr val="accent1">
              <a:lumMod val="20000"/>
              <a:lumOff val="80000"/>
            </a:schemeClr>
          </a:solidFill>
        </p:spPr>
        <p:txBody>
          <a:bodyPr wrap="square">
            <a:spAutoFit/>
          </a:bodyPr>
          <a:lstStyle/>
          <a:p>
            <a:r>
              <a:rPr lang="en-US" altLang="zh-CN" sz="2600" dirty="0">
                <a:solidFill>
                  <a:schemeClr val="accent1"/>
                </a:solidFill>
                <a:latin typeface="Times New Roman" panose="02020603050405020304" pitchFamily="18" charset="0"/>
                <a:cs typeface="Times New Roman" panose="02020603050405020304" pitchFamily="18" charset="0"/>
              </a:rPr>
              <a:t>Spyder</a:t>
            </a:r>
            <a:r>
              <a:rPr lang="zh-CN" altLang="zh-CN" sz="2600" dirty="0">
                <a:solidFill>
                  <a:schemeClr val="accent1"/>
                </a:solidFill>
                <a:latin typeface="Times New Roman" panose="02020603050405020304" pitchFamily="18" charset="0"/>
                <a:cs typeface="Times New Roman" panose="02020603050405020304" pitchFamily="18" charset="0"/>
              </a:rPr>
              <a:t>是</a:t>
            </a:r>
            <a:r>
              <a:rPr lang="en-US" altLang="zh-CN" sz="2600" dirty="0">
                <a:solidFill>
                  <a:schemeClr val="accent1"/>
                </a:solidFill>
                <a:latin typeface="Times New Roman" panose="02020603050405020304" pitchFamily="18" charset="0"/>
                <a:cs typeface="Times New Roman" panose="02020603050405020304" pitchFamily="18" charset="0"/>
              </a:rPr>
              <a:t>Anaconda</a:t>
            </a:r>
            <a:r>
              <a:rPr lang="zh-CN" altLang="zh-CN" sz="2600" dirty="0">
                <a:solidFill>
                  <a:schemeClr val="accent1"/>
                </a:solidFill>
                <a:latin typeface="Times New Roman" panose="02020603050405020304" pitchFamily="18" charset="0"/>
                <a:cs typeface="Times New Roman" panose="02020603050405020304" pitchFamily="18" charset="0"/>
              </a:rPr>
              <a:t>中一</a:t>
            </a:r>
            <a:r>
              <a:rPr lang="zh-CN" altLang="zh-CN" sz="2600" dirty="0" smtClean="0">
                <a:solidFill>
                  <a:schemeClr val="accent1"/>
                </a:solidFill>
                <a:latin typeface="Times New Roman" panose="02020603050405020304" pitchFamily="18" charset="0"/>
                <a:cs typeface="Times New Roman" panose="02020603050405020304" pitchFamily="18" charset="0"/>
              </a:rPr>
              <a:t>个集</a:t>
            </a:r>
            <a:r>
              <a:rPr lang="zh-CN" altLang="zh-CN" sz="2600" dirty="0">
                <a:solidFill>
                  <a:schemeClr val="accent1"/>
                </a:solidFill>
                <a:latin typeface="Times New Roman" panose="02020603050405020304" pitchFamily="18" charset="0"/>
                <a:cs typeface="Times New Roman" panose="02020603050405020304" pitchFamily="18" charset="0"/>
              </a:rPr>
              <a:t>成开发环</a:t>
            </a:r>
            <a:r>
              <a:rPr lang="zh-CN" altLang="zh-CN" sz="2600" dirty="0" smtClean="0">
                <a:solidFill>
                  <a:schemeClr val="accent1"/>
                </a:solidFill>
                <a:latin typeface="Times New Roman" panose="02020603050405020304" pitchFamily="18" charset="0"/>
                <a:cs typeface="Times New Roman" panose="02020603050405020304" pitchFamily="18" charset="0"/>
              </a:rPr>
              <a:t>境</a:t>
            </a:r>
            <a:r>
              <a:rPr lang="zh-CN" altLang="en-US" sz="2600" dirty="0" smtClean="0">
                <a:solidFill>
                  <a:schemeClr val="accent1"/>
                </a:solidFill>
                <a:latin typeface="Times New Roman" panose="02020603050405020304" pitchFamily="18" charset="0"/>
                <a:cs typeface="Times New Roman" panose="02020603050405020304" pitchFamily="18" charset="0"/>
              </a:rPr>
              <a:t>，既可以直接编写程序代码，又</a:t>
            </a:r>
            <a:r>
              <a:rPr lang="zh-CN" altLang="zh-CN" sz="2600" dirty="0" smtClean="0">
                <a:solidFill>
                  <a:schemeClr val="accent1"/>
                </a:solidFill>
                <a:latin typeface="Times New Roman" panose="02020603050405020304" pitchFamily="18" charset="0"/>
                <a:cs typeface="Times New Roman" panose="02020603050405020304" pitchFamily="18" charset="0"/>
              </a:rPr>
              <a:t>可</a:t>
            </a:r>
            <a:r>
              <a:rPr lang="zh-CN" altLang="zh-CN" sz="2600" dirty="0">
                <a:solidFill>
                  <a:schemeClr val="accent1"/>
                </a:solidFill>
                <a:latin typeface="Times New Roman" panose="02020603050405020304" pitchFamily="18" charset="0"/>
                <a:cs typeface="Times New Roman" panose="02020603050405020304" pitchFamily="18" charset="0"/>
              </a:rPr>
              <a:t>以</a:t>
            </a:r>
            <a:r>
              <a:rPr lang="zh-CN" altLang="zh-CN" sz="2600" dirty="0" smtClean="0">
                <a:solidFill>
                  <a:schemeClr val="accent1"/>
                </a:solidFill>
                <a:latin typeface="Times New Roman" panose="02020603050405020304" pitchFamily="18" charset="0"/>
                <a:cs typeface="Times New Roman" panose="02020603050405020304" pitchFamily="18" charset="0"/>
              </a:rPr>
              <a:t>在</a:t>
            </a:r>
            <a:r>
              <a:rPr lang="zh-CN" altLang="en-US" sz="2600" dirty="0" smtClean="0">
                <a:solidFill>
                  <a:schemeClr val="accent1"/>
                </a:solidFill>
                <a:latin typeface="Times New Roman" panose="02020603050405020304" pitchFamily="18" charset="0"/>
                <a:cs typeface="Times New Roman" panose="02020603050405020304" pitchFamily="18" charset="0"/>
              </a:rPr>
              <a:t>右边</a:t>
            </a:r>
            <a:r>
              <a:rPr lang="en-US" altLang="zh-CN" sz="2600" dirty="0" smtClean="0">
                <a:solidFill>
                  <a:schemeClr val="accent1"/>
                </a:solidFill>
                <a:latin typeface="Times New Roman" panose="02020603050405020304" pitchFamily="18" charset="0"/>
                <a:cs typeface="Times New Roman" panose="02020603050405020304" pitchFamily="18" charset="0"/>
              </a:rPr>
              <a:t>In[]</a:t>
            </a:r>
            <a:r>
              <a:rPr lang="zh-CN" altLang="en-US" sz="2600" dirty="0">
                <a:solidFill>
                  <a:schemeClr val="accent1"/>
                </a:solidFill>
                <a:latin typeface="Times New Roman" panose="02020603050405020304" pitchFamily="18" charset="0"/>
                <a:cs typeface="Times New Roman" panose="02020603050405020304" pitchFamily="18" charset="0"/>
              </a:rPr>
              <a:t>后面</a:t>
            </a:r>
            <a:r>
              <a:rPr lang="zh-CN" altLang="zh-CN" sz="2600" dirty="0" smtClean="0">
                <a:solidFill>
                  <a:schemeClr val="accent1"/>
                </a:solidFill>
                <a:latin typeface="Times New Roman" panose="02020603050405020304" pitchFamily="18" charset="0"/>
                <a:cs typeface="Times New Roman" panose="02020603050405020304" pitchFamily="18" charset="0"/>
              </a:rPr>
              <a:t>直</a:t>
            </a:r>
            <a:r>
              <a:rPr lang="zh-CN" altLang="zh-CN" sz="2600" dirty="0">
                <a:solidFill>
                  <a:schemeClr val="accent1"/>
                </a:solidFill>
                <a:latin typeface="Times New Roman" panose="02020603050405020304" pitchFamily="18" charset="0"/>
                <a:cs typeface="Times New Roman" panose="02020603050405020304" pitchFamily="18" charset="0"/>
              </a:rPr>
              <a:t>接输入交互式命令</a:t>
            </a:r>
            <a:endParaRPr lang="zh-CN" altLang="en-US" sz="2600" dirty="0">
              <a:solidFill>
                <a:schemeClr val="accent1"/>
              </a:solidFill>
              <a:latin typeface="Times New Roman" panose="02020603050405020304" pitchFamily="18" charset="0"/>
              <a:cs typeface="Times New Roman" panose="02020603050405020304" pitchFamily="18" charset="0"/>
            </a:endParaRPr>
          </a:p>
        </p:txBody>
      </p:sp>
      <p:cxnSp>
        <p:nvCxnSpPr>
          <p:cNvPr id="4" name="直接连接符 3"/>
          <p:cNvCxnSpPr/>
          <p:nvPr/>
        </p:nvCxnSpPr>
        <p:spPr>
          <a:xfrm>
            <a:off x="5532120" y="3749040"/>
            <a:ext cx="1463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754007" y="3336319"/>
              <a:ext cx="3329507" cy="431087"/>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NumPy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54007" y="4221882"/>
              <a:ext cx="3166169" cy="431088"/>
            </a:xfrm>
            <a:prstGeom prst="rect">
              <a:avLst/>
            </a:prstGeom>
          </p:spPr>
          <p:txBody>
            <a:bodyPr wrap="square" lIns="121897" tIns="60948" rIns="121897" bIns="60948">
              <a:spAutoFit/>
            </a:bodyPr>
            <a:lstStyle/>
            <a:p>
              <a:pPr defTabSz="1218565">
                <a:defRPr/>
              </a:pPr>
              <a:r>
                <a:rPr lang="en-US" altLang="zh-CN" sz="2000" b="1" kern="100" dirty="0" err="1">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主  要</a:t>
            </a:r>
            <a:endParaRPr lang="en-US" altLang="zh-CN" sz="4800" b="1" spc="200" dirty="0" smtClean="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smtClean="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52412" y="4221882"/>
              <a:ext cx="3167764" cy="431088"/>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 name="下箭头 23"/>
          <p:cNvSpPr/>
          <p:nvPr/>
        </p:nvSpPr>
        <p:spPr>
          <a:xfrm rot="16200000">
            <a:off x="3095262" y="3128745"/>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80">
                                          <p:stCondLst>
                                            <p:cond delay="0"/>
                                          </p:stCondLst>
                                        </p:cTn>
                                        <p:tgtEl>
                                          <p:spTgt spid="24"/>
                                        </p:tgtEl>
                                      </p:cBhvr>
                                    </p:animEffect>
                                    <p:anim calcmode="lin" valueType="num">
                                      <p:cBhvr>
                                        <p:cTn id="8"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3" dur="26">
                                          <p:stCondLst>
                                            <p:cond delay="650"/>
                                          </p:stCondLst>
                                        </p:cTn>
                                        <p:tgtEl>
                                          <p:spTgt spid="24"/>
                                        </p:tgtEl>
                                      </p:cBhvr>
                                      <p:to x="100000" y="60000"/>
                                    </p:animScale>
                                    <p:animScale>
                                      <p:cBhvr>
                                        <p:cTn id="14" dur="166" decel="50000">
                                          <p:stCondLst>
                                            <p:cond delay="676"/>
                                          </p:stCondLst>
                                        </p:cTn>
                                        <p:tgtEl>
                                          <p:spTgt spid="24"/>
                                        </p:tgtEl>
                                      </p:cBhvr>
                                      <p:to x="100000" y="100000"/>
                                    </p:animScale>
                                    <p:animScale>
                                      <p:cBhvr>
                                        <p:cTn id="15" dur="26">
                                          <p:stCondLst>
                                            <p:cond delay="1312"/>
                                          </p:stCondLst>
                                        </p:cTn>
                                        <p:tgtEl>
                                          <p:spTgt spid="24"/>
                                        </p:tgtEl>
                                      </p:cBhvr>
                                      <p:to x="100000" y="80000"/>
                                    </p:animScale>
                                    <p:animScale>
                                      <p:cBhvr>
                                        <p:cTn id="16" dur="166" decel="50000">
                                          <p:stCondLst>
                                            <p:cond delay="1338"/>
                                          </p:stCondLst>
                                        </p:cTn>
                                        <p:tgtEl>
                                          <p:spTgt spid="24"/>
                                        </p:tgtEl>
                                      </p:cBhvr>
                                      <p:to x="100000" y="100000"/>
                                    </p:animScale>
                                    <p:animScale>
                                      <p:cBhvr>
                                        <p:cTn id="17" dur="26">
                                          <p:stCondLst>
                                            <p:cond delay="1642"/>
                                          </p:stCondLst>
                                        </p:cTn>
                                        <p:tgtEl>
                                          <p:spTgt spid="24"/>
                                        </p:tgtEl>
                                      </p:cBhvr>
                                      <p:to x="100000" y="90000"/>
                                    </p:animScale>
                                    <p:animScale>
                                      <p:cBhvr>
                                        <p:cTn id="18" dur="166" decel="50000">
                                          <p:stCondLst>
                                            <p:cond delay="1668"/>
                                          </p:stCondLst>
                                        </p:cTn>
                                        <p:tgtEl>
                                          <p:spTgt spid="24"/>
                                        </p:tgtEl>
                                      </p:cBhvr>
                                      <p:to x="100000" y="100000"/>
                                    </p:animScale>
                                    <p:animScale>
                                      <p:cBhvr>
                                        <p:cTn id="19" dur="26">
                                          <p:stCondLst>
                                            <p:cond delay="1808"/>
                                          </p:stCondLst>
                                        </p:cTn>
                                        <p:tgtEl>
                                          <p:spTgt spid="24"/>
                                        </p:tgtEl>
                                      </p:cBhvr>
                                      <p:to x="100000" y="95000"/>
                                    </p:animScale>
                                    <p:animScale>
                                      <p:cBhvr>
                                        <p:cTn id="20"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06908" y="893064"/>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rPr>
              <a:t>Numpy</a:t>
            </a:r>
            <a:r>
              <a:rPr lang="zh-CN" altLang="en-US"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Numerical Python</a:t>
            </a:r>
            <a:r>
              <a:rPr lang="zh-CN" altLang="en-US"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简</a:t>
            </a:r>
            <a:r>
              <a:rPr lang="zh-CN" altLang="en-US"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rPr>
              <a:t>介</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Numpy</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的一个科学计算库，提供了大量有用的工具，如数组对象（用来表示向量、矩阵、图像等）以及线性代数</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函数</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Numpy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中的数组对象可以帮助实现数组中的重要操作，如矩阵转置、相乘、解方程、向量乘积和</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归一化</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① ndarray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对象，这是一个具有矢量算术运算和复杂广播能力的快速且节省空间的多维</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数组</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② 用于对整组数据进行快速运算的标准数学</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函数</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③ 用于读写磁盘数据的工具以及用于操作内存映射文件的</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工具</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④ 线性代数、随机数生成以及傅里叶变换</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功能</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endParaRPr lang="en-US" altLang="zh-CN" sz="22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 </a:t>
            </a:r>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库</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1.3.1 </a:t>
            </a:r>
            <a:r>
              <a:rPr lang="en-US" altLang="zh-CN" sz="2800" b="1" dirty="0" err="1" smtClean="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数组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647074" y="1606062"/>
            <a:ext cx="3190175" cy="4401205"/>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2800" dirty="0">
                <a:latin typeface="Times New Roman" panose="02020603050405020304" pitchFamily="18" charset="0"/>
                <a:cs typeface="Times New Roman" panose="02020603050405020304" pitchFamily="18" charset="0"/>
              </a:rPr>
              <a:t>[1 2 3] </a:t>
            </a:r>
            <a:endParaRPr lang="en-US" altLang="zh-CN" sz="2800" dirty="0" smtClean="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 2]</a:t>
            </a:r>
            <a:endParaRPr lang="en-US" altLang="zh-CN" sz="2800" dirty="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3 4]] </a:t>
            </a:r>
            <a:endParaRPr lang="en-US" altLang="zh-CN" sz="2800" dirty="0" smtClean="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 3 4 5]]] </a:t>
            </a:r>
            <a:endParaRPr lang="en-US" altLang="zh-CN" sz="2800" dirty="0" smtClean="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1.+0.j 2.+0.j 3.+0.j] [0. </a:t>
            </a:r>
            <a:r>
              <a:rPr lang="en-US" altLang="zh-CN" sz="2800" dirty="0" smtClean="0">
                <a:latin typeface="Times New Roman" panose="02020603050405020304" pitchFamily="18" charset="0"/>
                <a:cs typeface="Times New Roman" panose="02020603050405020304" pitchFamily="18" charset="0"/>
              </a:rPr>
              <a:t>0.2 </a:t>
            </a:r>
            <a:r>
              <a:rPr lang="en-US" altLang="zh-CN" sz="2800" dirty="0">
                <a:latin typeface="Times New Roman" panose="02020603050405020304" pitchFamily="18" charset="0"/>
                <a:cs typeface="Times New Roman" panose="02020603050405020304" pitchFamily="18" charset="0"/>
              </a:rPr>
              <a:t>0.4 0.6 0.8] </a:t>
            </a:r>
            <a:r>
              <a:rPr lang="en-US" altLang="zh-CN" sz="2800" dirty="0" smtClean="0">
                <a:latin typeface="Times New Roman" panose="02020603050405020304" pitchFamily="18" charset="0"/>
                <a:cs typeface="Times New Roman" panose="02020603050405020304" pitchFamily="18" charset="0"/>
              </a:rPr>
              <a:t>[0. 2.5 5. 7.5 10.] </a:t>
            </a:r>
            <a:endParaRPr lang="en-US" altLang="zh-CN" sz="2800" dirty="0" smtClean="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0. 0. 0. 0.]</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[0. 0. 0. 0.]</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[0. 0. 0. 0.]]</a:t>
            </a:r>
            <a:endParaRPr lang="zh-CN" altLang="zh-CN" sz="28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384259" y="1696832"/>
            <a:ext cx="533910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a:t>
            </a:r>
            <a:r>
              <a:rPr lang="en-US" altLang="zh-CN" sz="2400" dirty="0" smtClean="0">
                <a:latin typeface="Times New Roman" panose="02020603050405020304" pitchFamily="18" charset="0"/>
                <a:cs typeface="Times New Roman" panose="02020603050405020304" pitchFamily="18" charset="0"/>
              </a:rPr>
              <a:t>np</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 = np.array([1</a:t>
            </a:r>
            <a:r>
              <a:rPr lang="en-US" altLang="zh-CN" sz="2400" dirty="0" smtClean="0">
                <a:latin typeface="Times New Roman" panose="02020603050405020304" pitchFamily="18" charset="0"/>
                <a:cs typeface="Times New Roman" panose="02020603050405020304" pitchFamily="18" charset="0"/>
              </a:rPr>
              <a:t>, 2, 3])</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b </a:t>
            </a:r>
            <a:r>
              <a:rPr lang="en-US" altLang="zh-CN" sz="2400" dirty="0">
                <a:latin typeface="Times New Roman" panose="02020603050405020304" pitchFamily="18" charset="0"/>
                <a:cs typeface="Times New Roman" panose="02020603050405020304" pitchFamily="18" charset="0"/>
              </a:rPr>
              <a:t>= np.array([[1</a:t>
            </a:r>
            <a:r>
              <a:rPr lang="en-US" altLang="zh-CN" sz="2400" dirty="0" smtClean="0">
                <a:latin typeface="Times New Roman" panose="02020603050405020304" pitchFamily="18" charset="0"/>
                <a:cs typeface="Times New Roman" panose="02020603050405020304" pitchFamily="18" charset="0"/>
              </a:rPr>
              <a:t>, 2</a:t>
            </a:r>
            <a:r>
              <a:rPr lang="en-US" altLang="zh-CN" sz="2400" dirty="0">
                <a:latin typeface="Times New Roman" panose="02020603050405020304" pitchFamily="18" charset="0"/>
                <a:cs typeface="Times New Roman" panose="02020603050405020304" pitchFamily="18" charset="0"/>
              </a:rPr>
              <a:t>], [3</a:t>
            </a:r>
            <a:r>
              <a:rPr lang="en-US" altLang="zh-CN" sz="2400" dirty="0" smtClean="0">
                <a:latin typeface="Times New Roman" panose="02020603050405020304" pitchFamily="18" charset="0"/>
                <a:cs typeface="Times New Roman" panose="02020603050405020304" pitchFamily="18" charset="0"/>
              </a:rPr>
              <a:t>, 4</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c </a:t>
            </a:r>
            <a:r>
              <a:rPr lang="en-US" altLang="zh-CN" sz="2400" dirty="0">
                <a:latin typeface="Times New Roman" panose="02020603050405020304" pitchFamily="18" charset="0"/>
                <a:cs typeface="Times New Roman" panose="02020603050405020304" pitchFamily="18" charset="0"/>
              </a:rPr>
              <a:t>= np.array([2</a:t>
            </a:r>
            <a:r>
              <a:rPr lang="en-US" altLang="zh-CN" sz="2400" dirty="0" smtClean="0">
                <a:latin typeface="Times New Roman" panose="02020603050405020304" pitchFamily="18" charset="0"/>
                <a:cs typeface="Times New Roman" panose="02020603050405020304" pitchFamily="18" charset="0"/>
              </a:rPr>
              <a:t>, 3, 4, 5</a:t>
            </a:r>
            <a:r>
              <a:rPr lang="en-US" altLang="zh-CN" sz="2400" dirty="0">
                <a:latin typeface="Times New Roman" panose="02020603050405020304" pitchFamily="18" charset="0"/>
                <a:cs typeface="Times New Roman" panose="02020603050405020304" pitchFamily="18" charset="0"/>
              </a:rPr>
              <a:t>], ndmin = </a:t>
            </a:r>
            <a:r>
              <a:rPr lang="en-US" altLang="zh-CN" sz="2400" dirty="0" smtClean="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d </a:t>
            </a:r>
            <a:r>
              <a:rPr lang="en-US" altLang="zh-CN" sz="2400" dirty="0">
                <a:latin typeface="Times New Roman" panose="02020603050405020304" pitchFamily="18" charset="0"/>
                <a:cs typeface="Times New Roman" panose="02020603050405020304" pitchFamily="18" charset="0"/>
              </a:rPr>
              <a:t>= np.array([1</a:t>
            </a:r>
            <a:r>
              <a:rPr lang="en-US" altLang="zh-CN" sz="2400" dirty="0" smtClean="0">
                <a:latin typeface="Times New Roman" panose="02020603050405020304" pitchFamily="18" charset="0"/>
                <a:cs typeface="Times New Roman" panose="02020603050405020304" pitchFamily="18" charset="0"/>
              </a:rPr>
              <a:t>, 2, 3</a:t>
            </a:r>
            <a:r>
              <a:rPr lang="en-US" altLang="zh-CN" sz="2400" dirty="0">
                <a:latin typeface="Times New Roman" panose="02020603050405020304" pitchFamily="18" charset="0"/>
                <a:cs typeface="Times New Roman" panose="02020603050405020304" pitchFamily="18" charset="0"/>
              </a:rPr>
              <a:t>], dtype = complex</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e </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np.arange</a:t>
            </a:r>
            <a:r>
              <a:rPr lang="en-US" altLang="zh-CN" sz="2400" dirty="0">
                <a:latin typeface="Times New Roman" panose="02020603050405020304" pitchFamily="18" charset="0"/>
                <a:cs typeface="Times New Roman" panose="02020603050405020304" pitchFamily="18" charset="0"/>
              </a:rPr>
              <a:t>(0</a:t>
            </a:r>
            <a:r>
              <a:rPr lang="en-US" altLang="zh-CN" sz="2400" dirty="0" smtClean="0">
                <a:latin typeface="Times New Roman" panose="02020603050405020304" pitchFamily="18" charset="0"/>
                <a:cs typeface="Times New Roman" panose="02020603050405020304" pitchFamily="18" charset="0"/>
              </a:rPr>
              <a:t>, 1, 0.2</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 = </a:t>
            </a:r>
            <a:r>
              <a:rPr lang="en-US" altLang="zh-CN" sz="2400" dirty="0" err="1">
                <a:latin typeface="Times New Roman" panose="02020603050405020304" pitchFamily="18" charset="0"/>
                <a:cs typeface="Times New Roman" panose="02020603050405020304" pitchFamily="18" charset="0"/>
              </a:rPr>
              <a:t>np.linspace</a:t>
            </a:r>
            <a:r>
              <a:rPr lang="en-US" altLang="zh-CN" sz="2400" dirty="0">
                <a:latin typeface="Times New Roman" panose="02020603050405020304" pitchFamily="18" charset="0"/>
                <a:cs typeface="Times New Roman" panose="02020603050405020304" pitchFamily="18" charset="0"/>
              </a:rPr>
              <a:t>(0</a:t>
            </a:r>
            <a:r>
              <a:rPr lang="en-US" altLang="zh-CN" sz="2400" dirty="0" smtClean="0">
                <a:latin typeface="Times New Roman" panose="02020603050405020304" pitchFamily="18" charset="0"/>
                <a:cs typeface="Times New Roman" panose="02020603050405020304" pitchFamily="18" charset="0"/>
              </a:rPr>
              <a:t>, 10, 5</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g = np.zeros((3</a:t>
            </a:r>
            <a:r>
              <a:rPr lang="en-US" altLang="zh-CN" sz="2400" dirty="0" smtClean="0">
                <a:latin typeface="Times New Roman" panose="02020603050405020304" pitchFamily="18" charset="0"/>
                <a:cs typeface="Times New Roman" panose="02020603050405020304" pitchFamily="18" charset="0"/>
              </a:rPr>
              <a:t>, 4</a:t>
            </a:r>
            <a:r>
              <a:rPr lang="en-US" altLang="zh-CN" sz="2400" dirty="0">
                <a:latin typeface="Times New Roman" panose="02020603050405020304" pitchFamily="18" charset="0"/>
                <a:cs typeface="Times New Roman" panose="02020603050405020304" pitchFamily="18" charset="0"/>
              </a:rPr>
              <a:t>))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 (a</a:t>
            </a:r>
            <a:r>
              <a:rPr lang="en-US" altLang="zh-CN" sz="2400" dirty="0" smtClean="0">
                <a:latin typeface="Times New Roman" panose="02020603050405020304" pitchFamily="18" charset="0"/>
                <a:cs typeface="Times New Roman" panose="02020603050405020304" pitchFamily="18" charset="0"/>
              </a:rPr>
              <a:t>, b, c, d, e, f, g</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1060608"/>
            <a:ext cx="5020926"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程序</a:t>
            </a:r>
            <a:r>
              <a:rPr lang="en-US" altLang="zh-CN" sz="2800" b="1" dirty="0" smtClean="0">
                <a:solidFill>
                  <a:srgbClr val="0070C0"/>
                </a:solidFill>
                <a:latin typeface="微软雅黑" panose="020B0503020204020204" pitchFamily="34" charset="-122"/>
                <a:ea typeface="微软雅黑" panose="020B0503020204020204" pitchFamily="34" charset="-122"/>
              </a:rPr>
              <a:t>1-10] </a:t>
            </a:r>
            <a:r>
              <a:rPr lang="zh-CN" altLang="en-US" sz="2800" b="1" dirty="0" smtClean="0">
                <a:solidFill>
                  <a:srgbClr val="0070C0"/>
                </a:solidFill>
                <a:latin typeface="微软雅黑" panose="020B0503020204020204" pitchFamily="34" charset="-122"/>
                <a:ea typeface="微软雅黑" panose="020B0503020204020204" pitchFamily="34" charset="-122"/>
              </a:rPr>
              <a:t>创</a:t>
            </a:r>
            <a:r>
              <a:rPr lang="zh-CN" altLang="en-US" sz="2800" b="1" dirty="0">
                <a:solidFill>
                  <a:srgbClr val="0070C0"/>
                </a:solidFill>
                <a:latin typeface="微软雅黑" panose="020B0503020204020204" pitchFamily="34" charset="-122"/>
                <a:ea typeface="微软雅黑" panose="020B0503020204020204" pitchFamily="34" charset="-122"/>
              </a:rPr>
              <a:t>建</a:t>
            </a:r>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数</a:t>
            </a:r>
            <a:r>
              <a:rPr lang="zh-CN" altLang="en-US" sz="2800" b="1" dirty="0" smtClean="0">
                <a:solidFill>
                  <a:srgbClr val="0070C0"/>
                </a:solidFill>
                <a:latin typeface="微软雅黑" panose="020B0503020204020204" pitchFamily="34" charset="-122"/>
                <a:ea typeface="微软雅黑" panose="020B0503020204020204" pitchFamily="34" charset="-122"/>
              </a:rPr>
              <a:t>组</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6" y="1071324"/>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93474" y="6110895"/>
            <a:ext cx="5878726" cy="518028"/>
            <a:chOff x="6339097" y="1573726"/>
            <a:chExt cx="3744416" cy="518298"/>
          </a:xfrm>
        </p:grpSpPr>
        <p:sp>
          <p:nvSpPr>
            <p:cNvPr id="11" name="圆角矩形 10"/>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dtype = </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complex</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指定元素类型为复数</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3" name="组合 12"/>
          <p:cNvGrpSpPr/>
          <p:nvPr/>
        </p:nvGrpSpPr>
        <p:grpSpPr>
          <a:xfrm>
            <a:off x="253417" y="5432326"/>
            <a:ext cx="4059503" cy="518028"/>
            <a:chOff x="6339097" y="1573726"/>
            <a:chExt cx="3744416" cy="518298"/>
          </a:xfrm>
        </p:grpSpPr>
        <p:sp>
          <p:nvSpPr>
            <p:cNvPr id="14" name="圆角矩形 13"/>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ndmin</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指定数组的维度</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arrange</a:t>
            </a: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函</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数</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41325" defTabSz="913765">
              <a:lnSpc>
                <a:spcPct val="150000"/>
              </a:lnSpc>
              <a:buNone/>
            </a:pP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通过指定开始值、终值和步长来创建一维数组</a:t>
            </a:r>
            <a:r>
              <a:rPr lang="zh-CN" altLang="en-US" sz="28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linspace</a:t>
            </a: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函数</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通过指定开始值、终值和元素个数来创建一维数组</a:t>
            </a: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zh-CN" sz="2800" b="1" dirty="0" smtClean="0">
                <a:solidFill>
                  <a:schemeClr val="accent1"/>
                </a:solidFill>
                <a:latin typeface="Times New Roman" panose="02020603050405020304" pitchFamily="18" charset="0"/>
                <a:cs typeface="Times New Roman" panose="02020603050405020304" pitchFamily="18" charset="0"/>
              </a:rPr>
              <a:t>函</a:t>
            </a:r>
            <a:r>
              <a:rPr lang="zh-CN" altLang="zh-CN" sz="2800" b="1" dirty="0">
                <a:solidFill>
                  <a:schemeClr val="accent1"/>
                </a:solidFill>
                <a:latin typeface="Times New Roman" panose="02020603050405020304" pitchFamily="18" charset="0"/>
                <a:cs typeface="Times New Roman" panose="02020603050405020304" pitchFamily="18" charset="0"/>
              </a:rPr>
              <a:t>数</a:t>
            </a:r>
            <a:r>
              <a:rPr lang="en-US" altLang="zh-CN" sz="2800" b="1" dirty="0" smtClean="0">
                <a:solidFill>
                  <a:schemeClr val="accent1"/>
                </a:solidFill>
                <a:latin typeface="Times New Roman" panose="02020603050405020304" pitchFamily="18" charset="0"/>
                <a:cs typeface="Times New Roman" panose="02020603050405020304" pitchFamily="18" charset="0"/>
              </a:rPr>
              <a:t>zeros()</a:t>
            </a:r>
            <a:r>
              <a:rPr lang="zh-CN" altLang="zh-CN" sz="2800" b="1" dirty="0" smtClean="0">
                <a:solidFill>
                  <a:schemeClr val="accent1"/>
                </a:solidFill>
                <a:latin typeface="Times New Roman" panose="02020603050405020304" pitchFamily="18" charset="0"/>
                <a:cs typeface="Times New Roman" panose="02020603050405020304" pitchFamily="18" charset="0"/>
              </a:rPr>
              <a:t>可</a:t>
            </a:r>
            <a:r>
              <a:rPr lang="zh-CN" altLang="zh-CN" sz="2800" b="1" dirty="0">
                <a:solidFill>
                  <a:schemeClr val="accent1"/>
                </a:solidFill>
                <a:latin typeface="Times New Roman" panose="02020603050405020304" pitchFamily="18" charset="0"/>
                <a:cs typeface="Times New Roman" panose="02020603050405020304" pitchFamily="18" charset="0"/>
              </a:rPr>
              <a:t>创建一个</a:t>
            </a:r>
            <a:r>
              <a:rPr lang="zh-CN" altLang="zh-CN" sz="2800" b="1" dirty="0" smtClean="0">
                <a:solidFill>
                  <a:schemeClr val="accent1"/>
                </a:solidFill>
                <a:latin typeface="Times New Roman" panose="02020603050405020304" pitchFamily="18" charset="0"/>
                <a:cs typeface="Times New Roman" panose="02020603050405020304" pitchFamily="18" charset="0"/>
              </a:rPr>
              <a:t>全</a:t>
            </a:r>
            <a:r>
              <a:rPr lang="en-US" altLang="zh-CN" sz="2800" b="1" dirty="0" smtClean="0">
                <a:solidFill>
                  <a:schemeClr val="accent1"/>
                </a:solidFill>
                <a:latin typeface="Times New Roman" panose="02020603050405020304" pitchFamily="18" charset="0"/>
                <a:cs typeface="Times New Roman" panose="02020603050405020304" pitchFamily="18" charset="0"/>
              </a:rPr>
              <a:t>0</a:t>
            </a:r>
            <a:r>
              <a:rPr lang="zh-CN" altLang="zh-CN" sz="2800" b="1" dirty="0">
                <a:solidFill>
                  <a:schemeClr val="accent1"/>
                </a:solidFill>
                <a:latin typeface="Times New Roman" panose="02020603050405020304" pitchFamily="18" charset="0"/>
                <a:cs typeface="Times New Roman" panose="02020603050405020304" pitchFamily="18" charset="0"/>
              </a:rPr>
              <a:t>的数</a:t>
            </a:r>
            <a:r>
              <a:rPr lang="zh-CN" altLang="zh-CN" sz="2800" b="1" dirty="0" smtClean="0">
                <a:solidFill>
                  <a:schemeClr val="accent1"/>
                </a:solidFill>
                <a:latin typeface="Times New Roman" panose="02020603050405020304" pitchFamily="18" charset="0"/>
                <a:cs typeface="Times New Roman" panose="02020603050405020304" pitchFamily="18" charset="0"/>
              </a:rPr>
              <a:t>组</a:t>
            </a:r>
            <a:endParaRPr lang="en-US" altLang="zh-CN" sz="2800" b="1" dirty="0" smtClean="0">
              <a:solidFill>
                <a:schemeClr val="accent1"/>
              </a:solidFill>
              <a:latin typeface="Times New Roman" panose="02020603050405020304" pitchFamily="18" charset="0"/>
              <a:cs typeface="Times New Roman" panose="02020603050405020304" pitchFamily="18" charset="0"/>
            </a:endParaRPr>
          </a:p>
          <a:p>
            <a:pPr marL="0" indent="457200" defTabSz="913765">
              <a:lnSpc>
                <a:spcPct val="150000"/>
              </a:lnSpc>
              <a:buNone/>
            </a:pPr>
            <a:r>
              <a:rPr lang="zh-CN" altLang="zh-CN" sz="2800" b="1" dirty="0" smtClean="0">
                <a:solidFill>
                  <a:schemeClr val="accent1"/>
                </a:solidFill>
                <a:latin typeface="Times New Roman" panose="02020603050405020304" pitchFamily="18" charset="0"/>
                <a:cs typeface="Times New Roman" panose="02020603050405020304" pitchFamily="18" charset="0"/>
              </a:rPr>
              <a:t>函</a:t>
            </a:r>
            <a:r>
              <a:rPr lang="zh-CN" altLang="zh-CN" sz="2800" b="1" dirty="0">
                <a:solidFill>
                  <a:schemeClr val="accent1"/>
                </a:solidFill>
                <a:latin typeface="Times New Roman" panose="02020603050405020304" pitchFamily="18" charset="0"/>
                <a:cs typeface="Times New Roman" panose="02020603050405020304" pitchFamily="18" charset="0"/>
              </a:rPr>
              <a:t>数</a:t>
            </a:r>
            <a:r>
              <a:rPr lang="en-US" altLang="zh-CN" sz="2800" b="1" dirty="0">
                <a:solidFill>
                  <a:schemeClr val="accent1"/>
                </a:solidFill>
                <a:latin typeface="Times New Roman" panose="02020603050405020304" pitchFamily="18" charset="0"/>
                <a:cs typeface="Times New Roman" panose="02020603050405020304" pitchFamily="18" charset="0"/>
              </a:rPr>
              <a:t>ones()</a:t>
            </a:r>
            <a:r>
              <a:rPr lang="zh-CN" altLang="zh-CN" sz="2800" b="1" dirty="0">
                <a:solidFill>
                  <a:schemeClr val="accent1"/>
                </a:solidFill>
                <a:latin typeface="Times New Roman" panose="02020603050405020304" pitchFamily="18" charset="0"/>
                <a:cs typeface="Times New Roman" panose="02020603050405020304" pitchFamily="18" charset="0"/>
              </a:rPr>
              <a:t>可创建一个全为</a:t>
            </a:r>
            <a:r>
              <a:rPr lang="en-US" altLang="zh-CN" sz="2800" b="1" dirty="0">
                <a:solidFill>
                  <a:schemeClr val="accent1"/>
                </a:solidFill>
                <a:latin typeface="Times New Roman" panose="02020603050405020304" pitchFamily="18" charset="0"/>
                <a:cs typeface="Times New Roman" panose="02020603050405020304" pitchFamily="18" charset="0"/>
              </a:rPr>
              <a:t>1</a:t>
            </a:r>
            <a:r>
              <a:rPr lang="zh-CN" altLang="zh-CN" sz="2800" b="1" dirty="0">
                <a:solidFill>
                  <a:schemeClr val="accent1"/>
                </a:solidFill>
                <a:latin typeface="Times New Roman" panose="02020603050405020304" pitchFamily="18" charset="0"/>
                <a:cs typeface="Times New Roman" panose="02020603050405020304" pitchFamily="18" charset="0"/>
              </a:rPr>
              <a:t>的数</a:t>
            </a:r>
            <a:r>
              <a:rPr lang="zh-CN" altLang="zh-CN" sz="2800" b="1" dirty="0" smtClean="0">
                <a:solidFill>
                  <a:schemeClr val="accent1"/>
                </a:solidFill>
                <a:latin typeface="Times New Roman" panose="02020603050405020304" pitchFamily="18" charset="0"/>
                <a:cs typeface="Times New Roman" panose="02020603050405020304" pitchFamily="18" charset="0"/>
              </a:rPr>
              <a:t>组</a:t>
            </a:r>
            <a:endParaRPr lang="en-US" altLang="zh-CN" sz="2800" b="1" dirty="0" smtClean="0">
              <a:solidFill>
                <a:schemeClr val="accent1"/>
              </a:solidFill>
              <a:latin typeface="Times New Roman" panose="02020603050405020304" pitchFamily="18" charset="0"/>
              <a:cs typeface="Times New Roman" panose="02020603050405020304" pitchFamily="18" charset="0"/>
            </a:endParaRPr>
          </a:p>
          <a:p>
            <a:pPr marL="0" indent="457200" defTabSz="913765">
              <a:lnSpc>
                <a:spcPct val="150000"/>
              </a:lnSpc>
              <a:buNone/>
            </a:pPr>
            <a:r>
              <a:rPr lang="zh-CN" altLang="zh-CN" sz="2800" b="1" dirty="0" smtClean="0">
                <a:solidFill>
                  <a:schemeClr val="accent1"/>
                </a:solidFill>
                <a:latin typeface="Times New Roman" panose="02020603050405020304" pitchFamily="18" charset="0"/>
                <a:cs typeface="Times New Roman" panose="02020603050405020304" pitchFamily="18" charset="0"/>
              </a:rPr>
              <a:t>函</a:t>
            </a:r>
            <a:r>
              <a:rPr lang="zh-CN" altLang="zh-CN" sz="2800" b="1" dirty="0">
                <a:solidFill>
                  <a:schemeClr val="accent1"/>
                </a:solidFill>
                <a:latin typeface="Times New Roman" panose="02020603050405020304" pitchFamily="18" charset="0"/>
                <a:cs typeface="Times New Roman" panose="02020603050405020304" pitchFamily="18" charset="0"/>
              </a:rPr>
              <a:t>数</a:t>
            </a:r>
            <a:r>
              <a:rPr lang="en-US" altLang="zh-CN" sz="2800" b="1" dirty="0">
                <a:solidFill>
                  <a:schemeClr val="accent1"/>
                </a:solidFill>
                <a:latin typeface="Times New Roman" panose="02020603050405020304" pitchFamily="18" charset="0"/>
                <a:cs typeface="Times New Roman" panose="02020603050405020304" pitchFamily="18" charset="0"/>
              </a:rPr>
              <a:t>random()</a:t>
            </a:r>
            <a:r>
              <a:rPr lang="zh-CN" altLang="zh-CN" sz="2800" b="1" dirty="0">
                <a:solidFill>
                  <a:schemeClr val="accent1"/>
                </a:solidFill>
                <a:latin typeface="Times New Roman" panose="02020603050405020304" pitchFamily="18" charset="0"/>
                <a:cs typeface="Times New Roman" panose="02020603050405020304" pitchFamily="18" charset="0"/>
              </a:rPr>
              <a:t>可创建一个内容随</a:t>
            </a:r>
            <a:r>
              <a:rPr lang="zh-CN" altLang="zh-CN" sz="2800" b="1" dirty="0" smtClean="0">
                <a:solidFill>
                  <a:schemeClr val="accent1"/>
                </a:solidFill>
                <a:latin typeface="Times New Roman" panose="02020603050405020304" pitchFamily="18" charset="0"/>
                <a:cs typeface="Times New Roman" panose="02020603050405020304" pitchFamily="18" charset="0"/>
              </a:rPr>
              <a:t>机的</a:t>
            </a:r>
            <a:r>
              <a:rPr lang="zh-CN" altLang="zh-CN" sz="2800" b="1" dirty="0">
                <a:solidFill>
                  <a:schemeClr val="accent1"/>
                </a:solidFill>
                <a:latin typeface="Times New Roman" panose="02020603050405020304" pitchFamily="18" charset="0"/>
                <a:cs typeface="Times New Roman" panose="02020603050405020304" pitchFamily="18" charset="0"/>
              </a:rPr>
              <a:t>数组</a:t>
            </a:r>
            <a:endParaRPr lang="en-US" altLang="zh-CN" sz="2600" b="1" dirty="0"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1.3.2 </a:t>
            </a:r>
            <a:r>
              <a:rPr lang="en-US" altLang="zh-CN" sz="2800" b="1" dirty="0" err="1" smtClean="0">
                <a:solidFill>
                  <a:srgbClr val="0070C0"/>
                </a:solidFill>
                <a:latin typeface="微软雅黑" panose="020B0503020204020204" pitchFamily="34" charset="-122"/>
                <a:ea typeface="微软雅黑" panose="020B0503020204020204" pitchFamily="34" charset="-122"/>
              </a:rPr>
              <a:t>Numpy</a:t>
            </a:r>
            <a:r>
              <a:rPr lang="zh-CN" altLang="en-US" sz="2800" b="1" dirty="0" smtClean="0">
                <a:solidFill>
                  <a:srgbClr val="0070C0"/>
                </a:solidFill>
                <a:latin typeface="微软雅黑" panose="020B0503020204020204" pitchFamily="34" charset="-122"/>
                <a:ea typeface="微软雅黑" panose="020B0503020204020204" pitchFamily="34" charset="-122"/>
              </a:rPr>
              <a:t>快速创建数组的</a:t>
            </a:r>
            <a:r>
              <a:rPr lang="zh-CN" altLang="en-US" sz="2800" b="1" dirty="0">
                <a:solidFill>
                  <a:srgbClr val="0070C0"/>
                </a:solidFill>
                <a:latin typeface="微软雅黑" panose="020B0503020204020204" pitchFamily="34" charset="-122"/>
                <a:ea typeface="微软雅黑" panose="020B0503020204020204" pitchFamily="34" charset="-122"/>
              </a:rPr>
              <a:t>函数</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1.3.3 </a:t>
            </a:r>
            <a:r>
              <a:rPr lang="en-US" altLang="zh-CN" sz="2800" b="1" dirty="0" err="1" smtClean="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数组的形状操作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660020" y="1424044"/>
            <a:ext cx="3442793" cy="3693319"/>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dirty="0">
                <a:latin typeface="Times New Roman" panose="02020603050405020304" pitchFamily="18" charset="0"/>
                <a:cs typeface="Times New Roman" panose="02020603050405020304" pitchFamily="18" charset="0"/>
              </a:rPr>
              <a:t>[[45 35 30 28]</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[45 16 52 63]</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rPr>
              <a:t>70 </a:t>
            </a:r>
            <a:r>
              <a:rPr lang="en-US" altLang="zh-CN" dirty="0" smtClean="0">
                <a:latin typeface="Times New Roman" panose="02020603050405020304" pitchFamily="18" charset="0"/>
                <a:cs typeface="Times New Roman" panose="02020603050405020304" pitchFamily="18" charset="0"/>
              </a:rPr>
              <a:t>20 </a:t>
            </a:r>
            <a:r>
              <a:rPr lang="en-US" altLang="zh-CN" dirty="0">
                <a:latin typeface="Times New Roman" panose="02020603050405020304" pitchFamily="18" charset="0"/>
                <a:cs typeface="Times New Roman" panose="02020603050405020304" pitchFamily="18" charset="0"/>
              </a:rPr>
              <a:t>5]]</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(3, 4)</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[45 35 30 28 45 16 52 63 </a:t>
            </a:r>
            <a:r>
              <a:rPr lang="en-US" altLang="zh-CN" dirty="0" smtClean="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rPr>
              <a:t>70 20 </a:t>
            </a:r>
            <a:r>
              <a:rPr lang="en-US" altLang="zh-CN" dirty="0" smtClean="0">
                <a:latin typeface="Times New Roman" panose="02020603050405020304" pitchFamily="18" charset="0"/>
                <a:cs typeface="Times New Roman" panose="02020603050405020304" pitchFamily="18" charset="0"/>
              </a:rPr>
              <a:t>5</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[[45 35]</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[30 28]</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[45 16]</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[52 63]</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rPr>
              <a:t>70]</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[20 </a:t>
            </a:r>
            <a:r>
              <a:rPr lang="en-US" altLang="zh-CN" dirty="0" smtClean="0">
                <a:latin typeface="Times New Roman" panose="02020603050405020304" pitchFamily="18" charset="0"/>
                <a:cs typeface="Times New Roman" panose="02020603050405020304" pitchFamily="18" charset="0"/>
              </a:rPr>
              <a:t>5</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[[45 30 45 52 </a:t>
            </a:r>
            <a:r>
              <a:rPr lang="en-US" altLang="zh-CN" dirty="0" smtClean="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rPr>
              <a:t>20]</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[35 28 16 63 70 </a:t>
            </a:r>
            <a:r>
              <a:rPr lang="en-US" altLang="zh-CN" dirty="0" smtClean="0">
                <a:latin typeface="Times New Roman" panose="02020603050405020304" pitchFamily="18" charset="0"/>
                <a:cs typeface="Times New Roman" panose="02020603050405020304" pitchFamily="18" charset="0"/>
              </a:rPr>
              <a:t>5</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217108" y="1443950"/>
            <a:ext cx="577764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a:t>
            </a:r>
            <a:r>
              <a:rPr lang="en-US" altLang="zh-CN" sz="2400" dirty="0" smtClean="0">
                <a:latin typeface="Times New Roman" panose="02020603050405020304" pitchFamily="18" charset="0"/>
                <a:cs typeface="Times New Roman" panose="02020603050405020304" pitchFamily="18" charset="0"/>
              </a:rPr>
              <a:t>np</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 = np.int32(100*</a:t>
            </a:r>
            <a:r>
              <a:rPr lang="en-US" altLang="zh-CN" sz="2400" dirty="0" err="1" smtClean="0">
                <a:latin typeface="Times New Roman" panose="02020603050405020304" pitchFamily="18" charset="0"/>
                <a:cs typeface="Times New Roman" panose="02020603050405020304" pitchFamily="18" charset="0"/>
              </a:rPr>
              <a:t>np.random.random</a:t>
            </a:r>
            <a:r>
              <a:rPr lang="en-US" altLang="zh-CN" sz="2400" dirty="0">
                <a:latin typeface="Times New Roman" panose="02020603050405020304" pitchFamily="18" charset="0"/>
                <a:cs typeface="Times New Roman" panose="02020603050405020304" pitchFamily="18" charset="0"/>
              </a:rPr>
              <a:t>((3,4</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print(a</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a:t>
            </a:r>
            <a:r>
              <a:rPr lang="en-US" altLang="zh-CN" sz="2400" dirty="0" err="1">
                <a:latin typeface="Times New Roman" panose="02020603050405020304" pitchFamily="18" charset="0"/>
                <a:cs typeface="Times New Roman" panose="02020603050405020304" pitchFamily="18" charset="0"/>
              </a:rPr>
              <a:t>a.shape</a:t>
            </a:r>
            <a:r>
              <a:rPr lang="en-US" altLang="zh-CN" sz="2400" dirty="0" smtClean="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b = </a:t>
            </a:r>
            <a:r>
              <a:rPr lang="en-US" altLang="zh-CN" sz="2400" dirty="0" err="1" smtClean="0">
                <a:latin typeface="Times New Roman" panose="02020603050405020304" pitchFamily="18" charset="0"/>
                <a:cs typeface="Times New Roman" panose="02020603050405020304" pitchFamily="18" charset="0"/>
              </a:rPr>
              <a:t>a.ravel</a:t>
            </a:r>
            <a:r>
              <a:rPr lang="en-US"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将数组</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扁平</a:t>
            </a:r>
            <a:r>
              <a:rPr lang="zh-CN" altLang="en-US" sz="2400" dirty="0" smtClean="0">
                <a:latin typeface="Times New Roman" panose="02020603050405020304" pitchFamily="18" charset="0"/>
                <a:cs typeface="Times New Roman" panose="02020603050405020304" pitchFamily="18" charset="0"/>
              </a:rPr>
              <a:t>化</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print(b)</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b.shape</a:t>
            </a:r>
            <a:r>
              <a:rPr lang="en-US" altLang="zh-CN" sz="2400" dirty="0" smtClean="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6</a:t>
            </a:r>
            <a:r>
              <a:rPr lang="en-US" altLang="zh-CN" sz="2400" dirty="0" smtClean="0">
                <a:latin typeface="Times New Roman" panose="02020603050405020304" pitchFamily="18" charset="0"/>
                <a:cs typeface="Times New Roman" panose="02020603050405020304" pitchFamily="18" charset="0"/>
              </a:rPr>
              <a:t>, 2)    #</a:t>
            </a:r>
            <a:r>
              <a:rPr lang="zh-CN" altLang="en-US" sz="2400" dirty="0">
                <a:latin typeface="Times New Roman" panose="02020603050405020304" pitchFamily="18" charset="0"/>
                <a:cs typeface="Times New Roman" panose="02020603050405020304" pitchFamily="18" charset="0"/>
              </a:rPr>
              <a:t>改变数组</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的维度</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 (b)</a:t>
            </a:r>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c = </a:t>
            </a:r>
            <a:r>
              <a:rPr lang="en-US" altLang="zh-CN" sz="2400" dirty="0" err="1" smtClean="0">
                <a:latin typeface="Times New Roman" panose="02020603050405020304" pitchFamily="18" charset="0"/>
                <a:cs typeface="Times New Roman" panose="02020603050405020304" pitchFamily="18" charset="0"/>
              </a:rPr>
              <a:t>b.transpose</a:t>
            </a:r>
            <a:r>
              <a:rPr lang="en-US"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转置数组</a:t>
            </a:r>
            <a:r>
              <a:rPr lang="en-US" altLang="zh-CN" sz="2400" dirty="0">
                <a:latin typeface="Times New Roman" panose="02020603050405020304" pitchFamily="18" charset="0"/>
                <a:cs typeface="Times New Roman" panose="02020603050405020304" pitchFamily="18" charset="0"/>
              </a:rPr>
              <a:t>b</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 (c</a:t>
            </a:r>
            <a:r>
              <a:rPr lang="en-US" altLang="zh-CN" sz="2400" dirty="0" smtClean="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623382"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1-11] </a:t>
            </a:r>
            <a:r>
              <a:rPr lang="zh-CN" altLang="en-US" sz="2800" b="1" dirty="0" smtClean="0">
                <a:solidFill>
                  <a:srgbClr val="0070C0"/>
                </a:solidFill>
                <a:latin typeface="微软雅黑" panose="020B0503020204020204" pitchFamily="34" charset="-122"/>
                <a:ea typeface="微软雅黑" panose="020B0503020204020204" pitchFamily="34" charset="-122"/>
              </a:rPr>
              <a:t>更改数</a:t>
            </a:r>
            <a:r>
              <a:rPr lang="zh-CN" altLang="en-US" sz="2800" b="1" dirty="0">
                <a:solidFill>
                  <a:srgbClr val="0070C0"/>
                </a:solidFill>
                <a:latin typeface="微软雅黑" panose="020B0503020204020204" pitchFamily="34" charset="-122"/>
                <a:ea typeface="微软雅黑" panose="020B0503020204020204" pitchFamily="34" charset="-122"/>
              </a:rPr>
              <a:t>组的形状</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14446" y="5667214"/>
            <a:ext cx="5644419" cy="887362"/>
            <a:chOff x="6339097" y="1573725"/>
            <a:chExt cx="3744416" cy="887824"/>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9"/>
            </a:xfrm>
            <a:prstGeom prst="rect">
              <a:avLst/>
            </a:prstGeom>
          </p:spPr>
          <p:txBody>
            <a:bodyPr wrap="square" lIns="121897" tIns="60948" rIns="121897" bIns="60948">
              <a:spAutoFit/>
            </a:bodyPr>
            <a:lstStyle/>
            <a:p>
              <a:pPr defTabSz="1218565">
                <a:defRPr/>
              </a:pP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np.random.random()</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，前面的表示</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模块，后面是</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提取数组中的行或列</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Numpy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数组中的元素可以通过下标来访问。对于多维数组，每个维之间用逗号</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隔开</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1.3.4 </a:t>
            </a:r>
            <a:r>
              <a:rPr lang="zh-CN" altLang="en-US" sz="2800" b="1" dirty="0" smtClean="0">
                <a:solidFill>
                  <a:srgbClr val="0070C0"/>
                </a:solidFill>
                <a:latin typeface="微软雅黑" panose="020B0503020204020204" pitchFamily="34" charset="-122"/>
                <a:ea typeface="微软雅黑" panose="020B0503020204020204" pitchFamily="34" charset="-122"/>
              </a:rPr>
              <a:t>提取</a:t>
            </a:r>
            <a:r>
              <a:rPr lang="zh-CN" altLang="en-US" sz="2800" b="1" dirty="0">
                <a:solidFill>
                  <a:srgbClr val="0070C0"/>
                </a:solidFill>
                <a:latin typeface="微软雅黑" panose="020B0503020204020204" pitchFamily="34" charset="-122"/>
                <a:ea typeface="微软雅黑" panose="020B0503020204020204" pitchFamily="34" charset="-122"/>
              </a:rPr>
              <a:t>数组的行或</a:t>
            </a:r>
            <a:r>
              <a:rPr lang="zh-CN" altLang="en-US" sz="2800" b="1" dirty="0" smtClean="0">
                <a:solidFill>
                  <a:srgbClr val="0070C0"/>
                </a:solidFill>
                <a:latin typeface="微软雅黑" panose="020B0503020204020204" pitchFamily="34" charset="-122"/>
                <a:ea typeface="微软雅黑" panose="020B0503020204020204" pitchFamily="34" charset="-122"/>
              </a:rPr>
              <a:t>列</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754825" y="2784951"/>
          <a:ext cx="8008175" cy="3840480"/>
        </p:xfrm>
        <a:graphic>
          <a:graphicData uri="http://schemas.openxmlformats.org/drawingml/2006/table">
            <a:tbl>
              <a:tblPr firstRow="1" firstCol="1" bandRow="1">
                <a:tableStyleId>{5C22544A-7EE6-4342-B048-85BDC9FD1C3A}</a:tableStyleId>
              </a:tblPr>
              <a:tblGrid>
                <a:gridCol w="1242695"/>
                <a:gridCol w="6765480"/>
              </a:tblGrid>
              <a:tr h="0">
                <a:tc>
                  <a:txBody>
                    <a:bodyPr/>
                    <a:lstStyle/>
                    <a:p>
                      <a:pPr algn="ctr">
                        <a:lnSpc>
                          <a:spcPct val="150000"/>
                        </a:lnSpc>
                        <a:spcAft>
                          <a:spcPts val="0"/>
                        </a:spcAft>
                      </a:pPr>
                      <a:r>
                        <a:rPr lang="zh-CN" altLang="en-US" sz="2400" kern="100" dirty="0" smtClean="0">
                          <a:effectLst/>
                          <a:latin typeface="Calibri" panose="020F0502020204030204"/>
                          <a:ea typeface="宋体" panose="02010600030101010101" pitchFamily="2" charset="-122"/>
                          <a:cs typeface="Times New Roman" panose="02020603050405020304"/>
                        </a:rPr>
                        <a:t>形式</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ctr">
                        <a:lnSpc>
                          <a:spcPct val="150000"/>
                        </a:lnSpc>
                        <a:spcAft>
                          <a:spcPts val="0"/>
                        </a:spcAft>
                      </a:pPr>
                      <a:r>
                        <a:rPr lang="zh-CN" altLang="en-US" sz="2400" kern="100" dirty="0" smtClean="0">
                          <a:effectLst/>
                        </a:rPr>
                        <a:t>功 能 </a:t>
                      </a:r>
                      <a:r>
                        <a:rPr lang="zh-CN" sz="2400" kern="100" dirty="0" smtClean="0">
                          <a:effectLst/>
                        </a:rPr>
                        <a:t>描</a:t>
                      </a:r>
                      <a:r>
                        <a:rPr lang="en-US" altLang="zh-CN" sz="2400" kern="100" dirty="0" smtClean="0">
                          <a:effectLst/>
                        </a:rPr>
                        <a:t> </a:t>
                      </a:r>
                      <a:r>
                        <a:rPr lang="zh-CN" sz="2400" kern="100" dirty="0" smtClean="0">
                          <a:effectLst/>
                        </a:rPr>
                        <a:t>述</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r>
              <a:tr h="0">
                <a:tc>
                  <a:txBody>
                    <a:bodyPr/>
                    <a:lstStyle/>
                    <a:p>
                      <a:pPr algn="just">
                        <a:lnSpc>
                          <a:spcPct val="150000"/>
                        </a:lnSpc>
                        <a:spcAft>
                          <a:spcPts val="0"/>
                        </a:spcAft>
                      </a:pPr>
                      <a:r>
                        <a:rPr lang="en-US" sz="2400" kern="100" dirty="0">
                          <a:effectLst/>
                        </a:rPr>
                        <a:t>a[i]</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zh-CN" sz="2400" kern="100" dirty="0">
                          <a:effectLst/>
                        </a:rPr>
                        <a:t>访问第</a:t>
                      </a:r>
                      <a:r>
                        <a:rPr lang="en-US" sz="2400" kern="100" dirty="0">
                          <a:effectLst/>
                        </a:rPr>
                        <a:t>i</a:t>
                      </a:r>
                      <a:r>
                        <a:rPr lang="zh-CN" sz="2400" kern="100" dirty="0">
                          <a:effectLst/>
                        </a:rPr>
                        <a:t>个元素，如果是二维数组，表示访问第</a:t>
                      </a:r>
                      <a:r>
                        <a:rPr lang="en-US" sz="2400" kern="100" dirty="0">
                          <a:effectLst/>
                        </a:rPr>
                        <a:t>i</a:t>
                      </a:r>
                      <a:r>
                        <a:rPr lang="zh-CN" sz="2400" kern="100" dirty="0">
                          <a:effectLst/>
                        </a:rPr>
                        <a:t>行</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r>
              <a:tr h="0">
                <a:tc>
                  <a:txBody>
                    <a:bodyPr/>
                    <a:lstStyle/>
                    <a:p>
                      <a:pPr algn="just">
                        <a:lnSpc>
                          <a:spcPct val="150000"/>
                        </a:lnSpc>
                        <a:spcAft>
                          <a:spcPts val="0"/>
                        </a:spcAft>
                      </a:pPr>
                      <a:r>
                        <a:rPr lang="en-US" sz="2400" kern="100" dirty="0">
                          <a:effectLst/>
                        </a:rPr>
                        <a:t>a[-i]</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zh-CN" sz="2400" kern="100">
                          <a:effectLst/>
                        </a:rPr>
                        <a:t>访问倒数第</a:t>
                      </a:r>
                      <a:r>
                        <a:rPr lang="en-US" sz="2400" kern="100">
                          <a:effectLst/>
                        </a:rPr>
                        <a:t>i</a:t>
                      </a:r>
                      <a:r>
                        <a:rPr lang="zh-CN" sz="2400" kern="100">
                          <a:effectLst/>
                        </a:rPr>
                        <a:t>个元素（从后向前索引）</a:t>
                      </a:r>
                      <a:endParaRPr lang="zh-CN" sz="2400" kern="100">
                        <a:effectLst/>
                        <a:latin typeface="Calibri" panose="020F0502020204030204"/>
                        <a:ea typeface="宋体" panose="02010600030101010101" pitchFamily="2" charset="-122"/>
                        <a:cs typeface="Times New Roman" panose="02020603050405020304"/>
                      </a:endParaRPr>
                    </a:p>
                  </a:txBody>
                  <a:tcPr marL="68580" marR="68580" marT="0" marB="0"/>
                </a:tc>
              </a:tr>
              <a:tr h="0">
                <a:tc>
                  <a:txBody>
                    <a:bodyPr/>
                    <a:lstStyle/>
                    <a:p>
                      <a:pPr algn="just">
                        <a:lnSpc>
                          <a:spcPct val="150000"/>
                        </a:lnSpc>
                        <a:spcAft>
                          <a:spcPts val="0"/>
                        </a:spcAft>
                      </a:pPr>
                      <a:r>
                        <a:rPr lang="en-US" sz="2400" kern="100" dirty="0">
                          <a:effectLst/>
                        </a:rPr>
                        <a:t>a[n:m]</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zh-CN" sz="2400" kern="100">
                          <a:effectLst/>
                        </a:rPr>
                        <a:t>访问第</a:t>
                      </a:r>
                      <a:r>
                        <a:rPr lang="en-US" sz="2400" kern="100">
                          <a:effectLst/>
                        </a:rPr>
                        <a:t>n</a:t>
                      </a:r>
                      <a:r>
                        <a:rPr lang="zh-CN" sz="2400" kern="100">
                          <a:effectLst/>
                        </a:rPr>
                        <a:t>到第</a:t>
                      </a:r>
                      <a:r>
                        <a:rPr lang="en-US" sz="2400" kern="100">
                          <a:effectLst/>
                        </a:rPr>
                        <a:t>m-1</a:t>
                      </a:r>
                      <a:r>
                        <a:rPr lang="zh-CN" sz="2400" kern="100">
                          <a:effectLst/>
                        </a:rPr>
                        <a:t>个元素，索引从</a:t>
                      </a:r>
                      <a:r>
                        <a:rPr lang="en-US" sz="2400" kern="100">
                          <a:effectLst/>
                        </a:rPr>
                        <a:t>0</a:t>
                      </a:r>
                      <a:r>
                        <a:rPr lang="zh-CN" sz="2400" kern="100">
                          <a:effectLst/>
                        </a:rPr>
                        <a:t>开始</a:t>
                      </a:r>
                      <a:endParaRPr lang="zh-CN" sz="2400" kern="100">
                        <a:effectLst/>
                        <a:latin typeface="Calibri" panose="020F0502020204030204"/>
                        <a:ea typeface="宋体" panose="02010600030101010101" pitchFamily="2" charset="-122"/>
                        <a:cs typeface="Times New Roman" panose="02020603050405020304"/>
                      </a:endParaRPr>
                    </a:p>
                  </a:txBody>
                  <a:tcPr marL="68580" marR="68580" marT="0" marB="0"/>
                </a:tc>
              </a:tr>
              <a:tr h="0">
                <a:tc>
                  <a:txBody>
                    <a:bodyPr/>
                    <a:lstStyle/>
                    <a:p>
                      <a:pPr algn="just">
                        <a:lnSpc>
                          <a:spcPct val="150000"/>
                        </a:lnSpc>
                        <a:spcAft>
                          <a:spcPts val="0"/>
                        </a:spcAft>
                      </a:pPr>
                      <a:r>
                        <a:rPr lang="en-US" sz="2400" kern="100" dirty="0">
                          <a:effectLst/>
                        </a:rPr>
                        <a:t>a[-n:-m]</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zh-CN" sz="2400" kern="100" dirty="0">
                          <a:effectLst/>
                        </a:rPr>
                        <a:t>访问倒数第</a:t>
                      </a:r>
                      <a:r>
                        <a:rPr lang="en-US" sz="2400" kern="100" dirty="0">
                          <a:effectLst/>
                        </a:rPr>
                        <a:t>n</a:t>
                      </a:r>
                      <a:r>
                        <a:rPr lang="zh-CN" sz="2400" kern="100" dirty="0">
                          <a:effectLst/>
                        </a:rPr>
                        <a:t>到倒数第</a:t>
                      </a:r>
                      <a:r>
                        <a:rPr lang="en-US" sz="2400" kern="100" dirty="0">
                          <a:effectLst/>
                        </a:rPr>
                        <a:t>m-1</a:t>
                      </a:r>
                      <a:r>
                        <a:rPr lang="zh-CN" sz="2400" kern="100" dirty="0">
                          <a:effectLst/>
                        </a:rPr>
                        <a:t>个元素</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r>
              <a:tr h="0">
                <a:tc>
                  <a:txBody>
                    <a:bodyPr/>
                    <a:lstStyle/>
                    <a:p>
                      <a:pPr algn="just">
                        <a:lnSpc>
                          <a:spcPct val="150000"/>
                        </a:lnSpc>
                        <a:spcAft>
                          <a:spcPts val="0"/>
                        </a:spcAft>
                      </a:pPr>
                      <a:r>
                        <a:rPr lang="en-US" sz="2400" kern="100">
                          <a:effectLst/>
                        </a:rPr>
                        <a:t>a[n:m:i]</a:t>
                      </a:r>
                      <a:endParaRPr lang="zh-CN" sz="24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zh-CN" sz="2400" kern="100" dirty="0">
                          <a:effectLst/>
                        </a:rPr>
                        <a:t>访问第</a:t>
                      </a:r>
                      <a:r>
                        <a:rPr lang="en-US" sz="2400" kern="100" dirty="0">
                          <a:effectLst/>
                        </a:rPr>
                        <a:t>n</a:t>
                      </a:r>
                      <a:r>
                        <a:rPr lang="zh-CN" sz="2400" kern="100" dirty="0">
                          <a:effectLst/>
                        </a:rPr>
                        <a:t>到第</a:t>
                      </a:r>
                      <a:r>
                        <a:rPr lang="en-US" sz="2400" kern="100" dirty="0">
                          <a:effectLst/>
                        </a:rPr>
                        <a:t>m-1</a:t>
                      </a:r>
                      <a:r>
                        <a:rPr lang="zh-CN" sz="2400" kern="100" dirty="0">
                          <a:effectLst/>
                        </a:rPr>
                        <a:t>中步长为</a:t>
                      </a:r>
                      <a:r>
                        <a:rPr lang="en-US" sz="2400" kern="100" dirty="0">
                          <a:effectLst/>
                        </a:rPr>
                        <a:t>i</a:t>
                      </a:r>
                      <a:r>
                        <a:rPr lang="zh-CN" sz="2400" kern="100" dirty="0">
                          <a:effectLst/>
                        </a:rPr>
                        <a:t>的元素</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r>
              <a:tr h="0">
                <a:tc>
                  <a:txBody>
                    <a:bodyPr/>
                    <a:lstStyle/>
                    <a:p>
                      <a:pPr algn="just">
                        <a:lnSpc>
                          <a:spcPct val="150000"/>
                        </a:lnSpc>
                        <a:spcAft>
                          <a:spcPts val="0"/>
                        </a:spcAft>
                      </a:pPr>
                      <a:r>
                        <a:rPr lang="en-US" sz="2400" kern="100">
                          <a:effectLst/>
                        </a:rPr>
                        <a:t>a[:,i]</a:t>
                      </a:r>
                      <a:endParaRPr lang="zh-CN" sz="24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zh-CN" sz="2400" kern="100" dirty="0">
                          <a:effectLst/>
                        </a:rPr>
                        <a:t>仅用于二维数组，表示访问第</a:t>
                      </a:r>
                      <a:r>
                        <a:rPr lang="en-US" sz="2400" kern="100" dirty="0">
                          <a:effectLst/>
                        </a:rPr>
                        <a:t>i</a:t>
                      </a:r>
                      <a:r>
                        <a:rPr lang="zh-CN" sz="2400" kern="100" dirty="0">
                          <a:effectLst/>
                        </a:rPr>
                        <a:t>列</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r>
            </a:tbl>
          </a:graphicData>
        </a:graphic>
      </p:graphicFrame>
    </p:spTree>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1.3.4 </a:t>
            </a:r>
            <a:r>
              <a:rPr lang="zh-CN" altLang="en-US" sz="2800" b="1" dirty="0" smtClean="0">
                <a:solidFill>
                  <a:srgbClr val="0070C0"/>
                </a:solidFill>
                <a:latin typeface="微软雅黑" panose="020B0503020204020204" pitchFamily="34" charset="-122"/>
                <a:ea typeface="微软雅黑" panose="020B0503020204020204" pitchFamily="34" charset="-122"/>
              </a:rPr>
              <a:t>提取</a:t>
            </a:r>
            <a:r>
              <a:rPr lang="zh-CN" altLang="en-US" sz="2800" b="1" dirty="0">
                <a:solidFill>
                  <a:srgbClr val="0070C0"/>
                </a:solidFill>
                <a:latin typeface="微软雅黑" panose="020B0503020204020204" pitchFamily="34" charset="-122"/>
                <a:ea typeface="微软雅黑" panose="020B0503020204020204" pitchFamily="34" charset="-122"/>
              </a:rPr>
              <a:t>数组的行或列</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561120" y="3843481"/>
            <a:ext cx="4805593" cy="1015663"/>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2000" dirty="0">
                <a:latin typeface="Times New Roman" panose="02020603050405020304" pitchFamily="18" charset="0"/>
                <a:cs typeface="Times New Roman" panose="02020603050405020304" pitchFamily="18" charset="0"/>
              </a:rPr>
              <a:t>[0] [1 2] [4 3 2 1 0] [1 3]</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[[10 11</a:t>
            </a:r>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20 21</a:t>
            </a:r>
            <a:r>
              <a:rPr lang="en-US" altLang="zh-CN" sz="2000" dirty="0" smtClean="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 1 2 3]] </a:t>
            </a:r>
            <a:r>
              <a:rPr lang="en-US" altLang="zh-CN" sz="2000" dirty="0" smtClean="0">
                <a:latin typeface="Times New Roman" panose="02020603050405020304" pitchFamily="18" charset="0"/>
                <a:cs typeface="Times New Roman" panose="02020603050405020304" pitchFamily="18" charset="0"/>
              </a:rPr>
              <a:t>[1 11 </a:t>
            </a:r>
            <a:r>
              <a:rPr lang="en-US" altLang="zh-CN" sz="2000" dirty="0">
                <a:latin typeface="Times New Roman" panose="02020603050405020304" pitchFamily="18" charset="0"/>
                <a:cs typeface="Times New Roman" panose="02020603050405020304" pitchFamily="18" charset="0"/>
              </a:rPr>
              <a:t>21 31] </a:t>
            </a:r>
            <a:r>
              <a:rPr lang="en-US" altLang="zh-CN" sz="2000" dirty="0" smtClean="0">
                <a:latin typeface="Times New Roman" panose="02020603050405020304" pitchFamily="18" charset="0"/>
                <a:cs typeface="Times New Roman" panose="02020603050405020304" pitchFamily="18" charset="0"/>
              </a:rPr>
              <a:t>[</a:t>
            </a:r>
            <a:r>
              <a:rPr lang="en-US" altLang="zh-CN" sz="2000" dirty="0" smtClean="0">
                <a:solidFill>
                  <a:schemeClr val="accent1"/>
                </a:solidFill>
                <a:latin typeface="Times New Roman" panose="02020603050405020304" pitchFamily="18" charset="0"/>
                <a:cs typeface="Times New Roman" panose="02020603050405020304" pitchFamily="18" charset="0"/>
              </a:rPr>
              <a:t>3 </a:t>
            </a:r>
            <a:r>
              <a:rPr lang="en-US" altLang="zh-CN" sz="2000" dirty="0">
                <a:solidFill>
                  <a:schemeClr val="accent1"/>
                </a:solidFill>
                <a:latin typeface="Times New Roman" panose="02020603050405020304" pitchFamily="18" charset="0"/>
                <a:cs typeface="Times New Roman" panose="02020603050405020304" pitchFamily="18" charset="0"/>
              </a:rPr>
              <a:t>13 23 33</a:t>
            </a:r>
            <a:r>
              <a:rPr lang="en-US" altLang="zh-CN" sz="2000" dirty="0">
                <a:latin typeface="Times New Roman" panose="02020603050405020304" pitchFamily="18" charset="0"/>
                <a:cs typeface="Times New Roman" panose="02020603050405020304" pitchFamily="18" charset="0"/>
              </a:rPr>
              <a:t>]</a:t>
            </a:r>
            <a:endParaRPr lang="zh-CN" altLang="zh-CN" sz="20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40816" y="1471370"/>
            <a:ext cx="8959472"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200" dirty="0">
                <a:latin typeface="Times New Roman" panose="02020603050405020304" pitchFamily="18" charset="0"/>
                <a:cs typeface="Times New Roman" panose="02020603050405020304" pitchFamily="18" charset="0"/>
              </a:rPr>
              <a:t>import numpy as np  </a:t>
            </a:r>
            <a:endParaRPr lang="zh-CN" altLang="en-US" sz="2200" dirty="0">
              <a:latin typeface="Times New Roman" panose="02020603050405020304" pitchFamily="18" charset="0"/>
              <a:cs typeface="Times New Roman" panose="02020603050405020304" pitchFamily="18" charset="0"/>
            </a:endParaRPr>
          </a:p>
          <a:p>
            <a:r>
              <a:rPr lang="en-US" altLang="zh-CN" sz="2200" dirty="0" smtClean="0">
                <a:latin typeface="Times New Roman" panose="02020603050405020304" pitchFamily="18" charset="0"/>
                <a:cs typeface="Times New Roman" panose="02020603050405020304" pitchFamily="18" charset="0"/>
              </a:rPr>
              <a:t>a = </a:t>
            </a:r>
            <a:r>
              <a:rPr lang="en-US" altLang="zh-CN" sz="2200" dirty="0" err="1" smtClean="0">
                <a:latin typeface="Times New Roman" panose="02020603050405020304" pitchFamily="18" charset="0"/>
                <a:cs typeface="Times New Roman" panose="02020603050405020304" pitchFamily="18" charset="0"/>
              </a:rPr>
              <a:t>np.array</a:t>
            </a:r>
            <a:r>
              <a:rPr lang="en-US" altLang="zh-CN" sz="2200" dirty="0">
                <a:latin typeface="Times New Roman" panose="02020603050405020304" pitchFamily="18" charset="0"/>
                <a:cs typeface="Times New Roman" panose="02020603050405020304" pitchFamily="18" charset="0"/>
              </a:rPr>
              <a:t>([0</a:t>
            </a:r>
            <a:r>
              <a:rPr lang="en-US" altLang="zh-CN" sz="2200" dirty="0" smtClean="0">
                <a:latin typeface="Times New Roman" panose="02020603050405020304" pitchFamily="18" charset="0"/>
                <a:cs typeface="Times New Roman" panose="02020603050405020304" pitchFamily="18" charset="0"/>
              </a:rPr>
              <a:t>, 1, 2, 3, 4</a:t>
            </a:r>
            <a:r>
              <a:rPr lang="en-US" altLang="zh-CN" sz="2200" dirty="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r>
              <a:rPr lang="en-US" altLang="zh-CN" sz="2200" dirty="0" smtClean="0">
                <a:latin typeface="Times New Roman" panose="02020603050405020304" pitchFamily="18" charset="0"/>
                <a:cs typeface="Times New Roman" panose="02020603050405020304" pitchFamily="18" charset="0"/>
              </a:rPr>
              <a:t>b = </a:t>
            </a:r>
            <a:r>
              <a:rPr lang="en-US" altLang="zh-CN" sz="2200" dirty="0" err="1" smtClean="0">
                <a:latin typeface="Times New Roman" panose="02020603050405020304" pitchFamily="18" charset="0"/>
                <a:cs typeface="Times New Roman" panose="02020603050405020304" pitchFamily="18" charset="0"/>
              </a:rPr>
              <a:t>np.array</a:t>
            </a:r>
            <a:r>
              <a:rPr lang="en-US" altLang="zh-CN" sz="2200" dirty="0">
                <a:latin typeface="Times New Roman" panose="02020603050405020304" pitchFamily="18" charset="0"/>
                <a:cs typeface="Times New Roman" panose="02020603050405020304" pitchFamily="18" charset="0"/>
              </a:rPr>
              <a:t>([[0</a:t>
            </a:r>
            <a:r>
              <a:rPr lang="en-US" altLang="zh-CN" sz="2200" dirty="0" smtClean="0">
                <a:latin typeface="Times New Roman" panose="02020603050405020304" pitchFamily="18" charset="0"/>
                <a:cs typeface="Times New Roman" panose="02020603050405020304" pitchFamily="18" charset="0"/>
              </a:rPr>
              <a:t>, 1, 2, 3], [</a:t>
            </a:r>
            <a:r>
              <a:rPr lang="en-US" altLang="zh-CN" sz="2200" dirty="0">
                <a:latin typeface="Times New Roman" panose="02020603050405020304" pitchFamily="18" charset="0"/>
                <a:cs typeface="Times New Roman" panose="02020603050405020304" pitchFamily="18" charset="0"/>
              </a:rPr>
              <a:t>10</a:t>
            </a:r>
            <a:r>
              <a:rPr lang="en-US" altLang="zh-CN" sz="2200" dirty="0" smtClean="0">
                <a:latin typeface="Times New Roman" panose="02020603050405020304" pitchFamily="18" charset="0"/>
                <a:cs typeface="Times New Roman" panose="02020603050405020304" pitchFamily="18" charset="0"/>
              </a:rPr>
              <a:t>, 11, 12, 13], [</a:t>
            </a:r>
            <a:r>
              <a:rPr lang="en-US" altLang="zh-CN" sz="2200" dirty="0">
                <a:latin typeface="Times New Roman" panose="02020603050405020304" pitchFamily="18" charset="0"/>
                <a:cs typeface="Times New Roman" panose="02020603050405020304" pitchFamily="18" charset="0"/>
              </a:rPr>
              <a:t>20</a:t>
            </a:r>
            <a:r>
              <a:rPr lang="en-US" altLang="zh-CN" sz="2200" dirty="0" smtClean="0">
                <a:latin typeface="Times New Roman" panose="02020603050405020304" pitchFamily="18" charset="0"/>
                <a:cs typeface="Times New Roman" panose="02020603050405020304" pitchFamily="18" charset="0"/>
              </a:rPr>
              <a:t>, 21, 22, 23], [</a:t>
            </a:r>
            <a:r>
              <a:rPr lang="en-US" altLang="zh-CN" sz="2200" dirty="0">
                <a:latin typeface="Times New Roman" panose="02020603050405020304" pitchFamily="18" charset="0"/>
                <a:cs typeface="Times New Roman" panose="02020603050405020304" pitchFamily="18" charset="0"/>
              </a:rPr>
              <a:t>30</a:t>
            </a:r>
            <a:r>
              <a:rPr lang="en-US" altLang="zh-CN" sz="2200" dirty="0" smtClean="0">
                <a:latin typeface="Times New Roman" panose="02020603050405020304" pitchFamily="18" charset="0"/>
                <a:cs typeface="Times New Roman" panose="02020603050405020304" pitchFamily="18" charset="0"/>
              </a:rPr>
              <a:t>, 31, 32, 33</a:t>
            </a:r>
            <a:r>
              <a:rPr lang="en-US" altLang="zh-CN" sz="2200" dirty="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r>
              <a:rPr lang="en-US" altLang="zh-CN" sz="2200" dirty="0">
                <a:latin typeface="Times New Roman" panose="02020603050405020304" pitchFamily="18" charset="0"/>
                <a:cs typeface="Times New Roman" panose="02020603050405020304" pitchFamily="18" charset="0"/>
              </a:rPr>
              <a:t>print(a[:1</a:t>
            </a:r>
            <a:r>
              <a:rPr lang="en-US" altLang="zh-CN" sz="2200" dirty="0" smtClean="0">
                <a:latin typeface="Times New Roman" panose="02020603050405020304" pitchFamily="18" charset="0"/>
                <a:cs typeface="Times New Roman" panose="02020603050405020304" pitchFamily="18" charset="0"/>
              </a:rPr>
              <a:t>], a[1:3], a</a:t>
            </a:r>
            <a:r>
              <a:rPr lang="en-US" altLang="zh-CN" sz="2200" dirty="0">
                <a:latin typeface="Times New Roman" panose="02020603050405020304" pitchFamily="18" charset="0"/>
                <a:cs typeface="Times New Roman" panose="02020603050405020304" pitchFamily="18" charset="0"/>
              </a:rPr>
              <a:t>[::-1</a:t>
            </a:r>
            <a:r>
              <a:rPr lang="en-US" altLang="zh-CN" sz="2200" dirty="0" smtClean="0">
                <a:latin typeface="Times New Roman" panose="02020603050405020304" pitchFamily="18" charset="0"/>
                <a:cs typeface="Times New Roman" panose="02020603050405020304" pitchFamily="18" charset="0"/>
              </a:rPr>
              <a:t>], a[1</a:t>
            </a:r>
            <a:r>
              <a:rPr lang="en-US" altLang="zh-CN" sz="2200" dirty="0">
                <a:latin typeface="Times New Roman" panose="02020603050405020304" pitchFamily="18" charset="0"/>
                <a:cs typeface="Times New Roman" panose="02020603050405020304" pitchFamily="18" charset="0"/>
              </a:rPr>
              <a:t>:-1:2],)</a:t>
            </a:r>
            <a:endParaRPr lang="en-US" altLang="zh-CN" sz="2200" dirty="0">
              <a:latin typeface="Times New Roman" panose="02020603050405020304" pitchFamily="18" charset="0"/>
              <a:cs typeface="Times New Roman" panose="02020603050405020304" pitchFamily="18" charset="0"/>
            </a:endParaRPr>
          </a:p>
          <a:p>
            <a:r>
              <a:rPr lang="en-US" altLang="zh-CN" sz="2200" dirty="0">
                <a:latin typeface="Times New Roman" panose="02020603050405020304" pitchFamily="18" charset="0"/>
                <a:cs typeface="Times New Roman" panose="02020603050405020304" pitchFamily="18" charset="0"/>
              </a:rPr>
              <a:t>print(b[1:-1,:2</a:t>
            </a:r>
            <a:r>
              <a:rPr lang="en-US" altLang="zh-CN" sz="2200" dirty="0" smtClean="0">
                <a:latin typeface="Times New Roman" panose="02020603050405020304" pitchFamily="18" charset="0"/>
                <a:cs typeface="Times New Roman" panose="02020603050405020304" pitchFamily="18" charset="0"/>
              </a:rPr>
              <a:t>], b</a:t>
            </a:r>
            <a:r>
              <a:rPr lang="en-US" altLang="zh-CN" sz="2200" dirty="0">
                <a:latin typeface="Times New Roman" panose="02020603050405020304" pitchFamily="18" charset="0"/>
                <a:cs typeface="Times New Roman" panose="02020603050405020304" pitchFamily="18" charset="0"/>
              </a:rPr>
              <a:t>[:1</a:t>
            </a:r>
            <a:r>
              <a:rPr lang="en-US" altLang="zh-CN" sz="2200" dirty="0" smtClean="0">
                <a:latin typeface="Times New Roman" panose="02020603050405020304" pitchFamily="18" charset="0"/>
                <a:cs typeface="Times New Roman" panose="02020603050405020304" pitchFamily="18" charset="0"/>
              </a:rPr>
              <a:t>], b</a:t>
            </a:r>
            <a:r>
              <a:rPr lang="en-US" altLang="zh-CN" sz="2200" dirty="0">
                <a:latin typeface="Times New Roman" panose="02020603050405020304" pitchFamily="18" charset="0"/>
                <a:cs typeface="Times New Roman" panose="02020603050405020304" pitchFamily="18" charset="0"/>
              </a:rPr>
              <a:t>[:,1</a:t>
            </a:r>
            <a:r>
              <a:rPr lang="en-US" altLang="zh-CN" sz="2200" dirty="0" smtClean="0">
                <a:latin typeface="Times New Roman" panose="02020603050405020304" pitchFamily="18" charset="0"/>
                <a:cs typeface="Times New Roman" panose="02020603050405020304" pitchFamily="18" charset="0"/>
              </a:rPr>
              <a:t>], b</a:t>
            </a:r>
            <a:r>
              <a:rPr lang="en-US" altLang="zh-CN" sz="2200" dirty="0">
                <a:latin typeface="Times New Roman" panose="02020603050405020304" pitchFamily="18" charset="0"/>
                <a:cs typeface="Times New Roman" panose="02020603050405020304" pitchFamily="18" charset="0"/>
              </a:rPr>
              <a:t>[:,-1]) </a:t>
            </a:r>
            <a:endParaRPr lang="zh-CN" altLang="zh-CN" sz="22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982454"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1-12] </a:t>
            </a:r>
            <a:r>
              <a:rPr lang="zh-CN" altLang="en-US" sz="2800" b="1" dirty="0" smtClean="0">
                <a:solidFill>
                  <a:srgbClr val="0070C0"/>
                </a:solidFill>
                <a:latin typeface="微软雅黑" panose="020B0503020204020204" pitchFamily="34" charset="-122"/>
                <a:ea typeface="微软雅黑" panose="020B0503020204020204" pitchFamily="34" charset="-122"/>
              </a:rPr>
              <a:t>提取数组中行或列</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61120" y="3297523"/>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860657" y="4840656"/>
            <a:ext cx="4283343" cy="2017344"/>
            <a:chOff x="6339097" y="1573726"/>
            <a:chExt cx="3744416" cy="1086035"/>
          </a:xfrm>
        </p:grpSpPr>
        <p:sp>
          <p:nvSpPr>
            <p:cNvPr id="11" name="圆角矩形 10"/>
            <p:cNvSpPr/>
            <p:nvPr/>
          </p:nvSpPr>
          <p:spPr>
            <a:xfrm>
              <a:off x="6339097" y="1573726"/>
              <a:ext cx="3744416" cy="1077175"/>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1060411"/>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b[:,-1]) </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在机器学习中特别有</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用，分类的数据集中，前面</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列是特征属性，而最后一列是类别属性，通</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过</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就能将最后一列提取</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出来</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Numpy</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矩阵：</a:t>
            </a:r>
            <a:r>
              <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matrix</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Numpy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库中提供了矩阵对象</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matrix</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，能够实现矩阵数据的处理，包括矩阵的计算、转置、可逆性及基本的统计功能，还包括对复数的处</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理。</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zh-CN" sz="2400" dirty="0" smtClean="0">
                <a:solidFill>
                  <a:schemeClr val="accent1"/>
                </a:solidFill>
                <a:latin typeface="Times New Roman" panose="02020603050405020304" pitchFamily="18" charset="0"/>
                <a:cs typeface="Times New Roman" panose="02020603050405020304" pitchFamily="18" charset="0"/>
              </a:rPr>
              <a:t>矩阵对象的属性如下：</a:t>
            </a:r>
            <a:endParaRPr lang="zh-CN" altLang="zh-CN" sz="2400" dirty="0" smtClean="0">
              <a:solidFill>
                <a:schemeClr val="accent1"/>
              </a:solidFill>
              <a:latin typeface="Times New Roman" panose="02020603050405020304" pitchFamily="18" charset="0"/>
              <a:cs typeface="Times New Roman" panose="02020603050405020304" pitchFamily="18" charset="0"/>
            </a:endParaRPr>
          </a:p>
          <a:p>
            <a:pPr lvl="0"/>
            <a:r>
              <a:rPr lang="en-US" altLang="zh-CN" sz="2400" dirty="0" err="1" smtClean="0">
                <a:solidFill>
                  <a:schemeClr val="accent1"/>
                </a:solidFill>
                <a:latin typeface="Times New Roman" panose="02020603050405020304" pitchFamily="18" charset="0"/>
                <a:cs typeface="Times New Roman" panose="02020603050405020304" pitchFamily="18" charset="0"/>
              </a:rPr>
              <a:t>matrix.T</a:t>
            </a:r>
            <a:r>
              <a:rPr lang="en-US" altLang="zh-CN" sz="2400" dirty="0" smtClean="0">
                <a:solidFill>
                  <a:schemeClr val="accent1"/>
                </a:solidFill>
                <a:latin typeface="Times New Roman" panose="02020603050405020304" pitchFamily="18" charset="0"/>
                <a:cs typeface="Times New Roman" panose="02020603050405020304" pitchFamily="18" charset="0"/>
              </a:rPr>
              <a:t>(transpose</a:t>
            </a:r>
            <a:r>
              <a:rPr lang="en-US" altLang="zh-CN" sz="2400" dirty="0">
                <a:solidFill>
                  <a:schemeClr val="accent1"/>
                </a:solidFill>
                <a:latin typeface="Times New Roman" panose="02020603050405020304" pitchFamily="18" charset="0"/>
                <a:cs typeface="Times New Roman" panose="02020603050405020304" pitchFamily="18" charset="0"/>
              </a:rPr>
              <a:t>)</a:t>
            </a:r>
            <a:r>
              <a:rPr lang="zh-CN" altLang="zh-CN" sz="2400" dirty="0">
                <a:solidFill>
                  <a:schemeClr val="accent1"/>
                </a:solidFill>
                <a:latin typeface="Times New Roman" panose="02020603050405020304" pitchFamily="18" charset="0"/>
                <a:cs typeface="Times New Roman" panose="02020603050405020304" pitchFamily="18" charset="0"/>
              </a:rPr>
              <a:t>：返回矩阵的转置</a:t>
            </a:r>
            <a:r>
              <a:rPr lang="zh-CN" altLang="zh-CN" sz="2400" dirty="0" smtClean="0">
                <a:solidFill>
                  <a:schemeClr val="accent1"/>
                </a:solidFill>
                <a:latin typeface="Times New Roman" panose="02020603050405020304" pitchFamily="18" charset="0"/>
                <a:cs typeface="Times New Roman" panose="02020603050405020304" pitchFamily="18" charset="0"/>
              </a:rPr>
              <a:t>矩阵</a:t>
            </a:r>
            <a:endParaRPr lang="zh-CN" altLang="zh-CN" sz="2400" dirty="0">
              <a:solidFill>
                <a:schemeClr val="accent1"/>
              </a:solidFill>
              <a:latin typeface="Times New Roman" panose="02020603050405020304" pitchFamily="18" charset="0"/>
              <a:cs typeface="Times New Roman" panose="02020603050405020304" pitchFamily="18" charset="0"/>
            </a:endParaRPr>
          </a:p>
          <a:p>
            <a:pPr lvl="0"/>
            <a:r>
              <a:rPr lang="en-US" altLang="zh-CN" sz="2400" dirty="0">
                <a:solidFill>
                  <a:schemeClr val="accent1"/>
                </a:solidFill>
                <a:latin typeface="Times New Roman" panose="02020603050405020304" pitchFamily="18" charset="0"/>
                <a:cs typeface="Times New Roman" panose="02020603050405020304" pitchFamily="18" charset="0"/>
              </a:rPr>
              <a:t>matrix.H(conjugate)</a:t>
            </a:r>
            <a:r>
              <a:rPr lang="zh-CN" altLang="zh-CN" sz="2400" dirty="0">
                <a:solidFill>
                  <a:schemeClr val="accent1"/>
                </a:solidFill>
                <a:latin typeface="Times New Roman" panose="02020603050405020304" pitchFamily="18" charset="0"/>
                <a:cs typeface="Times New Roman" panose="02020603050405020304" pitchFamily="18" charset="0"/>
              </a:rPr>
              <a:t>：返回复数矩阵的共轭元素</a:t>
            </a:r>
            <a:r>
              <a:rPr lang="zh-CN" altLang="zh-CN" sz="2400" dirty="0" smtClean="0">
                <a:solidFill>
                  <a:schemeClr val="accent1"/>
                </a:solidFill>
                <a:latin typeface="Times New Roman" panose="02020603050405020304" pitchFamily="18" charset="0"/>
                <a:cs typeface="Times New Roman" panose="02020603050405020304" pitchFamily="18" charset="0"/>
              </a:rPr>
              <a:t>矩阵</a:t>
            </a:r>
            <a:endParaRPr lang="zh-CN" altLang="zh-CN" sz="2400" dirty="0">
              <a:solidFill>
                <a:schemeClr val="accent1"/>
              </a:solidFill>
              <a:latin typeface="Times New Roman" panose="02020603050405020304" pitchFamily="18" charset="0"/>
              <a:cs typeface="Times New Roman" panose="02020603050405020304" pitchFamily="18" charset="0"/>
            </a:endParaRPr>
          </a:p>
          <a:p>
            <a:pPr lvl="0"/>
            <a:r>
              <a:rPr lang="en-US" altLang="zh-CN" sz="2400" dirty="0">
                <a:solidFill>
                  <a:schemeClr val="accent1"/>
                </a:solidFill>
                <a:latin typeface="Times New Roman" panose="02020603050405020304" pitchFamily="18" charset="0"/>
                <a:cs typeface="Times New Roman" panose="02020603050405020304" pitchFamily="18" charset="0"/>
              </a:rPr>
              <a:t>matrix.I(inverse)</a:t>
            </a:r>
            <a:r>
              <a:rPr lang="zh-CN" altLang="zh-CN" sz="2400" dirty="0">
                <a:solidFill>
                  <a:schemeClr val="accent1"/>
                </a:solidFill>
                <a:latin typeface="Times New Roman" panose="02020603050405020304" pitchFamily="18" charset="0"/>
                <a:cs typeface="Times New Roman" panose="02020603050405020304" pitchFamily="18" charset="0"/>
              </a:rPr>
              <a:t>：返回矩阵的逆</a:t>
            </a:r>
            <a:r>
              <a:rPr lang="zh-CN" altLang="zh-CN" sz="2400" dirty="0" smtClean="0">
                <a:solidFill>
                  <a:schemeClr val="accent1"/>
                </a:solidFill>
                <a:latin typeface="Times New Roman" panose="02020603050405020304" pitchFamily="18" charset="0"/>
                <a:cs typeface="Times New Roman" panose="02020603050405020304" pitchFamily="18" charset="0"/>
              </a:rPr>
              <a:t>矩阵</a:t>
            </a:r>
            <a:endParaRPr lang="zh-CN" altLang="zh-CN" sz="2400" dirty="0">
              <a:solidFill>
                <a:schemeClr val="accent1"/>
              </a:solidFill>
              <a:latin typeface="Times New Roman" panose="02020603050405020304" pitchFamily="18" charset="0"/>
              <a:cs typeface="Times New Roman" panose="02020603050405020304" pitchFamily="18" charset="0"/>
            </a:endParaRPr>
          </a:p>
          <a:p>
            <a:pPr lvl="0"/>
            <a:r>
              <a:rPr lang="en-US" altLang="zh-CN" sz="2400" dirty="0">
                <a:solidFill>
                  <a:schemeClr val="accent1"/>
                </a:solidFill>
                <a:latin typeface="Times New Roman" panose="02020603050405020304" pitchFamily="18" charset="0"/>
                <a:cs typeface="Times New Roman" panose="02020603050405020304" pitchFamily="18" charset="0"/>
              </a:rPr>
              <a:t>matrix.A(base array)</a:t>
            </a:r>
            <a:r>
              <a:rPr lang="zh-CN" altLang="zh-CN" sz="2400" dirty="0">
                <a:solidFill>
                  <a:schemeClr val="accent1"/>
                </a:solidFill>
                <a:latin typeface="Times New Roman" panose="02020603050405020304" pitchFamily="18" charset="0"/>
                <a:cs typeface="Times New Roman" panose="02020603050405020304" pitchFamily="18" charset="0"/>
              </a:rPr>
              <a:t>：返回矩阵基于的</a:t>
            </a:r>
            <a:r>
              <a:rPr lang="zh-CN" altLang="zh-CN" sz="2400" dirty="0" smtClean="0">
                <a:solidFill>
                  <a:schemeClr val="accent1"/>
                </a:solidFill>
                <a:latin typeface="Times New Roman" panose="02020603050405020304" pitchFamily="18" charset="0"/>
                <a:cs typeface="Times New Roman" panose="02020603050405020304" pitchFamily="18" charset="0"/>
              </a:rPr>
              <a:t>数组</a:t>
            </a:r>
            <a:endParaRPr lang="zh-CN" altLang="zh-CN" sz="2400" dirty="0">
              <a:solidFill>
                <a:schemeClr val="accent1"/>
              </a:solidFill>
              <a:latin typeface="Times New Roman" panose="02020603050405020304" pitchFamily="18" charset="0"/>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1.3.4 </a:t>
            </a:r>
            <a:r>
              <a:rPr lang="en-US" altLang="zh-CN" sz="2800" b="1" dirty="0" err="1" smtClean="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矩阵</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1.3.4 </a:t>
            </a:r>
            <a:r>
              <a:rPr lang="en-US" altLang="zh-CN" sz="2800" b="1" dirty="0" err="1" smtClean="0">
                <a:solidFill>
                  <a:srgbClr val="0070C0"/>
                </a:solidFill>
                <a:latin typeface="微软雅黑" panose="020B0503020204020204" pitchFamily="34" charset="-122"/>
                <a:ea typeface="微软雅黑" panose="020B0503020204020204" pitchFamily="34" charset="-122"/>
              </a:rPr>
              <a:t>Numpy</a:t>
            </a:r>
            <a:r>
              <a:rPr lang="zh-CN" altLang="en-US" sz="2800" b="1" dirty="0" smtClean="0">
                <a:solidFill>
                  <a:srgbClr val="0070C0"/>
                </a:solidFill>
                <a:latin typeface="微软雅黑" panose="020B0503020204020204" pitchFamily="34" charset="-122"/>
                <a:ea typeface="微软雅黑" panose="020B0503020204020204" pitchFamily="34" charset="-122"/>
              </a:rPr>
              <a:t>矩阵</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6543475" y="1579539"/>
            <a:ext cx="1852898" cy="3046988"/>
          </a:xfrm>
          <a:prstGeom prst="rect">
            <a:avLst/>
          </a:prstGeom>
          <a:solidFill>
            <a:schemeClr val="bg2"/>
          </a:solidFill>
          <a:ln>
            <a:noFill/>
          </a:ln>
        </p:spPr>
        <p:txBody>
          <a:bodyPr vert="horz" wrap="square" lIns="91440" tIns="45720" rIns="91440" bIns="45720" numCol="1" anchor="t" anchorCtr="0" compatLnSpc="1">
            <a:spAutoFit/>
          </a:bodyPr>
          <a:lstStyle/>
          <a:p>
            <a:r>
              <a:rPr lang="en-US" altLang="zh-CN" sz="2400" dirty="0">
                <a:latin typeface="Times New Roman" panose="02020603050405020304" pitchFamily="18" charset="0"/>
                <a:cs typeface="Times New Roman" panose="02020603050405020304" pitchFamily="18" charset="0"/>
              </a:rPr>
              <a:t>[[1 </a:t>
            </a:r>
            <a:r>
              <a:rPr lang="en-US" altLang="zh-CN" sz="2400" dirty="0" smtClean="0">
                <a:latin typeface="Times New Roman" panose="02020603050405020304" pitchFamily="18" charset="0"/>
                <a:cs typeface="Times New Roman" panose="02020603050405020304" pitchFamily="18" charset="0"/>
              </a:rPr>
              <a:t>2] [3 4]]</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 </a:t>
            </a:r>
            <a:r>
              <a:rPr lang="en-US" altLang="zh-CN" sz="2400" dirty="0" smtClean="0">
                <a:latin typeface="Times New Roman" panose="02020603050405020304" pitchFamily="18" charset="0"/>
                <a:cs typeface="Times New Roman" panose="02020603050405020304" pitchFamily="18" charset="0"/>
              </a:rPr>
              <a:t>2] [3 </a:t>
            </a:r>
            <a:r>
              <a:rPr lang="en-US" altLang="zh-CN" sz="2400" dirty="0">
                <a:latin typeface="Times New Roman" panose="02020603050405020304" pitchFamily="18" charset="0"/>
                <a:cs typeface="Times New Roman" panose="02020603050405020304" pitchFamily="18" charset="0"/>
              </a:rPr>
              <a:t>4]]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 </a:t>
            </a:r>
            <a:r>
              <a:rPr lang="en-US" altLang="zh-CN" sz="2400" dirty="0" smtClean="0">
                <a:latin typeface="Times New Roman" panose="02020603050405020304" pitchFamily="18" charset="0"/>
                <a:cs typeface="Times New Roman" panose="02020603050405020304" pitchFamily="18" charset="0"/>
              </a:rPr>
              <a:t>3] </a:t>
            </a:r>
            <a:r>
              <a:rPr lang="en-US" altLang="zh-CN" sz="2400" dirty="0">
                <a:latin typeface="Times New Roman" panose="02020603050405020304" pitchFamily="18" charset="0"/>
                <a:cs typeface="Times New Roman" panose="02020603050405020304" pitchFamily="18" charset="0"/>
              </a:rPr>
              <a:t>[2 </a:t>
            </a:r>
            <a:r>
              <a:rPr lang="en-US" altLang="zh-CN" sz="2400" dirty="0" smtClean="0">
                <a:latin typeface="Times New Roman" panose="02020603050405020304" pitchFamily="18" charset="0"/>
                <a:cs typeface="Times New Roman" panose="02020603050405020304" pitchFamily="18" charset="0"/>
              </a:rPr>
              <a:t>4]]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 </a:t>
            </a:r>
            <a:r>
              <a:rPr lang="en-US" altLang="zh-CN" sz="2400" dirty="0" smtClean="0">
                <a:latin typeface="Times New Roman" panose="02020603050405020304" pitchFamily="18" charset="0"/>
                <a:cs typeface="Times New Roman" panose="02020603050405020304" pitchFamily="18" charset="0"/>
              </a:rPr>
              <a:t>3] </a:t>
            </a:r>
            <a:r>
              <a:rPr lang="en-US" altLang="zh-CN" sz="2400" dirty="0">
                <a:latin typeface="Times New Roman" panose="02020603050405020304" pitchFamily="18" charset="0"/>
                <a:cs typeface="Times New Roman" panose="02020603050405020304" pitchFamily="18" charset="0"/>
              </a:rPr>
              <a:t>[2 </a:t>
            </a:r>
            <a:r>
              <a:rPr lang="en-US" altLang="zh-CN" sz="2400" dirty="0" smtClean="0">
                <a:latin typeface="Times New Roman" panose="02020603050405020304" pitchFamily="18" charset="0"/>
                <a:cs typeface="Times New Roman" panose="02020603050405020304" pitchFamily="18" charset="0"/>
              </a:rPr>
              <a:t>4]]</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[[-2. 1.]</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[1.5 -0.5]]</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 </a:t>
            </a:r>
            <a:r>
              <a:rPr lang="en-US" altLang="zh-CN" sz="2400" dirty="0" smtClean="0">
                <a:latin typeface="Times New Roman" panose="02020603050405020304" pitchFamily="18" charset="0"/>
                <a:cs typeface="Times New Roman" panose="02020603050405020304" pitchFamily="18" charset="0"/>
              </a:rPr>
              <a:t>2] [3 4]]</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[[2] [4]]</a:t>
            </a:r>
            <a:endParaRPr lang="zh-CN" altLang="zh-CN" sz="2400" dirty="0">
              <a:latin typeface="Times New Roman" panose="02020603050405020304" pitchFamily="18" charset="0"/>
              <a:cs typeface="Times New Roman" panose="02020603050405020304" pitchFamily="18" charset="0"/>
            </a:endParaRPr>
          </a:p>
        </p:txBody>
      </p:sp>
      <p:sp>
        <p:nvSpPr>
          <p:cNvPr id="4" name="Rectangle 4"/>
          <p:cNvSpPr>
            <a:spLocks noChangeArrowheads="1"/>
          </p:cNvSpPr>
          <p:nvPr/>
        </p:nvSpPr>
        <p:spPr bwMode="auto">
          <a:xfrm>
            <a:off x="384257" y="1478274"/>
            <a:ext cx="533910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a:t>
            </a:r>
            <a:r>
              <a:rPr lang="en-US" altLang="zh-CN" sz="2400" dirty="0" smtClean="0">
                <a:latin typeface="Times New Roman" panose="02020603050405020304" pitchFamily="18" charset="0"/>
                <a:cs typeface="Times New Roman" panose="02020603050405020304" pitchFamily="18" charset="0"/>
              </a:rPr>
              <a:t>np</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 = </a:t>
            </a:r>
            <a:r>
              <a:rPr lang="en-US" altLang="zh-CN" sz="2400" dirty="0" err="1" smtClean="0">
                <a:latin typeface="Times New Roman" panose="02020603050405020304" pitchFamily="18" charset="0"/>
                <a:cs typeface="Times New Roman" panose="02020603050405020304" pitchFamily="18" charset="0"/>
              </a:rPr>
              <a:t>np.matrix</a:t>
            </a:r>
            <a:r>
              <a:rPr lang="en-US" altLang="zh-CN" sz="2400" dirty="0">
                <a:latin typeface="Times New Roman" panose="02020603050405020304" pitchFamily="18" charset="0"/>
                <a:cs typeface="Times New Roman" panose="02020603050405020304" pitchFamily="18" charset="0"/>
              </a:rPr>
              <a:t>('1 </a:t>
            </a:r>
            <a:r>
              <a:rPr lang="en-US" altLang="zh-CN" sz="2400" dirty="0" smtClean="0">
                <a:latin typeface="Times New Roman" panose="02020603050405020304" pitchFamily="18" charset="0"/>
                <a:cs typeface="Times New Roman" panose="02020603050405020304" pitchFamily="18" charset="0"/>
              </a:rPr>
              <a:t>2; 3 4')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a:t>
            </a:r>
            <a:r>
              <a:rPr lang="en-US" altLang="zh-CN" sz="2400" dirty="0" err="1" smtClean="0">
                <a:latin typeface="Times New Roman" panose="02020603050405020304" pitchFamily="18" charset="0"/>
                <a:cs typeface="Times New Roman" panose="02020603050405020304" pitchFamily="18" charset="0"/>
              </a:rPr>
              <a:t>np.array</a:t>
            </a:r>
            <a:r>
              <a:rPr lang="en-US" altLang="zh-CN" sz="2400" dirty="0">
                <a:latin typeface="Times New Roman" panose="02020603050405020304" pitchFamily="18" charset="0"/>
                <a:cs typeface="Times New Roman" panose="02020603050405020304" pitchFamily="18" charset="0"/>
              </a:rPr>
              <a:t>([[1</a:t>
            </a:r>
            <a:r>
              <a:rPr lang="en-US" altLang="zh-CN" sz="2400" dirty="0" smtClean="0">
                <a:latin typeface="Times New Roman" panose="02020603050405020304" pitchFamily="18" charset="0"/>
                <a:cs typeface="Times New Roman" panose="02020603050405020304" pitchFamily="18" charset="0"/>
              </a:rPr>
              <a:t>, 2], [3, 4</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b = </a:t>
            </a:r>
            <a:r>
              <a:rPr lang="en-US" altLang="zh-CN" sz="2400" dirty="0" err="1" smtClean="0">
                <a:latin typeface="Times New Roman" panose="02020603050405020304" pitchFamily="18" charset="0"/>
                <a:cs typeface="Times New Roman" panose="02020603050405020304" pitchFamily="18" charset="0"/>
              </a:rPr>
              <a:t>np.matrix</a:t>
            </a:r>
            <a:r>
              <a:rPr lang="en-US" altLang="zh-CN" sz="2400" dirty="0" smtClean="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c = </a:t>
            </a:r>
            <a:r>
              <a:rPr lang="en-US" altLang="zh-CN" sz="2400" dirty="0" err="1" smtClean="0">
                <a:latin typeface="Times New Roman" panose="02020603050405020304" pitchFamily="18" charset="0"/>
                <a:cs typeface="Times New Roman" panose="02020603050405020304" pitchFamily="18" charset="0"/>
              </a:rPr>
              <a:t>a.T</a:t>
            </a:r>
            <a:r>
              <a:rPr lang="en-US"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转置矩阵</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d = </a:t>
            </a:r>
            <a:r>
              <a:rPr lang="en-US" altLang="zh-CN" sz="2400" dirty="0" err="1" smtClean="0">
                <a:latin typeface="Times New Roman" panose="02020603050405020304" pitchFamily="18" charset="0"/>
                <a:cs typeface="Times New Roman" panose="02020603050405020304" pitchFamily="18" charset="0"/>
              </a:rPr>
              <a:t>a.H</a:t>
            </a:r>
            <a:r>
              <a:rPr lang="en-US"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求共轭矩</a:t>
            </a:r>
            <a:r>
              <a:rPr lang="zh-CN" altLang="en-US" sz="2400" dirty="0" smtClean="0">
                <a:latin typeface="Times New Roman" panose="02020603050405020304" pitchFamily="18" charset="0"/>
                <a:cs typeface="Times New Roman" panose="02020603050405020304" pitchFamily="18" charset="0"/>
              </a:rPr>
              <a:t>阵</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e = </a:t>
            </a:r>
            <a:r>
              <a:rPr lang="en-US" altLang="zh-CN" sz="2400" dirty="0" err="1" smtClean="0">
                <a:latin typeface="Times New Roman" panose="02020603050405020304" pitchFamily="18" charset="0"/>
                <a:cs typeface="Times New Roman" panose="02020603050405020304" pitchFamily="18" charset="0"/>
              </a:rPr>
              <a:t>a.I</a:t>
            </a:r>
            <a:r>
              <a:rPr lang="en-US"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求逆矩阵</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f = </a:t>
            </a:r>
            <a:r>
              <a:rPr lang="en-US" altLang="zh-CN" sz="2400" dirty="0" err="1" smtClean="0">
                <a:latin typeface="Times New Roman" panose="02020603050405020304" pitchFamily="18" charset="0"/>
                <a:cs typeface="Times New Roman" panose="02020603050405020304" pitchFamily="18" charset="0"/>
              </a:rPr>
              <a:t>a.A</a:t>
            </a:r>
            <a:r>
              <a:rPr lang="en-US" altLang="zh-CN" sz="2400" dirty="0" smtClean="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g = a</a:t>
            </a:r>
            <a:r>
              <a:rPr lang="en-US" altLang="zh-CN" sz="2400" dirty="0">
                <a:latin typeface="Times New Roman" panose="02020603050405020304" pitchFamily="18" charset="0"/>
                <a:cs typeface="Times New Roman" panose="02020603050405020304" pitchFamily="18" charset="0"/>
              </a:rPr>
              <a:t>[:,-1]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print(a</a:t>
            </a:r>
            <a:r>
              <a:rPr lang="en-US" altLang="zh-CN" sz="2400" dirty="0" smtClean="0">
                <a:latin typeface="Times New Roman" panose="02020603050405020304" pitchFamily="18" charset="0"/>
                <a:cs typeface="Times New Roman" panose="02020603050405020304" pitchFamily="18" charset="0"/>
              </a:rPr>
              <a:t>, b, c, d, e, f, g</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515980"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1-13]</a:t>
            </a:r>
            <a:r>
              <a:rPr lang="zh-CN" altLang="en-US" sz="2800" b="1" dirty="0">
                <a:solidFill>
                  <a:srgbClr val="0070C0"/>
                </a:solidFill>
                <a:latin typeface="微软雅黑" panose="020B0503020204020204" pitchFamily="34" charset="-122"/>
                <a:ea typeface="微软雅黑" panose="020B0503020204020204" pitchFamily="34" charset="-122"/>
              </a:rPr>
              <a:t>定义矩</a:t>
            </a:r>
            <a:r>
              <a:rPr lang="zh-CN" altLang="en-US" sz="2800" b="1" dirty="0" smtClean="0">
                <a:solidFill>
                  <a:srgbClr val="0070C0"/>
                </a:solidFill>
                <a:latin typeface="微软雅黑" panose="020B0503020204020204" pitchFamily="34" charset="-122"/>
                <a:ea typeface="微软雅黑" panose="020B0503020204020204" pitchFamily="34" charset="-122"/>
              </a:rPr>
              <a:t>阵及操</a:t>
            </a:r>
            <a:r>
              <a:rPr lang="zh-CN" altLang="en-US" sz="2800" b="1" dirty="0">
                <a:solidFill>
                  <a:srgbClr val="0070C0"/>
                </a:solidFill>
                <a:latin typeface="微软雅黑" panose="020B0503020204020204" pitchFamily="34" charset="-122"/>
                <a:ea typeface="微软雅黑" panose="020B0503020204020204" pitchFamily="34" charset="-122"/>
              </a:rPr>
              <a:t>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14447" y="5430329"/>
            <a:ext cx="5463393" cy="887362"/>
            <a:chOff x="6339097" y="1573725"/>
            <a:chExt cx="3744416" cy="887824"/>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9"/>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创建矩阵有两种方式：用字符串创建或用数组创</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建</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754007" y="3336319"/>
              <a:ext cx="3329507" cy="431087"/>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NumPy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54007" y="4221882"/>
              <a:ext cx="3166169" cy="431088"/>
            </a:xfrm>
            <a:prstGeom prst="rect">
              <a:avLst/>
            </a:prstGeom>
          </p:spPr>
          <p:txBody>
            <a:bodyPr wrap="square" lIns="121897" tIns="60948" rIns="121897" bIns="60948">
              <a:spAutoFit/>
            </a:bodyPr>
            <a:lstStyle/>
            <a:p>
              <a:pPr defTabSz="1218565">
                <a:defRPr/>
              </a:pPr>
              <a:r>
                <a:rPr lang="en-US" altLang="zh-CN" sz="2000" b="1" kern="100" dirty="0" err="1">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主  要</a:t>
            </a:r>
            <a:endParaRPr lang="en-US" altLang="zh-CN" sz="4800" b="1" spc="200" dirty="0" smtClean="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smtClean="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52412" y="4221882"/>
              <a:ext cx="3167764" cy="431088"/>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 name="下箭头 23"/>
          <p:cNvSpPr/>
          <p:nvPr/>
        </p:nvSpPr>
        <p:spPr>
          <a:xfrm rot="16200000">
            <a:off x="3095261" y="4011744"/>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80">
                                          <p:stCondLst>
                                            <p:cond delay="0"/>
                                          </p:stCondLst>
                                        </p:cTn>
                                        <p:tgtEl>
                                          <p:spTgt spid="24"/>
                                        </p:tgtEl>
                                      </p:cBhvr>
                                    </p:animEffect>
                                    <p:anim calcmode="lin" valueType="num">
                                      <p:cBhvr>
                                        <p:cTn id="8"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3" dur="26">
                                          <p:stCondLst>
                                            <p:cond delay="650"/>
                                          </p:stCondLst>
                                        </p:cTn>
                                        <p:tgtEl>
                                          <p:spTgt spid="24"/>
                                        </p:tgtEl>
                                      </p:cBhvr>
                                      <p:to x="100000" y="60000"/>
                                    </p:animScale>
                                    <p:animScale>
                                      <p:cBhvr>
                                        <p:cTn id="14" dur="166" decel="50000">
                                          <p:stCondLst>
                                            <p:cond delay="676"/>
                                          </p:stCondLst>
                                        </p:cTn>
                                        <p:tgtEl>
                                          <p:spTgt spid="24"/>
                                        </p:tgtEl>
                                      </p:cBhvr>
                                      <p:to x="100000" y="100000"/>
                                    </p:animScale>
                                    <p:animScale>
                                      <p:cBhvr>
                                        <p:cTn id="15" dur="26">
                                          <p:stCondLst>
                                            <p:cond delay="1312"/>
                                          </p:stCondLst>
                                        </p:cTn>
                                        <p:tgtEl>
                                          <p:spTgt spid="24"/>
                                        </p:tgtEl>
                                      </p:cBhvr>
                                      <p:to x="100000" y="80000"/>
                                    </p:animScale>
                                    <p:animScale>
                                      <p:cBhvr>
                                        <p:cTn id="16" dur="166" decel="50000">
                                          <p:stCondLst>
                                            <p:cond delay="1338"/>
                                          </p:stCondLst>
                                        </p:cTn>
                                        <p:tgtEl>
                                          <p:spTgt spid="24"/>
                                        </p:tgtEl>
                                      </p:cBhvr>
                                      <p:to x="100000" y="100000"/>
                                    </p:animScale>
                                    <p:animScale>
                                      <p:cBhvr>
                                        <p:cTn id="17" dur="26">
                                          <p:stCondLst>
                                            <p:cond delay="1642"/>
                                          </p:stCondLst>
                                        </p:cTn>
                                        <p:tgtEl>
                                          <p:spTgt spid="24"/>
                                        </p:tgtEl>
                                      </p:cBhvr>
                                      <p:to x="100000" y="90000"/>
                                    </p:animScale>
                                    <p:animScale>
                                      <p:cBhvr>
                                        <p:cTn id="18" dur="166" decel="50000">
                                          <p:stCondLst>
                                            <p:cond delay="1668"/>
                                          </p:stCondLst>
                                        </p:cTn>
                                        <p:tgtEl>
                                          <p:spTgt spid="24"/>
                                        </p:tgtEl>
                                      </p:cBhvr>
                                      <p:to x="100000" y="100000"/>
                                    </p:animScale>
                                    <p:animScale>
                                      <p:cBhvr>
                                        <p:cTn id="19" dur="26">
                                          <p:stCondLst>
                                            <p:cond delay="1808"/>
                                          </p:stCondLst>
                                        </p:cTn>
                                        <p:tgtEl>
                                          <p:spTgt spid="24"/>
                                        </p:tgtEl>
                                      </p:cBhvr>
                                      <p:to x="100000" y="95000"/>
                                    </p:animScale>
                                    <p:animScale>
                                      <p:cBhvr>
                                        <p:cTn id="20"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MatPlotLib</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中基</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于面向对象编程的绘图库</a:t>
            </a:r>
            <a:r>
              <a:rPr lang="zh-CN" altLang="en-US"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，能方</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便地设计和输出二维及三维的图形，它所绘制的图表中的每个绘图元素，如线条、文字、刻度等都对应一个</a:t>
            </a:r>
            <a:r>
              <a:rPr lang="zh-CN" altLang="en-US"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a:t>
            </a:r>
            <a:endPar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r>
              <a:rPr lang="en-US" altLang="zh-CN"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MatPlotLib</a:t>
            </a:r>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库中</a:t>
            </a:r>
            <a:r>
              <a:rPr lang="zh-CN" altLang="en-US" sz="2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主要的几个对</a:t>
            </a:r>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象</a:t>
            </a:r>
            <a:endParaRPr lang="en-US" altLang="zh-CN"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 </a:t>
            </a:r>
            <a:r>
              <a:rPr lang="en-US" altLang="zh-CN" sz="2800" b="1" dirty="0" err="1" smtClean="0">
                <a:solidFill>
                  <a:srgbClr val="0070C0"/>
                </a:solidFill>
                <a:latin typeface="微软雅黑" panose="020B0503020204020204" pitchFamily="34" charset="-122"/>
                <a:ea typeface="微软雅黑" panose="020B0503020204020204" pitchFamily="34" charset="-122"/>
              </a:rPr>
              <a:t>MatPlotLib</a:t>
            </a:r>
            <a:r>
              <a:rPr lang="zh-CN" altLang="en-US" sz="2800" b="1" dirty="0">
                <a:solidFill>
                  <a:srgbClr val="0070C0"/>
                </a:solidFill>
                <a:latin typeface="微软雅黑" panose="020B0503020204020204" pitchFamily="34" charset="-122"/>
                <a:ea typeface="微软雅黑" panose="020B0503020204020204" pitchFamily="34" charset="-122"/>
              </a:rPr>
              <a:t>库</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 name="矩形 1"/>
          <p:cNvSpPr/>
          <p:nvPr/>
        </p:nvSpPr>
        <p:spPr>
          <a:xfrm>
            <a:off x="411481" y="3449674"/>
            <a:ext cx="8162545" cy="2862322"/>
          </a:xfrm>
          <a:prstGeom prst="rect">
            <a:avLst/>
          </a:prstGeom>
        </p:spPr>
        <p:txBody>
          <a:bodyPr wrap="square">
            <a:spAutoFit/>
          </a:bodyPr>
          <a:lstStyle/>
          <a:p>
            <a:pPr marL="342900" lvl="0" indent="-342900">
              <a:lnSpc>
                <a:spcPct val="150000"/>
              </a:lnSpc>
              <a:buFont typeface="Arial" panose="020B0604020202020204" pitchFamily="34" charset="0"/>
              <a:buChar char="•"/>
            </a:pP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整个图形即是一个</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Figure</a:t>
            </a: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对象，即一个弹出的绘图的窗口，便是一个</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Figure</a:t>
            </a:r>
            <a:endPar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Arial" panose="020B0604020202020204" pitchFamily="34" charset="0"/>
              <a:buChar char="•"/>
            </a:pP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Figure</a:t>
            </a: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对象至少包含一个子图，也就是</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Axes</a:t>
            </a:r>
            <a:r>
              <a:rPr lang="zh-CN"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a:t>
            </a:r>
            <a:endPar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Arial" panose="020B0604020202020204" pitchFamily="34" charset="0"/>
              <a:buChar char="•"/>
            </a:pP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Figure</a:t>
            </a: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对象包含一些特殊的</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Artist</a:t>
            </a: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对象，如</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title</a:t>
            </a: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标题、图例</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legend</a:t>
            </a:r>
            <a:endPar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800" b="1" dirty="0" err="1">
                <a:solidFill>
                  <a:srgbClr val="0070C0"/>
                </a:solidFill>
                <a:latin typeface="微软雅黑" panose="020B0503020204020204" pitchFamily="34" charset="-122"/>
                <a:ea typeface="微软雅黑" panose="020B0503020204020204" pitchFamily="34" charset="-122"/>
              </a:rPr>
              <a:t>MatPlotLib</a:t>
            </a:r>
            <a:r>
              <a:rPr lang="zh-CN" altLang="en-US"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绘图的一般步骤：</a:t>
            </a:r>
            <a:endParaRPr lang="en-US" altLang="zh-CN" sz="28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① 用</a:t>
            </a:r>
            <a:r>
              <a:rPr lang="en-US" altLang="zh-CN"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figure()</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函数创建一个绘图对</a:t>
            </a: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象</a:t>
            </a:r>
            <a:endParaRPr lang="en-US" altLang="zh-CN"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② 用</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数组或序列设置</a:t>
            </a:r>
            <a:r>
              <a:rPr lang="en-US" altLang="zh-CN"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坐标</a:t>
            </a: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值</a:t>
            </a:r>
            <a:endParaRPr lang="en-US" altLang="zh-CN"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③ </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plot()</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函数在坐标系中绘制曲线、直线或</a:t>
            </a: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点；或</a:t>
            </a:r>
            <a:r>
              <a:rPr lang="zh-CN" altLang="en-US" sz="26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者用其他函数绘制散点图、直方图等其他</a:t>
            </a:r>
            <a:r>
              <a:rPr lang="zh-CN" altLang="en-US"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图形</a:t>
            </a:r>
            <a:endParaRPr lang="en-US" altLang="zh-CN" sz="26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 </a:t>
            </a:r>
            <a:r>
              <a:rPr lang="en-US" altLang="zh-CN" sz="2800" b="1" dirty="0" err="1" smtClean="0">
                <a:solidFill>
                  <a:srgbClr val="0070C0"/>
                </a:solidFill>
                <a:latin typeface="微软雅黑" panose="020B0503020204020204" pitchFamily="34" charset="-122"/>
                <a:ea typeface="微软雅黑" panose="020B0503020204020204" pitchFamily="34" charset="-122"/>
              </a:rPr>
              <a:t>MatPlotLib</a:t>
            </a:r>
            <a:r>
              <a:rPr lang="zh-CN" altLang="en-US" sz="2800" b="1" dirty="0" smtClean="0">
                <a:solidFill>
                  <a:srgbClr val="0070C0"/>
                </a:solidFill>
                <a:latin typeface="微软雅黑" panose="020B0503020204020204" pitchFamily="34" charset="-122"/>
                <a:ea typeface="微软雅黑" panose="020B0503020204020204" pitchFamily="34" charset="-122"/>
              </a:rPr>
              <a:t>库</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390894" y="1710149"/>
            <a:ext cx="3753106" cy="2814830"/>
          </a:xfrm>
          <a:prstGeom prst="rect">
            <a:avLst/>
          </a:prstGeom>
        </p:spPr>
      </p:pic>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1.4.1 </a:t>
            </a:r>
            <a:r>
              <a:rPr lang="zh-CN" altLang="en-US" sz="2800" b="1" dirty="0" smtClean="0">
                <a:solidFill>
                  <a:srgbClr val="0070C0"/>
                </a:solidFill>
                <a:latin typeface="微软雅黑" panose="020B0503020204020204" pitchFamily="34" charset="-122"/>
                <a:ea typeface="微软雅黑" panose="020B0503020204020204" pitchFamily="34" charset="-122"/>
              </a:rPr>
              <a:t>绘制</a:t>
            </a:r>
            <a:r>
              <a:rPr lang="zh-CN" altLang="en-US" sz="2800" b="1" dirty="0">
                <a:solidFill>
                  <a:srgbClr val="0070C0"/>
                </a:solidFill>
                <a:latin typeface="微软雅黑" panose="020B0503020204020204" pitchFamily="34" charset="-122"/>
                <a:ea typeface="微软雅黑" panose="020B0503020204020204" pitchFamily="34" charset="-122"/>
              </a:rPr>
              <a:t>曲线</a:t>
            </a:r>
            <a:r>
              <a:rPr lang="zh-CN" altLang="en-US" sz="2800" b="1" dirty="0" smtClean="0">
                <a:solidFill>
                  <a:srgbClr val="0070C0"/>
                </a:solidFill>
                <a:latin typeface="微软雅黑" panose="020B0503020204020204" pitchFamily="34" charset="-122"/>
                <a:ea typeface="微软雅黑" panose="020B0503020204020204" pitchFamily="34" charset="-122"/>
              </a:rPr>
              <a:t>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38737" y="1710149"/>
            <a:ext cx="533910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800" dirty="0">
                <a:latin typeface="Times New Roman" panose="02020603050405020304" pitchFamily="18" charset="0"/>
                <a:cs typeface="Times New Roman" panose="02020603050405020304" pitchFamily="18" charset="0"/>
              </a:rPr>
              <a:t>import numpy as </a:t>
            </a:r>
            <a:r>
              <a:rPr lang="en-US" altLang="zh-CN" sz="2800" dirty="0" smtClean="0">
                <a:latin typeface="Times New Roman" panose="02020603050405020304" pitchFamily="18" charset="0"/>
                <a:cs typeface="Times New Roman" panose="02020603050405020304" pitchFamily="18" charset="0"/>
              </a:rPr>
              <a:t>np</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import matplotlib.pyplot as </a:t>
            </a:r>
            <a:r>
              <a:rPr lang="en-US" altLang="zh-CN" sz="2800" dirty="0" smtClean="0">
                <a:latin typeface="Times New Roman" panose="02020603050405020304" pitchFamily="18" charset="0"/>
                <a:cs typeface="Times New Roman" panose="02020603050405020304" pitchFamily="18" charset="0"/>
              </a:rPr>
              <a:t>plt</a:t>
            </a:r>
            <a:endParaRPr lang="en-US" altLang="zh-CN" sz="2800" dirty="0" smtClean="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plt.figure()</a:t>
            </a:r>
            <a:endParaRPr lang="zh-CN" altLang="en-US" sz="2800" dirty="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x = </a:t>
            </a:r>
            <a:r>
              <a:rPr lang="en-US" altLang="zh-CN" sz="2800" dirty="0" err="1" smtClean="0">
                <a:latin typeface="Times New Roman" panose="02020603050405020304" pitchFamily="18" charset="0"/>
                <a:cs typeface="Times New Roman" panose="02020603050405020304" pitchFamily="18" charset="0"/>
              </a:rPr>
              <a:t>np.arange</a:t>
            </a:r>
            <a:r>
              <a:rPr lang="en-US" altLang="zh-CN" sz="2800" dirty="0">
                <a:latin typeface="Times New Roman" panose="02020603050405020304" pitchFamily="18" charset="0"/>
                <a:cs typeface="Times New Roman" panose="02020603050405020304" pitchFamily="18" charset="0"/>
              </a:rPr>
              <a:t>(-5</a:t>
            </a:r>
            <a:r>
              <a:rPr lang="en-US" altLang="zh-CN" sz="2800" dirty="0" smtClean="0">
                <a:latin typeface="Times New Roman" panose="02020603050405020304" pitchFamily="18" charset="0"/>
                <a:cs typeface="Times New Roman" panose="02020603050405020304" pitchFamily="18" charset="0"/>
              </a:rPr>
              <a:t>, 5, 0.01</a:t>
            </a:r>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x</a:t>
            </a:r>
            <a:r>
              <a:rPr lang="zh-CN" altLang="en-US" sz="2800" dirty="0">
                <a:latin typeface="Times New Roman" panose="02020603050405020304" pitchFamily="18" charset="0"/>
                <a:cs typeface="Times New Roman" panose="02020603050405020304" pitchFamily="18" charset="0"/>
              </a:rPr>
              <a:t>值</a:t>
            </a:r>
            <a:endParaRPr lang="zh-CN" altLang="en-US" sz="2800" dirty="0">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y = x*x    #y</a:t>
            </a:r>
            <a:r>
              <a:rPr lang="zh-CN" altLang="en-US" sz="2800" dirty="0">
                <a:latin typeface="Times New Roman" panose="02020603050405020304" pitchFamily="18" charset="0"/>
                <a:cs typeface="Times New Roman" panose="02020603050405020304" pitchFamily="18" charset="0"/>
              </a:rPr>
              <a:t>值</a:t>
            </a:r>
            <a:endParaRPr lang="zh-CN" altLang="en-US" sz="2800" dirty="0">
              <a:latin typeface="Times New Roman" panose="02020603050405020304" pitchFamily="18" charset="0"/>
              <a:cs typeface="Times New Roman" panose="02020603050405020304" pitchFamily="18" charset="0"/>
            </a:endParaRPr>
          </a:p>
          <a:p>
            <a:r>
              <a:rPr lang="en-US" altLang="zh-CN" sz="2800" dirty="0" err="1">
                <a:latin typeface="Times New Roman" panose="02020603050405020304" pitchFamily="18" charset="0"/>
                <a:cs typeface="Times New Roman" panose="02020603050405020304" pitchFamily="18" charset="0"/>
              </a:rPr>
              <a:t>plt.plot</a:t>
            </a:r>
            <a:r>
              <a:rPr lang="en-US" altLang="zh-CN" sz="2800" dirty="0">
                <a:latin typeface="Times New Roman" panose="02020603050405020304" pitchFamily="18" charset="0"/>
                <a:cs typeface="Times New Roman" panose="02020603050405020304" pitchFamily="18" charset="0"/>
              </a:rPr>
              <a:t>(x</a:t>
            </a:r>
            <a:r>
              <a:rPr lang="en-US" altLang="zh-CN" sz="2800" dirty="0" smtClean="0">
                <a:latin typeface="Times New Roman" panose="02020603050405020304" pitchFamily="18" charset="0"/>
                <a:cs typeface="Times New Roman" panose="02020603050405020304" pitchFamily="18" charset="0"/>
              </a:rPr>
              <a:t>, y, 'b-</a:t>
            </a:r>
            <a:r>
              <a:rPr lang="en-US" altLang="zh-CN"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r>
              <a:rPr lang="en-US" altLang="zh-CN" sz="2800" dirty="0" err="1">
                <a:latin typeface="Times New Roman" panose="02020603050405020304" pitchFamily="18" charset="0"/>
                <a:cs typeface="Times New Roman" panose="02020603050405020304" pitchFamily="18" charset="0"/>
              </a:rPr>
              <a:t>plt.show</a:t>
            </a:r>
            <a:r>
              <a:rPr lang="en-US" altLang="zh-CN" sz="2800" dirty="0" smtClean="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显示图</a:t>
            </a:r>
            <a:r>
              <a:rPr lang="zh-CN" altLang="en-US" sz="2800" dirty="0" smtClean="0">
                <a:latin typeface="Times New Roman" panose="02020603050405020304" pitchFamily="18" charset="0"/>
                <a:cs typeface="Times New Roman" panose="02020603050405020304" pitchFamily="18" charset="0"/>
              </a:rPr>
              <a:t>像</a:t>
            </a:r>
            <a:endParaRPr lang="en-US"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636206"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1-14]</a:t>
            </a:r>
            <a:r>
              <a:rPr lang="zh-CN" altLang="en-US" sz="2800" b="1" dirty="0">
                <a:solidFill>
                  <a:srgbClr val="0070C0"/>
                </a:solidFill>
                <a:latin typeface="微软雅黑" panose="020B0503020204020204" pitchFamily="34" charset="-122"/>
                <a:ea typeface="微软雅黑" panose="020B0503020204020204" pitchFamily="34" charset="-122"/>
              </a:rPr>
              <a:t>绘制</a:t>
            </a:r>
            <a:r>
              <a:rPr lang="en-US" altLang="zh-CN" sz="2800" b="1" dirty="0" smtClean="0">
                <a:solidFill>
                  <a:srgbClr val="0070C0"/>
                </a:solidFill>
                <a:latin typeface="微软雅黑" panose="020B0503020204020204" pitchFamily="34" charset="-122"/>
                <a:ea typeface="微软雅黑" panose="020B0503020204020204" pitchFamily="34" charset="-122"/>
              </a:rPr>
              <a:t>y=x</a:t>
            </a:r>
            <a:r>
              <a:rPr lang="en-US" altLang="zh-CN" sz="2800" b="1" baseline="30000" dirty="0" smtClean="0">
                <a:solidFill>
                  <a:srgbClr val="0070C0"/>
                </a:solidFill>
                <a:latin typeface="微软雅黑" panose="020B0503020204020204" pitchFamily="34" charset="-122"/>
                <a:ea typeface="微软雅黑" panose="020B0503020204020204" pitchFamily="34" charset="-122"/>
              </a:rPr>
              <a:t>2</a:t>
            </a:r>
            <a:r>
              <a:rPr lang="zh-CN" altLang="en-US" sz="2800" b="1" dirty="0" smtClean="0">
                <a:solidFill>
                  <a:srgbClr val="0070C0"/>
                </a:solidFill>
                <a:latin typeface="微软雅黑" panose="020B0503020204020204" pitchFamily="34" charset="-122"/>
                <a:ea typeface="微软雅黑" panose="020B0503020204020204" pitchFamily="34" charset="-122"/>
              </a:rPr>
              <a:t>的</a:t>
            </a:r>
            <a:r>
              <a:rPr lang="zh-CN" altLang="en-US" sz="2800" b="1" dirty="0">
                <a:solidFill>
                  <a:srgbClr val="0070C0"/>
                </a:solidFill>
                <a:latin typeface="微软雅黑" panose="020B0503020204020204" pitchFamily="34" charset="-122"/>
                <a:ea typeface="微软雅黑" panose="020B0503020204020204" pitchFamily="34" charset="-122"/>
              </a:rPr>
              <a:t>图形</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38737" y="5430328"/>
            <a:ext cx="8679033" cy="887361"/>
            <a:chOff x="6339097" y="1573725"/>
            <a:chExt cx="3744416" cy="887823"/>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plt.figure</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创建绘图对象，删除试试；</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plt.plot(x,y,‘b--’)</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前</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个参数是</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的值，第</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个参数</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蓝色虚线</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274321" y="807720"/>
            <a:ext cx="8357616"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设置坐标值的方法</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zh-CN" sz="2400" dirty="0" smtClean="0">
                <a:solidFill>
                  <a:schemeClr val="tx1"/>
                </a:solidFill>
                <a:latin typeface="Times New Roman" panose="02020603050405020304" pitchFamily="18" charset="0"/>
                <a:cs typeface="Times New Roman" panose="02020603050405020304" pitchFamily="18" charset="0"/>
              </a:rPr>
              <a:t>二维坐标图是由很多点组成的，则可以用</a:t>
            </a:r>
            <a:r>
              <a:rPr lang="en-US" altLang="zh-CN" sz="2400" dirty="0" smtClean="0">
                <a:solidFill>
                  <a:schemeClr val="tx1"/>
                </a:solidFill>
                <a:latin typeface="Times New Roman" panose="02020603050405020304" pitchFamily="18" charset="0"/>
                <a:cs typeface="Times New Roman" panose="02020603050405020304" pitchFamily="18" charset="0"/>
              </a:rPr>
              <a:t>np.arange()</a:t>
            </a:r>
            <a:r>
              <a:rPr lang="zh-CN" altLang="zh-CN" sz="2400" dirty="0" smtClean="0">
                <a:solidFill>
                  <a:schemeClr val="tx1"/>
                </a:solidFill>
                <a:latin typeface="Times New Roman" panose="02020603050405020304" pitchFamily="18" charset="0"/>
                <a:cs typeface="Times New Roman" panose="02020603050405020304" pitchFamily="18" charset="0"/>
              </a:rPr>
              <a:t>函数生成一个一维数组，表示各个点的</a:t>
            </a:r>
            <a:r>
              <a:rPr lang="en-US" altLang="zh-CN" sz="2400" i="1" dirty="0" smtClean="0">
                <a:solidFill>
                  <a:schemeClr val="tx1"/>
                </a:solidFill>
                <a:latin typeface="Times New Roman" panose="02020603050405020304" pitchFamily="18" charset="0"/>
                <a:cs typeface="Times New Roman" panose="02020603050405020304" pitchFamily="18" charset="0"/>
              </a:rPr>
              <a:t>x</a:t>
            </a:r>
            <a:r>
              <a:rPr lang="zh-CN" altLang="zh-CN" sz="2400" dirty="0" smtClean="0">
                <a:solidFill>
                  <a:schemeClr val="tx1"/>
                </a:solidFill>
                <a:latin typeface="Times New Roman" panose="02020603050405020304" pitchFamily="18" charset="0"/>
                <a:cs typeface="Times New Roman" panose="02020603050405020304" pitchFamily="18" charset="0"/>
              </a:rPr>
              <a:t>坐标值，然后再用这些</a:t>
            </a:r>
            <a:r>
              <a:rPr lang="en-US" altLang="zh-CN" sz="2400" i="1" dirty="0" smtClean="0">
                <a:solidFill>
                  <a:schemeClr val="tx1"/>
                </a:solidFill>
                <a:latin typeface="Times New Roman" panose="02020603050405020304" pitchFamily="18" charset="0"/>
                <a:cs typeface="Times New Roman" panose="02020603050405020304" pitchFamily="18" charset="0"/>
              </a:rPr>
              <a:t>x</a:t>
            </a:r>
            <a:r>
              <a:rPr lang="zh-CN" altLang="zh-CN" sz="2400" dirty="0" smtClean="0">
                <a:solidFill>
                  <a:schemeClr val="tx1"/>
                </a:solidFill>
                <a:latin typeface="Times New Roman" panose="02020603050405020304" pitchFamily="18" charset="0"/>
                <a:cs typeface="Times New Roman" panose="02020603050405020304" pitchFamily="18" charset="0"/>
              </a:rPr>
              <a:t>坐标值计算</a:t>
            </a:r>
            <a:r>
              <a:rPr lang="en-US" altLang="zh-CN" sz="2400" i="1" dirty="0" smtClean="0">
                <a:solidFill>
                  <a:schemeClr val="tx1"/>
                </a:solidFill>
                <a:latin typeface="Times New Roman" panose="02020603050405020304" pitchFamily="18" charset="0"/>
                <a:cs typeface="Times New Roman" panose="02020603050405020304" pitchFamily="18" charset="0"/>
              </a:rPr>
              <a:t>y</a:t>
            </a:r>
            <a:r>
              <a:rPr lang="zh-CN" altLang="zh-CN" sz="2400" dirty="0" smtClean="0">
                <a:solidFill>
                  <a:schemeClr val="tx1"/>
                </a:solidFill>
                <a:latin typeface="Times New Roman" panose="02020603050405020304" pitchFamily="18" charset="0"/>
                <a:cs typeface="Times New Roman" panose="02020603050405020304" pitchFamily="18" charset="0"/>
              </a:rPr>
              <a:t>的坐标值。则</a:t>
            </a:r>
            <a:r>
              <a:rPr lang="en-US" altLang="zh-CN" sz="2400" dirty="0" smtClean="0">
                <a:solidFill>
                  <a:schemeClr val="tx1"/>
                </a:solidFill>
                <a:latin typeface="Times New Roman" panose="02020603050405020304" pitchFamily="18" charset="0"/>
                <a:cs typeface="Times New Roman" panose="02020603050405020304" pitchFamily="18" charset="0"/>
              </a:rPr>
              <a:t>plot</a:t>
            </a:r>
            <a:r>
              <a:rPr lang="zh-CN" altLang="zh-CN" sz="2400" dirty="0" smtClean="0">
                <a:solidFill>
                  <a:schemeClr val="tx1"/>
                </a:solidFill>
                <a:latin typeface="Times New Roman" panose="02020603050405020304" pitchFamily="18" charset="0"/>
                <a:cs typeface="Times New Roman" panose="02020603050405020304" pitchFamily="18" charset="0"/>
              </a:rPr>
              <a:t>会自动连接这些坐标点绘制出一个曲线图出来</a:t>
            </a:r>
            <a:endParaRPr lang="en-US" altLang="zh-CN" sz="2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1.4.1 </a:t>
            </a:r>
            <a:r>
              <a:rPr lang="zh-CN" altLang="en-US" sz="2800" b="1" dirty="0" smtClean="0">
                <a:solidFill>
                  <a:srgbClr val="0070C0"/>
                </a:solidFill>
                <a:latin typeface="微软雅黑" panose="020B0503020204020204" pitchFamily="34" charset="-122"/>
                <a:ea typeface="微软雅黑" panose="020B0503020204020204" pitchFamily="34" charset="-122"/>
              </a:rPr>
              <a:t>绘制</a:t>
            </a:r>
            <a:r>
              <a:rPr lang="zh-CN" altLang="en-US" sz="2800" b="1" dirty="0">
                <a:solidFill>
                  <a:srgbClr val="0070C0"/>
                </a:solidFill>
                <a:latin typeface="微软雅黑" panose="020B0503020204020204" pitchFamily="34" charset="-122"/>
                <a:ea typeface="微软雅黑" panose="020B0503020204020204" pitchFamily="34" charset="-122"/>
              </a:rPr>
              <a:t>曲线图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Content Placeholder 2"/>
          <p:cNvSpPr txBox="1"/>
          <p:nvPr/>
        </p:nvSpPr>
        <p:spPr>
          <a:xfrm>
            <a:off x="4823417" y="3222053"/>
            <a:ext cx="3808520" cy="3300667"/>
          </a:xfrm>
          <a:prstGeom prst="rect">
            <a:avLst/>
          </a:prstGeom>
          <a:solidFill>
            <a:schemeClr val="accent1">
              <a:lumMod val="20000"/>
              <a:lumOff val="80000"/>
            </a:schemeClr>
          </a:solidFill>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这些坐标点的数量要足够多，如果坐标点太少，绘制出的曲线图就会不够精确，例如将步长设置为</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1</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之后，即</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x=np.arange(-5,5,1)</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绘制的图形</a:t>
            </a:r>
            <a:r>
              <a:rPr lang="zh-CN" altLang="en-US" sz="22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如左图所示</a:t>
            </a:r>
            <a:endParaRPr lang="en-US" altLang="zh-CN" sz="22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4098" name="Picture 2" descr="r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9554" y="3807756"/>
            <a:ext cx="4072446" cy="2714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274321" y="868680"/>
            <a:ext cx="8357616"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plot()</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函数在当前绘图对象中绘</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图</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zh-CN" altLang="en-US" sz="2400" dirty="0">
                <a:solidFill>
                  <a:schemeClr val="tx1"/>
                </a:solidFill>
                <a:latin typeface="Times New Roman" panose="02020603050405020304" pitchFamily="18" charset="0"/>
                <a:cs typeface="Times New Roman" panose="02020603050405020304" pitchFamily="18" charset="0"/>
              </a:rPr>
              <a:t>创建</a:t>
            </a:r>
            <a:r>
              <a:rPr lang="en-US" altLang="zh-CN" sz="2400" dirty="0">
                <a:solidFill>
                  <a:schemeClr val="tx1"/>
                </a:solidFill>
                <a:latin typeface="Times New Roman" panose="02020603050405020304" pitchFamily="18" charset="0"/>
                <a:cs typeface="Times New Roman" panose="02020603050405020304" pitchFamily="18" charset="0"/>
              </a:rPr>
              <a:t>figure</a:t>
            </a:r>
            <a:r>
              <a:rPr lang="zh-CN" altLang="en-US" sz="2400" dirty="0">
                <a:solidFill>
                  <a:schemeClr val="tx1"/>
                </a:solidFill>
                <a:latin typeface="Times New Roman" panose="02020603050405020304" pitchFamily="18" charset="0"/>
                <a:cs typeface="Times New Roman" panose="02020603050405020304" pitchFamily="18" charset="0"/>
              </a:rPr>
              <a:t>对象后，接下来调用</a:t>
            </a:r>
            <a:r>
              <a:rPr lang="en-US" altLang="zh-CN" sz="2400" dirty="0">
                <a:solidFill>
                  <a:schemeClr val="tx1"/>
                </a:solidFill>
                <a:latin typeface="Times New Roman" panose="02020603050405020304" pitchFamily="18" charset="0"/>
                <a:cs typeface="Times New Roman" panose="02020603050405020304" pitchFamily="18" charset="0"/>
              </a:rPr>
              <a:t>plot</a:t>
            </a:r>
            <a:r>
              <a:rPr lang="zh-CN" altLang="en-US" sz="2400" dirty="0">
                <a:solidFill>
                  <a:schemeClr val="tx1"/>
                </a:solidFill>
                <a:latin typeface="Times New Roman" panose="02020603050405020304" pitchFamily="18" charset="0"/>
                <a:cs typeface="Times New Roman" panose="02020603050405020304" pitchFamily="18" charset="0"/>
              </a:rPr>
              <a:t>函数就可在当前</a:t>
            </a:r>
            <a:r>
              <a:rPr lang="en-US" altLang="zh-CN" sz="2400" dirty="0">
                <a:solidFill>
                  <a:schemeClr val="tx1"/>
                </a:solidFill>
                <a:latin typeface="Times New Roman" panose="02020603050405020304" pitchFamily="18" charset="0"/>
                <a:cs typeface="Times New Roman" panose="02020603050405020304" pitchFamily="18" charset="0"/>
              </a:rPr>
              <a:t>figure</a:t>
            </a:r>
            <a:r>
              <a:rPr lang="zh-CN" altLang="en-US" sz="2400" dirty="0">
                <a:solidFill>
                  <a:schemeClr val="tx1"/>
                </a:solidFill>
                <a:latin typeface="Times New Roman" panose="02020603050405020304" pitchFamily="18" charset="0"/>
                <a:cs typeface="Times New Roman" panose="02020603050405020304" pitchFamily="18" charset="0"/>
              </a:rPr>
              <a:t>对象中绘图</a:t>
            </a:r>
            <a:r>
              <a:rPr lang="zh-CN" altLang="en-US" sz="2400" dirty="0" smtClean="0">
                <a:solidFill>
                  <a:schemeClr val="tx1"/>
                </a:solidFill>
                <a:latin typeface="Times New Roman" panose="02020603050405020304" pitchFamily="18" charset="0"/>
                <a:cs typeface="Times New Roman" panose="02020603050405020304" pitchFamily="18" charset="0"/>
              </a:rPr>
              <a:t>。</a:t>
            </a:r>
            <a:r>
              <a:rPr lang="en-US" altLang="zh-CN" sz="2400" dirty="0" smtClean="0">
                <a:solidFill>
                  <a:schemeClr val="tx1"/>
                </a:solidFill>
                <a:latin typeface="Times New Roman" panose="02020603050405020304" pitchFamily="18" charset="0"/>
                <a:cs typeface="Times New Roman" panose="02020603050405020304" pitchFamily="18" charset="0"/>
              </a:rPr>
              <a:t>plot()</a:t>
            </a:r>
            <a:r>
              <a:rPr lang="zh-CN" altLang="en-US" sz="2400" dirty="0" smtClean="0">
                <a:solidFill>
                  <a:schemeClr val="tx1"/>
                </a:solidFill>
                <a:latin typeface="Times New Roman" panose="02020603050405020304" pitchFamily="18" charset="0"/>
                <a:cs typeface="Times New Roman" panose="02020603050405020304" pitchFamily="18" charset="0"/>
              </a:rPr>
              <a:t>函</a:t>
            </a:r>
            <a:r>
              <a:rPr lang="zh-CN" altLang="en-US" sz="2400" dirty="0">
                <a:solidFill>
                  <a:schemeClr val="tx1"/>
                </a:solidFill>
                <a:latin typeface="Times New Roman" panose="02020603050405020304" pitchFamily="18" charset="0"/>
                <a:cs typeface="Times New Roman" panose="02020603050405020304" pitchFamily="18" charset="0"/>
              </a:rPr>
              <a:t>数实际上是在（</a:t>
            </a:r>
            <a:r>
              <a:rPr lang="en-US" altLang="zh-CN" sz="2400" dirty="0">
                <a:solidFill>
                  <a:schemeClr val="tx1"/>
                </a:solidFill>
                <a:latin typeface="Times New Roman" panose="02020603050405020304" pitchFamily="18" charset="0"/>
                <a:cs typeface="Times New Roman" panose="02020603050405020304" pitchFamily="18" charset="0"/>
              </a:rPr>
              <a:t>Axes</a:t>
            </a:r>
            <a:r>
              <a:rPr lang="zh-CN" altLang="en-US" sz="2400" dirty="0">
                <a:solidFill>
                  <a:schemeClr val="tx1"/>
                </a:solidFill>
                <a:latin typeface="Times New Roman" panose="02020603050405020304" pitchFamily="18" charset="0"/>
                <a:cs typeface="Times New Roman" panose="02020603050405020304" pitchFamily="18" charset="0"/>
              </a:rPr>
              <a:t>）子图对象上绘</a:t>
            </a:r>
            <a:r>
              <a:rPr lang="zh-CN" altLang="en-US" sz="2400" dirty="0" smtClean="0">
                <a:solidFill>
                  <a:schemeClr val="tx1"/>
                </a:solidFill>
                <a:latin typeface="Times New Roman" panose="02020603050405020304" pitchFamily="18" charset="0"/>
                <a:cs typeface="Times New Roman" panose="02020603050405020304" pitchFamily="18" charset="0"/>
              </a:rPr>
              <a:t>图</a:t>
            </a:r>
            <a:r>
              <a:rPr lang="zh-CN" altLang="zh-CN" sz="2400" dirty="0" smtClean="0">
                <a:solidFill>
                  <a:schemeClr val="tx1"/>
                </a:solidFill>
                <a:latin typeface="Times New Roman" panose="02020603050405020304" pitchFamily="18" charset="0"/>
                <a:cs typeface="Times New Roman" panose="02020603050405020304" pitchFamily="18" charset="0"/>
              </a:rPr>
              <a:t>。</a:t>
            </a:r>
            <a:r>
              <a:rPr lang="en-US" altLang="zh-CN" sz="2400" dirty="0" smtClean="0">
                <a:solidFill>
                  <a:schemeClr val="tx1"/>
                </a:solidFill>
                <a:latin typeface="Times New Roman" panose="02020603050405020304" pitchFamily="18" charset="0"/>
                <a:cs typeface="Times New Roman" panose="02020603050405020304" pitchFamily="18" charset="0"/>
              </a:rPr>
              <a:t>plot()</a:t>
            </a:r>
            <a:r>
              <a:rPr lang="zh-CN" altLang="en-US" sz="2400" dirty="0" smtClean="0">
                <a:solidFill>
                  <a:schemeClr val="tx1"/>
                </a:solidFill>
                <a:latin typeface="Times New Roman" panose="02020603050405020304" pitchFamily="18" charset="0"/>
                <a:cs typeface="Times New Roman" panose="02020603050405020304" pitchFamily="18" charset="0"/>
              </a:rPr>
              <a:t>函</a:t>
            </a:r>
            <a:r>
              <a:rPr lang="zh-CN" altLang="en-US" sz="2400" dirty="0">
                <a:solidFill>
                  <a:schemeClr val="tx1"/>
                </a:solidFill>
                <a:latin typeface="Times New Roman" panose="02020603050405020304" pitchFamily="18" charset="0"/>
                <a:cs typeface="Times New Roman" panose="02020603050405020304" pitchFamily="18" charset="0"/>
              </a:rPr>
              <a:t>数的第</a:t>
            </a:r>
            <a:r>
              <a:rPr lang="en-US" altLang="zh-CN" sz="2400" dirty="0">
                <a:solidFill>
                  <a:schemeClr val="tx1"/>
                </a:solidFill>
                <a:latin typeface="Times New Roman" panose="02020603050405020304" pitchFamily="18" charset="0"/>
                <a:cs typeface="Times New Roman" panose="02020603050405020304" pitchFamily="18" charset="0"/>
              </a:rPr>
              <a:t>3</a:t>
            </a:r>
            <a:r>
              <a:rPr lang="zh-CN" altLang="en-US" sz="2400" dirty="0">
                <a:solidFill>
                  <a:schemeClr val="tx1"/>
                </a:solidFill>
                <a:latin typeface="Times New Roman" panose="02020603050405020304" pitchFamily="18" charset="0"/>
                <a:cs typeface="Times New Roman" panose="02020603050405020304" pitchFamily="18" charset="0"/>
              </a:rPr>
              <a:t>个参数</a:t>
            </a:r>
            <a:r>
              <a:rPr lang="en-US" altLang="zh-CN" sz="2400" dirty="0">
                <a:solidFill>
                  <a:schemeClr val="tx1"/>
                </a:solidFill>
                <a:latin typeface="Times New Roman" panose="02020603050405020304" pitchFamily="18" charset="0"/>
                <a:cs typeface="Times New Roman" panose="02020603050405020304" pitchFamily="18" charset="0"/>
              </a:rPr>
              <a:t>'b--'</a:t>
            </a:r>
            <a:r>
              <a:rPr lang="zh-CN" altLang="en-US" sz="2400" dirty="0">
                <a:solidFill>
                  <a:schemeClr val="tx1"/>
                </a:solidFill>
                <a:latin typeface="Times New Roman" panose="02020603050405020304" pitchFamily="18" charset="0"/>
                <a:cs typeface="Times New Roman" panose="02020603050405020304" pitchFamily="18" charset="0"/>
              </a:rPr>
              <a:t>用来指定线条的颜色和线</a:t>
            </a:r>
            <a:r>
              <a:rPr lang="zh-CN" altLang="en-US" sz="2400" dirty="0" smtClean="0">
                <a:solidFill>
                  <a:schemeClr val="tx1"/>
                </a:solidFill>
                <a:latin typeface="Times New Roman" panose="02020603050405020304" pitchFamily="18" charset="0"/>
                <a:cs typeface="Times New Roman" panose="02020603050405020304" pitchFamily="18" charset="0"/>
              </a:rPr>
              <a:t>型</a:t>
            </a:r>
            <a:endParaRPr lang="en-US" altLang="zh-CN" sz="2400" dirty="0" smtClean="0">
              <a:solidFill>
                <a:schemeClr val="tx1"/>
              </a:solidFill>
              <a:latin typeface="Times New Roman" panose="02020603050405020304" pitchFamily="18" charset="0"/>
              <a:cs typeface="Times New Roman" panose="02020603050405020304" pitchFamily="18" charset="0"/>
            </a:endParaRPr>
          </a:p>
          <a:p>
            <a:pPr marL="0" indent="0" defTabSz="913765">
              <a:lnSpc>
                <a:spcPct val="150000"/>
              </a:lnSpc>
              <a:buNone/>
            </a:pPr>
            <a:r>
              <a:rPr lang="zh-CN" altLang="en-US" sz="24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颜色</a:t>
            </a:r>
            <a:endParaRPr lang="en-US" altLang="zh-CN" sz="24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r>
              <a:rPr lang="zh-CN" altLang="en-US" sz="24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线形</a:t>
            </a:r>
            <a:endPar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endPar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endParaRPr lang="en-US" altLang="zh-CN" sz="2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1.4.1 </a:t>
            </a:r>
            <a:r>
              <a:rPr lang="zh-CN" altLang="en-US" sz="2800" b="1" dirty="0" smtClean="0">
                <a:solidFill>
                  <a:srgbClr val="0070C0"/>
                </a:solidFill>
                <a:latin typeface="微软雅黑" panose="020B0503020204020204" pitchFamily="34" charset="-122"/>
                <a:ea typeface="微软雅黑" panose="020B0503020204020204" pitchFamily="34" charset="-122"/>
              </a:rPr>
              <a:t>绘制</a:t>
            </a:r>
            <a:r>
              <a:rPr lang="zh-CN" altLang="en-US" sz="2800" b="1" dirty="0">
                <a:solidFill>
                  <a:srgbClr val="0070C0"/>
                </a:solidFill>
                <a:latin typeface="微软雅黑" panose="020B0503020204020204" pitchFamily="34" charset="-122"/>
                <a:ea typeface="微软雅黑" panose="020B0503020204020204" pitchFamily="34" charset="-122"/>
              </a:rPr>
              <a:t>曲线图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1366394" y="3212592"/>
          <a:ext cx="5411470" cy="731520"/>
        </p:xfrm>
        <a:graphic>
          <a:graphicData uri="http://schemas.openxmlformats.org/drawingml/2006/table">
            <a:tbl>
              <a:tblPr firstRow="1" firstCol="1" bandRow="1">
                <a:tableStyleId>{5C22544A-7EE6-4342-B048-85BDC9FD1C3A}</a:tableStyleId>
              </a:tblPr>
              <a:tblGrid>
                <a:gridCol w="676275"/>
                <a:gridCol w="676275"/>
                <a:gridCol w="676275"/>
                <a:gridCol w="676275"/>
                <a:gridCol w="823595"/>
                <a:gridCol w="528955"/>
                <a:gridCol w="676910"/>
                <a:gridCol w="676910"/>
              </a:tblGrid>
              <a:tr h="0">
                <a:tc>
                  <a:txBody>
                    <a:bodyPr/>
                    <a:lstStyle/>
                    <a:p>
                      <a:pPr algn="ctr">
                        <a:spcAft>
                          <a:spcPts val="0"/>
                        </a:spcAft>
                      </a:pPr>
                      <a:r>
                        <a:rPr lang="zh-CN" sz="2400" kern="100" dirty="0">
                          <a:solidFill>
                            <a:schemeClr val="accent1"/>
                          </a:solidFill>
                          <a:effectLst/>
                        </a:rPr>
                        <a:t>蓝</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绿</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红</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青</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品红</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黄</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黑</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白</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kern="100">
                          <a:solidFill>
                            <a:schemeClr val="tx1"/>
                          </a:solidFill>
                          <a:effectLst/>
                        </a:rPr>
                        <a:t>'b'</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'g'</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'r'</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'c'</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'm'</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'y'</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'k'</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dirty="0">
                          <a:solidFill>
                            <a:schemeClr val="tx1"/>
                          </a:solidFill>
                          <a:effectLst/>
                        </a:rPr>
                        <a:t>'w'</a:t>
                      </a:r>
                      <a:endParaRPr lang="zh-CN" sz="24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5" name="表格 4"/>
          <p:cNvGraphicFramePr>
            <a:graphicFrameLocks noGrp="1"/>
          </p:cNvGraphicFramePr>
          <p:nvPr/>
        </p:nvGraphicFramePr>
        <p:xfrm>
          <a:off x="578041" y="4550664"/>
          <a:ext cx="7750175" cy="1463040"/>
        </p:xfrm>
        <a:graphic>
          <a:graphicData uri="http://schemas.openxmlformats.org/drawingml/2006/table">
            <a:tbl>
              <a:tblPr firstRow="1" firstCol="1" bandRow="1">
                <a:tableStyleId>{5C22544A-7EE6-4342-B048-85BDC9FD1C3A}</a:tableStyleId>
              </a:tblPr>
              <a:tblGrid>
                <a:gridCol w="772795"/>
                <a:gridCol w="1094740"/>
                <a:gridCol w="1173480"/>
                <a:gridCol w="1371600"/>
                <a:gridCol w="1310640"/>
                <a:gridCol w="853440"/>
                <a:gridCol w="1173480"/>
              </a:tblGrid>
              <a:tr h="0">
                <a:tc>
                  <a:txBody>
                    <a:bodyPr/>
                    <a:lstStyle/>
                    <a:p>
                      <a:pPr algn="ctr">
                        <a:spcAft>
                          <a:spcPts val="0"/>
                        </a:spcAft>
                      </a:pPr>
                      <a:r>
                        <a:rPr lang="zh-CN" sz="2400" kern="100" dirty="0">
                          <a:solidFill>
                            <a:schemeClr val="accent1"/>
                          </a:solidFill>
                          <a:effectLst/>
                        </a:rPr>
                        <a:t>实线</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虚线</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点划线</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点线</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点标记</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星型</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圆标记</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'o'</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zh-CN" sz="2400" b="0" kern="100" dirty="0">
                          <a:solidFill>
                            <a:schemeClr val="accent1"/>
                          </a:solidFill>
                          <a:effectLst/>
                        </a:rPr>
                        <a:t>像素</a:t>
                      </a:r>
                      <a:endParaRPr lang="zh-CN" sz="2400" b="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正方形</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五边形</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六边形</a:t>
                      </a:r>
                      <a:r>
                        <a:rPr lang="en-US" sz="2400" kern="100">
                          <a:solidFill>
                            <a:schemeClr val="accent1"/>
                          </a:solidFill>
                          <a:effectLst/>
                        </a:rPr>
                        <a:t>1</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六边形</a:t>
                      </a:r>
                      <a:r>
                        <a:rPr lang="en-US" sz="2400" kern="100">
                          <a:solidFill>
                            <a:schemeClr val="accent1"/>
                          </a:solidFill>
                          <a:effectLst/>
                        </a:rPr>
                        <a:t>2</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加号</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dirty="0">
                          <a:solidFill>
                            <a:schemeClr val="accent1"/>
                          </a:solidFill>
                          <a:effectLst/>
                        </a:rPr>
                        <a:t>X</a:t>
                      </a:r>
                      <a:r>
                        <a:rPr lang="zh-CN" sz="2400" kern="100" dirty="0">
                          <a:solidFill>
                            <a:schemeClr val="accent1"/>
                          </a:solidFill>
                          <a:effectLst/>
                        </a:rPr>
                        <a:t>标记</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's'</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'p'</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'h'</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'H'</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dirty="0">
                          <a:solidFill>
                            <a:schemeClr val="tx1"/>
                          </a:solidFill>
                          <a:effectLst/>
                        </a:rPr>
                        <a:t>'x'</a:t>
                      </a:r>
                      <a:endParaRPr lang="zh-CN" sz="24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200821" y="1648677"/>
            <a:ext cx="3885513" cy="2914135"/>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 </a:t>
            </a:r>
            <a:r>
              <a:rPr lang="zh-CN" altLang="en-US" sz="2800" b="1" dirty="0">
                <a:solidFill>
                  <a:srgbClr val="0070C0"/>
                </a:solidFill>
                <a:latin typeface="微软雅黑" panose="020B0503020204020204" pitchFamily="34" charset="-122"/>
                <a:ea typeface="微软雅黑" panose="020B0503020204020204" pitchFamily="34" charset="-122"/>
              </a:rPr>
              <a:t>绘制曲线图</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在坐</a:t>
            </a:r>
            <a:r>
              <a:rPr lang="zh-CN" altLang="en-US" sz="2800" b="1" dirty="0">
                <a:solidFill>
                  <a:srgbClr val="0070C0"/>
                </a:solidFill>
                <a:latin typeface="微软雅黑" panose="020B0503020204020204" pitchFamily="34" charset="-122"/>
                <a:ea typeface="微软雅黑" panose="020B0503020204020204" pitchFamily="34" charset="-122"/>
              </a:rPr>
              <a:t>标图中绘制多个图</a:t>
            </a:r>
            <a:r>
              <a:rPr lang="zh-CN" altLang="en-US" sz="2800" b="1" dirty="0" smtClean="0">
                <a:solidFill>
                  <a:srgbClr val="0070C0"/>
                </a:solidFill>
                <a:latin typeface="微软雅黑" panose="020B0503020204020204" pitchFamily="34" charset="-122"/>
                <a:ea typeface="微软雅黑" panose="020B0503020204020204" pitchFamily="34" charset="-122"/>
              </a:rPr>
              <a:t>形</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72990" y="1413827"/>
            <a:ext cx="52651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a:t>
            </a:r>
            <a:r>
              <a:rPr lang="en-US" altLang="zh-CN" sz="2400" dirty="0" smtClean="0">
                <a:latin typeface="Times New Roman" panose="02020603050405020304" pitchFamily="18" charset="0"/>
                <a:cs typeface="Times New Roman" panose="02020603050405020304" pitchFamily="18" charset="0"/>
              </a:rPr>
              <a:t>plt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np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plt.xlabel('x</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plt.ylabel('y')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plt.title('Simple Diagram')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a:t>
            </a:r>
            <a:r>
              <a:rPr lang="en-US" altLang="zh-CN" sz="2400" dirty="0" err="1" smtClean="0">
                <a:latin typeface="Times New Roman" panose="02020603050405020304" pitchFamily="18" charset="0"/>
                <a:cs typeface="Times New Roman" panose="02020603050405020304" pitchFamily="18" charset="0"/>
              </a:rPr>
              <a:t>np.arange</a:t>
            </a:r>
            <a:r>
              <a:rPr lang="en-US" altLang="zh-CN" sz="2400" dirty="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5, 5, 0.01)</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y1, y2 = x*x, 2*x+9    #</a:t>
            </a:r>
            <a:r>
              <a:rPr lang="zh-CN" altLang="en-US" sz="2400" dirty="0" smtClean="0">
                <a:latin typeface="Times New Roman" panose="02020603050405020304" pitchFamily="18" charset="0"/>
                <a:cs typeface="Times New Roman" panose="02020603050405020304" pitchFamily="18" charset="0"/>
              </a:rPr>
              <a:t>给</a:t>
            </a:r>
            <a:r>
              <a:rPr lang="en-US" altLang="zh-CN" sz="2400" dirty="0" smtClean="0">
                <a:latin typeface="Times New Roman" panose="02020603050405020304" pitchFamily="18" charset="0"/>
                <a:cs typeface="Times New Roman" panose="02020603050405020304" pitchFamily="18" charset="0"/>
              </a:rPr>
              <a:t>y1</a:t>
            </a:r>
            <a:r>
              <a:rPr lang="zh-CN" altLang="en-US" sz="2400" dirty="0" smtClean="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y2</a:t>
            </a:r>
            <a:r>
              <a:rPr lang="zh-CN" altLang="en-US" sz="2400" dirty="0">
                <a:latin typeface="Times New Roman" panose="02020603050405020304" pitchFamily="18" charset="0"/>
                <a:cs typeface="Times New Roman" panose="02020603050405020304" pitchFamily="18" charset="0"/>
              </a:rPr>
              <a:t>赋值</a:t>
            </a:r>
            <a:endParaRPr lang="zh-CN" altLang="en-US"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plt.plot</a:t>
            </a:r>
            <a:r>
              <a:rPr lang="en-US" altLang="zh-CN" sz="2400" dirty="0">
                <a:latin typeface="Times New Roman" panose="02020603050405020304" pitchFamily="18" charset="0"/>
                <a:cs typeface="Times New Roman" panose="02020603050405020304" pitchFamily="18" charset="0"/>
              </a:rPr>
              <a:t>(x</a:t>
            </a:r>
            <a:r>
              <a:rPr lang="en-US" altLang="zh-CN" sz="2400" dirty="0" smtClean="0">
                <a:latin typeface="Times New Roman" panose="02020603050405020304" pitchFamily="18" charset="0"/>
                <a:cs typeface="Times New Roman" panose="02020603050405020304" pitchFamily="18" charset="0"/>
              </a:rPr>
              <a:t>, y1, 'b--', label</a:t>
            </a:r>
            <a:r>
              <a:rPr lang="en-US" altLang="zh-CN" sz="2400" dirty="0">
                <a:latin typeface="Times New Roman" panose="02020603050405020304" pitchFamily="18" charset="0"/>
                <a:cs typeface="Times New Roman" panose="02020603050405020304" pitchFamily="18" charset="0"/>
              </a:rPr>
              <a:t>="x^2</a:t>
            </a:r>
            <a:r>
              <a:rPr lang="en-US" altLang="zh-CN" sz="2400" dirty="0" smtClean="0">
                <a:latin typeface="Times New Roman" panose="02020603050405020304" pitchFamily="18" charset="0"/>
                <a:cs typeface="Times New Roman" panose="02020603050405020304" pitchFamily="18" charset="0"/>
              </a:rPr>
              <a:t>")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plt.plot</a:t>
            </a:r>
            <a:r>
              <a:rPr lang="en-US" altLang="zh-CN" sz="2400" dirty="0" smtClean="0">
                <a:latin typeface="Times New Roman" panose="02020603050405020304" pitchFamily="18" charset="0"/>
                <a:cs typeface="Times New Roman" panose="02020603050405020304" pitchFamily="18" charset="0"/>
              </a:rPr>
              <a:t>(x, y2, 'r-.', label</a:t>
            </a:r>
            <a:r>
              <a:rPr lang="en-US" altLang="zh-CN" sz="2400" dirty="0">
                <a:latin typeface="Times New Roman" panose="02020603050405020304" pitchFamily="18" charset="0"/>
                <a:cs typeface="Times New Roman" panose="02020603050405020304" pitchFamily="18" charset="0"/>
              </a:rPr>
              <a:t>="2x+9</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plt.legend</a:t>
            </a:r>
            <a:r>
              <a:rPr lang="en-US" altLang="zh-CN" sz="2400"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显示图例</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 </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4156907"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1-15]</a:t>
            </a:r>
            <a:r>
              <a:rPr lang="zh-CN" altLang="en-US" sz="2800" b="1" dirty="0">
                <a:solidFill>
                  <a:srgbClr val="0070C0"/>
                </a:solidFill>
                <a:latin typeface="微软雅黑" panose="020B0503020204020204" pitchFamily="34" charset="-122"/>
                <a:ea typeface="微软雅黑" panose="020B0503020204020204" pitchFamily="34" charset="-122"/>
              </a:rPr>
              <a:t>绘</a:t>
            </a:r>
            <a:r>
              <a:rPr lang="zh-CN" altLang="en-US" sz="2800" b="1" dirty="0" smtClean="0">
                <a:solidFill>
                  <a:srgbClr val="0070C0"/>
                </a:solidFill>
                <a:latin typeface="微软雅黑" panose="020B0503020204020204" pitchFamily="34" charset="-122"/>
                <a:ea typeface="微软雅黑" panose="020B0503020204020204" pitchFamily="34" charset="-122"/>
              </a:rPr>
              <a:t>制多个图</a:t>
            </a:r>
            <a:r>
              <a:rPr lang="zh-CN" altLang="en-US" sz="2800" b="1" dirty="0">
                <a:solidFill>
                  <a:srgbClr val="0070C0"/>
                </a:solidFill>
                <a:latin typeface="微软雅黑" panose="020B0503020204020204" pitchFamily="34" charset="-122"/>
                <a:ea typeface="微软雅黑" panose="020B0503020204020204" pitchFamily="34" charset="-122"/>
              </a:rPr>
              <a:t>形</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056010" y="5585901"/>
            <a:ext cx="6725942" cy="887361"/>
            <a:chOff x="6339097" y="1573725"/>
            <a:chExt cx="3744416" cy="887823"/>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8"/>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绘制多条曲线也</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可在</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一个</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plot()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数中传入多对</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值，例如</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plt.plot(x,y</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,'b--',x,y2,'r-</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设置</a:t>
            </a: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plt</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对象的属性和方</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法</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err="1"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plt.xlabel</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设置</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轴的</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标签</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err="1"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plt.ylabel</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设置</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轴</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标签</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plt.title</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设置</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图的</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标题</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err="1"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plt.xlim</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设置</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轴的起始坐</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标</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err="1"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plt.ylim</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设置</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轴的起始</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坐标</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err="1"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plt.legend</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显示</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图例，即图中表示每条曲线的标签和样式的矩形</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区域</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 </a:t>
            </a:r>
            <a:r>
              <a:rPr lang="zh-CN" altLang="en-US" sz="2800" b="1" dirty="0">
                <a:solidFill>
                  <a:srgbClr val="0070C0"/>
                </a:solidFill>
                <a:latin typeface="微软雅黑" panose="020B0503020204020204" pitchFamily="34" charset="-122"/>
                <a:ea typeface="微软雅黑" panose="020B0503020204020204" pitchFamily="34" charset="-122"/>
              </a:rPr>
              <a:t>绘制曲线图</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设置</a:t>
            </a:r>
            <a:r>
              <a:rPr lang="en-US" altLang="zh-CN" sz="2800" b="1" dirty="0">
                <a:solidFill>
                  <a:srgbClr val="0070C0"/>
                </a:solidFill>
                <a:latin typeface="微软雅黑" panose="020B0503020204020204" pitchFamily="34" charset="-122"/>
                <a:ea typeface="微软雅黑" panose="020B0503020204020204" pitchFamily="34" charset="-122"/>
              </a:rPr>
              <a:t>plt</a:t>
            </a:r>
            <a:r>
              <a:rPr lang="zh-CN" altLang="en-US" sz="2800" b="1" dirty="0">
                <a:solidFill>
                  <a:srgbClr val="0070C0"/>
                </a:solidFill>
                <a:latin typeface="微软雅黑" panose="020B0503020204020204" pitchFamily="34" charset="-122"/>
                <a:ea typeface="微软雅黑" panose="020B0503020204020204" pitchFamily="34" charset="-122"/>
              </a:rPr>
              <a:t>对象的属性和方法</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 </a:t>
            </a:r>
            <a:r>
              <a:rPr lang="zh-CN" altLang="en-US" sz="2800" b="1" dirty="0">
                <a:solidFill>
                  <a:srgbClr val="0070C0"/>
                </a:solidFill>
                <a:latin typeface="微软雅黑" panose="020B0503020204020204" pitchFamily="34" charset="-122"/>
                <a:ea typeface="微软雅黑" panose="020B0503020204020204" pitchFamily="34" charset="-122"/>
              </a:rPr>
              <a:t>绘制曲线图</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设置</a:t>
            </a:r>
            <a:r>
              <a:rPr lang="en-US" altLang="zh-CN" sz="2800" b="1" dirty="0">
                <a:solidFill>
                  <a:srgbClr val="0070C0"/>
                </a:solidFill>
                <a:latin typeface="微软雅黑" panose="020B0503020204020204" pitchFamily="34" charset="-122"/>
                <a:ea typeface="微软雅黑" panose="020B0503020204020204" pitchFamily="34" charset="-122"/>
              </a:rPr>
              <a:t>plt</a:t>
            </a:r>
            <a:r>
              <a:rPr lang="zh-CN" altLang="en-US" sz="2800" b="1" dirty="0">
                <a:solidFill>
                  <a:srgbClr val="0070C0"/>
                </a:solidFill>
                <a:latin typeface="微软雅黑" panose="020B0503020204020204" pitchFamily="34" charset="-122"/>
                <a:ea typeface="微软雅黑" panose="020B0503020204020204" pitchFamily="34" charset="-122"/>
              </a:rPr>
              <a:t>对象的属性和方法</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54226" y="1390490"/>
            <a:ext cx="655830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smtClean="0">
                <a:latin typeface="Times New Roman" panose="02020603050405020304" pitchFamily="18" charset="0"/>
                <a:cs typeface="Times New Roman" panose="02020603050405020304" pitchFamily="18" charset="0"/>
              </a:rPr>
              <a:t>import </a:t>
            </a:r>
            <a:r>
              <a:rPr lang="en-US" altLang="zh-CN" sz="2400" dirty="0" err="1">
                <a:latin typeface="Times New Roman" panose="02020603050405020304" pitchFamily="18" charset="0"/>
                <a:cs typeface="Times New Roman" panose="02020603050405020304" pitchFamily="18" charset="0"/>
              </a:rPr>
              <a:t>matplotlib.pyplot</a:t>
            </a:r>
            <a:r>
              <a:rPr lang="en-US" altLang="zh-CN" sz="2400" dirty="0">
                <a:latin typeface="Times New Roman" panose="02020603050405020304" pitchFamily="18" charset="0"/>
                <a:cs typeface="Times New Roman" panose="02020603050405020304" pitchFamily="18" charset="0"/>
              </a:rPr>
              <a:t> as </a:t>
            </a:r>
            <a:r>
              <a:rPr lang="en-US" altLang="zh-CN" sz="2400" dirty="0" err="1">
                <a:latin typeface="Times New Roman" panose="02020603050405020304" pitchFamily="18" charset="0"/>
                <a:cs typeface="Times New Roman" panose="02020603050405020304" pitchFamily="18" charset="0"/>
              </a:rPr>
              <a:t>plt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a:t>
            </a:r>
            <a:r>
              <a:rPr lang="en-US" altLang="zh-CN" sz="2400" dirty="0" err="1">
                <a:latin typeface="Times New Roman" panose="02020603050405020304" pitchFamily="18" charset="0"/>
                <a:cs typeface="Times New Roman" panose="02020603050405020304" pitchFamily="18" charset="0"/>
              </a:rPr>
              <a:t>numpy</a:t>
            </a:r>
            <a:r>
              <a:rPr lang="en-US" altLang="zh-CN" sz="2400" dirty="0">
                <a:latin typeface="Times New Roman" panose="02020603050405020304" pitchFamily="18" charset="0"/>
                <a:cs typeface="Times New Roman" panose="02020603050405020304" pitchFamily="18" charset="0"/>
              </a:rPr>
              <a:t> as </a:t>
            </a:r>
            <a:r>
              <a:rPr lang="en-US" altLang="zh-CN" sz="2400" dirty="0" err="1">
                <a:latin typeface="Times New Roman" panose="02020603050405020304" pitchFamily="18" charset="0"/>
                <a:cs typeface="Times New Roman" panose="02020603050405020304" pitchFamily="18" charset="0"/>
              </a:rPr>
              <a:t>np</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plt.figure</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a:t>
            </a:r>
            <a:r>
              <a:rPr lang="en-US" altLang="zh-CN" sz="2400" dirty="0" err="1" smtClean="0">
                <a:solidFill>
                  <a:schemeClr val="accent1"/>
                </a:solidFill>
                <a:latin typeface="Times New Roman" panose="02020603050405020304" pitchFamily="18" charset="0"/>
                <a:cs typeface="Times New Roman" panose="02020603050405020304" pitchFamily="18" charset="0"/>
              </a:rPr>
              <a:t>xlim</a:t>
            </a:r>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8,8)</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a:t>
            </a:r>
            <a:r>
              <a:rPr lang="en-US" altLang="zh-CN" sz="2400" dirty="0" err="1" smtClean="0">
                <a:solidFill>
                  <a:schemeClr val="accent1"/>
                </a:solidFill>
                <a:latin typeface="Times New Roman" panose="02020603050405020304" pitchFamily="18" charset="0"/>
                <a:cs typeface="Times New Roman" panose="02020603050405020304" pitchFamily="18" charset="0"/>
              </a:rPr>
              <a:t>ylim</a:t>
            </a:r>
            <a:r>
              <a:rPr lang="en-US" altLang="zh-CN" sz="2400" dirty="0" smtClean="0">
                <a:latin typeface="Times New Roman" panose="02020603050405020304" pitchFamily="18" charset="0"/>
                <a:cs typeface="Times New Roman" panose="02020603050405020304" pitchFamily="18" charset="0"/>
              </a:rPr>
              <a:t>(0,10</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plt.xlabel</a:t>
            </a:r>
            <a:r>
              <a:rPr lang="en-US" altLang="zh-CN" sz="2400" dirty="0">
                <a:latin typeface="Times New Roman" panose="02020603050405020304" pitchFamily="18" charset="0"/>
                <a:cs typeface="Times New Roman" panose="02020603050405020304" pitchFamily="18" charset="0"/>
              </a:rPr>
              <a:t>('x')</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plt.ylabel</a:t>
            </a:r>
            <a:r>
              <a:rPr lang="en-US" altLang="zh-CN" sz="2400" dirty="0">
                <a:latin typeface="Times New Roman" panose="02020603050405020304" pitchFamily="18" charset="0"/>
                <a:cs typeface="Times New Roman" panose="02020603050405020304" pitchFamily="18" charset="0"/>
              </a:rPr>
              <a:t>('y')</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plt.title</a:t>
            </a:r>
            <a:r>
              <a:rPr lang="en-US" altLang="zh-CN" sz="2400" dirty="0">
                <a:latin typeface="Times New Roman" panose="02020603050405020304" pitchFamily="18" charset="0"/>
                <a:cs typeface="Times New Roman" panose="02020603050405020304" pitchFamily="18" charset="0"/>
              </a:rPr>
              <a:t>('Simple Diagram')</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x = </a:t>
            </a:r>
            <a:r>
              <a:rPr lang="en-US" altLang="zh-CN" sz="2400" dirty="0" err="1">
                <a:latin typeface="Times New Roman" panose="02020603050405020304" pitchFamily="18" charset="0"/>
                <a:cs typeface="Times New Roman" panose="02020603050405020304" pitchFamily="18" charset="0"/>
              </a:rPr>
              <a:t>np.arange</a:t>
            </a:r>
            <a:r>
              <a:rPr lang="en-US" altLang="zh-CN" sz="2400" dirty="0">
                <a:latin typeface="Times New Roman" panose="02020603050405020304" pitchFamily="18" charset="0"/>
                <a:cs typeface="Times New Roman" panose="02020603050405020304" pitchFamily="18" charset="0"/>
              </a:rPr>
              <a:t>(-5, 5, 0.01)</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y1, y2 = x*x, </a:t>
            </a:r>
            <a:r>
              <a:rPr lang="en-US" altLang="zh-CN" sz="2400" dirty="0" smtClean="0">
                <a:latin typeface="Times New Roman" panose="02020603050405020304" pitchFamily="18" charset="0"/>
                <a:cs typeface="Times New Roman" panose="02020603050405020304" pitchFamily="18" charset="0"/>
              </a:rPr>
              <a:t>2*x+9</a:t>
            </a:r>
            <a:endParaRPr lang="zh-CN" altLang="en-US" sz="2400" dirty="0" smtClean="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plt.plot</a:t>
            </a:r>
            <a:r>
              <a:rPr lang="en-US" altLang="zh-CN" sz="2400" dirty="0" smtClean="0">
                <a:latin typeface="Times New Roman" panose="02020603050405020304" pitchFamily="18" charset="0"/>
                <a:cs typeface="Times New Roman" panose="02020603050405020304" pitchFamily="18" charset="0"/>
              </a:rPr>
              <a:t>(x, y1, 'b--', label="x^2")</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plt.plot</a:t>
            </a:r>
            <a:r>
              <a:rPr lang="en-US" altLang="zh-CN" sz="2400" dirty="0" smtClean="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 y2, 'r-.', label="2x+9")</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plt.legend</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plt.show</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5593198"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1-16]</a:t>
            </a:r>
            <a:r>
              <a:rPr lang="zh-CN" altLang="en-US" sz="2800" b="1" dirty="0">
                <a:solidFill>
                  <a:srgbClr val="0070C0"/>
                </a:solidFill>
                <a:latin typeface="微软雅黑" panose="020B0503020204020204" pitchFamily="34" charset="-122"/>
                <a:ea typeface="微软雅黑" panose="020B0503020204020204" pitchFamily="34" charset="-122"/>
              </a:rPr>
              <a:t>设置坐标轴的起始范围</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197623" y="138237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4801627" y="1905592"/>
            <a:ext cx="4342373" cy="3256779"/>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subplot()</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函数</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可绘</a:t>
            </a: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制包含多个子图的图</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表</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subplot(</a:t>
            </a:r>
            <a:r>
              <a:rPr lang="en-US" altLang="zh-CN" sz="2400" dirty="0" err="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numRows</a:t>
            </a:r>
            <a:r>
              <a:rPr lang="en-US" altLang="zh-CN" sz="2400" dirty="0"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numCols</a:t>
            </a:r>
            <a:r>
              <a:rPr lang="en-US" altLang="zh-CN" sz="2400" dirty="0"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plotNum</a:t>
            </a:r>
            <a:r>
              <a:rPr lang="en-US" altLang="zh-CN"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lnSpc>
                <a:spcPct val="150000"/>
              </a:lnSpc>
              <a:buNone/>
            </a:pP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subplot()</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会将整个绘图区域等分为</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numRows</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行</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×numCols</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列个子区域，然后按照从左至右、从上到下的顺序对每个子区域进行编号，左上的子区域编号为</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plotNum</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指定使用第几个子</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区域</a:t>
            </a:r>
            <a:endPar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 </a:t>
            </a:r>
            <a:r>
              <a:rPr lang="zh-CN" altLang="en-US" sz="2800" b="1" dirty="0">
                <a:solidFill>
                  <a:srgbClr val="0070C0"/>
                </a:solidFill>
                <a:latin typeface="微软雅黑" panose="020B0503020204020204" pitchFamily="34" charset="-122"/>
                <a:ea typeface="微软雅黑" panose="020B0503020204020204" pitchFamily="34" charset="-122"/>
              </a:rPr>
              <a:t>绘制曲线图</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绘制</a:t>
            </a:r>
            <a:r>
              <a:rPr lang="zh-CN" altLang="en-US" sz="2800" b="1" dirty="0">
                <a:solidFill>
                  <a:srgbClr val="0070C0"/>
                </a:solidFill>
                <a:latin typeface="微软雅黑" panose="020B0503020204020204" pitchFamily="34" charset="-122"/>
                <a:ea typeface="微软雅黑" panose="020B0503020204020204" pitchFamily="34" charset="-122"/>
              </a:rPr>
              <a:t>多个子图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 </a:t>
            </a:r>
            <a:r>
              <a:rPr lang="zh-CN" altLang="en-US" sz="2800" b="1" dirty="0">
                <a:solidFill>
                  <a:srgbClr val="0070C0"/>
                </a:solidFill>
                <a:latin typeface="微软雅黑" panose="020B0503020204020204" pitchFamily="34" charset="-122"/>
                <a:ea typeface="微软雅黑" panose="020B0503020204020204" pitchFamily="34" charset="-122"/>
              </a:rPr>
              <a:t>绘制曲线图</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绘制</a:t>
            </a:r>
            <a:r>
              <a:rPr lang="zh-CN" altLang="en-US" sz="2800" b="1" dirty="0">
                <a:solidFill>
                  <a:srgbClr val="0070C0"/>
                </a:solidFill>
                <a:latin typeface="微软雅黑" panose="020B0503020204020204" pitchFamily="34" charset="-122"/>
                <a:ea typeface="微软雅黑" panose="020B0503020204020204" pitchFamily="34" charset="-122"/>
              </a:rPr>
              <a:t>多个子图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99947" y="1283927"/>
            <a:ext cx="485117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np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ax1 = </a:t>
            </a:r>
            <a:r>
              <a:rPr lang="en-US" altLang="zh-CN" sz="2400" dirty="0" err="1" smtClean="0">
                <a:latin typeface="Times New Roman" panose="02020603050405020304" pitchFamily="18" charset="0"/>
                <a:cs typeface="Times New Roman" panose="02020603050405020304" pitchFamily="18" charset="0"/>
              </a:rPr>
              <a:t>plt.subplot</a:t>
            </a:r>
            <a:r>
              <a:rPr lang="en-US" altLang="zh-CN" sz="2400" dirty="0" smtClean="0">
                <a:latin typeface="Times New Roman" panose="02020603050405020304" pitchFamily="18" charset="0"/>
                <a:cs typeface="Times New Roman" panose="02020603050405020304" pitchFamily="18" charset="0"/>
              </a:rPr>
              <a:t>(1, 2, 1</a:t>
            </a:r>
            <a:r>
              <a:rPr lang="en-US" altLang="zh-CN" sz="2400" dirty="0">
                <a:latin typeface="Times New Roman" panose="02020603050405020304" pitchFamily="18" charset="0"/>
                <a:cs typeface="Times New Roman" panose="02020603050405020304" pitchFamily="18" charset="0"/>
              </a:rPr>
              <a:t>)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ax2 = </a:t>
            </a:r>
            <a:r>
              <a:rPr lang="en-US" altLang="zh-CN" sz="2400" dirty="0" err="1" smtClean="0">
                <a:latin typeface="Times New Roman" panose="02020603050405020304" pitchFamily="18" charset="0"/>
                <a:cs typeface="Times New Roman" panose="02020603050405020304" pitchFamily="18" charset="0"/>
              </a:rPr>
              <a:t>plt.subplot</a:t>
            </a:r>
            <a:r>
              <a:rPr lang="en-US" altLang="zh-CN" sz="2400" dirty="0" smtClean="0">
                <a:latin typeface="Times New Roman" panose="02020603050405020304" pitchFamily="18" charset="0"/>
                <a:cs typeface="Times New Roman" panose="02020603050405020304" pitchFamily="18" charset="0"/>
              </a:rPr>
              <a:t>(1, 2, 2</a:t>
            </a:r>
            <a:r>
              <a:rPr lang="en-US" altLang="zh-CN" sz="2400" dirty="0">
                <a:latin typeface="Times New Roman" panose="02020603050405020304" pitchFamily="18" charset="0"/>
                <a:cs typeface="Times New Roman" panose="02020603050405020304" pitchFamily="18" charset="0"/>
              </a:rPr>
              <a:t>)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a:t>
            </a:r>
            <a:r>
              <a:rPr lang="en-US" altLang="zh-CN" sz="2400" dirty="0" err="1" smtClean="0">
                <a:latin typeface="Times New Roman" panose="02020603050405020304" pitchFamily="18" charset="0"/>
                <a:cs typeface="Times New Roman" panose="02020603050405020304" pitchFamily="18" charset="0"/>
              </a:rPr>
              <a:t>np.arange</a:t>
            </a:r>
            <a:r>
              <a:rPr lang="en-US" altLang="zh-CN" sz="2400" dirty="0">
                <a:latin typeface="Times New Roman" panose="02020603050405020304" pitchFamily="18" charset="0"/>
                <a:cs typeface="Times New Roman" panose="02020603050405020304" pitchFamily="18" charset="0"/>
              </a:rPr>
              <a:t>(-5</a:t>
            </a:r>
            <a:r>
              <a:rPr lang="en-US" altLang="zh-CN" sz="2400" dirty="0" smtClean="0">
                <a:latin typeface="Times New Roman" panose="02020603050405020304" pitchFamily="18" charset="0"/>
                <a:cs typeface="Times New Roman" panose="02020603050405020304" pitchFamily="18" charset="0"/>
              </a:rPr>
              <a:t>, 5, 0.01)</a:t>
            </a:r>
            <a:endParaRPr lang="zh-CN" altLang="en-US"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y1 = x*x</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y2 = </a:t>
            </a:r>
            <a:r>
              <a:rPr lang="en-US" altLang="zh-CN" sz="2400" dirty="0" smtClean="0">
                <a:latin typeface="Times New Roman" panose="02020603050405020304" pitchFamily="18" charset="0"/>
                <a:cs typeface="Times New Roman" panose="02020603050405020304" pitchFamily="18" charset="0"/>
              </a:rPr>
              <a:t>2*x+9</a:t>
            </a:r>
            <a:endParaRPr lang="zh-CN" altLang="en-US" sz="2400" dirty="0" smtClean="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plt.sca</a:t>
            </a:r>
            <a:r>
              <a:rPr lang="en-US" altLang="zh-CN" sz="2400" dirty="0" smtClean="0">
                <a:latin typeface="Times New Roman" panose="02020603050405020304" pitchFamily="18" charset="0"/>
                <a:cs typeface="Times New Roman" panose="02020603050405020304" pitchFamily="18" charset="0"/>
              </a:rPr>
              <a:t>(ax1)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选择子图</a:t>
            </a:r>
            <a:r>
              <a:rPr lang="en-US" altLang="zh-CN" sz="2400" dirty="0">
                <a:latin typeface="Times New Roman" panose="02020603050405020304" pitchFamily="18" charset="0"/>
                <a:cs typeface="Times New Roman" panose="02020603050405020304" pitchFamily="18" charset="0"/>
              </a:rPr>
              <a:t>1</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plt.plot</a:t>
            </a:r>
            <a:r>
              <a:rPr lang="en-US" altLang="zh-CN" sz="2400" dirty="0" smtClean="0">
                <a:latin typeface="Times New Roman" panose="02020603050405020304" pitchFamily="18" charset="0"/>
                <a:cs typeface="Times New Roman" panose="02020603050405020304" pitchFamily="18" charset="0"/>
              </a:rPr>
              <a:t>(x, y1, </a:t>
            </a:r>
            <a:r>
              <a:rPr lang="en-US" altLang="zh-CN" sz="2400" dirty="0">
                <a:latin typeface="Times New Roman" panose="02020603050405020304" pitchFamily="18" charset="0"/>
                <a:cs typeface="Times New Roman" panose="02020603050405020304" pitchFamily="18" charset="0"/>
              </a:rPr>
              <a:t>'b-</a:t>
            </a:r>
            <a:r>
              <a:rPr lang="en-US" altLang="zh-CN" sz="2400" dirty="0" smtClean="0">
                <a:latin typeface="Times New Roman" panose="02020603050405020304" pitchFamily="18" charset="0"/>
                <a:cs typeface="Times New Roman" panose="02020603050405020304" pitchFamily="18" charset="0"/>
              </a:rPr>
              <a:t>-', label</a:t>
            </a:r>
            <a:r>
              <a:rPr lang="en-US" altLang="zh-CN" sz="2400" dirty="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x^2")</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plt.legend</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plt.sca</a:t>
            </a:r>
            <a:r>
              <a:rPr lang="en-US" altLang="zh-CN" sz="2400" dirty="0" smtClean="0">
                <a:latin typeface="Times New Roman" panose="02020603050405020304" pitchFamily="18" charset="0"/>
                <a:cs typeface="Times New Roman" panose="02020603050405020304" pitchFamily="18" charset="0"/>
              </a:rPr>
              <a:t>(ax2</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选择子图</a:t>
            </a:r>
            <a:r>
              <a:rPr lang="en-US" altLang="zh-CN" sz="2400" dirty="0">
                <a:latin typeface="Times New Roman" panose="02020603050405020304" pitchFamily="18" charset="0"/>
                <a:cs typeface="Times New Roman" panose="02020603050405020304" pitchFamily="18" charset="0"/>
              </a:rPr>
              <a:t>2</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plt.plot</a:t>
            </a:r>
            <a:r>
              <a:rPr lang="en-US" altLang="zh-CN" sz="2400" dirty="0" smtClean="0">
                <a:latin typeface="Times New Roman" panose="02020603050405020304" pitchFamily="18" charset="0"/>
                <a:cs typeface="Times New Roman" panose="02020603050405020304" pitchFamily="18" charset="0"/>
              </a:rPr>
              <a:t>(x, y2, 'r-.', label</a:t>
            </a:r>
            <a:r>
              <a:rPr lang="en-US" altLang="zh-CN" sz="2400" dirty="0">
                <a:latin typeface="Times New Roman" panose="02020603050405020304" pitchFamily="18" charset="0"/>
                <a:cs typeface="Times New Roman" panose="02020603050405020304" pitchFamily="18" charset="0"/>
              </a:rPr>
              <a:t>="2x+9</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plt.legend</a:t>
            </a:r>
            <a:r>
              <a:rPr lang="en-US" altLang="zh-CN"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plt.show</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52147"/>
            <a:ext cx="4264309"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1-17] </a:t>
            </a:r>
            <a:r>
              <a:rPr lang="zh-CN" altLang="en-US" sz="2800" b="1" dirty="0" smtClean="0">
                <a:solidFill>
                  <a:srgbClr val="0070C0"/>
                </a:solidFill>
                <a:latin typeface="微软雅黑" panose="020B0503020204020204" pitchFamily="34" charset="-122"/>
                <a:ea typeface="微软雅黑" panose="020B0503020204020204" pitchFamily="34" charset="-122"/>
              </a:rPr>
              <a:t>绘</a:t>
            </a:r>
            <a:r>
              <a:rPr lang="zh-CN" altLang="en-US" sz="2800" b="1" dirty="0">
                <a:solidFill>
                  <a:srgbClr val="0070C0"/>
                </a:solidFill>
                <a:latin typeface="微软雅黑" panose="020B0503020204020204" pitchFamily="34" charset="-122"/>
                <a:ea typeface="微软雅黑" panose="020B0503020204020204" pitchFamily="34" charset="-122"/>
              </a:rPr>
              <a:t>制多个子图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197623" y="138237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909786" y="2122272"/>
            <a:ext cx="4196629" cy="3147472"/>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79248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保存图像文件和输出设</a:t>
            </a: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置</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buNone/>
            </a:pP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a:t>
            </a:r>
            <a:r>
              <a:rPr lang="en-US" altLang="zh-CN"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savefig</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("tang.png</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dpi=120</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buNone/>
            </a:pPr>
            <a:r>
              <a:rPr lang="en-US" altLang="zh-CN" sz="24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plt.show</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显示图像</a:t>
            </a:r>
            <a:endPar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r>
              <a:rPr lang="zh-CN" altLang="en-US"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交互式标注</a:t>
            </a:r>
            <a:endPar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buNone/>
            </a:pPr>
            <a:r>
              <a:rPr lang="en-US" altLang="zh-CN" sz="24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plt.imshow</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img</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显示图像</a:t>
            </a:r>
            <a:endPar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buNone/>
            </a:pP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print('</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请单击图片中的物品</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defTabSz="913765">
              <a:buNone/>
            </a:pP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x = </a:t>
            </a:r>
            <a:r>
              <a:rPr lang="en-US" altLang="zh-CN" sz="2400" dirty="0" err="1"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a:t>
            </a:r>
            <a:r>
              <a:rPr lang="en-US" altLang="zh-CN" sz="2400" dirty="0" err="1"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ginput</a:t>
            </a:r>
            <a:r>
              <a:rPr lang="en-US" altLang="zh-CN" sz="2400" dirty="0" smtClean="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等待用户单击</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次</a:t>
            </a:r>
            <a:endPar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defTabSz="913765">
              <a:lnSpc>
                <a:spcPct val="150000"/>
              </a:lnSpc>
              <a:buNone/>
            </a:pPr>
            <a:r>
              <a:rPr lang="zh-CN"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在图表中显示中文和负号</a:t>
            </a:r>
            <a:endParaRPr lang="en-US" altLang="zh-CN" sz="26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41325">
              <a:buNone/>
            </a:pP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plt.rcParams[‘</a:t>
            </a:r>
            <a:r>
              <a:rPr lang="en-US" altLang="zh-CN" sz="24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font.sans</a:t>
            </a: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-serif</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SimSun</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显示中文</a:t>
            </a:r>
            <a:endPar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41325">
              <a:buNone/>
            </a:pPr>
            <a:r>
              <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plt.rcParams[‘</a:t>
            </a:r>
            <a:r>
              <a:rPr lang="en-US" altLang="zh-CN" sz="24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axes.unicode_minus</a:t>
            </a:r>
            <a:r>
              <a:rPr lang="en-US" altLang="zh-CN" sz="24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 False    #</a:t>
            </a:r>
            <a:r>
              <a:rPr lang="zh-CN" altLang="en-US"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显示</a:t>
            </a:r>
            <a:r>
              <a:rPr lang="zh-CN"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负号</a:t>
            </a:r>
            <a:endParaRPr lang="en-US" altLang="zh-CN" sz="24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1.4.1 </a:t>
            </a:r>
            <a:r>
              <a:rPr lang="zh-CN" altLang="en-US" sz="2800" b="1" dirty="0" smtClean="0">
                <a:solidFill>
                  <a:srgbClr val="0070C0"/>
                </a:solidFill>
                <a:latin typeface="微软雅黑" panose="020B0503020204020204" pitchFamily="34" charset="-122"/>
                <a:ea typeface="微软雅黑" panose="020B0503020204020204" pitchFamily="34" charset="-122"/>
              </a:rPr>
              <a:t>绘制曲线图</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其他设置</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pyplot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模块中绘制基础图表的函</a:t>
            </a:r>
            <a:r>
              <a:rPr lang="zh-CN" altLang="en-US"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rPr>
              <a:t>数</a:t>
            </a:r>
            <a:endParaRPr lang="en-US" altLang="zh-CN" sz="2600" b="1" dirty="0" smtClean="0">
              <a:solidFill>
                <a:srgbClr val="0070C0"/>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1.4.2 </a:t>
            </a:r>
            <a:r>
              <a:rPr lang="zh-CN" altLang="en-US" sz="2800" b="1" dirty="0" smtClean="0">
                <a:solidFill>
                  <a:srgbClr val="0070C0"/>
                </a:solidFill>
                <a:latin typeface="微软雅黑" panose="020B0503020204020204" pitchFamily="34" charset="-122"/>
                <a:ea typeface="微软雅黑" panose="020B0503020204020204" pitchFamily="34" charset="-122"/>
              </a:rPr>
              <a:t>绘制</a:t>
            </a:r>
            <a:r>
              <a:rPr lang="zh-CN" altLang="en-US" sz="2800" b="1" dirty="0">
                <a:solidFill>
                  <a:srgbClr val="0070C0"/>
                </a:solidFill>
                <a:latin typeface="微软雅黑" panose="020B0503020204020204" pitchFamily="34" charset="-122"/>
                <a:ea typeface="微软雅黑" panose="020B0503020204020204" pitchFamily="34" charset="-122"/>
              </a:rPr>
              <a:t>散点图等其他图</a:t>
            </a:r>
            <a:r>
              <a:rPr lang="zh-CN" altLang="en-US" sz="2800" b="1" dirty="0" smtClean="0">
                <a:solidFill>
                  <a:srgbClr val="0070C0"/>
                </a:solidFill>
                <a:latin typeface="微软雅黑" panose="020B0503020204020204" pitchFamily="34" charset="-122"/>
                <a:ea typeface="微软雅黑" panose="020B0503020204020204" pitchFamily="34" charset="-122"/>
              </a:rPr>
              <a:t>形</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539940" y="1703832"/>
          <a:ext cx="8064120" cy="4270248"/>
        </p:xfrm>
        <a:graphic>
          <a:graphicData uri="http://schemas.openxmlformats.org/drawingml/2006/table">
            <a:tbl>
              <a:tblPr firstRow="1" firstCol="1">
                <a:tableStyleId>{5C22544A-7EE6-4342-B048-85BDC9FD1C3A}</a:tableStyleId>
              </a:tblPr>
              <a:tblGrid>
                <a:gridCol w="3757740"/>
                <a:gridCol w="4306380"/>
              </a:tblGrid>
              <a:tr h="429768">
                <a:tc>
                  <a:txBody>
                    <a:bodyPr/>
                    <a:lstStyle/>
                    <a:p>
                      <a:pPr algn="ctr">
                        <a:spcAft>
                          <a:spcPts val="0"/>
                        </a:spcAft>
                      </a:pPr>
                      <a:r>
                        <a:rPr lang="zh-CN" sz="2000" kern="100" dirty="0">
                          <a:solidFill>
                            <a:schemeClr val="tx1"/>
                          </a:solidFill>
                          <a:effectLst/>
                        </a:rPr>
                        <a:t>函数</a:t>
                      </a:r>
                      <a:endParaRPr lang="zh-CN" sz="20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zh-CN" sz="2000" kern="100" dirty="0">
                          <a:solidFill>
                            <a:schemeClr val="tx1"/>
                          </a:solidFill>
                          <a:effectLst/>
                        </a:rPr>
                        <a:t>功能</a:t>
                      </a:r>
                      <a:endParaRPr lang="zh-CN" sz="20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0">
                <a:tc>
                  <a:txBody>
                    <a:bodyPr/>
                    <a:lstStyle/>
                    <a:p>
                      <a:pPr algn="just">
                        <a:spcAft>
                          <a:spcPts val="0"/>
                        </a:spcAft>
                      </a:pPr>
                      <a:r>
                        <a:rPr lang="en-US" sz="2800" b="0" kern="100" dirty="0">
                          <a:solidFill>
                            <a:schemeClr val="tx1"/>
                          </a:solidFill>
                          <a:effectLst/>
                        </a:rPr>
                        <a:t>plt.</a:t>
                      </a:r>
                      <a:r>
                        <a:rPr lang="en-US" sz="2800" b="0" kern="100" dirty="0">
                          <a:solidFill>
                            <a:schemeClr val="accent1"/>
                          </a:solidFill>
                          <a:effectLst/>
                        </a:rPr>
                        <a:t>scatter</a:t>
                      </a:r>
                      <a:r>
                        <a:rPr lang="en-US" sz="2800" b="0" kern="100" dirty="0">
                          <a:solidFill>
                            <a:schemeClr val="tx1"/>
                          </a:solidFill>
                          <a:effectLst/>
                        </a:rPr>
                        <a:t>(x,y)</a:t>
                      </a:r>
                      <a:endParaRPr lang="zh-CN" sz="2800" b="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绘制散点图（</a:t>
                      </a:r>
                      <a:r>
                        <a:rPr lang="en-US" sz="2000" kern="100">
                          <a:solidFill>
                            <a:schemeClr val="tx1"/>
                          </a:solidFill>
                          <a:effectLst/>
                        </a:rPr>
                        <a:t>x,y</a:t>
                      </a:r>
                      <a:r>
                        <a:rPr lang="zh-CN" sz="2000" kern="100">
                          <a:solidFill>
                            <a:schemeClr val="tx1"/>
                          </a:solidFill>
                          <a:effectLst/>
                        </a:rPr>
                        <a:t>必须是长度相同的序列或数组）</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400" b="0" kern="100" dirty="0">
                          <a:solidFill>
                            <a:schemeClr val="tx1"/>
                          </a:solidFill>
                          <a:effectLst/>
                        </a:rPr>
                        <a:t>plt.</a:t>
                      </a:r>
                      <a:r>
                        <a:rPr lang="en-US" sz="2400" b="0" kern="100" dirty="0">
                          <a:solidFill>
                            <a:schemeClr val="accent1"/>
                          </a:solidFill>
                          <a:effectLst/>
                        </a:rPr>
                        <a:t>hist</a:t>
                      </a:r>
                      <a:r>
                        <a:rPr lang="en-US" sz="2400" b="0" kern="100" dirty="0">
                          <a:solidFill>
                            <a:schemeClr val="tx1"/>
                          </a:solidFill>
                          <a:effectLst/>
                        </a:rPr>
                        <a:t>(x,bins,normed)</a:t>
                      </a:r>
                      <a:endParaRPr lang="zh-CN" sz="2400" b="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dirty="0">
                          <a:solidFill>
                            <a:schemeClr val="tx1"/>
                          </a:solidFill>
                          <a:effectLst/>
                        </a:rPr>
                        <a:t>绘制直方图</a:t>
                      </a:r>
                      <a:endParaRPr lang="zh-CN" sz="20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a:solidFill>
                            <a:schemeClr val="tx1"/>
                          </a:solidFill>
                          <a:effectLst/>
                        </a:rPr>
                        <a:t>plt.bar(left,height,width,bottom)</a:t>
                      </a:r>
                      <a:endParaRPr lang="zh-CN" sz="2000" b="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绘制条形图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a:solidFill>
                            <a:schemeClr val="tx1"/>
                          </a:solidFill>
                          <a:effectLst/>
                        </a:rPr>
                        <a:t>plt.barh(bottom,width,height,left)</a:t>
                      </a:r>
                      <a:endParaRPr lang="zh-CN" sz="2000" b="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绘制横向条形图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dirty="0">
                          <a:solidFill>
                            <a:schemeClr val="tx1"/>
                          </a:solidFill>
                          <a:effectLst/>
                        </a:rPr>
                        <a:t>plt.boxplot(data,notch,position)</a:t>
                      </a:r>
                      <a:endParaRPr lang="zh-CN" sz="2000" b="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绘制箱型图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a:solidFill>
                            <a:schemeClr val="tx1"/>
                          </a:solidFill>
                          <a:effectLst/>
                        </a:rPr>
                        <a:t>plt.psd(x,NFFT,pad_to,Fs2)</a:t>
                      </a:r>
                      <a:endParaRPr lang="zh-CN" sz="2000" b="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绘制功率谱密度图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a:solidFill>
                            <a:schemeClr val="tx1"/>
                          </a:solidFill>
                          <a:effectLst/>
                        </a:rPr>
                        <a:t>plt.specgram(x,NFFT,pad_to,F)</a:t>
                      </a:r>
                      <a:endParaRPr lang="zh-CN" sz="2000" b="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dirty="0">
                          <a:solidFill>
                            <a:schemeClr val="tx1"/>
                          </a:solidFill>
                          <a:effectLst/>
                        </a:rPr>
                        <a:t>绘制谱图，即音频文件</a:t>
                      </a:r>
                      <a:r>
                        <a:rPr lang="zh-CN" sz="2000" kern="100" dirty="0" smtClean="0">
                          <a:solidFill>
                            <a:schemeClr val="tx1"/>
                          </a:solidFill>
                          <a:effectLst/>
                        </a:rPr>
                        <a:t>的波</a:t>
                      </a:r>
                      <a:r>
                        <a:rPr lang="zh-CN" sz="2000" kern="100" dirty="0">
                          <a:solidFill>
                            <a:schemeClr val="tx1"/>
                          </a:solidFill>
                          <a:effectLst/>
                        </a:rPr>
                        <a:t>形图</a:t>
                      </a:r>
                      <a:endParaRPr lang="zh-CN" sz="20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400" b="0" kern="100" dirty="0">
                          <a:solidFill>
                            <a:schemeClr val="tx1"/>
                          </a:solidFill>
                          <a:effectLst/>
                        </a:rPr>
                        <a:t>plt.</a:t>
                      </a:r>
                      <a:r>
                        <a:rPr lang="en-US" sz="2400" b="0" kern="100" dirty="0">
                          <a:solidFill>
                            <a:schemeClr val="accent1"/>
                          </a:solidFill>
                          <a:effectLst/>
                        </a:rPr>
                        <a:t>polar</a:t>
                      </a:r>
                      <a:r>
                        <a:rPr lang="en-US" sz="2400" b="0" kern="100" dirty="0">
                          <a:solidFill>
                            <a:schemeClr val="tx1"/>
                          </a:solidFill>
                          <a:effectLst/>
                        </a:rPr>
                        <a:t>(theta,r)</a:t>
                      </a:r>
                      <a:endParaRPr lang="zh-CN" sz="2400" b="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绘制极坐标图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400" b="0" kern="100" dirty="0">
                          <a:solidFill>
                            <a:schemeClr val="tx1"/>
                          </a:solidFill>
                          <a:effectLst/>
                        </a:rPr>
                        <a:t>plt.</a:t>
                      </a:r>
                      <a:r>
                        <a:rPr lang="en-US" sz="2400" b="0" kern="100" dirty="0">
                          <a:solidFill>
                            <a:schemeClr val="accent1"/>
                          </a:solidFill>
                          <a:effectLst/>
                        </a:rPr>
                        <a:t>pie</a:t>
                      </a:r>
                      <a:r>
                        <a:rPr lang="en-US" sz="2400" b="0" kern="100" dirty="0">
                          <a:solidFill>
                            <a:schemeClr val="tx1"/>
                          </a:solidFill>
                          <a:effectLst/>
                        </a:rPr>
                        <a:t>(data,explode)</a:t>
                      </a:r>
                      <a:endParaRPr lang="zh-CN" sz="2400" b="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绘制饼图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a:solidFill>
                            <a:schemeClr val="tx1"/>
                          </a:solidFill>
                          <a:effectLst/>
                        </a:rPr>
                        <a:t>plt.step(x,y,where)</a:t>
                      </a:r>
                      <a:endParaRPr lang="zh-CN" sz="2000" b="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绘制步阶图</a:t>
                      </a:r>
                      <a:endParaRPr lang="zh-CN" sz="2000" kern="10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a:spcAft>
                          <a:spcPts val="0"/>
                        </a:spcAft>
                      </a:pPr>
                      <a:r>
                        <a:rPr lang="en-US" sz="2000" b="0" kern="100" dirty="0">
                          <a:solidFill>
                            <a:schemeClr val="tx1"/>
                          </a:solidFill>
                          <a:effectLst/>
                        </a:rPr>
                        <a:t>plt.contour(X,Y,Z,N)</a:t>
                      </a:r>
                      <a:endParaRPr lang="zh-CN" sz="2000" b="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dirty="0">
                          <a:solidFill>
                            <a:schemeClr val="tx1"/>
                          </a:solidFill>
                          <a:effectLst/>
                        </a:rPr>
                        <a:t>绘制等值图</a:t>
                      </a:r>
                      <a:endParaRPr lang="zh-CN" sz="2000" kern="100" dirty="0">
                        <a:solidFill>
                          <a:schemeClr val="tx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wip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409833" y="1342428"/>
            <a:ext cx="3734167" cy="2800625"/>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1.4.2 </a:t>
            </a:r>
            <a:r>
              <a:rPr lang="zh-CN" altLang="en-US" sz="2800" b="1" dirty="0">
                <a:solidFill>
                  <a:srgbClr val="0070C0"/>
                </a:solidFill>
                <a:latin typeface="微软雅黑" panose="020B0503020204020204" pitchFamily="34" charset="-122"/>
                <a:ea typeface="微软雅黑" panose="020B0503020204020204" pitchFamily="34" charset="-122"/>
              </a:rPr>
              <a:t>绘制散点图等其他</a:t>
            </a:r>
            <a:r>
              <a:rPr lang="zh-CN" altLang="en-US" sz="2800" b="1" dirty="0" smtClean="0">
                <a:solidFill>
                  <a:srgbClr val="0070C0"/>
                </a:solidFill>
                <a:latin typeface="微软雅黑" panose="020B0503020204020204" pitchFamily="34" charset="-122"/>
                <a:ea typeface="微软雅黑" panose="020B0503020204020204" pitchFamily="34" charset="-122"/>
              </a:rPr>
              <a:t>图形</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散点图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54226" y="1607422"/>
            <a:ext cx="52404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a:t>
            </a:r>
            <a:r>
              <a:rPr lang="en-US" altLang="zh-CN" sz="2400" dirty="0">
                <a:latin typeface="Times New Roman" panose="02020603050405020304" pitchFamily="18" charset="0"/>
                <a:cs typeface="Times New Roman" panose="02020603050405020304" pitchFamily="18" charset="0"/>
              </a:rPr>
              <a:t>2</a:t>
            </a:r>
            <a:r>
              <a:rPr lang="en-US" altLang="zh-CN" sz="2400" dirty="0" smtClean="0">
                <a:latin typeface="Times New Roman" panose="02020603050405020304" pitchFamily="18" charset="0"/>
                <a:cs typeface="Times New Roman" panose="02020603050405020304" pitchFamily="18" charset="0"/>
              </a:rPr>
              <a:t>, 1, 2, 3, 4, 5]</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y = [</a:t>
            </a:r>
            <a:r>
              <a:rPr lang="en-US" altLang="zh-CN" sz="2400" dirty="0">
                <a:latin typeface="Times New Roman" panose="02020603050405020304" pitchFamily="18" charset="0"/>
                <a:cs typeface="Times New Roman" panose="02020603050405020304" pitchFamily="18" charset="0"/>
              </a:rPr>
              <a:t>1</a:t>
            </a:r>
            <a:r>
              <a:rPr lang="en-US" altLang="zh-CN" sz="2400" dirty="0" smtClean="0">
                <a:latin typeface="Times New Roman" panose="02020603050405020304" pitchFamily="18" charset="0"/>
                <a:cs typeface="Times New Roman" panose="02020603050405020304" pitchFamily="18" charset="0"/>
              </a:rPr>
              <a:t>, 2, 2, 5, 4, 3</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plt.scatter</a:t>
            </a:r>
            <a:r>
              <a:rPr lang="en-US" altLang="zh-CN" sz="2400" dirty="0">
                <a:latin typeface="Times New Roman" panose="02020603050405020304" pitchFamily="18" charset="0"/>
                <a:cs typeface="Times New Roman" panose="02020603050405020304" pitchFamily="18" charset="0"/>
              </a:rPr>
              <a:t>(x</a:t>
            </a:r>
            <a:r>
              <a:rPr lang="en-US" altLang="zh-CN" sz="2400" dirty="0" smtClean="0">
                <a:latin typeface="Times New Roman" panose="02020603050405020304" pitchFamily="18" charset="0"/>
                <a:cs typeface="Times New Roman" panose="02020603050405020304" pitchFamily="18" charset="0"/>
              </a:rPr>
              <a:t>, y, s=60, c</a:t>
            </a:r>
            <a:r>
              <a:rPr lang="en-US" altLang="zh-CN" sz="2400" dirty="0">
                <a:latin typeface="Times New Roman" panose="02020603050405020304" pitchFamily="18" charset="0"/>
                <a:cs typeface="Times New Roman" panose="02020603050405020304" pitchFamily="18" charset="0"/>
              </a:rPr>
              <a:t>='r</a:t>
            </a:r>
            <a:r>
              <a:rPr lang="en-US" altLang="zh-CN" sz="2400" dirty="0" smtClean="0">
                <a:latin typeface="Times New Roman" panose="02020603050405020304" pitchFamily="18" charset="0"/>
                <a:cs typeface="Times New Roman" panose="02020603050405020304" pitchFamily="18" charset="0"/>
              </a:rPr>
              <a:t>', marker</a:t>
            </a:r>
            <a:r>
              <a:rPr lang="en-US" altLang="zh-CN" sz="2400" dirty="0">
                <a:latin typeface="Times New Roman" panose="02020603050405020304" pitchFamily="18" charset="0"/>
                <a:cs typeface="Times New Roman" panose="02020603050405020304" pitchFamily="18" charset="0"/>
              </a:rPr>
              <a:t>='o</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 </a:t>
            </a:r>
            <a:r>
              <a:rPr lang="en-US" altLang="zh-CN" sz="2400" dirty="0" smtClean="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3797835"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1-19]</a:t>
            </a:r>
            <a:r>
              <a:rPr lang="zh-CN" altLang="en-US" sz="2800" b="1" dirty="0">
                <a:solidFill>
                  <a:srgbClr val="0070C0"/>
                </a:solidFill>
                <a:latin typeface="微软雅黑" panose="020B0503020204020204" pitchFamily="34" charset="-122"/>
                <a:ea typeface="微软雅黑" panose="020B0503020204020204" pitchFamily="34" charset="-122"/>
              </a:rPr>
              <a:t>绘</a:t>
            </a:r>
            <a:r>
              <a:rPr lang="zh-CN" altLang="en-US" sz="2800" b="1" dirty="0" smtClean="0">
                <a:solidFill>
                  <a:srgbClr val="0070C0"/>
                </a:solidFill>
                <a:latin typeface="微软雅黑" panose="020B0503020204020204" pitchFamily="34" charset="-122"/>
                <a:ea typeface="微软雅黑" panose="020B0503020204020204" pitchFamily="34" charset="-122"/>
              </a:rPr>
              <a:t>制散点图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32583" y="4427661"/>
            <a:ext cx="8345657" cy="632019"/>
            <a:chOff x="6339097" y="1573726"/>
            <a:chExt cx="3744417" cy="887823"/>
          </a:xfrm>
        </p:grpSpPr>
        <p:sp>
          <p:nvSpPr>
            <p:cNvPr id="11" name="圆角矩形 10"/>
            <p:cNvSpPr/>
            <p:nvPr/>
          </p:nvSpPr>
          <p:spPr>
            <a:xfrm>
              <a:off x="6339097" y="1573726"/>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4" y="1599350"/>
              <a:ext cx="3683970" cy="862198"/>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散点图需要两组数据分别表示所有点的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坐标值和</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坐标值</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3" name="组合 12"/>
          <p:cNvGrpSpPr/>
          <p:nvPr/>
        </p:nvGrpSpPr>
        <p:grpSpPr>
          <a:xfrm>
            <a:off x="432583" y="5344287"/>
            <a:ext cx="8345657" cy="1234440"/>
            <a:chOff x="6339097" y="1573725"/>
            <a:chExt cx="3744417" cy="1236161"/>
          </a:xfrm>
        </p:grpSpPr>
        <p:sp>
          <p:nvSpPr>
            <p:cNvPr id="14" name="圆角矩形 13"/>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99544" y="1599350"/>
              <a:ext cx="3683970" cy="1210536"/>
            </a:xfrm>
            <a:prstGeom prst="rect">
              <a:avLst/>
            </a:prstGeom>
          </p:spPr>
          <p:txBody>
            <a:bodyPr wrap="square" lIns="121897" tIns="60948" rIns="121897" bIns="60948">
              <a:spAutoFit/>
            </a:bodyPr>
            <a:lstStyle/>
            <a:p>
              <a:pPr defTabSz="1218565">
                <a:defRPr/>
              </a:pP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plot()</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函数也能画散点图，只要它的</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个参数</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是点</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型（而不是线型</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1.4.2 </a:t>
            </a:r>
            <a:r>
              <a:rPr lang="zh-CN" altLang="en-US" sz="2800" b="1" dirty="0">
                <a:solidFill>
                  <a:srgbClr val="0070C0"/>
                </a:solidFill>
                <a:latin typeface="微软雅黑" panose="020B0503020204020204" pitchFamily="34" charset="-122"/>
                <a:ea typeface="微软雅黑" panose="020B0503020204020204" pitchFamily="34" charset="-122"/>
              </a:rPr>
              <a:t>绘制散点图等其他图形</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直方图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54227" y="1531222"/>
            <a:ext cx="584177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a:t>
            </a:r>
            <a:r>
              <a:rPr lang="en-US" altLang="zh-CN" sz="2400" dirty="0" smtClean="0">
                <a:latin typeface="Times New Roman" panose="02020603050405020304" pitchFamily="18" charset="0"/>
                <a:cs typeface="Times New Roman" panose="02020603050405020304" pitchFamily="18" charset="0"/>
              </a:rPr>
              <a:t>plt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a:t>
            </a:r>
            <a:r>
              <a:rPr lang="en-US" altLang="zh-CN" sz="2400" dirty="0" smtClean="0">
                <a:latin typeface="Times New Roman" panose="02020603050405020304" pitchFamily="18" charset="0"/>
                <a:cs typeface="Times New Roman" panose="02020603050405020304" pitchFamily="18" charset="0"/>
              </a:rPr>
              <a:t>np</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mu</a:t>
            </a:r>
            <a:r>
              <a:rPr lang="en-US" altLang="zh-CN" sz="2400" dirty="0" smtClean="0">
                <a:latin typeface="Times New Roman" panose="02020603050405020304" pitchFamily="18" charset="0"/>
                <a:cs typeface="Times New Roman" panose="02020603050405020304" pitchFamily="18" charset="0"/>
              </a:rPr>
              <a:t>, sigma = 100, 20</a:t>
            </a:r>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mu + sigma * </a:t>
            </a:r>
            <a:r>
              <a:rPr lang="en-US" altLang="zh-CN" sz="2400" dirty="0" err="1" smtClean="0">
                <a:latin typeface="Times New Roman" panose="02020603050405020304" pitchFamily="18" charset="0"/>
                <a:cs typeface="Times New Roman" panose="02020603050405020304" pitchFamily="18" charset="0"/>
              </a:rPr>
              <a:t>np.random.randn</a:t>
            </a:r>
            <a:r>
              <a:rPr lang="en-US" altLang="zh-CN" sz="2400" dirty="0" smtClean="0">
                <a:latin typeface="Times New Roman" panose="02020603050405020304" pitchFamily="18" charset="0"/>
                <a:cs typeface="Times New Roman" panose="02020603050405020304" pitchFamily="18" charset="0"/>
              </a:rPr>
              <a:t>(20000</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plt.hist</a:t>
            </a:r>
            <a:r>
              <a:rPr lang="en-US" altLang="zh-CN" sz="2400" dirty="0">
                <a:latin typeface="Times New Roman" panose="02020603050405020304" pitchFamily="18" charset="0"/>
                <a:cs typeface="Times New Roman" panose="02020603050405020304" pitchFamily="18" charset="0"/>
              </a:rPr>
              <a:t>(x</a:t>
            </a:r>
            <a:r>
              <a:rPr lang="en-US" altLang="zh-CN" sz="2400" dirty="0" smtClean="0">
                <a:latin typeface="Times New Roman" panose="02020603050405020304" pitchFamily="18" charset="0"/>
                <a:cs typeface="Times New Roman" panose="02020603050405020304" pitchFamily="18" charset="0"/>
              </a:rPr>
              <a:t>, bins=100, color</a:t>
            </a:r>
            <a:r>
              <a:rPr lang="en-US" altLang="zh-CN" sz="2400" dirty="0">
                <a:latin typeface="Times New Roman" panose="02020603050405020304" pitchFamily="18" charset="0"/>
                <a:cs typeface="Times New Roman" panose="02020603050405020304" pitchFamily="18" charset="0"/>
              </a:rPr>
              <a:t>='r</a:t>
            </a:r>
            <a:r>
              <a:rPr lang="en-US" altLang="zh-CN" sz="2400" dirty="0" smtClean="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a:t>
            </a:r>
            <a:r>
              <a:rPr lang="en-US" altLang="zh-CN" sz="2400" dirty="0" smtClean="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3905236"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1-20] </a:t>
            </a:r>
            <a:r>
              <a:rPr lang="zh-CN" altLang="en-US" sz="2800" b="1" dirty="0" smtClean="0">
                <a:solidFill>
                  <a:srgbClr val="0070C0"/>
                </a:solidFill>
                <a:latin typeface="微软雅黑" panose="020B0503020204020204" pitchFamily="34" charset="-122"/>
                <a:ea typeface="微软雅黑" panose="020B0503020204020204" pitchFamily="34" charset="-122"/>
              </a:rPr>
              <a:t>绘</a:t>
            </a:r>
            <a:r>
              <a:rPr lang="zh-CN" altLang="en-US" sz="2800" b="1" dirty="0">
                <a:solidFill>
                  <a:srgbClr val="0070C0"/>
                </a:solidFill>
                <a:latin typeface="微软雅黑" panose="020B0503020204020204" pitchFamily="34" charset="-122"/>
                <a:ea typeface="微软雅黑" panose="020B0503020204020204" pitchFamily="34" charset="-122"/>
              </a:rPr>
              <a:t>制直方图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096001" y="331632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49670" y="4209453"/>
            <a:ext cx="4084331" cy="887361"/>
            <a:chOff x="6339097" y="1573725"/>
            <a:chExt cx="3744416" cy="887823"/>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8"/>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直方图</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横</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轴表示数据类型，纵轴表示分布情</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况</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3" name="组合 12"/>
          <p:cNvGrpSpPr/>
          <p:nvPr/>
        </p:nvGrpSpPr>
        <p:grpSpPr>
          <a:xfrm>
            <a:off x="149671" y="5318968"/>
            <a:ext cx="4559490" cy="887361"/>
            <a:chOff x="6339097" y="1573725"/>
            <a:chExt cx="3744416" cy="887823"/>
          </a:xfrm>
        </p:grpSpPr>
        <p:sp>
          <p:nvSpPr>
            <p:cNvPr id="14" name="圆角矩形 13"/>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99543" y="1599350"/>
              <a:ext cx="3683970" cy="862198"/>
            </a:xfrm>
            <a:prstGeom prst="rect">
              <a:avLst/>
            </a:prstGeom>
          </p:spPr>
          <p:txBody>
            <a:bodyPr wrap="square" lIns="121897" tIns="60948" rIns="121897" bIns="60948">
              <a:spAutoFit/>
            </a:bodyPr>
            <a:lstStyle/>
            <a:p>
              <a:pPr defTabSz="1218565">
                <a:defRPr/>
              </a:pP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bins</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指定直方的个数</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,normed</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指定每</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个条状图的占比例比</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3" name="图片 2"/>
          <p:cNvPicPr>
            <a:picLocks noChangeAspect="1"/>
          </p:cNvPicPr>
          <p:nvPr/>
        </p:nvPicPr>
        <p:blipFill>
          <a:blip r:embed="rId1"/>
          <a:stretch>
            <a:fillRect/>
          </a:stretch>
        </p:blipFill>
        <p:spPr>
          <a:xfrm>
            <a:off x="5269469" y="3839546"/>
            <a:ext cx="3446163" cy="2584622"/>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395611" y="2712200"/>
            <a:ext cx="4761471" cy="3571104"/>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1.4.2 </a:t>
            </a:r>
            <a:r>
              <a:rPr lang="zh-CN" altLang="en-US" sz="2800" b="1" dirty="0">
                <a:solidFill>
                  <a:srgbClr val="0070C0"/>
                </a:solidFill>
                <a:latin typeface="微软雅黑" panose="020B0503020204020204" pitchFamily="34" charset="-122"/>
                <a:ea typeface="微软雅黑" panose="020B0503020204020204" pitchFamily="34" charset="-122"/>
              </a:rPr>
              <a:t>绘制散点图等其他图形</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饼状图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307221" y="1420405"/>
            <a:ext cx="876021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000" dirty="0">
                <a:latin typeface="Times New Roman" panose="02020603050405020304" pitchFamily="18" charset="0"/>
                <a:cs typeface="Times New Roman" panose="02020603050405020304" pitchFamily="18" charset="0"/>
              </a:rPr>
              <a:t>import matplotlib.pyplot as plt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labels = 'Frogs', 'Hogs' ,'Dogs' ,'Logs'</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sizes = [15, 30, 45, 10]</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explode = (0, 0.1, 0, 0)</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plt.pie(sizes, explode=explode, labels=labels, autopct='%1.1f%%', </a:t>
            </a:r>
            <a:r>
              <a:rPr lang="en-US" altLang="zh-CN" sz="2000" dirty="0" err="1" smtClean="0">
                <a:latin typeface="Times New Roman" panose="02020603050405020304" pitchFamily="18" charset="0"/>
                <a:cs typeface="Times New Roman" panose="02020603050405020304" pitchFamily="18" charset="0"/>
              </a:rPr>
              <a:t>startangle</a:t>
            </a:r>
            <a:r>
              <a:rPr lang="en-US" altLang="zh-CN" sz="2000" dirty="0" smtClean="0">
                <a:latin typeface="Times New Roman" panose="02020603050405020304" pitchFamily="18" charset="0"/>
                <a:cs typeface="Times New Roman" panose="02020603050405020304" pitchFamily="18" charset="0"/>
              </a:rPr>
              <a:t>=90</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plt.show</a:t>
            </a:r>
            <a:r>
              <a:rPr lang="en-US" altLang="zh-CN" sz="2000" dirty="0" smtClean="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3797835"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1-21]</a:t>
            </a:r>
            <a:r>
              <a:rPr lang="zh-CN" altLang="en-US" sz="2800" b="1" dirty="0">
                <a:solidFill>
                  <a:srgbClr val="0070C0"/>
                </a:solidFill>
                <a:latin typeface="微软雅黑" panose="020B0503020204020204" pitchFamily="34" charset="-122"/>
                <a:ea typeface="微软雅黑" panose="020B0503020204020204" pitchFamily="34" charset="-122"/>
              </a:rPr>
              <a:t>绘制饼状图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3585132" y="3402895"/>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358350" y="5865107"/>
            <a:ext cx="8453464" cy="1058797"/>
            <a:chOff x="6339097" y="1540915"/>
            <a:chExt cx="3744416" cy="1232798"/>
          </a:xfrm>
        </p:grpSpPr>
        <p:sp>
          <p:nvSpPr>
            <p:cNvPr id="14" name="圆角矩形 13"/>
            <p:cNvSpPr/>
            <p:nvPr/>
          </p:nvSpPr>
          <p:spPr>
            <a:xfrm>
              <a:off x="6339097" y="1573725"/>
              <a:ext cx="3744416" cy="104028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71511" y="1540915"/>
              <a:ext cx="3683970" cy="123279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labels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置数</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据的标签；</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sizes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每块</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所</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占比例，</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explode </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置某一块或多块突出来显</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示。</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shadow</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设置阴影，</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269471" y="1331278"/>
            <a:ext cx="3874529" cy="2905897"/>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1.4.2 </a:t>
            </a:r>
            <a:r>
              <a:rPr lang="zh-CN" altLang="en-US" sz="2800" b="1" dirty="0">
                <a:solidFill>
                  <a:srgbClr val="0070C0"/>
                </a:solidFill>
                <a:latin typeface="微软雅黑" panose="020B0503020204020204" pitchFamily="34" charset="-122"/>
                <a:ea typeface="微软雅黑" panose="020B0503020204020204" pitchFamily="34" charset="-122"/>
              </a:rPr>
              <a:t>绘制散点图等其他图形</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条状图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79852" y="1392226"/>
            <a:ext cx="779249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matplotlib.pyplot as plt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y = [15, 30, 25, 10</a:t>
            </a:r>
            <a:r>
              <a:rPr lang="en-US" altLang="zh-CN" sz="2400" dirty="0" smtClean="0">
                <a:latin typeface="Times New Roman" panose="02020603050405020304" pitchFamily="18" charset="0"/>
                <a:cs typeface="Times New Roman" panose="02020603050405020304" pitchFamily="18" charset="0"/>
              </a:rPr>
              <a:t>, 20, 34, 33, 18</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a:t>
            </a:r>
            <a:r>
              <a:rPr lang="en-US" altLang="zh-CN" sz="2400" dirty="0" err="1" smtClean="0">
                <a:latin typeface="Times New Roman" panose="02020603050405020304" pitchFamily="18" charset="0"/>
                <a:cs typeface="Times New Roman" panose="02020603050405020304" pitchFamily="18" charset="0"/>
              </a:rPr>
              <a:t>np.arange</a:t>
            </a:r>
            <a:r>
              <a:rPr lang="en-US" altLang="zh-CN" sz="2400" dirty="0" smtClean="0">
                <a:latin typeface="Times New Roman" panose="02020603050405020304" pitchFamily="18" charset="0"/>
                <a:cs typeface="Times New Roman" panose="02020603050405020304" pitchFamily="18" charset="0"/>
              </a:rPr>
              <a:t>(8</a:t>
            </a:r>
            <a:r>
              <a:rPr lang="en-US" altLang="zh-CN" sz="2400" dirty="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0-7</a:t>
            </a:r>
            <a:r>
              <a:rPr lang="zh-CN" altLang="en-US" sz="2400" dirty="0">
                <a:latin typeface="Times New Roman" panose="02020603050405020304" pitchFamily="18" charset="0"/>
                <a:cs typeface="Times New Roman" panose="02020603050405020304" pitchFamily="18" charset="0"/>
              </a:rPr>
              <a:t>个条形</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plt.bar(x, y, color='r', width=0.5)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plt.plot(x, y, "b", marker</a:t>
            </a:r>
            <a:r>
              <a:rPr lang="en-US" altLang="zh-CN" sz="2400" dirty="0" smtClean="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for x1, yy in zip(x, y):	</a:t>
            </a:r>
            <a:endParaRPr lang="zh-CN" altLang="en-US"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plt.text(x1, yy + 1, str(yy), ha='center', va='bottom')</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a:t>
            </a:r>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3797835"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1-22]</a:t>
            </a:r>
            <a:r>
              <a:rPr lang="zh-CN" altLang="en-US" sz="2800" b="1" dirty="0">
                <a:solidFill>
                  <a:srgbClr val="0070C0"/>
                </a:solidFill>
                <a:latin typeface="微软雅黑" panose="020B0503020204020204" pitchFamily="34" charset="-122"/>
                <a:ea typeface="微软雅黑" panose="020B0503020204020204" pitchFamily="34" charset="-122"/>
              </a:rPr>
              <a:t>绘</a:t>
            </a:r>
            <a:r>
              <a:rPr lang="zh-CN" altLang="en-US" sz="2800" b="1" dirty="0" smtClean="0">
                <a:solidFill>
                  <a:srgbClr val="0070C0"/>
                </a:solidFill>
                <a:latin typeface="微软雅黑" panose="020B0503020204020204" pitchFamily="34" charset="-122"/>
                <a:ea typeface="微软雅黑" panose="020B0503020204020204" pitchFamily="34" charset="-122"/>
              </a:rPr>
              <a:t>制条状图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369300" y="5006723"/>
            <a:ext cx="7703046" cy="921637"/>
            <a:chOff x="6339097" y="1540915"/>
            <a:chExt cx="3744416" cy="1073097"/>
          </a:xfrm>
        </p:grpSpPr>
        <p:sp>
          <p:nvSpPr>
            <p:cNvPr id="14" name="圆角矩形 13"/>
            <p:cNvSpPr/>
            <p:nvPr/>
          </p:nvSpPr>
          <p:spPr>
            <a:xfrm>
              <a:off x="6339097" y="1573725"/>
              <a:ext cx="3744416" cy="104028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71511" y="1540915"/>
              <a:ext cx="3683970" cy="1003368"/>
            </a:xfrm>
            <a:prstGeom prst="rect">
              <a:avLst/>
            </a:prstGeom>
          </p:spPr>
          <p:txBody>
            <a:bodyPr wrap="square" lIns="121897" tIns="60948" rIns="121897" bIns="60948">
              <a:spAutoFit/>
            </a:bodyPr>
            <a:lstStyle/>
            <a:p>
              <a:pPr defTabSz="1218565">
                <a:defRPr/>
              </a:pP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width=0.5</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使条状和间隙各占一半</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宽，设置参数</a:t>
              </a:r>
              <a:r>
                <a:rPr lang="en-US" altLang="zh-CN"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orientation =‘horizontal’</a:t>
              </a:r>
              <a:r>
                <a:rPr lang="zh-CN" altLang="en-US" sz="24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可绘</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制水平方向条形图</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876665" y="1779345"/>
            <a:ext cx="4786322" cy="3589741"/>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1.4.2 </a:t>
            </a:r>
            <a:r>
              <a:rPr lang="zh-CN" altLang="en-US" sz="2800" b="1" dirty="0">
                <a:solidFill>
                  <a:srgbClr val="0070C0"/>
                </a:solidFill>
                <a:latin typeface="微软雅黑" panose="020B0503020204020204" pitchFamily="34" charset="-122"/>
                <a:ea typeface="微软雅黑" panose="020B0503020204020204" pitchFamily="34" charset="-122"/>
              </a:rPr>
              <a:t>绘制散点图等其他图形</a:t>
            </a:r>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smtClean="0">
                <a:solidFill>
                  <a:srgbClr val="0070C0"/>
                </a:solidFill>
                <a:latin typeface="微软雅黑" panose="020B0503020204020204" pitchFamily="34" charset="-122"/>
                <a:ea typeface="微软雅黑" panose="020B0503020204020204" pitchFamily="34" charset="-122"/>
              </a:rPr>
              <a:t>极坐标图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93600" y="1987469"/>
            <a:ext cx="712047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000" dirty="0">
                <a:latin typeface="Times New Roman" panose="02020603050405020304" pitchFamily="18" charset="0"/>
                <a:cs typeface="Times New Roman" panose="02020603050405020304" pitchFamily="18" charset="0"/>
              </a:rPr>
              <a:t>import numpy as np</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import matplotlib.pyplot as plt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N = 20 </a:t>
            </a:r>
            <a:endParaRPr lang="zh-CN" altLang="en-US"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theta = np.linspace(0.0, 2 * np.pi, N, endpoint=False)</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radii = 10 * np.random.rand(N)</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width = </a:t>
            </a:r>
            <a:r>
              <a:rPr lang="en-US" altLang="zh-CN" sz="2000" dirty="0" err="1" smtClean="0">
                <a:latin typeface="Times New Roman" panose="02020603050405020304" pitchFamily="18" charset="0"/>
                <a:cs typeface="Times New Roman" panose="02020603050405020304" pitchFamily="18" charset="0"/>
              </a:rPr>
              <a:t>np.pi</a:t>
            </a:r>
            <a:r>
              <a:rPr lang="en-US" altLang="zh-CN" sz="2000" dirty="0" smtClean="0">
                <a:latin typeface="Times New Roman" panose="02020603050405020304" pitchFamily="18" charset="0"/>
                <a:cs typeface="Times New Roman" panose="02020603050405020304" pitchFamily="18" charset="0"/>
              </a:rPr>
              <a:t> / 4 * </a:t>
            </a:r>
            <a:r>
              <a:rPr lang="en-US" altLang="zh-CN" sz="2000" dirty="0" err="1" smtClean="0">
                <a:latin typeface="Times New Roman" panose="02020603050405020304" pitchFamily="18" charset="0"/>
                <a:cs typeface="Times New Roman" panose="02020603050405020304" pitchFamily="18" charset="0"/>
              </a:rPr>
              <a:t>np.random.rand</a:t>
            </a:r>
            <a:r>
              <a:rPr lang="en-US" altLang="zh-CN" sz="2000" dirty="0" smtClean="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ax = plt.subplot(111, projection='polar')</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bars = ax.bar(theta, radii, width = width, bottom = 0.0)</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for r, bar in zip(radii, bars):</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bar.set_facecolor(plt.cm.viridis(r / 10.))	</a:t>
            </a:r>
            <a:endParaRPr lang="zh-CN" altLang="en-US" sz="2000" dirty="0">
              <a:latin typeface="Times New Roman" panose="02020603050405020304" pitchFamily="18" charset="0"/>
              <a:cs typeface="Times New Roman" panose="02020603050405020304" pitchFamily="18" charset="0"/>
            </a:endParaRPr>
          </a:p>
          <a:p>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bar.set_alpha(0.5) </a:t>
            </a:r>
            <a:endParaRPr lang="zh-CN" altLang="en-US"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plt.show()</a:t>
            </a:r>
            <a:endParaRPr lang="en-US" altLang="zh-CN" sz="2000" dirty="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69006"/>
            <a:ext cx="4156907"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1-23]</a:t>
            </a:r>
            <a:r>
              <a:rPr lang="zh-CN" altLang="en-US" sz="2800" b="1" dirty="0">
                <a:solidFill>
                  <a:srgbClr val="0070C0"/>
                </a:solidFill>
                <a:latin typeface="微软雅黑" panose="020B0503020204020204" pitchFamily="34" charset="-122"/>
                <a:ea typeface="微软雅黑" panose="020B0503020204020204" pitchFamily="34" charset="-122"/>
              </a:rPr>
              <a:t>绘</a:t>
            </a:r>
            <a:r>
              <a:rPr lang="zh-CN" altLang="en-US" sz="2800" b="1" dirty="0" smtClean="0">
                <a:solidFill>
                  <a:srgbClr val="0070C0"/>
                </a:solidFill>
                <a:latin typeface="微软雅黑" panose="020B0503020204020204" pitchFamily="34" charset="-122"/>
                <a:ea typeface="微软雅黑" panose="020B0503020204020204" pitchFamily="34" charset="-122"/>
              </a:rPr>
              <a:t>制极坐标图</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754007" y="3336319"/>
              <a:ext cx="3329507" cy="431087"/>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NumPy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54007" y="4221882"/>
              <a:ext cx="3166169" cy="431088"/>
            </a:xfrm>
            <a:prstGeom prst="rect">
              <a:avLst/>
            </a:prstGeom>
          </p:spPr>
          <p:txBody>
            <a:bodyPr wrap="square" lIns="121897" tIns="60948" rIns="121897" bIns="60948">
              <a:spAutoFit/>
            </a:bodyPr>
            <a:lstStyle/>
            <a:p>
              <a:pPr defTabSz="1218565">
                <a:defRPr/>
              </a:pPr>
              <a:r>
                <a:rPr lang="en-US" altLang="zh-CN" sz="2000" b="1" kern="100" dirty="0" err="1">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主  要</a:t>
            </a:r>
            <a:endParaRPr lang="en-US" altLang="zh-CN" sz="4800" b="1" spc="200" dirty="0" smtClean="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smtClean="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smtClean="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52412" y="4221882"/>
              <a:ext cx="3167764" cy="431088"/>
            </a:xfrm>
            <a:prstGeom prst="rect">
              <a:avLst/>
            </a:prstGeom>
          </p:spPr>
          <p:txBody>
            <a:bodyPr wrap="square" lIns="121897" tIns="60948" rIns="121897" bIns="60948">
              <a:spAutoFit/>
            </a:bodyPr>
            <a:lstStyle/>
            <a:p>
              <a:pPr defTabSz="1218565">
                <a:defRPr/>
              </a:pPr>
              <a:r>
                <a:rPr lang="en-US" altLang="zh-CN" sz="2000" b="1" kern="100" dirty="0" err="1"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smtClean="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9" name="下箭头 28"/>
          <p:cNvSpPr/>
          <p:nvPr/>
        </p:nvSpPr>
        <p:spPr>
          <a:xfrm rot="16200000">
            <a:off x="3181425" y="4910532"/>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80">
                                          <p:stCondLst>
                                            <p:cond delay="0"/>
                                          </p:stCondLst>
                                        </p:cTn>
                                        <p:tgtEl>
                                          <p:spTgt spid="29"/>
                                        </p:tgtEl>
                                      </p:cBhvr>
                                    </p:animEffect>
                                    <p:anim calcmode="lin" valueType="num">
                                      <p:cBhvr>
                                        <p:cTn id="8"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13" dur="26">
                                          <p:stCondLst>
                                            <p:cond delay="650"/>
                                          </p:stCondLst>
                                        </p:cTn>
                                        <p:tgtEl>
                                          <p:spTgt spid="29"/>
                                        </p:tgtEl>
                                      </p:cBhvr>
                                      <p:to x="100000" y="60000"/>
                                    </p:animScale>
                                    <p:animScale>
                                      <p:cBhvr>
                                        <p:cTn id="14" dur="166" decel="50000">
                                          <p:stCondLst>
                                            <p:cond delay="676"/>
                                          </p:stCondLst>
                                        </p:cTn>
                                        <p:tgtEl>
                                          <p:spTgt spid="29"/>
                                        </p:tgtEl>
                                      </p:cBhvr>
                                      <p:to x="100000" y="100000"/>
                                    </p:animScale>
                                    <p:animScale>
                                      <p:cBhvr>
                                        <p:cTn id="15" dur="26">
                                          <p:stCondLst>
                                            <p:cond delay="1312"/>
                                          </p:stCondLst>
                                        </p:cTn>
                                        <p:tgtEl>
                                          <p:spTgt spid="29"/>
                                        </p:tgtEl>
                                      </p:cBhvr>
                                      <p:to x="100000" y="80000"/>
                                    </p:animScale>
                                    <p:animScale>
                                      <p:cBhvr>
                                        <p:cTn id="16" dur="166" decel="50000">
                                          <p:stCondLst>
                                            <p:cond delay="1338"/>
                                          </p:stCondLst>
                                        </p:cTn>
                                        <p:tgtEl>
                                          <p:spTgt spid="29"/>
                                        </p:tgtEl>
                                      </p:cBhvr>
                                      <p:to x="100000" y="100000"/>
                                    </p:animScale>
                                    <p:animScale>
                                      <p:cBhvr>
                                        <p:cTn id="17" dur="26">
                                          <p:stCondLst>
                                            <p:cond delay="1642"/>
                                          </p:stCondLst>
                                        </p:cTn>
                                        <p:tgtEl>
                                          <p:spTgt spid="29"/>
                                        </p:tgtEl>
                                      </p:cBhvr>
                                      <p:to x="100000" y="90000"/>
                                    </p:animScale>
                                    <p:animScale>
                                      <p:cBhvr>
                                        <p:cTn id="18" dur="166" decel="50000">
                                          <p:stCondLst>
                                            <p:cond delay="1668"/>
                                          </p:stCondLst>
                                        </p:cTn>
                                        <p:tgtEl>
                                          <p:spTgt spid="29"/>
                                        </p:tgtEl>
                                      </p:cBhvr>
                                      <p:to x="100000" y="100000"/>
                                    </p:animScale>
                                    <p:animScale>
                                      <p:cBhvr>
                                        <p:cTn id="19" dur="26">
                                          <p:stCondLst>
                                            <p:cond delay="1808"/>
                                          </p:stCondLst>
                                        </p:cTn>
                                        <p:tgtEl>
                                          <p:spTgt spid="29"/>
                                        </p:tgtEl>
                                      </p:cBhvr>
                                      <p:to x="100000" y="95000"/>
                                    </p:animScale>
                                    <p:animScale>
                                      <p:cBhvr>
                                        <p:cTn id="20" dur="166" decel="50000">
                                          <p:stCondLst>
                                            <p:cond delay="1834"/>
                                          </p:stCondLst>
                                        </p:cTn>
                                        <p:tgtEl>
                                          <p:spTgt spid="2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SciPy</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库是</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的一个高级科学计算库</a:t>
            </a:r>
            <a:r>
              <a:rPr lang="zh-CN" altLang="en-US" sz="24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，它依赖于</a:t>
            </a:r>
            <a:r>
              <a:rPr lang="en-US" altLang="zh-CN" sz="24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4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库运</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行，并且它一般都是操控</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的数组来进行科学计算、</a:t>
            </a:r>
            <a:r>
              <a:rPr lang="zh-CN" altLang="en-US" sz="24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统计分析</a:t>
            </a:r>
            <a:endParaRPr lang="en-US" altLang="zh-CN" sz="2200" dirty="0" smtClean="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1.5 </a:t>
            </a:r>
            <a:r>
              <a:rPr lang="en-US" altLang="zh-CN" sz="2800" b="1" dirty="0">
                <a:solidFill>
                  <a:srgbClr val="0070C0"/>
                </a:solidFill>
                <a:latin typeface="微软雅黑" panose="020B0503020204020204" pitchFamily="34" charset="-122"/>
                <a:ea typeface="微软雅黑" panose="020B0503020204020204" pitchFamily="34" charset="-122"/>
              </a:rPr>
              <a:t>SciPy</a:t>
            </a:r>
            <a:r>
              <a:rPr lang="zh-CN" altLang="en-US" sz="2800" b="1" dirty="0">
                <a:solidFill>
                  <a:srgbClr val="0070C0"/>
                </a:solidFill>
                <a:latin typeface="微软雅黑" panose="020B0503020204020204" pitchFamily="34" charset="-122"/>
                <a:ea typeface="微软雅黑" panose="020B0503020204020204" pitchFamily="34" charset="-122"/>
              </a:rPr>
              <a:t>库</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411481" y="2941320"/>
          <a:ext cx="8170800" cy="2971800"/>
        </p:xfrm>
        <a:graphic>
          <a:graphicData uri="http://schemas.openxmlformats.org/drawingml/2006/table">
            <a:tbl>
              <a:tblPr firstRow="1" firstCol="1" bandRow="1">
                <a:tableStyleId>{5C22544A-7EE6-4342-B048-85BDC9FD1C3A}</a:tableStyleId>
              </a:tblPr>
              <a:tblGrid>
                <a:gridCol w="1699895"/>
                <a:gridCol w="2384547"/>
                <a:gridCol w="1212093"/>
                <a:gridCol w="2874265"/>
              </a:tblGrid>
              <a:tr h="411480">
                <a:tc>
                  <a:txBody>
                    <a:bodyPr/>
                    <a:lstStyle/>
                    <a:p>
                      <a:pPr algn="ctr">
                        <a:spcAft>
                          <a:spcPts val="0"/>
                        </a:spcAft>
                      </a:pPr>
                      <a:r>
                        <a:rPr lang="zh-CN" sz="2400" kern="100" dirty="0">
                          <a:solidFill>
                            <a:schemeClr val="accent1"/>
                          </a:solidFill>
                          <a:effectLst/>
                        </a:rPr>
                        <a:t>子模块</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功能</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子模块</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功能</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b="0" kern="100">
                          <a:solidFill>
                            <a:schemeClr val="accent1"/>
                          </a:solidFill>
                          <a:effectLst/>
                        </a:rPr>
                        <a:t>constans</a:t>
                      </a:r>
                      <a:endParaRPr lang="zh-CN" sz="2400" b="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物理和数学函数</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cluster</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聚类算法</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b="0" kern="100" dirty="0">
                          <a:solidFill>
                            <a:schemeClr val="accent1"/>
                          </a:solidFill>
                          <a:effectLst/>
                        </a:rPr>
                        <a:t>interpolate</a:t>
                      </a:r>
                      <a:endParaRPr lang="zh-CN" sz="2400" b="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拟合和平滑曲线</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linalg</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线性代数</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b="0" kern="100">
                          <a:solidFill>
                            <a:schemeClr val="accent1"/>
                          </a:solidFill>
                          <a:effectLst/>
                        </a:rPr>
                        <a:t>io</a:t>
                      </a:r>
                      <a:endParaRPr lang="zh-CN" sz="2400" b="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输入和输出</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ndimage</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N</a:t>
                      </a:r>
                      <a:r>
                        <a:rPr lang="zh-CN" sz="2400" kern="100">
                          <a:solidFill>
                            <a:schemeClr val="accent1"/>
                          </a:solidFill>
                          <a:effectLst/>
                        </a:rPr>
                        <a:t>维图像处理</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b="0" kern="100">
                          <a:solidFill>
                            <a:schemeClr val="accent1"/>
                          </a:solidFill>
                          <a:effectLst/>
                        </a:rPr>
                        <a:t>maxentropy</a:t>
                      </a:r>
                      <a:endParaRPr lang="zh-CN" sz="2400" b="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最大熵模型</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optimize</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求最优化解</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b="0" kern="100">
                          <a:solidFill>
                            <a:schemeClr val="accent1"/>
                          </a:solidFill>
                          <a:effectLst/>
                        </a:rPr>
                        <a:t>odr</a:t>
                      </a:r>
                      <a:endParaRPr lang="zh-CN" sz="2400" b="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正交距离回归</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sparse</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zh-CN" sz="2400" kern="100" dirty="0">
                          <a:solidFill>
                            <a:schemeClr val="accent1"/>
                          </a:solidFill>
                          <a:effectLst/>
                        </a:rPr>
                        <a:t>稀疏矩阵以及相关程序</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spcAft>
                          <a:spcPts val="0"/>
                        </a:spcAft>
                      </a:pPr>
                      <a:r>
                        <a:rPr lang="en-US" sz="2400" b="0" kern="100" dirty="0">
                          <a:solidFill>
                            <a:schemeClr val="accent1"/>
                          </a:solidFill>
                          <a:effectLst/>
                        </a:rPr>
                        <a:t>signal</a:t>
                      </a:r>
                      <a:endParaRPr lang="zh-CN" sz="2400" b="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信号处理</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special</a:t>
                      </a:r>
                      <a:endParaRPr lang="zh-CN" sz="2400" kern="10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特殊函数</a:t>
                      </a:r>
                      <a:endParaRPr lang="zh-CN" sz="2400" kern="100" dirty="0">
                        <a:solidFill>
                          <a:schemeClr val="accent1"/>
                        </a:solidFill>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wip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5797684" y="2196953"/>
            <a:ext cx="3156392" cy="2367294"/>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1.5.1 </a:t>
            </a:r>
            <a:r>
              <a:rPr lang="zh-CN" altLang="en-US" sz="2800" b="1" dirty="0" smtClean="0">
                <a:solidFill>
                  <a:srgbClr val="0070C0"/>
                </a:solidFill>
                <a:latin typeface="微软雅黑" panose="020B0503020204020204" pitchFamily="34" charset="-122"/>
                <a:ea typeface="微软雅黑" panose="020B0503020204020204" pitchFamily="34" charset="-122"/>
              </a:rPr>
              <a:t>求解</a:t>
            </a:r>
            <a:r>
              <a:rPr lang="zh-CN" altLang="en-US" sz="2800" b="1" dirty="0">
                <a:solidFill>
                  <a:srgbClr val="0070C0"/>
                </a:solidFill>
                <a:latin typeface="微软雅黑" panose="020B0503020204020204" pitchFamily="34" charset="-122"/>
                <a:ea typeface="微软雅黑" panose="020B0503020204020204" pitchFamily="34" charset="-122"/>
              </a:rPr>
              <a:t>最优化问题</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99945" y="1517885"/>
            <a:ext cx="806681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from matplotlib import pyplot as plt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from scipy import </a:t>
            </a:r>
            <a:r>
              <a:rPr lang="en-US" altLang="zh-CN" sz="2400" dirty="0">
                <a:solidFill>
                  <a:schemeClr val="accent1"/>
                </a:solidFill>
                <a:latin typeface="Times New Roman" panose="02020603050405020304" pitchFamily="18" charset="0"/>
                <a:cs typeface="Times New Roman" panose="02020603050405020304" pitchFamily="18" charset="0"/>
              </a:rPr>
              <a:t>optimize</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x = </a:t>
            </a:r>
            <a:r>
              <a:rPr lang="en-US" altLang="zh-CN" sz="2400" dirty="0" err="1" smtClean="0">
                <a:latin typeface="Times New Roman" panose="02020603050405020304" pitchFamily="18" charset="0"/>
                <a:cs typeface="Times New Roman" panose="02020603050405020304" pitchFamily="18" charset="0"/>
              </a:rPr>
              <a:t>np.linspace</a:t>
            </a:r>
            <a:r>
              <a:rPr lang="en-US" altLang="zh-CN" sz="2400" dirty="0">
                <a:latin typeface="Times New Roman" panose="02020603050405020304" pitchFamily="18" charset="0"/>
                <a:cs typeface="Times New Roman" panose="02020603050405020304" pitchFamily="18" charset="0"/>
              </a:rPr>
              <a:t>(-5</a:t>
            </a:r>
            <a:r>
              <a:rPr lang="en-US" altLang="zh-CN" sz="2400" dirty="0" smtClean="0">
                <a:latin typeface="Times New Roman" panose="02020603050405020304" pitchFamily="18" charset="0"/>
                <a:cs typeface="Times New Roman" panose="02020603050405020304" pitchFamily="18" charset="0"/>
              </a:rPr>
              <a:t>, 3, 100</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def f(x):</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return 4*x**</a:t>
            </a:r>
            <a:r>
              <a:rPr lang="en-US" altLang="zh-CN" sz="2400" dirty="0" smtClean="0">
                <a:latin typeface="Times New Roman" panose="02020603050405020304" pitchFamily="18" charset="0"/>
                <a:cs typeface="Times New Roman" panose="02020603050405020304" pitchFamily="18" charset="0"/>
              </a:rPr>
              <a:t>3 + (</a:t>
            </a:r>
            <a:r>
              <a:rPr lang="en-US" altLang="zh-CN" sz="2400" dirty="0">
                <a:latin typeface="Times New Roman" panose="02020603050405020304" pitchFamily="18" charset="0"/>
                <a:cs typeface="Times New Roman" panose="02020603050405020304" pitchFamily="18" charset="0"/>
              </a:rPr>
              <a:t>x-2)**</a:t>
            </a:r>
            <a:r>
              <a:rPr lang="en-US" altLang="zh-CN" sz="2400" dirty="0" smtClean="0">
                <a:latin typeface="Times New Roman" panose="02020603050405020304" pitchFamily="18" charset="0"/>
                <a:cs typeface="Times New Roman" panose="02020603050405020304" pitchFamily="18" charset="0"/>
              </a:rPr>
              <a:t>2 + x</a:t>
            </a:r>
            <a:r>
              <a:rPr lang="en-US" altLang="zh-CN" sz="2400" dirty="0">
                <a:latin typeface="Times New Roman" panose="02020603050405020304" pitchFamily="18" charset="0"/>
                <a:cs typeface="Times New Roman" panose="02020603050405020304" pitchFamily="18" charset="0"/>
              </a:rPr>
              <a:t>**4</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x_min_local</a:t>
            </a:r>
            <a:r>
              <a:rPr lang="en-US" altLang="zh-CN" sz="2400" dirty="0" smtClean="0">
                <a:latin typeface="Times New Roman" panose="02020603050405020304" pitchFamily="18" charset="0"/>
                <a:cs typeface="Times New Roman" panose="02020603050405020304" pitchFamily="18" charset="0"/>
              </a:rPr>
              <a:t> = </a:t>
            </a:r>
            <a:r>
              <a:rPr lang="en-US" altLang="zh-CN" sz="2400" dirty="0" err="1" smtClean="0">
                <a:latin typeface="Times New Roman" panose="02020603050405020304" pitchFamily="18" charset="0"/>
                <a:cs typeface="Times New Roman" panose="02020603050405020304" pitchFamily="18" charset="0"/>
              </a:rPr>
              <a:t>optimize</a:t>
            </a:r>
            <a:r>
              <a:rPr lang="en-US" altLang="zh-CN" sz="2400" dirty="0" err="1" smtClean="0">
                <a:solidFill>
                  <a:schemeClr val="accent1"/>
                </a:solidFill>
                <a:latin typeface="Times New Roman" panose="02020603050405020304" pitchFamily="18" charset="0"/>
                <a:cs typeface="Times New Roman" panose="02020603050405020304" pitchFamily="18" charset="0"/>
              </a:rPr>
              <a:t>.fmin_bfgs</a:t>
            </a:r>
            <a:r>
              <a:rPr lang="en-US" altLang="zh-CN" sz="2400" dirty="0" smtClean="0">
                <a:latin typeface="Times New Roman" panose="02020603050405020304" pitchFamily="18" charset="0"/>
                <a:cs typeface="Times New Roman" panose="02020603050405020304" pitchFamily="18" charset="0"/>
              </a:rPr>
              <a:t>(f, 2</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print('f(x)</a:t>
            </a:r>
            <a:r>
              <a:rPr lang="zh-CN" altLang="en-US" sz="2400" dirty="0">
                <a:latin typeface="Times New Roman" panose="02020603050405020304" pitchFamily="18" charset="0"/>
                <a:cs typeface="Times New Roman" panose="02020603050405020304" pitchFamily="18" charset="0"/>
              </a:rPr>
              <a:t>极小值点</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x_min_local</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smtClean="0">
                <a:latin typeface="Times New Roman" panose="02020603050405020304" pitchFamily="18" charset="0"/>
                <a:cs typeface="Times New Roman" panose="02020603050405020304" pitchFamily="18" charset="0"/>
              </a:rPr>
              <a:t>x_max_global</a:t>
            </a:r>
            <a:r>
              <a:rPr lang="en-US" altLang="zh-CN" sz="2400" dirty="0" smtClean="0">
                <a:latin typeface="Times New Roman" panose="02020603050405020304" pitchFamily="18" charset="0"/>
                <a:cs typeface="Times New Roman" panose="02020603050405020304" pitchFamily="18" charset="0"/>
              </a:rPr>
              <a:t> = </a:t>
            </a:r>
            <a:r>
              <a:rPr lang="en-US" altLang="zh-CN" sz="2400" dirty="0" err="1" smtClean="0">
                <a:latin typeface="Times New Roman" panose="02020603050405020304" pitchFamily="18" charset="0"/>
                <a:cs typeface="Times New Roman" panose="02020603050405020304" pitchFamily="18" charset="0"/>
              </a:rPr>
              <a:t>optimize.</a:t>
            </a:r>
            <a:r>
              <a:rPr lang="en-US" altLang="zh-CN" sz="2400" dirty="0" err="1">
                <a:solidFill>
                  <a:schemeClr val="accent1"/>
                </a:solidFill>
                <a:latin typeface="Times New Roman" panose="02020603050405020304" pitchFamily="18" charset="0"/>
                <a:cs typeface="Times New Roman" panose="02020603050405020304" pitchFamily="18" charset="0"/>
              </a:rPr>
              <a:t>fminbound</a:t>
            </a:r>
            <a:r>
              <a:rPr lang="en-US" altLang="zh-CN" sz="2400" dirty="0" smtClean="0">
                <a:latin typeface="Times New Roman" panose="02020603050405020304" pitchFamily="18" charset="0"/>
                <a:cs typeface="Times New Roman" panose="02020603050405020304" pitchFamily="18" charset="0"/>
              </a:rPr>
              <a:t>(f, -</a:t>
            </a:r>
            <a:r>
              <a:rPr lang="en-US" altLang="zh-CN" sz="2400" dirty="0">
                <a:latin typeface="Times New Roman" panose="02020603050405020304" pitchFamily="18" charset="0"/>
                <a:cs typeface="Times New Roman" panose="02020603050405020304" pitchFamily="18" charset="0"/>
              </a:rPr>
              <a:t>10</a:t>
            </a:r>
            <a:r>
              <a:rPr lang="en-US" altLang="zh-CN" sz="2400" dirty="0" smtClean="0">
                <a:latin typeface="Times New Roman" panose="02020603050405020304" pitchFamily="18" charset="0"/>
                <a:cs typeface="Times New Roman" panose="02020603050405020304" pitchFamily="18" charset="0"/>
              </a:rPr>
              <a:t>, 10</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a:t>
            </a:r>
            <a:r>
              <a:rPr lang="zh-CN" altLang="en-US" sz="2400" dirty="0">
                <a:latin typeface="Times New Roman" panose="02020603050405020304" pitchFamily="18" charset="0"/>
                <a:cs typeface="Times New Roman" panose="02020603050405020304" pitchFamily="18" charset="0"/>
              </a:rPr>
              <a:t>取得极小值时的</a:t>
            </a:r>
            <a:r>
              <a:rPr lang="en-US"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值</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x_max_global</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plt.plot</a:t>
            </a:r>
            <a:r>
              <a:rPr lang="en-US" altLang="zh-CN" sz="2400" dirty="0">
                <a:latin typeface="Times New Roman" panose="02020603050405020304" pitchFamily="18" charset="0"/>
                <a:cs typeface="Times New Roman" panose="02020603050405020304" pitchFamily="18" charset="0"/>
              </a:rPr>
              <a:t>(x</a:t>
            </a:r>
            <a:r>
              <a:rPr lang="en-US" altLang="zh-CN" sz="2400" dirty="0" smtClean="0">
                <a:latin typeface="Times New Roman" panose="02020603050405020304" pitchFamily="18" charset="0"/>
                <a:cs typeface="Times New Roman" panose="02020603050405020304" pitchFamily="18" charset="0"/>
              </a:rPr>
              <a:t>, f(x</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a:t>
            </a:r>
            <a:endParaRPr lang="en-US"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467265" y="862919"/>
            <a:ext cx="6655989"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1-24]</a:t>
            </a:r>
            <a:r>
              <a:rPr lang="zh-CN" altLang="en-US" sz="2800" b="1" dirty="0">
                <a:solidFill>
                  <a:srgbClr val="0070C0"/>
                </a:solidFill>
                <a:latin typeface="微软雅黑" panose="020B0503020204020204" pitchFamily="34" charset="-122"/>
                <a:ea typeface="微软雅黑" panose="020B0503020204020204" pitchFamily="34" charset="-122"/>
              </a:rPr>
              <a:t>求函数</a:t>
            </a:r>
            <a:r>
              <a:rPr lang="en-US" altLang="zh-CN" sz="2800" b="1" dirty="0">
                <a:solidFill>
                  <a:srgbClr val="0070C0"/>
                </a:solidFill>
                <a:latin typeface="微软雅黑" panose="020B0503020204020204" pitchFamily="34" charset="-122"/>
                <a:ea typeface="微软雅黑" panose="020B0503020204020204" pitchFamily="34" charset="-122"/>
              </a:rPr>
              <a:t>4x</a:t>
            </a:r>
            <a:r>
              <a:rPr lang="en-US" altLang="zh-CN" sz="2800" b="1" baseline="30000" dirty="0">
                <a:solidFill>
                  <a:srgbClr val="0070C0"/>
                </a:solidFill>
                <a:latin typeface="微软雅黑" panose="020B0503020204020204" pitchFamily="34" charset="-122"/>
                <a:ea typeface="微软雅黑" panose="020B0503020204020204" pitchFamily="34" charset="-122"/>
              </a:rPr>
              <a:t>3</a:t>
            </a:r>
            <a:r>
              <a:rPr lang="en-US" altLang="zh-CN" sz="2800" b="1" dirty="0">
                <a:solidFill>
                  <a:srgbClr val="0070C0"/>
                </a:solidFill>
                <a:latin typeface="微软雅黑" panose="020B0503020204020204" pitchFamily="34" charset="-122"/>
                <a:ea typeface="微软雅黑" panose="020B0503020204020204" pitchFamily="34" charset="-122"/>
              </a:rPr>
              <a:t>+(x-2)</a:t>
            </a:r>
            <a:r>
              <a:rPr lang="en-US" altLang="zh-CN" sz="2800" b="1" baseline="30000" dirty="0">
                <a:solidFill>
                  <a:srgbClr val="0070C0"/>
                </a:solidFill>
                <a:latin typeface="微软雅黑" panose="020B0503020204020204" pitchFamily="34" charset="-122"/>
                <a:ea typeface="微软雅黑" panose="020B0503020204020204" pitchFamily="34" charset="-122"/>
              </a:rPr>
              <a:t>2</a:t>
            </a:r>
            <a:r>
              <a:rPr lang="en-US" altLang="zh-CN" sz="2800" b="1" dirty="0">
                <a:solidFill>
                  <a:srgbClr val="0070C0"/>
                </a:solidFill>
                <a:latin typeface="微软雅黑" panose="020B0503020204020204" pitchFamily="34" charset="-122"/>
                <a:ea typeface="微软雅黑" panose="020B0503020204020204" pitchFamily="34" charset="-122"/>
              </a:rPr>
              <a:t>+x</a:t>
            </a:r>
            <a:r>
              <a:rPr lang="en-US" altLang="zh-CN" sz="2800" b="1" baseline="30000" dirty="0">
                <a:solidFill>
                  <a:srgbClr val="0070C0"/>
                </a:solidFill>
                <a:latin typeface="微软雅黑" panose="020B0503020204020204" pitchFamily="34" charset="-122"/>
                <a:ea typeface="微软雅黑" panose="020B0503020204020204" pitchFamily="34" charset="-122"/>
              </a:rPr>
              <a:t>4</a:t>
            </a:r>
            <a:r>
              <a:rPr lang="zh-CN" altLang="en-US" sz="2800" b="1" dirty="0" smtClean="0">
                <a:solidFill>
                  <a:srgbClr val="0070C0"/>
                </a:solidFill>
                <a:latin typeface="微软雅黑" panose="020B0503020204020204" pitchFamily="34" charset="-122"/>
                <a:ea typeface="微软雅黑" panose="020B0503020204020204" pitchFamily="34" charset="-122"/>
              </a:rPr>
              <a:t>的极值</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197623" y="164398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5" name="矩形 4"/>
          <p:cNvSpPr/>
          <p:nvPr/>
        </p:nvSpPr>
        <p:spPr>
          <a:xfrm>
            <a:off x="3124200" y="5626701"/>
            <a:ext cx="5745480" cy="830997"/>
          </a:xfrm>
          <a:prstGeom prst="rect">
            <a:avLst/>
          </a:prstGeom>
          <a:solidFill>
            <a:schemeClr val="bg2"/>
          </a:solidFill>
        </p:spPr>
        <p:txBody>
          <a:bodyPr wrap="square">
            <a:spAutoFit/>
          </a:bodyPr>
          <a:lstStyle/>
          <a:p>
            <a:r>
              <a:rPr lang="en-US" altLang="zh-CN" sz="2400" dirty="0">
                <a:latin typeface="Times New Roman" panose="02020603050405020304" pitchFamily="18" charset="0"/>
                <a:cs typeface="Times New Roman" panose="02020603050405020304" pitchFamily="18" charset="0"/>
              </a:rPr>
              <a:t>f(x)</a:t>
            </a:r>
            <a:r>
              <a:rPr lang="zh-CN" altLang="zh-CN" sz="2400" dirty="0">
                <a:latin typeface="Times New Roman" panose="02020603050405020304" pitchFamily="18" charset="0"/>
                <a:cs typeface="Times New Roman" panose="02020603050405020304" pitchFamily="18" charset="0"/>
              </a:rPr>
              <a:t>极小值点</a:t>
            </a:r>
            <a:r>
              <a:rPr lang="en-US" altLang="zh-CN" sz="2400" dirty="0">
                <a:latin typeface="Times New Roman" panose="02020603050405020304" pitchFamily="18" charset="0"/>
                <a:cs typeface="Times New Roman" panose="02020603050405020304" pitchFamily="18" charset="0"/>
              </a:rPr>
              <a:t>: [0.46961766]</a:t>
            </a:r>
            <a:endParaRPr lang="zh-CN" altLang="zh-CN" sz="2400" dirty="0">
              <a:latin typeface="Times New Roman" panose="02020603050405020304" pitchFamily="18" charset="0"/>
              <a:cs typeface="Times New Roman" panose="02020603050405020304" pitchFamily="18" charset="0"/>
            </a:endParaRPr>
          </a:p>
          <a:p>
            <a:r>
              <a:rPr lang="zh-CN" altLang="zh-CN" sz="2400" dirty="0">
                <a:latin typeface="Times New Roman" panose="02020603050405020304" pitchFamily="18" charset="0"/>
                <a:cs typeface="Times New Roman" panose="02020603050405020304" pitchFamily="18" charset="0"/>
              </a:rPr>
              <a:t>取得极小值时的</a:t>
            </a:r>
            <a:r>
              <a:rPr lang="en-US" altLang="zh-CN" sz="2400" dirty="0">
                <a:latin typeface="Times New Roman" panose="02020603050405020304" pitchFamily="18" charset="0"/>
                <a:cs typeface="Times New Roman" panose="02020603050405020304" pitchFamily="18" charset="0"/>
              </a:rPr>
              <a:t>x</a:t>
            </a:r>
            <a:r>
              <a:rPr lang="zh-CN" altLang="zh-CN" sz="2400" dirty="0">
                <a:latin typeface="Times New Roman" panose="02020603050405020304" pitchFamily="18" charset="0"/>
                <a:cs typeface="Times New Roman" panose="02020603050405020304" pitchFamily="18" charset="0"/>
              </a:rPr>
              <a:t>值</a:t>
            </a:r>
            <a:r>
              <a:rPr lang="en-US" altLang="zh-CN" sz="2400" dirty="0">
                <a:latin typeface="Times New Roman" panose="02020603050405020304" pitchFamily="18" charset="0"/>
                <a:cs typeface="Times New Roman" panose="02020603050405020304" pitchFamily="18" charset="0"/>
              </a:rPr>
              <a:t>: -2.6729805844842622</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图像高斯模糊处理</a:t>
            </a:r>
            <a:endParaRPr lang="en-US" altLang="zh-CN" sz="26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457200" defTabSz="913765">
              <a:lnSpc>
                <a:spcPct val="150000"/>
              </a:lnSpc>
              <a:buNone/>
            </a:pP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SciPy</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中的</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ndimage</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模块用来实现图像处理功能，其中用来做图像滤波操作的是</a:t>
            </a:r>
            <a:r>
              <a:rPr lang="en-US" altLang="zh-CN" sz="2200" dirty="0" err="1">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scipy.ndimage.filters</a:t>
            </a:r>
            <a:r>
              <a:rPr lang="en-US"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模块</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457200" defTabSz="913765">
              <a:lnSpc>
                <a:spcPct val="150000"/>
              </a:lnSpc>
              <a:buNone/>
            </a:pP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图像的高斯模糊是经典的图像卷积例子。本质上，图像模糊就是将（灰度）图像</a:t>
            </a:r>
            <a:r>
              <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和一个高斯核进行卷积操作</a:t>
            </a:r>
            <a:endParaRPr lang="en-US" altLang="zh-CN"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457200" defTabSz="913765">
              <a:lnSpc>
                <a:spcPct val="150000"/>
              </a:lnSpc>
              <a:buNone/>
            </a:pP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高斯</a:t>
            </a:r>
            <a:r>
              <a:rPr lang="zh-CN" altLang="en-US"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模糊通常是其他图像处理操作的一部分，比如图像插值操作、兴趣点计算以及很多其他应用，因此具有重要应用</a:t>
            </a:r>
            <a:r>
              <a:rPr lang="zh-CN" altLang="en-US" sz="2200" dirty="0" smtClean="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价值</a:t>
            </a:r>
            <a:endParaRPr lang="zh-CN" altLang="zh-CN" sz="2200"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1.5.2 </a:t>
            </a:r>
            <a:r>
              <a:rPr lang="zh-CN" altLang="en-US" sz="2800" b="1" dirty="0" smtClean="0">
                <a:solidFill>
                  <a:srgbClr val="0070C0"/>
                </a:solidFill>
                <a:latin typeface="微软雅黑" panose="020B0503020204020204" pitchFamily="34" charset="-122"/>
                <a:ea typeface="微软雅黑" panose="020B0503020204020204" pitchFamily="34" charset="-122"/>
              </a:rPr>
              <a:t>图像</a:t>
            </a:r>
            <a:r>
              <a:rPr lang="zh-CN" altLang="en-US" sz="2800" b="1" dirty="0">
                <a:solidFill>
                  <a:srgbClr val="0070C0"/>
                </a:solidFill>
                <a:latin typeface="微软雅黑" panose="020B0503020204020204" pitchFamily="34" charset="-122"/>
                <a:ea typeface="微软雅黑" panose="020B0503020204020204" pitchFamily="34" charset="-122"/>
              </a:rPr>
              <a:t>模糊处理</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895762" y="4077733"/>
            <a:ext cx="5261320" cy="3945990"/>
          </a:xfrm>
          <a:prstGeom prst="rect">
            <a:avLst/>
          </a:prstGeom>
        </p:spPr>
      </p:pic>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en-US" altLang="zh-CN" sz="2800" b="1" dirty="0" smtClean="0">
                <a:solidFill>
                  <a:srgbClr val="0070C0"/>
                </a:solidFill>
                <a:latin typeface="微软雅黑" panose="020B0503020204020204" pitchFamily="34" charset="-122"/>
                <a:ea typeface="微软雅黑" panose="020B0503020204020204" pitchFamily="34" charset="-122"/>
              </a:rPr>
              <a:t>1.5.2 </a:t>
            </a:r>
            <a:r>
              <a:rPr lang="zh-CN" altLang="en-US" sz="2800" b="1" dirty="0" smtClean="0">
                <a:solidFill>
                  <a:srgbClr val="0070C0"/>
                </a:solidFill>
                <a:latin typeface="微软雅黑" panose="020B0503020204020204" pitchFamily="34" charset="-122"/>
                <a:ea typeface="微软雅黑" panose="020B0503020204020204" pitchFamily="34" charset="-122"/>
              </a:rPr>
              <a:t>图像</a:t>
            </a:r>
            <a:r>
              <a:rPr lang="zh-CN" altLang="en-US" sz="2800" b="1" dirty="0">
                <a:solidFill>
                  <a:srgbClr val="0070C0"/>
                </a:solidFill>
                <a:latin typeface="微软雅黑" panose="020B0503020204020204" pitchFamily="34" charset="-122"/>
                <a:ea typeface="微软雅黑" panose="020B0503020204020204" pitchFamily="34" charset="-122"/>
              </a:rPr>
              <a:t>模糊处理</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299945" y="1270952"/>
            <a:ext cx="926418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r>
              <a:rPr lang="en-US" altLang="zh-CN" sz="2000" dirty="0" smtClean="0">
                <a:latin typeface="Times New Roman" panose="02020603050405020304" pitchFamily="18" charset="0"/>
                <a:cs typeface="Times New Roman" panose="02020603050405020304" pitchFamily="18" charset="0"/>
              </a:rPr>
              <a:t>from </a:t>
            </a:r>
            <a:r>
              <a:rPr lang="en-US" altLang="zh-CN" sz="2000" dirty="0">
                <a:latin typeface="Times New Roman" panose="02020603050405020304" pitchFamily="18" charset="0"/>
                <a:cs typeface="Times New Roman" panose="02020603050405020304" pitchFamily="18" charset="0"/>
              </a:rPr>
              <a:t>PIL import Image</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import </a:t>
            </a:r>
            <a:r>
              <a:rPr lang="en-US" altLang="zh-CN" sz="2000" dirty="0" err="1">
                <a:latin typeface="Times New Roman" panose="02020603050405020304" pitchFamily="18" charset="0"/>
                <a:cs typeface="Times New Roman" panose="02020603050405020304" pitchFamily="18" charset="0"/>
              </a:rPr>
              <a:t>numpy</a:t>
            </a:r>
            <a:r>
              <a:rPr lang="en-US" altLang="zh-CN" sz="2000" dirty="0">
                <a:latin typeface="Times New Roman" panose="02020603050405020304" pitchFamily="18" charset="0"/>
                <a:cs typeface="Times New Roman" panose="02020603050405020304" pitchFamily="18" charset="0"/>
              </a:rPr>
              <a:t> as </a:t>
            </a:r>
            <a:r>
              <a:rPr lang="en-US" altLang="zh-CN" sz="2000" dirty="0" err="1">
                <a:latin typeface="Times New Roman" panose="02020603050405020304" pitchFamily="18" charset="0"/>
                <a:cs typeface="Times New Roman" panose="02020603050405020304" pitchFamily="18" charset="0"/>
              </a:rPr>
              <a:t>np</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from </a:t>
            </a:r>
            <a:r>
              <a:rPr lang="en-US" altLang="zh-CN" sz="2000" dirty="0" err="1">
                <a:latin typeface="Times New Roman" panose="02020603050405020304" pitchFamily="18" charset="0"/>
                <a:cs typeface="Times New Roman" panose="02020603050405020304" pitchFamily="18" charset="0"/>
              </a:rPr>
              <a:t>scipy.ndimage</a:t>
            </a:r>
            <a:r>
              <a:rPr lang="en-US" altLang="zh-CN" sz="2000" dirty="0">
                <a:latin typeface="Times New Roman" panose="02020603050405020304" pitchFamily="18" charset="0"/>
                <a:cs typeface="Times New Roman" panose="02020603050405020304" pitchFamily="18" charset="0"/>
              </a:rPr>
              <a:t> import </a:t>
            </a:r>
            <a:r>
              <a:rPr lang="en-US" altLang="zh-CN" sz="2000" dirty="0">
                <a:solidFill>
                  <a:schemeClr val="accent1"/>
                </a:solidFill>
                <a:latin typeface="Times New Roman" panose="02020603050405020304" pitchFamily="18" charset="0"/>
                <a:cs typeface="Times New Roman" panose="02020603050405020304" pitchFamily="18" charset="0"/>
              </a:rPr>
              <a:t>filters</a:t>
            </a:r>
            <a:endParaRPr lang="en-US" altLang="zh-CN" sz="2000" dirty="0">
              <a:solidFill>
                <a:schemeClr val="accent1"/>
              </a:solidFill>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import </a:t>
            </a:r>
            <a:r>
              <a:rPr lang="en-US" altLang="zh-CN" sz="2000" dirty="0" err="1">
                <a:latin typeface="Times New Roman" panose="02020603050405020304" pitchFamily="18" charset="0"/>
                <a:cs typeface="Times New Roman" panose="02020603050405020304" pitchFamily="18" charset="0"/>
              </a:rPr>
              <a:t>matplotlib.pyplot</a:t>
            </a:r>
            <a:r>
              <a:rPr lang="en-US" altLang="zh-CN" sz="2000" dirty="0">
                <a:latin typeface="Times New Roman" panose="02020603050405020304" pitchFamily="18" charset="0"/>
                <a:cs typeface="Times New Roman" panose="02020603050405020304" pitchFamily="18" charset="0"/>
              </a:rPr>
              <a:t> as </a:t>
            </a:r>
            <a:r>
              <a:rPr lang="en-US" altLang="zh-CN" sz="2000" dirty="0" err="1">
                <a:latin typeface="Times New Roman" panose="02020603050405020304" pitchFamily="18" charset="0"/>
                <a:cs typeface="Times New Roman" panose="02020603050405020304" pitchFamily="18" charset="0"/>
              </a:rPr>
              <a:t>plt</a:t>
            </a:r>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im</a:t>
            </a: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np.array</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Image.open</a:t>
            </a:r>
            <a:r>
              <a:rPr lang="en-US" altLang="zh-CN" sz="2000" dirty="0">
                <a:latin typeface="Times New Roman" panose="02020603050405020304" pitchFamily="18" charset="0"/>
                <a:cs typeface="Times New Roman" panose="02020603050405020304" pitchFamily="18" charset="0"/>
              </a:rPr>
              <a:t>('C:\\Users\\Administrator\\Desktop\\1.jpg'))</a:t>
            </a:r>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plt.subplot</a:t>
            </a:r>
            <a:r>
              <a:rPr lang="en-US" altLang="zh-CN" sz="2000" dirty="0">
                <a:latin typeface="Times New Roman" panose="02020603050405020304" pitchFamily="18" charset="0"/>
                <a:cs typeface="Times New Roman" panose="02020603050405020304" pitchFamily="18" charset="0"/>
              </a:rPr>
              <a:t>(1, 4, 1)</a:t>
            </a:r>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plt.imshow</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index = 1</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for sigma in </a:t>
            </a:r>
            <a:r>
              <a:rPr lang="en-US" altLang="zh-CN" sz="2000" dirty="0" smtClean="0">
                <a:latin typeface="Times New Roman" panose="02020603050405020304" pitchFamily="18" charset="0"/>
                <a:cs typeface="Times New Roman" panose="02020603050405020304" pitchFamily="18" charset="0"/>
              </a:rPr>
              <a:t>(5, 10, 15):</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im_blur</a:t>
            </a: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np.zeros</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im.shape</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dtype</a:t>
            </a:r>
            <a:r>
              <a:rPr lang="en-US" altLang="zh-CN" sz="2000" dirty="0">
                <a:latin typeface="Times New Roman" panose="02020603050405020304" pitchFamily="18" charset="0"/>
                <a:cs typeface="Times New Roman" panose="02020603050405020304" pitchFamily="18" charset="0"/>
              </a:rPr>
              <a:t>=np.uint8)</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for </a:t>
            </a:r>
            <a:r>
              <a:rPr lang="en-US" altLang="zh-CN" sz="2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 in range(3):</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im_blur</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filters.gaussian_filter</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 sigma)</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index += 1</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plt.subplot</a:t>
            </a:r>
            <a:r>
              <a:rPr lang="en-US" altLang="zh-CN" sz="2000" dirty="0">
                <a:latin typeface="Times New Roman" panose="02020603050405020304" pitchFamily="18" charset="0"/>
                <a:cs typeface="Times New Roman" panose="02020603050405020304" pitchFamily="18" charset="0"/>
              </a:rPr>
              <a:t>(1, 4, index)</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plt.imshow</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im_blur</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plt.show</a:t>
            </a:r>
            <a:r>
              <a:rPr lang="en-US" altLang="zh-CN" sz="2000" dirty="0" smtClean="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7" name="矩形 6"/>
          <p:cNvSpPr/>
          <p:nvPr/>
        </p:nvSpPr>
        <p:spPr>
          <a:xfrm>
            <a:off x="467265" y="702277"/>
            <a:ext cx="7747634" cy="523220"/>
          </a:xfrm>
          <a:prstGeom prst="rect">
            <a:avLst/>
          </a:prstGeom>
        </p:spPr>
        <p:txBody>
          <a:bodyPr wrap="none">
            <a:spAutoFit/>
          </a:bodyPr>
          <a:lstStyle/>
          <a:p>
            <a:r>
              <a:rPr lang="en-US" altLang="zh-CN" sz="2800" b="1" dirty="0" smtClean="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a:t>
            </a:r>
            <a:r>
              <a:rPr lang="zh-CN" altLang="en-US" sz="2800" b="1" dirty="0" smtClean="0">
                <a:solidFill>
                  <a:srgbClr val="0070C0"/>
                </a:solidFill>
                <a:latin typeface="微软雅黑" panose="020B0503020204020204" pitchFamily="34" charset="-122"/>
                <a:ea typeface="微软雅黑" panose="020B0503020204020204" pitchFamily="34" charset="-122"/>
              </a:rPr>
              <a:t>序</a:t>
            </a:r>
            <a:r>
              <a:rPr lang="en-US" altLang="zh-CN" sz="2800" b="1" dirty="0" smtClean="0">
                <a:solidFill>
                  <a:srgbClr val="0070C0"/>
                </a:solidFill>
                <a:latin typeface="微软雅黑" panose="020B0503020204020204" pitchFamily="34" charset="-122"/>
                <a:ea typeface="微软雅黑" panose="020B0503020204020204" pitchFamily="34" charset="-122"/>
              </a:rPr>
              <a:t>1-25]</a:t>
            </a:r>
            <a:r>
              <a:rPr lang="zh-CN" altLang="en-US" sz="2800" b="1" dirty="0" smtClean="0">
                <a:solidFill>
                  <a:srgbClr val="0070C0"/>
                </a:solidFill>
                <a:latin typeface="微软雅黑" panose="020B0503020204020204" pitchFamily="34" charset="-122"/>
                <a:ea typeface="微软雅黑" panose="020B0503020204020204" pitchFamily="34" charset="-122"/>
              </a:rPr>
              <a:t>快</a:t>
            </a:r>
            <a:r>
              <a:rPr lang="zh-CN" altLang="en-US" sz="2800" b="1" dirty="0">
                <a:solidFill>
                  <a:srgbClr val="0070C0"/>
                </a:solidFill>
                <a:latin typeface="微软雅黑" panose="020B0503020204020204" pitchFamily="34" charset="-122"/>
                <a:ea typeface="微软雅黑" panose="020B0503020204020204" pitchFamily="34" charset="-122"/>
              </a:rPr>
              <a:t>速一维分</a:t>
            </a:r>
            <a:r>
              <a:rPr lang="zh-CN" altLang="en-US" sz="2800" b="1" dirty="0" smtClean="0">
                <a:solidFill>
                  <a:srgbClr val="0070C0"/>
                </a:solidFill>
                <a:latin typeface="微软雅黑" panose="020B0503020204020204" pitchFamily="34" charset="-122"/>
                <a:ea typeface="微软雅黑" panose="020B0503020204020204" pitchFamily="34" charset="-122"/>
              </a:rPr>
              <a:t>离计</a:t>
            </a:r>
            <a:r>
              <a:rPr lang="zh-CN" altLang="en-US" sz="2800" b="1" dirty="0">
                <a:solidFill>
                  <a:srgbClr val="0070C0"/>
                </a:solidFill>
                <a:latin typeface="微软雅黑" panose="020B0503020204020204" pitchFamily="34" charset="-122"/>
                <a:ea typeface="微软雅黑" panose="020B0503020204020204" pitchFamily="34" charset="-122"/>
              </a:rPr>
              <a:t>算卷积实现高斯模糊</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7264785" y="4817195"/>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a:t>
            </a:r>
            <a:r>
              <a:rPr lang="zh-CN" altLang="en-US" sz="2800" b="1" dirty="0" smtClean="0">
                <a:solidFill>
                  <a:srgbClr val="0070C0"/>
                </a:solidFill>
                <a:latin typeface="微软雅黑" panose="020B0503020204020204" pitchFamily="34" charset="-122"/>
                <a:ea typeface="微软雅黑" panose="020B0503020204020204" pitchFamily="34" charset="-122"/>
              </a:rPr>
              <a:t>行结果</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EMPLATE_TOPIC_ID" val="2869567"/>
  <p:tag name="KSO_WM_TEMPLATE_OUTLINE_ID" val="6"/>
  <p:tag name="KSO_WM_TEMPLATE_SCENE_ID" val="1"/>
  <p:tag name="KSO_WM_TEMPLATE_JOB_ID" val="6"/>
  <p:tag name="KSO_WM_TEMPLATE_TOPIC_DEFAULT" val="0"/>
</p:tagLst>
</file>

<file path=ppt/theme/theme1.xml><?xml version="1.0" encoding="utf-8"?>
<a:theme xmlns:a="http://schemas.openxmlformats.org/drawingml/2006/main" name="1_Office 主题​​">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14158</Words>
  <Application>WPS 演示</Application>
  <PresentationFormat>全屏显示(4:3)</PresentationFormat>
  <Paragraphs>1155</Paragraphs>
  <Slides>57</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57</vt:i4>
      </vt:variant>
    </vt:vector>
  </HeadingPairs>
  <TitlesOfParts>
    <vt:vector size="69" baseType="lpstr">
      <vt:lpstr>Arial</vt:lpstr>
      <vt:lpstr>宋体</vt:lpstr>
      <vt:lpstr>Wingdings</vt:lpstr>
      <vt:lpstr>微软雅黑</vt:lpstr>
      <vt:lpstr>楷体</vt:lpstr>
      <vt:lpstr>Calibri</vt:lpstr>
      <vt:lpstr>Arial Unicode MS</vt:lpstr>
      <vt:lpstr>Times New Roman</vt:lpstr>
      <vt:lpstr>Arial Unicode MS</vt:lpstr>
      <vt:lpstr>等线</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蓝色简约年度工作总结述职报告商务动态PPT模板35</dc:title>
  <dc:creator>WangHJ</dc:creator>
  <cp:lastModifiedBy>Administrator</cp:lastModifiedBy>
  <cp:revision>377</cp:revision>
  <dcterms:created xsi:type="dcterms:W3CDTF">2017-02-15T16:34:00Z</dcterms:created>
  <dcterms:modified xsi:type="dcterms:W3CDTF">2024-04-09T05:28:05Z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2052-11.8.2.8276</vt:lpwstr>
  </property>
</Properties>
</file>